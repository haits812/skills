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5F3"/>
    <a:srgbClr val="CFB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FFD179-A474-6EED-DF30-9FAA9DB03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231B528-4A5C-65AF-C4EB-E7DF3942B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5D3B9E-0C04-1D83-356D-32619A6FE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9C8F41-683B-E8A9-05C8-0F3D44A8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70C819-7B0A-1F13-8017-35F4FFEFD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5746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B9FF35-2037-1EE2-3594-6ACCDF5B9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A7A7E2-5078-B9EC-401E-AF43F4213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7FBC8D-D65B-C75C-F921-B8BDBEAA6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849088-2DEF-4F68-5F1E-FEBC8FFAE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3503D1-A4D6-DCAE-5EBC-F6D2ED81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8962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8D8809-1FDF-B1D0-A3B9-D9B317735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FD268-B254-41A0-E1C0-24031DE19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AFBFFC-BCB5-7553-63CC-05DCE5E4D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1546E2-AEAD-F18C-01AE-82BEFCABC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DB982F-2066-5CC4-D716-994848F32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703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34331-DF38-E363-9C50-E7579FA79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C9B805-6A23-3757-5A3A-43371B71F6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23BEE72-B7A9-7472-5C60-92787E1C1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8320D9-A20F-3B2B-746E-B9AFF2048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8F0A13-78B6-D56B-BF06-AC2539D66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52696EF-7B0A-C840-1169-498E27C95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273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E73861-759B-7319-407B-E857A3A1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D1AFB5-A776-F568-047E-50FB14330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A78C92-645E-0A79-3BD6-D704AF98A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774066-8E0D-3A51-55B6-A718A4E72B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B177441-F3FD-BA74-C28C-40913CAE4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4215683-BA66-60E0-6D0D-5FF4325D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A5A0EE9-8736-5AD1-2372-A2B9C74A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D447E25-4249-D752-B779-01F2E5C44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DA920B-3FEB-1718-F1EC-95F02042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569E227-0A61-DA64-91EA-5327D197A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E9D16DB-6C64-2812-10E0-24D3B234C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10724D3-DB86-E532-CF4E-752FB7937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7685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A39E2B-0ABB-7583-7FCF-6A0A3820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A3EF4CB-8A24-3436-8562-F8A083F0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F9B8917-F443-056F-58C9-DD331ED6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3694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62BB35-D3E8-70CC-03B0-1EBE63DC6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A5C77F-DD97-197C-5A1F-3AE5CBCB9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2D136B-885B-A37F-DB9A-5BFEE05E5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9259887-1609-6964-47BE-D54DE49C1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225EA83-F7D0-3C46-1822-C0F5B8950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DBDD24-C4E5-7023-E2C4-B0A1F474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885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FAD83D-7ECD-9EAE-CDD7-CD3CD5BC1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AACBAB-89A4-4CEA-C612-CA6B5105CB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A196C1-7AC5-0C22-98DE-10069D59C5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119D8B-5FC5-3263-5141-582D5CD2C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AA9012-0211-30F5-0FC6-55952577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3B1775-668E-3534-B2E7-20F412DD2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9118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EE62B-4E25-6957-512C-965258904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09CC5AE-3F98-7F56-DFC7-857A77A57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EFD36-4C91-5754-1311-0EE16B8A8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4E434A-5EC6-86B6-3D68-0F15A6877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45B7EA-6A53-48D2-0899-786A59AE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1436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055E64-173A-A46C-E067-034922F9D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2435AE-2288-BDC4-9EB4-564581974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FE9259-C3C0-CA00-CBBA-7C6E5A33D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076CD3-9B26-E2F3-5C94-DD7BEFB32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07AA67-CF2D-0A39-A110-AF3CA7C1F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429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00907DD-842A-E29E-D60A-08ED59FCD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59D565-08B7-F15A-BDD8-D53BE04D4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A62D52-320C-F297-245D-521F0BBBB7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50C022C9-6362-4D7E-800D-CCB5DC9E42C2}" type="datetimeFigureOut">
              <a:rPr lang="ja-JP" altLang="en-US" smtClean="0"/>
              <a:pPr/>
              <a:t>2026/2/4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837BAE-EBEB-1F2E-57B8-5D2CB39ABB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3B9A0A-A600-1DDE-BE15-1F6392A9E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FBF6089D-95F5-4092-B6A7-DE2EA042654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161525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hyperlink" Target="https://news.mynavi.jp/article/20251223-3859486/" TargetMode="External"/><Relationship Id="rId18" Type="http://schemas.openxmlformats.org/officeDocument/2006/relationships/image" Target="../media/image8.png"/><Relationship Id="rId3" Type="http://schemas.openxmlformats.org/officeDocument/2006/relationships/hyperlink" Target="https://news.yahoo.co.jp/expert/articles/2aaef085f14d8c5592ecd0e6df466a5afc86d56e" TargetMode="External"/><Relationship Id="rId7" Type="http://schemas.openxmlformats.org/officeDocument/2006/relationships/image" Target="../media/image3.png"/><Relationship Id="rId12" Type="http://schemas.openxmlformats.org/officeDocument/2006/relationships/hyperlink" Target="https://www.sbbit.jp/article/cont1/179458" TargetMode="External"/><Relationship Id="rId17" Type="http://schemas.openxmlformats.org/officeDocument/2006/relationships/image" Target="../media/image7.png"/><Relationship Id="rId2" Type="http://schemas.openxmlformats.org/officeDocument/2006/relationships/hyperlink" Target="https://gigazine.net/news/20251210-mcp-donated-to-aaif/" TargetMode="External"/><Relationship Id="rId16" Type="http://schemas.openxmlformats.org/officeDocument/2006/relationships/hyperlink" Target="https://www.watch.impress.co.jp/docs/topic/2079398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hyperlink" Target="https://dev.classmethod.jp/articles/claude-desktop-mcp-answered-by-claude/" TargetMode="External"/><Relationship Id="rId5" Type="http://schemas.openxmlformats.org/officeDocument/2006/relationships/image" Target="../media/image1.jpg"/><Relationship Id="rId15" Type="http://schemas.openxmlformats.org/officeDocument/2006/relationships/hyperlink" Target="https://tech-noisy.com/2026/01/26/anthropic-claude-in-excel-beta-release/" TargetMode="External"/><Relationship Id="rId10" Type="http://schemas.openxmlformats.org/officeDocument/2006/relationships/image" Target="../media/image6.png"/><Relationship Id="rId19" Type="http://schemas.openxmlformats.org/officeDocument/2006/relationships/image" Target="../media/image9.png"/><Relationship Id="rId4" Type="http://schemas.openxmlformats.org/officeDocument/2006/relationships/hyperlink" Target="https://forest.watch.impress.co.jp/docs/news/2067633.html" TargetMode="External"/><Relationship Id="rId9" Type="http://schemas.openxmlformats.org/officeDocument/2006/relationships/image" Target="../media/image5.png"/><Relationship Id="rId14" Type="http://schemas.openxmlformats.org/officeDocument/2006/relationships/hyperlink" Target="https://forest.watch.impress.co.jp/docs/news/2055832.html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hyperlink" Target="https://claude.com/ja-jp/blog/how-anthropic-teams-use-claude-code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s://learn.microsoft.com/ja-jp/microsoft-365-copilot/extensibility/agents-overview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6.png"/><Relationship Id="rId10" Type="http://schemas.openxmlformats.org/officeDocument/2006/relationships/image" Target="../media/image14.svg"/><Relationship Id="rId4" Type="http://schemas.openxmlformats.org/officeDocument/2006/relationships/hyperlink" Target="https://claude.ai/code" TargetMode="External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.com/hhu/n/n92c9c7c65722" TargetMode="External"/><Relationship Id="rId2" Type="http://schemas.openxmlformats.org/officeDocument/2006/relationships/hyperlink" Target="https://note.com/napps/n/na65725437971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odoor.co.jp/staffblog/claudecode_for_marketin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qiita.com/hirokidaichi/items/243bd176b84900f4cc0d" TargetMode="External"/><Relationship Id="rId7" Type="http://schemas.openxmlformats.org/officeDocument/2006/relationships/hyperlink" Target="https://group.gmo/news/article/9794/" TargetMode="External"/><Relationship Id="rId2" Type="http://schemas.openxmlformats.org/officeDocument/2006/relationships/hyperlink" Target="https://note.com/electrical_cat/n/n672a533b2004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zenn.dev/readyfor_blog/articles/a1cfd81a562e07" TargetMode="External"/><Relationship Id="rId5" Type="http://schemas.openxmlformats.org/officeDocument/2006/relationships/hyperlink" Target="https://www.itmedia.co.jp/news/articles/2509/29/news074.html" TargetMode="External"/><Relationship Id="rId4" Type="http://schemas.openxmlformats.org/officeDocument/2006/relationships/hyperlink" Target="https://docs.google.com/spreadsheets/d/1HW0ipoNLYD6LqbqDnfeZE8sy_PlUue-hq1B47NuwIvQ/edit?gid=0#gid=0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www.bloomberg.com/news/articles/2025-06-10/accenture-trains-500-000-staffers-for-boom-in-ai-consulting-work" TargetMode="External"/><Relationship Id="rId7" Type="http://schemas.openxmlformats.org/officeDocument/2006/relationships/hyperlink" Target="https://www.nttdata.com/global/ja/news/topics/2025/090502/" TargetMode="External"/><Relationship Id="rId2" Type="http://schemas.openxmlformats.org/officeDocument/2006/relationships/hyperlink" Target="https://www.trans-cosmos.co.jp/ir/library/pdf/2025/pre250430.pdf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olution.bell24.co.jp/ja/solution/crm_consulting/publicsectorbpo/ai_bpo/" TargetMode="External"/><Relationship Id="rId5" Type="http://schemas.openxmlformats.org/officeDocument/2006/relationships/hyperlink" Target="https://www.trans-cosmos.co.jp/company/news/240808_0001.html" TargetMode="External"/><Relationship Id="rId4" Type="http://schemas.openxmlformats.org/officeDocument/2006/relationships/hyperlink" Target="https://newsroom.accenture.jp/jp/news/2025/release-2025121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吹き出し: 四角形 39">
            <a:extLst>
              <a:ext uri="{FF2B5EF4-FFF2-40B4-BE49-F238E27FC236}">
                <a16:creationId xmlns:a16="http://schemas.microsoft.com/office/drawing/2014/main" id="{8F283454-163A-BAFC-BB97-2206CC9B1514}"/>
              </a:ext>
            </a:extLst>
          </p:cNvPr>
          <p:cNvSpPr/>
          <p:nvPr/>
        </p:nvSpPr>
        <p:spPr>
          <a:xfrm>
            <a:off x="3880123" y="6188530"/>
            <a:ext cx="8080435" cy="618819"/>
          </a:xfrm>
          <a:prstGeom prst="wedgeRectCallout">
            <a:avLst>
              <a:gd name="adj1" fmla="val -42182"/>
              <a:gd name="adj2" fmla="val -118727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と外部ツールの接続規格。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Google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も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を採用。</a:t>
            </a:r>
            <a:endParaRPr kumimoji="1" lang="en-US" altLang="ja-JP" sz="14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2025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年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12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月に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Linux Foundation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傘下で業界標準化。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特定のベンダーに依存しないエコシステムへ。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EA754-A7B6-56E0-51E1-F086413075F2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Anthropic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社 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C24D339-67BE-A12E-26F8-8836C35F8414}"/>
              </a:ext>
            </a:extLst>
          </p:cNvPr>
          <p:cNvSpPr txBox="1"/>
          <p:nvPr/>
        </p:nvSpPr>
        <p:spPr>
          <a:xfrm>
            <a:off x="443465" y="901987"/>
            <a:ext cx="11215133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Anthropic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ChatGPT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を作っている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社の競合で、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出身者が設立した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企業。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など、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業界全体が採用する「規格を作る側」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になっている企業。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in Chrome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など、</a:t>
            </a: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の実務でも使える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武器を複数生み出している。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国内でもテック企業やスタートアップで利用する企業が出始め、先行企業は成果を出し始めている。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3693C1E-64EA-F9BC-1D06-12C224CF3E19}"/>
              </a:ext>
            </a:extLst>
          </p:cNvPr>
          <p:cNvSpPr/>
          <p:nvPr/>
        </p:nvSpPr>
        <p:spPr>
          <a:xfrm>
            <a:off x="231441" y="2186027"/>
            <a:ext cx="3512310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Anthropic</a:t>
            </a:r>
            <a:r>
              <a:rPr kumimoji="1" lang="ja-JP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の位置づけ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8F2CB9DD-98C8-2DCA-2E08-E79602F4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416970"/>
              </p:ext>
            </p:extLst>
          </p:nvPr>
        </p:nvGraphicFramePr>
        <p:xfrm>
          <a:off x="231441" y="2722404"/>
          <a:ext cx="3512310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109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030240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182696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OpenAI</a:t>
                      </a:r>
                      <a:endParaRPr kumimoji="1" lang="ja-JP" altLang="en-US" sz="16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Anthropic</a:t>
                      </a:r>
                      <a:endParaRPr kumimoji="1" lang="ja-JP" altLang="en-US" sz="16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企業ポジション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製品化の巨人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業界全体が採用する技術標準を生み出す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特徴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ChatGPT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Sora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等で消費者市場を席巻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業界全体が採用する技術標準を生み出す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M365 Copilot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も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を採用（マルチモデル化）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38971F-DC5E-DCC5-44FA-459ECE6B67C4}"/>
              </a:ext>
            </a:extLst>
          </p:cNvPr>
          <p:cNvSpPr/>
          <p:nvPr/>
        </p:nvSpPr>
        <p:spPr>
          <a:xfrm>
            <a:off x="231442" y="5379019"/>
            <a:ext cx="3512309" cy="9691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M365 Copilot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一本から方針転換。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Copilot Studio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Excel Agent Mode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で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Claude Opus 4.5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月時点で選択可能に。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6C861DB-C164-8416-06F6-1895587D013A}"/>
              </a:ext>
            </a:extLst>
          </p:cNvPr>
          <p:cNvSpPr/>
          <p:nvPr/>
        </p:nvSpPr>
        <p:spPr>
          <a:xfrm>
            <a:off x="3954426" y="2186027"/>
            <a:ext cx="800613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主な発表・動向</a:t>
            </a:r>
          </a:p>
        </p:txBody>
      </p:sp>
      <p:pic>
        <p:nvPicPr>
          <p:cNvPr id="15" name="図 14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0D53DB3E-7418-3CCA-A579-19FA2A5E00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0111" y="2667098"/>
            <a:ext cx="1183041" cy="1183041"/>
          </a:xfrm>
          <a:prstGeom prst="rect">
            <a:avLst/>
          </a:prstGeom>
        </p:spPr>
      </p:pic>
      <p:pic>
        <p:nvPicPr>
          <p:cNvPr id="11" name="図 1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84403B7F-42B2-11C4-3574-86CE78E09B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847" y="2934873"/>
            <a:ext cx="748357" cy="748357"/>
          </a:xfrm>
          <a:prstGeom prst="rect">
            <a:avLst/>
          </a:prstGeom>
        </p:spPr>
      </p:pic>
      <p:pic>
        <p:nvPicPr>
          <p:cNvPr id="13" name="図 12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010722DA-9155-ECFC-8195-638FF22F20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323" y="2375598"/>
            <a:ext cx="1270067" cy="748356"/>
          </a:xfrm>
          <a:prstGeom prst="rect">
            <a:avLst/>
          </a:prstGeom>
        </p:spPr>
      </p:pic>
      <p:pic>
        <p:nvPicPr>
          <p:cNvPr id="17" name="図 1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33E1DAB-1D2B-C3B0-EFCD-A328EA1E4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613" y="2849503"/>
            <a:ext cx="844630" cy="818235"/>
          </a:xfrm>
          <a:prstGeom prst="rect">
            <a:avLst/>
          </a:prstGeom>
        </p:spPr>
      </p:pic>
      <p:pic>
        <p:nvPicPr>
          <p:cNvPr id="19" name="図 18" descr="白い背景に黒い文字が書かれた絵&#10;&#10;AI 生成コンテンツは誤りを含む可能性があります。">
            <a:extLst>
              <a:ext uri="{FF2B5EF4-FFF2-40B4-BE49-F238E27FC236}">
                <a16:creationId xmlns:a16="http://schemas.microsoft.com/office/drawing/2014/main" id="{4452C3ED-B8CF-CC70-CC49-147BF9F832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9314" y="2849502"/>
            <a:ext cx="862597" cy="818235"/>
          </a:xfrm>
          <a:prstGeom prst="rect">
            <a:avLst/>
          </a:prstGeom>
        </p:spPr>
      </p:pic>
      <p:pic>
        <p:nvPicPr>
          <p:cNvPr id="21" name="図 20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270F9240-AD55-0D81-5287-47C43B39FE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3519" y="2827837"/>
            <a:ext cx="933021" cy="868147"/>
          </a:xfrm>
          <a:prstGeom prst="rect">
            <a:avLst/>
          </a:prstGeom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778FC040-8443-36E0-CC15-01B935E4416D}"/>
              </a:ext>
            </a:extLst>
          </p:cNvPr>
          <p:cNvCxnSpPr>
            <a:cxnSpLocks/>
          </p:cNvCxnSpPr>
          <p:nvPr/>
        </p:nvCxnSpPr>
        <p:spPr>
          <a:xfrm>
            <a:off x="3954426" y="3936615"/>
            <a:ext cx="8006132" cy="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9060C280-1527-D343-80D8-C0CC92FAAB98}"/>
              </a:ext>
            </a:extLst>
          </p:cNvPr>
          <p:cNvSpPr/>
          <p:nvPr/>
        </p:nvSpPr>
        <p:spPr>
          <a:xfrm>
            <a:off x="4323298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359192FF-8AA3-BD6F-F681-0B966DA29631}"/>
              </a:ext>
            </a:extLst>
          </p:cNvPr>
          <p:cNvSpPr/>
          <p:nvPr/>
        </p:nvSpPr>
        <p:spPr>
          <a:xfrm>
            <a:off x="5806236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50BC03A2-ABE0-9C34-E209-1D153097FC10}"/>
              </a:ext>
            </a:extLst>
          </p:cNvPr>
          <p:cNvSpPr/>
          <p:nvPr/>
        </p:nvSpPr>
        <p:spPr>
          <a:xfrm>
            <a:off x="7454905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572C1F17-81B2-AB0E-0B00-B0CFEA066A0F}"/>
              </a:ext>
            </a:extLst>
          </p:cNvPr>
          <p:cNvSpPr/>
          <p:nvPr/>
        </p:nvSpPr>
        <p:spPr>
          <a:xfrm>
            <a:off x="8701202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1D5A154-29E3-76CF-689C-01B662E41E63}"/>
              </a:ext>
            </a:extLst>
          </p:cNvPr>
          <p:cNvSpPr/>
          <p:nvPr/>
        </p:nvSpPr>
        <p:spPr>
          <a:xfrm>
            <a:off x="10019969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楕円 32">
            <a:extLst>
              <a:ext uri="{FF2B5EF4-FFF2-40B4-BE49-F238E27FC236}">
                <a16:creationId xmlns:a16="http://schemas.microsoft.com/office/drawing/2014/main" id="{D52F98E1-DBE1-DF07-AB6F-FBBD66085472}"/>
              </a:ext>
            </a:extLst>
          </p:cNvPr>
          <p:cNvSpPr/>
          <p:nvPr/>
        </p:nvSpPr>
        <p:spPr>
          <a:xfrm>
            <a:off x="11233886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37DDA82-1D84-2EEC-D97E-7259F1319258}"/>
              </a:ext>
            </a:extLst>
          </p:cNvPr>
          <p:cNvSpPr txBox="1"/>
          <p:nvPr/>
        </p:nvSpPr>
        <p:spPr>
          <a:xfrm>
            <a:off x="3812030" y="4041788"/>
            <a:ext cx="1248830" cy="16812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11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1"/>
              </a:rPr>
              <a:t>MCP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Model Context Protocol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1FABAED-0E53-4137-657B-34BED609BECF}"/>
              </a:ext>
            </a:extLst>
          </p:cNvPr>
          <p:cNvSpPr txBox="1"/>
          <p:nvPr/>
        </p:nvSpPr>
        <p:spPr>
          <a:xfrm>
            <a:off x="4968968" y="4041788"/>
            <a:ext cx="200246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Claude Code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ターミナル（黒い画面）で動く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エージェント。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開発ツールとして登場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月に正式リリース。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24786D1-8D75-CE82-540F-7544E59D55AA}"/>
              </a:ext>
            </a:extLst>
          </p:cNvPr>
          <p:cNvSpPr txBox="1"/>
          <p:nvPr/>
        </p:nvSpPr>
        <p:spPr>
          <a:xfrm>
            <a:off x="6885836" y="4041788"/>
            <a:ext cx="1282147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Claude in Chrome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hrome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拡張で</a:t>
            </a:r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ブラウザ操作自動化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A402090-C9AB-E1FB-7611-CB6F25E423A5}"/>
              </a:ext>
            </a:extLst>
          </p:cNvPr>
          <p:cNvSpPr txBox="1"/>
          <p:nvPr/>
        </p:nvSpPr>
        <p:spPr>
          <a:xfrm>
            <a:off x="8186122" y="4041788"/>
            <a:ext cx="1282147" cy="1823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4"/>
              </a:rPr>
              <a:t>Skills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業務ノウハウをパッケージ化。会話だけで作成可能。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CD59AC-1CA2-56D0-908E-B072FE145934}"/>
              </a:ext>
            </a:extLst>
          </p:cNvPr>
          <p:cNvSpPr txBox="1"/>
          <p:nvPr/>
        </p:nvSpPr>
        <p:spPr>
          <a:xfrm>
            <a:off x="9472446" y="4041788"/>
            <a:ext cx="1282147" cy="1592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5"/>
              </a:rPr>
              <a:t>Claude in Excel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自然言語で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Excel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操作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CFE4613-A077-9C55-328B-EB75377B5888}"/>
              </a:ext>
            </a:extLst>
          </p:cNvPr>
          <p:cNvSpPr txBox="1"/>
          <p:nvPr/>
        </p:nvSpPr>
        <p:spPr>
          <a:xfrm>
            <a:off x="10697662" y="4041788"/>
            <a:ext cx="1282147" cy="1823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2026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6"/>
              </a:rPr>
              <a:t>Cowork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非開発者向けデスクトップエージェント（現在は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Mac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のみ）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3" name="図 42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0D00CE13-547E-11A0-E352-4A4F250D525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594" y="257739"/>
            <a:ext cx="2605659" cy="561845"/>
          </a:xfrm>
          <a:prstGeom prst="rect">
            <a:avLst/>
          </a:prstGeom>
        </p:spPr>
      </p:pic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EBD3857C-FC6A-1EFF-45FD-B1C07520325C}"/>
              </a:ext>
            </a:extLst>
          </p:cNvPr>
          <p:cNvGrpSpPr/>
          <p:nvPr/>
        </p:nvGrpSpPr>
        <p:grpSpPr>
          <a:xfrm>
            <a:off x="5684999" y="2752472"/>
            <a:ext cx="1309144" cy="1037811"/>
            <a:chOff x="2028257" y="204337"/>
            <a:chExt cx="8135485" cy="6449325"/>
          </a:xfrm>
        </p:grpSpPr>
        <p:pic>
          <p:nvPicPr>
            <p:cNvPr id="52" name="図 51" descr="テキスト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771CB0C-9519-B572-D09B-2496E766D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028257" y="204337"/>
              <a:ext cx="8135485" cy="6449325"/>
            </a:xfrm>
            <a:prstGeom prst="rect">
              <a:avLst/>
            </a:prstGeom>
            <a:ln>
              <a:noFill/>
            </a:ln>
            <a:effectLst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  <p:pic>
          <p:nvPicPr>
            <p:cNvPr id="53" name="図 52">
              <a:extLst>
                <a:ext uri="{FF2B5EF4-FFF2-40B4-BE49-F238E27FC236}">
                  <a16:creationId xmlns:a16="http://schemas.microsoft.com/office/drawing/2014/main" id="{39D7B14C-2A36-4F8C-CF68-77D7C8DA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06669" y="1702113"/>
              <a:ext cx="2113295" cy="28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1162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5BF2E-8FBA-3B44-2BF5-71D087ED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95047DB-4761-F67E-4248-47F90148299A}"/>
              </a:ext>
            </a:extLst>
          </p:cNvPr>
          <p:cNvSpPr/>
          <p:nvPr/>
        </p:nvSpPr>
        <p:spPr>
          <a:xfrm>
            <a:off x="8488013" y="3143760"/>
            <a:ext cx="3518935" cy="1476126"/>
          </a:xfrm>
          <a:prstGeom prst="roundRect">
            <a:avLst/>
          </a:prstGeom>
          <a:solidFill>
            <a:srgbClr val="ED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7050C24C-F094-D1CC-0E9E-B22C5D5B13CB}"/>
              </a:ext>
            </a:extLst>
          </p:cNvPr>
          <p:cNvSpPr/>
          <p:nvPr/>
        </p:nvSpPr>
        <p:spPr>
          <a:xfrm>
            <a:off x="8783112" y="3463220"/>
            <a:ext cx="2928735" cy="7379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680F3FE-1232-A8E3-E297-1699B63EBBCF}"/>
              </a:ext>
            </a:extLst>
          </p:cNvPr>
          <p:cNvSpPr/>
          <p:nvPr/>
        </p:nvSpPr>
        <p:spPr>
          <a:xfrm>
            <a:off x="5575852" y="3118678"/>
            <a:ext cx="2375452" cy="147612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8474D0-EAC6-01B9-08C9-F6BF1E98735D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「チャットで答える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」から「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を動かす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」へ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17CE811-0509-D08E-CFB3-4BCA1474762E}"/>
              </a:ext>
            </a:extLst>
          </p:cNvPr>
          <p:cNvSpPr/>
          <p:nvPr/>
        </p:nvSpPr>
        <p:spPr>
          <a:xfrm>
            <a:off x="185049" y="1008015"/>
            <a:ext cx="5122446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・ブラウザを操作する時代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" name="図 1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8B9F8CC5-CA72-F45F-2548-F891A61AA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51" y="2134471"/>
            <a:ext cx="843930" cy="843930"/>
          </a:xfrm>
          <a:prstGeom prst="rect">
            <a:avLst/>
          </a:prstGeom>
        </p:spPr>
      </p:pic>
      <p:pic>
        <p:nvPicPr>
          <p:cNvPr id="3" name="図 2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7A4DADF2-8EB3-05DD-1E24-34143C526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49" y="1571243"/>
            <a:ext cx="775934" cy="4572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C608D0-F9DB-37B4-989F-3E28CA46A5A1}"/>
              </a:ext>
            </a:extLst>
          </p:cNvPr>
          <p:cNvSpPr txBox="1"/>
          <p:nvPr/>
        </p:nvSpPr>
        <p:spPr>
          <a:xfrm>
            <a:off x="960983" y="1462741"/>
            <a:ext cx="4346512" cy="71173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：ターミナル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（黒い画面）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で動く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➡</a:t>
            </a:r>
            <a:r>
              <a:rPr kumimoji="1"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開発ツールだけど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自体を操作できる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ということ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C5EB677-2876-A69B-0321-E3AB11269551}"/>
              </a:ext>
            </a:extLst>
          </p:cNvPr>
          <p:cNvSpPr txBox="1"/>
          <p:nvPr/>
        </p:nvSpPr>
        <p:spPr>
          <a:xfrm>
            <a:off x="960983" y="2200569"/>
            <a:ext cx="403528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in Chrome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Chrome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拡張として動く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ブラウザを操作できる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ということ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F102DBE-8503-73D0-0CAA-8D560FC96AC6}"/>
              </a:ext>
            </a:extLst>
          </p:cNvPr>
          <p:cNvSpPr/>
          <p:nvPr/>
        </p:nvSpPr>
        <p:spPr>
          <a:xfrm>
            <a:off x="185049" y="3084429"/>
            <a:ext cx="5122446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との違い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F138339E-171F-FF11-8C24-C15070811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402878"/>
              </p:ext>
            </p:extLst>
          </p:nvPr>
        </p:nvGraphicFramePr>
        <p:xfrm>
          <a:off x="185050" y="3597784"/>
          <a:ext cx="5122446" cy="3030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098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699591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2325757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5307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従来の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RPA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 Code / Claude in Chrome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741536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動作環境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画面座標・要素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ID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を記録して再生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が画面を見て意味を理解して操作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 画面スクショを取り勝手に確認するなど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画面変更時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止まる（シナリオ作り直し）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が適応して操作を継続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例外処理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人が対応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が判断して対処、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または人に確認依頼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66824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作成方法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画面録画・スクリプト作成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自然言語で指示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302509"/>
                  </a:ext>
                </a:extLst>
              </a:tr>
            </a:tbl>
          </a:graphicData>
        </a:graphic>
      </p:graphicFrame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544AB4B-718D-64CC-A4A4-95AFEC11B529}"/>
              </a:ext>
            </a:extLst>
          </p:cNvPr>
          <p:cNvSpPr/>
          <p:nvPr/>
        </p:nvSpPr>
        <p:spPr>
          <a:xfrm>
            <a:off x="5495857" y="1008015"/>
            <a:ext cx="6511094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M365 Copilot 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との違い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DD53D0B6-C392-7C1C-06FD-1B654C3DC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771185"/>
              </p:ext>
            </p:extLst>
          </p:nvPr>
        </p:nvGraphicFramePr>
        <p:xfrm>
          <a:off x="5495856" y="1510631"/>
          <a:ext cx="6511093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511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2011001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310558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179327"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M365 Copilot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 Code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31144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各実行したアプリ内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(Word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Excel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PC(※1) Or 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アプリ上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29887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連携範囲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検索、自社テナント内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(SharePoint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GitHub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API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等の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プログラムで実行できる範囲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</a:tbl>
          </a:graphicData>
        </a:graphic>
      </p:graphicFrame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28076EA-3616-DAED-B69D-2C0495BDB1EF}"/>
              </a:ext>
            </a:extLst>
          </p:cNvPr>
          <p:cNvSpPr txBox="1"/>
          <p:nvPr/>
        </p:nvSpPr>
        <p:spPr>
          <a:xfrm>
            <a:off x="5993245" y="3084429"/>
            <a:ext cx="1540667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M365 Copilot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48421DE-3227-2531-A86F-D2ECD881183A}"/>
              </a:ext>
            </a:extLst>
          </p:cNvPr>
          <p:cNvSpPr txBox="1"/>
          <p:nvPr/>
        </p:nvSpPr>
        <p:spPr>
          <a:xfrm>
            <a:off x="5588244" y="3893328"/>
            <a:ext cx="2350668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各アプリを箱として、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>
              <a:lnSpc>
                <a:spcPct val="150000"/>
              </a:lnSpc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その中で使える便利な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</a:p>
        </p:txBody>
      </p:sp>
      <p:sp>
        <p:nvSpPr>
          <p:cNvPr id="41" name="二等辺三角形 40">
            <a:extLst>
              <a:ext uri="{FF2B5EF4-FFF2-40B4-BE49-F238E27FC236}">
                <a16:creationId xmlns:a16="http://schemas.microsoft.com/office/drawing/2014/main" id="{F1501687-E086-0EE7-2AFB-6BAB31C795FF}"/>
              </a:ext>
            </a:extLst>
          </p:cNvPr>
          <p:cNvSpPr/>
          <p:nvPr/>
        </p:nvSpPr>
        <p:spPr>
          <a:xfrm rot="5400000">
            <a:off x="7832033" y="3774059"/>
            <a:ext cx="775252" cy="238539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64AB2BF4-EA79-786D-D4D6-C26F1AC75F19}"/>
              </a:ext>
            </a:extLst>
          </p:cNvPr>
          <p:cNvSpPr txBox="1"/>
          <p:nvPr/>
        </p:nvSpPr>
        <p:spPr>
          <a:xfrm>
            <a:off x="9477145" y="3085240"/>
            <a:ext cx="1540667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2" name="図 21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30B6BEEF-853C-39B0-5F32-10B93CDB98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3780" y="3463219"/>
            <a:ext cx="431632" cy="401619"/>
          </a:xfrm>
          <a:prstGeom prst="rect">
            <a:avLst/>
          </a:prstGeom>
        </p:spPr>
      </p:pic>
      <p:pic>
        <p:nvPicPr>
          <p:cNvPr id="50" name="図 49" descr="グラフィカル ユーザー インターフェイス, 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9EEBFD5B-6AC5-330C-E9F1-DE546DC40D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5853" y="3397937"/>
            <a:ext cx="532184" cy="532184"/>
          </a:xfrm>
          <a:prstGeom prst="rect">
            <a:avLst/>
          </a:prstGeom>
        </p:spPr>
      </p:pic>
      <p:pic>
        <p:nvPicPr>
          <p:cNvPr id="53" name="グラフィックス 52" descr="ブラウザー ウィンドウ 枠線">
            <a:extLst>
              <a:ext uri="{FF2B5EF4-FFF2-40B4-BE49-F238E27FC236}">
                <a16:creationId xmlns:a16="http://schemas.microsoft.com/office/drawing/2014/main" id="{2E321925-B9DA-4E17-38BD-279F40B377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72277" y="3451360"/>
            <a:ext cx="550507" cy="550507"/>
          </a:xfrm>
          <a:prstGeom prst="rect">
            <a:avLst/>
          </a:prstGeom>
        </p:spPr>
      </p:pic>
      <p:pic>
        <p:nvPicPr>
          <p:cNvPr id="55" name="グラフィックス 54" descr="紙 単色塗りつぶし">
            <a:extLst>
              <a:ext uri="{FF2B5EF4-FFF2-40B4-BE49-F238E27FC236}">
                <a16:creationId xmlns:a16="http://schemas.microsoft.com/office/drawing/2014/main" id="{B411DB0D-77EC-15F9-8515-DC4CC74E90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39029" y="3478751"/>
            <a:ext cx="477331" cy="477331"/>
          </a:xfrm>
          <a:prstGeom prst="rect">
            <a:avLst/>
          </a:prstGeom>
        </p:spPr>
      </p:pic>
      <p:pic>
        <p:nvPicPr>
          <p:cNvPr id="57" name="図 56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E91AD045-22BC-7DCF-401D-69EB6944C7C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812" y="3537092"/>
            <a:ext cx="388568" cy="388568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85891717-A34B-D6BC-463C-2CCADEEAC599}"/>
              </a:ext>
            </a:extLst>
          </p:cNvPr>
          <p:cNvSpPr txBox="1"/>
          <p:nvPr/>
        </p:nvSpPr>
        <p:spPr>
          <a:xfrm>
            <a:off x="8946751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100">
                <a:latin typeface="メイリオ" panose="020B0604030504040204" pitchFamily="50" charset="-128"/>
                <a:ea typeface="メイリオ" panose="020B0604030504040204" pitchFamily="50" charset="-128"/>
              </a:rPr>
              <a:t>ファイル</a:t>
            </a:r>
            <a:endParaRPr kumimoji="1" lang="en-US" altLang="ja-JP" sz="11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049B6624-2F28-BFFC-4979-007674CCC9DD}"/>
              </a:ext>
            </a:extLst>
          </p:cNvPr>
          <p:cNvSpPr txBox="1"/>
          <p:nvPr/>
        </p:nvSpPr>
        <p:spPr>
          <a:xfrm>
            <a:off x="9785703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100">
                <a:latin typeface="メイリオ" panose="020B0604030504040204" pitchFamily="50" charset="-128"/>
                <a:ea typeface="メイリオ" panose="020B0604030504040204" pitchFamily="50" charset="-128"/>
              </a:rPr>
              <a:t>ブラウザ</a:t>
            </a:r>
            <a:endParaRPr kumimoji="1" lang="en-US" altLang="ja-JP" sz="11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F68F23EA-5709-1085-DA00-DE55597E4095}"/>
              </a:ext>
            </a:extLst>
          </p:cNvPr>
          <p:cNvSpPr txBox="1"/>
          <p:nvPr/>
        </p:nvSpPr>
        <p:spPr>
          <a:xfrm>
            <a:off x="10767193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ja-JP" sz="1100">
                <a:latin typeface="メイリオ" panose="020B0604030504040204" pitchFamily="50" charset="-128"/>
                <a:ea typeface="メイリオ" panose="020B0604030504040204" pitchFamily="50" charset="-128"/>
              </a:rPr>
              <a:t>API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0063E1D9-6580-4A06-AF58-1FEBAF12F55F}"/>
              </a:ext>
            </a:extLst>
          </p:cNvPr>
          <p:cNvSpPr txBox="1"/>
          <p:nvPr/>
        </p:nvSpPr>
        <p:spPr>
          <a:xfrm>
            <a:off x="8956983" y="4198805"/>
            <a:ext cx="2580995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全体を箱として操作可能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A7B16B8-6285-EBD4-5D8C-0309B3CB8B8D}"/>
              </a:ext>
            </a:extLst>
          </p:cNvPr>
          <p:cNvSpPr txBox="1"/>
          <p:nvPr/>
        </p:nvSpPr>
        <p:spPr>
          <a:xfrm>
            <a:off x="5495856" y="5783849"/>
            <a:ext cx="651109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今までの</a:t>
            </a:r>
            <a:r>
              <a:rPr lang="en-US" altLang="ja-JP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で扱っていた</a:t>
            </a:r>
            <a:r>
              <a:rPr lang="en-US" altLang="ja-JP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の価値が変わる</a:t>
            </a:r>
            <a:endParaRPr lang="en-US" altLang="ja-JP" sz="16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システムへの入力作業」「定型的な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操作」を、より柔軟に自動化できる。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画面構成が変わっても止まらない。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17F76B0E-1410-E30D-80E2-D4B7CA4D9ED0}"/>
              </a:ext>
            </a:extLst>
          </p:cNvPr>
          <p:cNvSpPr txBox="1"/>
          <p:nvPr/>
        </p:nvSpPr>
        <p:spPr>
          <a:xfrm>
            <a:off x="6619461" y="2679812"/>
            <a:ext cx="555125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※1 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実行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版はターミナル、デスクトップアプリ、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IDE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拡張など複数形態あり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矢印: 下 67">
            <a:extLst>
              <a:ext uri="{FF2B5EF4-FFF2-40B4-BE49-F238E27FC236}">
                <a16:creationId xmlns:a16="http://schemas.microsoft.com/office/drawing/2014/main" id="{E9217221-EAFD-758E-154D-97838230EB45}"/>
              </a:ext>
            </a:extLst>
          </p:cNvPr>
          <p:cNvSpPr/>
          <p:nvPr/>
        </p:nvSpPr>
        <p:spPr>
          <a:xfrm>
            <a:off x="6644308" y="4488218"/>
            <a:ext cx="238540" cy="29140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D33F1468-3D5F-9C83-BE41-F6D084DA6D70}"/>
              </a:ext>
            </a:extLst>
          </p:cNvPr>
          <p:cNvSpPr txBox="1"/>
          <p:nvPr/>
        </p:nvSpPr>
        <p:spPr>
          <a:xfrm>
            <a:off x="5575852" y="4785777"/>
            <a:ext cx="6431096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アプリの中で使うので個人の作業効率化には有効だが、</a:t>
            </a:r>
            <a:r>
              <a:rPr kumimoji="1"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自身が「</a:t>
            </a:r>
            <a:r>
              <a:rPr lang="en-US" altLang="ja-JP" sz="105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Copilot</a:t>
            </a:r>
            <a:r>
              <a:rPr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だけでは組織固有のワークフロー・自動化ニーズに完全対応できない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」と明記。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複数システムを横断する定型業務やデータ連携など、業務フロー全体の自動化には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エージェントが必要。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Anthropic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社内では非技術部門でもワークフロー自動化を実現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→ </a:t>
            </a:r>
            <a:r>
              <a:rPr lang="en-US" altLang="ja-JP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Copilot</a:t>
            </a:r>
            <a:r>
              <a:rPr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は「今の仕事を速くする」、エージェントは「仕事の仕組みを変える」</a:t>
            </a:r>
            <a:endParaRPr kumimoji="1" lang="en-US" altLang="ja-JP" sz="105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98881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BF782-F712-53F9-BCB6-7FB2B91E9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4B8077-6918-1F84-00A6-E8C0DFFBEECA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 - 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業務ノウハウのパッケージ化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7FBD5-2210-44D4-90FC-F12B2FBCBB61}"/>
              </a:ext>
            </a:extLst>
          </p:cNvPr>
          <p:cNvSpPr txBox="1"/>
          <p:nvPr/>
        </p:nvSpPr>
        <p:spPr>
          <a:xfrm>
            <a:off x="260898" y="901987"/>
            <a:ext cx="11670205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：特定業務に必要な指示・テンプレート・ツール接続を「スキル」としてモジュール化する機能。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内に「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を作る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」があるため、会話するだけでスキルを作成可能。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のどちらでも利用可能。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3F0BAD2-E942-B780-B994-B332EBB7F34D}"/>
              </a:ext>
            </a:extLst>
          </p:cNvPr>
          <p:cNvSpPr/>
          <p:nvPr/>
        </p:nvSpPr>
        <p:spPr>
          <a:xfrm>
            <a:off x="85659" y="1685140"/>
            <a:ext cx="5221837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との比較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77D86F8-5836-6ADF-12F3-6454C1453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160584"/>
              </p:ext>
            </p:extLst>
          </p:nvPr>
        </p:nvGraphicFramePr>
        <p:xfrm>
          <a:off x="85659" y="2925493"/>
          <a:ext cx="522183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892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515614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239533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19220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従来の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RPA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エージェント 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+ Skills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268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作り方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画面操作を録画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会話で業務を説明するだけ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157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動作原理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録画を再生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目的を理解して自分で判断・実行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例外処理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止まる（人が対応）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が判断して対処、または人に確認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668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業務変更時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シナリオ作り直し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スキルを更新するだけ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5577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引き継ぎ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シナリオファイル＋マニュアル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フォルダを渡すだけ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3025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ノウハウ継承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できない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ベテランの暗黙知をパッケージ化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654656"/>
                  </a:ext>
                </a:extLst>
              </a:tr>
            </a:tbl>
          </a:graphicData>
        </a:graphic>
      </p:graphicFrame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72D140-D7A7-BFD8-ADC9-E902395ACAD4}"/>
              </a:ext>
            </a:extLst>
          </p:cNvPr>
          <p:cNvSpPr txBox="1"/>
          <p:nvPr/>
        </p:nvSpPr>
        <p:spPr>
          <a:xfrm>
            <a:off x="85659" y="2142340"/>
            <a:ext cx="5321228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は部品。エージェントが必要に応じて呼び出して利用可能。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頻繁に行う作業は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化しておくことで品質を担保できる。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endParaRPr lang="ja-JP" altLang="en-US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BCE894-66E6-464E-3869-F88F44511450}"/>
              </a:ext>
            </a:extLst>
          </p:cNvPr>
          <p:cNvSpPr txBox="1"/>
          <p:nvPr/>
        </p:nvSpPr>
        <p:spPr>
          <a:xfrm>
            <a:off x="85659" y="6125893"/>
            <a:ext cx="522183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が「マニュアル通りにしか動けないパート従業員」なら、</a:t>
            </a:r>
            <a:endParaRPr kumimoji="1" lang="en-US" altLang="ja-JP" sz="1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は「業務マニュアルを渡したら自分で考えて動ける正社員」</a:t>
            </a:r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CB0CF2-20ED-46BE-CCD5-B134C1AB4E73}"/>
              </a:ext>
            </a:extLst>
          </p:cNvPr>
          <p:cNvSpPr/>
          <p:nvPr/>
        </p:nvSpPr>
        <p:spPr>
          <a:xfrm>
            <a:off x="5495859" y="1685140"/>
            <a:ext cx="661048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つの革新性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AD93C74-FE32-B621-D415-7DAFA1685F46}"/>
              </a:ext>
            </a:extLst>
          </p:cNvPr>
          <p:cNvSpPr txBox="1"/>
          <p:nvPr/>
        </p:nvSpPr>
        <p:spPr>
          <a:xfrm>
            <a:off x="5495859" y="2213760"/>
            <a:ext cx="661048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ポータビリティ：業務引継ぎは「フォルダを渡すだけ」で完了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ノウハウ継承：ベテランの暗黙知を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に学習させ、新人でも同等パフォーマンス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会話で作成可能：プログラミング不要、業務のやり方を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と会話するだけでスキル化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A6D808A-3012-ADE1-3315-08824A87B85F}"/>
              </a:ext>
            </a:extLst>
          </p:cNvPr>
          <p:cNvSpPr/>
          <p:nvPr/>
        </p:nvSpPr>
        <p:spPr>
          <a:xfrm>
            <a:off x="5495859" y="3159189"/>
            <a:ext cx="661048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活用事例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DE0B346F-5EF0-4B86-1AA2-6432E9CD2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333516"/>
              </p:ext>
            </p:extLst>
          </p:nvPr>
        </p:nvGraphicFramePr>
        <p:xfrm>
          <a:off x="5495859" y="3661572"/>
          <a:ext cx="661048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602">
                  <a:extLst>
                    <a:ext uri="{9D8B030D-6E8A-4147-A177-3AD203B41FA5}">
                      <a16:colId xmlns:a16="http://schemas.microsoft.com/office/drawing/2014/main" val="2318932400"/>
                    </a:ext>
                  </a:extLst>
                </a:gridCol>
                <a:gridCol w="4343880">
                  <a:extLst>
                    <a:ext uri="{9D8B030D-6E8A-4147-A177-3AD203B41FA5}">
                      <a16:colId xmlns:a16="http://schemas.microsoft.com/office/drawing/2014/main" val="3640577625"/>
                    </a:ext>
                  </a:extLst>
                </a:gridCol>
              </a:tblGrid>
              <a:tr h="19220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企業・領域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活用内容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6534210"/>
                  </a:ext>
                </a:extLst>
              </a:tr>
              <a:tr h="268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自治体（北海道）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水道トラブル対応の暗黙知を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AI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化 → 新人でも熟練と同等の対応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0260975"/>
                  </a:ext>
                </a:extLst>
              </a:tr>
              <a:tr h="157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営業会社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トップセールスのノウハウ継承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29669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経理（エクスプラザ）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領収書→仕訳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CSV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作成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Skill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9847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マーケター（ドコドア）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週次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ROAS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・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KPI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レポート自動化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063229"/>
                  </a:ext>
                </a:extLst>
              </a:tr>
            </a:tbl>
          </a:graphicData>
        </a:graphic>
      </p:graphicFrame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950F895-2669-6C6F-1A92-E31A802931A8}"/>
              </a:ext>
            </a:extLst>
          </p:cNvPr>
          <p:cNvSpPr txBox="1"/>
          <p:nvPr/>
        </p:nvSpPr>
        <p:spPr>
          <a:xfrm>
            <a:off x="5495856" y="5525729"/>
            <a:ext cx="651109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b="1">
                <a:latin typeface="メイリオ" panose="020B0604030504040204" pitchFamily="50" charset="-128"/>
                <a:ea typeface="メイリオ" panose="020B0604030504040204" pitchFamily="50" charset="-128"/>
              </a:rPr>
              <a:t>業務視点ではどう変化する？</a:t>
            </a:r>
            <a:endParaRPr lang="en-US" altLang="ja-JP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1600">
                <a:latin typeface="メイリオ" panose="020B0604030504040204" pitchFamily="50" charset="-128"/>
                <a:ea typeface="メイリオ" panose="020B0604030504040204" pitchFamily="50" charset="-128"/>
              </a:rPr>
              <a:t>属人化した業務知識の継承</a:t>
            </a:r>
            <a:endParaRPr kumimoji="1" lang="en-US" altLang="ja-JP" sz="16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600">
                <a:latin typeface="メイリオ" panose="020B0604030504040204" pitchFamily="50" charset="-128"/>
                <a:ea typeface="メイリオ" panose="020B0604030504040204" pitchFamily="50" charset="-128"/>
              </a:rPr>
              <a:t>引継ぎコストの削減</a:t>
            </a:r>
            <a:endParaRPr lang="en-US" altLang="ja-JP" sz="16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1600">
                <a:latin typeface="メイリオ" panose="020B0604030504040204" pitchFamily="50" charset="-128"/>
                <a:ea typeface="メイリオ" panose="020B0604030504040204" pitchFamily="50" charset="-128"/>
              </a:rPr>
              <a:t>クライアント提案の差別化（「</a:t>
            </a:r>
            <a:r>
              <a:rPr kumimoji="1" lang="en-US" altLang="ja-JP" sz="16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sz="1600">
                <a:latin typeface="メイリオ" panose="020B0604030504040204" pitchFamily="50" charset="-128"/>
                <a:ea typeface="メイリオ" panose="020B0604030504040204" pitchFamily="50" charset="-128"/>
              </a:rPr>
              <a:t>化した業務改善</a:t>
            </a:r>
            <a:r>
              <a:rPr kumimoji="1" lang="ja-JP" altLang="en-US" sz="1600">
                <a:latin typeface="メイリオ" panose="020B0604030504040204" pitchFamily="50" charset="-128"/>
                <a:ea typeface="メイリオ" panose="020B0604030504040204" pitchFamily="50" charset="-128"/>
              </a:rPr>
              <a:t>」を提案に組み込める）</a:t>
            </a:r>
            <a:endParaRPr kumimoji="1" lang="en-US" altLang="ja-JP" sz="16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104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BE63E-48DE-46BD-A0F1-F75A4883D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7793A3-C588-FC3F-3786-1CE1CBFDAC4A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非エンジニアも使い始めている理由 ➡ ただし環境が必要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503231F-9BC4-C3FF-FA45-B0D34E7AF822}"/>
              </a:ext>
            </a:extLst>
          </p:cNvPr>
          <p:cNvSpPr/>
          <p:nvPr/>
        </p:nvSpPr>
        <p:spPr>
          <a:xfrm>
            <a:off x="185048" y="1008015"/>
            <a:ext cx="5679039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で広がる可能性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CC8069A0-210A-4A9E-74B2-C2D5EC2950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879498"/>
              </p:ext>
            </p:extLst>
          </p:nvPr>
        </p:nvGraphicFramePr>
        <p:xfrm>
          <a:off x="172076" y="1571243"/>
          <a:ext cx="5692011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046">
                  <a:extLst>
                    <a:ext uri="{9D8B030D-6E8A-4147-A177-3AD203B41FA5}">
                      <a16:colId xmlns:a16="http://schemas.microsoft.com/office/drawing/2014/main" val="11668569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95650728"/>
                    </a:ext>
                  </a:extLst>
                </a:gridCol>
                <a:gridCol w="1389660">
                  <a:extLst>
                    <a:ext uri="{9D8B030D-6E8A-4147-A177-3AD203B41FA5}">
                      <a16:colId xmlns:a16="http://schemas.microsoft.com/office/drawing/2014/main" val="216802443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76826760"/>
                    </a:ext>
                  </a:extLst>
                </a:gridCol>
                <a:gridCol w="2934745">
                  <a:extLst>
                    <a:ext uri="{9D8B030D-6E8A-4147-A177-3AD203B41FA5}">
                      <a16:colId xmlns:a16="http://schemas.microsoft.com/office/drawing/2014/main" val="27780553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できること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ということは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さらに言うと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452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ターミナルで動く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PC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操作ができる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ファイル一括リネーム、フォルダ整理、請求書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PDF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一括生成など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6381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を実行できる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のライブラリが使える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動画編集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、画像の一括加工、音声文字起こし、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資料作成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02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Chrome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拡張が入る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ブラウザ操作できる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システム入力、情報収集など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8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MCP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で外部連携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SaaS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と繋がる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freee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会計で仕訳作成、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kintone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でデータ操作、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Salesforce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で顧客管理など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766473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AF5F06-959D-9E91-2370-6731F21C3BFC}"/>
              </a:ext>
            </a:extLst>
          </p:cNvPr>
          <p:cNvSpPr/>
          <p:nvPr/>
        </p:nvSpPr>
        <p:spPr>
          <a:xfrm>
            <a:off x="6327913" y="1008015"/>
            <a:ext cx="5679039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「～ということは」の裏側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A27170B4-7BF2-AB1D-3113-009043979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922063"/>
              </p:ext>
            </p:extLst>
          </p:nvPr>
        </p:nvGraphicFramePr>
        <p:xfrm>
          <a:off x="6327911" y="1606726"/>
          <a:ext cx="5679038" cy="174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296">
                  <a:extLst>
                    <a:ext uri="{9D8B030D-6E8A-4147-A177-3AD203B41FA5}">
                      <a16:colId xmlns:a16="http://schemas.microsoft.com/office/drawing/2014/main" val="1166856973"/>
                    </a:ext>
                  </a:extLst>
                </a:gridCol>
                <a:gridCol w="1789043">
                  <a:extLst>
                    <a:ext uri="{9D8B030D-6E8A-4147-A177-3AD203B41FA5}">
                      <a16:colId xmlns:a16="http://schemas.microsoft.com/office/drawing/2014/main" val="2168024439"/>
                    </a:ext>
                  </a:extLst>
                </a:gridCol>
                <a:gridCol w="2087699">
                  <a:extLst>
                    <a:ext uri="{9D8B030D-6E8A-4147-A177-3AD203B41FA5}">
                      <a16:colId xmlns:a16="http://schemas.microsoft.com/office/drawing/2014/main" val="2778055396"/>
                    </a:ext>
                  </a:extLst>
                </a:gridCol>
              </a:tblGrid>
              <a:tr h="53041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できること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必要な環境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企業のよくある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セキュリティルール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523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が書ける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開発ツール禁止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381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ライブラリが使える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pip install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未承認ソフト禁止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02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MCP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連携できる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npm install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未承認ソフト禁止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28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ファイル操作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ローカル権限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アクセス制限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664732"/>
                  </a:ext>
                </a:extLst>
              </a:tr>
            </a:tbl>
          </a:graphicData>
        </a:graphic>
      </p:graphicFrame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CEAA898-BC26-F2A1-254D-1FE7CDBBFBD8}"/>
              </a:ext>
            </a:extLst>
          </p:cNvPr>
          <p:cNvSpPr/>
          <p:nvPr/>
        </p:nvSpPr>
        <p:spPr>
          <a:xfrm>
            <a:off x="6327912" y="3903282"/>
            <a:ext cx="5679038" cy="449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「だけ」を使えるようにしても</a:t>
            </a:r>
            <a:endParaRPr kumimoji="1" lang="ja-JP" altLang="en-US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77A5E95-0E55-26FF-E146-E5F2E7DADE3D}"/>
              </a:ext>
            </a:extLst>
          </p:cNvPr>
          <p:cNvSpPr txBox="1"/>
          <p:nvPr/>
        </p:nvSpPr>
        <p:spPr>
          <a:xfrm>
            <a:off x="6327911" y="4386870"/>
            <a:ext cx="5679038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他のセキュリティルールを解決せずに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だけを導入しても「ただのチャット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」程度の価値に制限される。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スクリプト実行も外部連携もできず、前頁までの例を実行する可能性が閉じる。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ルールを確認して「試せる環境を作る」ことが大事になる。</a:t>
            </a:r>
          </a:p>
        </p:txBody>
      </p:sp>
      <p:sp>
        <p:nvSpPr>
          <p:cNvPr id="15" name="二等辺三角形 14">
            <a:extLst>
              <a:ext uri="{FF2B5EF4-FFF2-40B4-BE49-F238E27FC236}">
                <a16:creationId xmlns:a16="http://schemas.microsoft.com/office/drawing/2014/main" id="{2D74A0F6-774F-CBE9-0322-852E6AB13850}"/>
              </a:ext>
            </a:extLst>
          </p:cNvPr>
          <p:cNvSpPr/>
          <p:nvPr/>
        </p:nvSpPr>
        <p:spPr>
          <a:xfrm rot="10800000">
            <a:off x="8647001" y="3543613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26F918C-2B6C-0166-AA78-3A6E2F5C1517}"/>
              </a:ext>
            </a:extLst>
          </p:cNvPr>
          <p:cNvSpPr/>
          <p:nvPr/>
        </p:nvSpPr>
        <p:spPr>
          <a:xfrm>
            <a:off x="185048" y="3950121"/>
            <a:ext cx="5679039" cy="52722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テック企業・スタートアップなどの</a:t>
            </a:r>
          </a:p>
          <a:p>
            <a:pPr algn="ctr"/>
            <a:r>
              <a:rPr lang="ja-JP" altLang="en-US" sz="14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フットワークの軽い企業は既に利用している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90F2E913-1465-06ED-F33D-D53F948C6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237393"/>
              </p:ext>
            </p:extLst>
          </p:nvPr>
        </p:nvGraphicFramePr>
        <p:xfrm>
          <a:off x="185048" y="4583378"/>
          <a:ext cx="5679038" cy="16812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3022">
                  <a:extLst>
                    <a:ext uri="{9D8B030D-6E8A-4147-A177-3AD203B41FA5}">
                      <a16:colId xmlns:a16="http://schemas.microsoft.com/office/drawing/2014/main" val="3037731002"/>
                    </a:ext>
                  </a:extLst>
                </a:gridCol>
                <a:gridCol w="3916016">
                  <a:extLst>
                    <a:ext uri="{9D8B030D-6E8A-4147-A177-3AD203B41FA5}">
                      <a16:colId xmlns:a16="http://schemas.microsoft.com/office/drawing/2014/main" val="1864579049"/>
                    </a:ext>
                  </a:extLst>
                </a:gridCol>
              </a:tblGrid>
              <a:tr h="4067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036342"/>
                  </a:ext>
                </a:extLst>
              </a:tr>
              <a:tr h="4067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楽天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開発期間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79%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短縮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6549550"/>
                  </a:ext>
                </a:extLst>
              </a:tr>
              <a:tr h="4609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READYFOR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6"/>
                        </a:rPr>
                        <a:t>83%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6"/>
                        </a:rPr>
                        <a:t>が生産性向上実感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126384"/>
                  </a:ext>
                </a:extLst>
              </a:tr>
              <a:tr h="4067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GMO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デザインワン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全エンジニア導入（効率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50%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向上目指す）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712108"/>
                  </a:ext>
                </a:extLst>
              </a:tr>
            </a:tbl>
          </a:graphicData>
        </a:graphic>
      </p:graphicFrame>
      <p:sp>
        <p:nvSpPr>
          <p:cNvPr id="18" name="二等辺三角形 17">
            <a:extLst>
              <a:ext uri="{FF2B5EF4-FFF2-40B4-BE49-F238E27FC236}">
                <a16:creationId xmlns:a16="http://schemas.microsoft.com/office/drawing/2014/main" id="{BD70DA43-B865-34AC-29F0-B404E876AB95}"/>
              </a:ext>
            </a:extLst>
          </p:cNvPr>
          <p:cNvSpPr/>
          <p:nvPr/>
        </p:nvSpPr>
        <p:spPr>
          <a:xfrm rot="5400000">
            <a:off x="5575569" y="2561733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8990D795-895E-3D30-5F11-D331FCD991F4}"/>
              </a:ext>
            </a:extLst>
          </p:cNvPr>
          <p:cNvSpPr/>
          <p:nvPr/>
        </p:nvSpPr>
        <p:spPr>
          <a:xfrm>
            <a:off x="185048" y="6264607"/>
            <a:ext cx="5679038" cy="593392"/>
          </a:xfrm>
          <a:prstGeom prst="rightArrow">
            <a:avLst>
              <a:gd name="adj1" fmla="val 50000"/>
              <a:gd name="adj2" fmla="val 5971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この生産性の差は時間が経つほど更に広がる</a:t>
            </a:r>
          </a:p>
        </p:txBody>
      </p:sp>
    </p:spTree>
    <p:extLst>
      <p:ext uri="{BB962C8B-B14F-4D97-AF65-F5344CB8AC3E}">
        <p14:creationId xmlns:p14="http://schemas.microsoft.com/office/powerpoint/2010/main" val="4011940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80A0B-ADEE-5342-2E09-8D1857760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DF1249-4ABB-A939-009F-9E739CAE8ED7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市場に上位レイヤーが降りてくる</a:t>
            </a:r>
            <a:endParaRPr kumimoji="1" lang="ja-JP" altLang="en-US" sz="3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F86B2D-21A9-CEB3-D403-69B171721435}"/>
              </a:ext>
            </a:extLst>
          </p:cNvPr>
          <p:cNvSpPr/>
          <p:nvPr/>
        </p:nvSpPr>
        <p:spPr>
          <a:xfrm>
            <a:off x="370095" y="901988"/>
            <a:ext cx="5420623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アクセンチュアの動き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44778E8B-23B9-15AC-76FC-FA2358088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6993687"/>
              </p:ext>
            </p:extLst>
          </p:nvPr>
        </p:nvGraphicFramePr>
        <p:xfrm>
          <a:off x="370094" y="1253795"/>
          <a:ext cx="5420624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901">
                  <a:extLst>
                    <a:ext uri="{9D8B030D-6E8A-4147-A177-3AD203B41FA5}">
                      <a16:colId xmlns:a16="http://schemas.microsoft.com/office/drawing/2014/main" val="2611708119"/>
                    </a:ext>
                  </a:extLst>
                </a:gridCol>
                <a:gridCol w="1749287">
                  <a:extLst>
                    <a:ext uri="{9D8B030D-6E8A-4147-A177-3AD203B41FA5}">
                      <a16:colId xmlns:a16="http://schemas.microsoft.com/office/drawing/2014/main" val="3939045994"/>
                    </a:ext>
                  </a:extLst>
                </a:gridCol>
                <a:gridCol w="1888436">
                  <a:extLst>
                    <a:ext uri="{9D8B030D-6E8A-4147-A177-3AD203B41FA5}">
                      <a16:colId xmlns:a16="http://schemas.microsoft.com/office/drawing/2014/main" val="2614363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指標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グローバル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日本国内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722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全社売上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697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億ドル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7,175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(2024</a:t>
                      </a:r>
                      <a:r>
                        <a:rPr kumimoji="1" lang="ja-JP" altLang="en-US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r>
                        <a:rPr kumimoji="1" lang="ja-JP" altLang="en-US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月期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6563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マネージドサービス</a:t>
                      </a:r>
                      <a:b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(IT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 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+ BPO)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49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推定約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3,500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532459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うちオペレーションズ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14%(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1.5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推定約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1,000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303733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市場シェア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世界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位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(10.24%)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国別売上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位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米国に次ぐ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260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BPO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従事者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21.9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万人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2.3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万人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2444929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1B5D906-D697-6942-07E0-90AAF0A47B1E}"/>
              </a:ext>
            </a:extLst>
          </p:cNvPr>
          <p:cNvSpPr txBox="1"/>
          <p:nvPr/>
        </p:nvSpPr>
        <p:spPr>
          <a:xfrm>
            <a:off x="370095" y="3566439"/>
            <a:ext cx="5616092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マネージドサービス推定約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3,500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億円は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トランスコスモス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(2025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年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3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月期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)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連結売上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(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約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3,758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億円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)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と同規模　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事業構成は異なる（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CX 7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割：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BPO 3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割）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3414942-2D23-06A3-0217-2F30C5D69DC9}"/>
              </a:ext>
            </a:extLst>
          </p:cNvPr>
          <p:cNvSpPr txBox="1"/>
          <p:nvPr/>
        </p:nvSpPr>
        <p:spPr>
          <a:xfrm>
            <a:off x="267388" y="4466523"/>
            <a:ext cx="5718796" cy="1953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アクセンチュアの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戦略：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50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万人に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研修実施（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2025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年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6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月） 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「数年内に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・データ関連を売上の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8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割へ」（江川社長発言）（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2025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年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9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月）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Anthropic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提携（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Claude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専門家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3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万人育成）（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2025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年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12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月）</a:t>
            </a:r>
            <a:endParaRPr lang="en-US" altLang="ja-JP" sz="1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のプレミアパートナーに</a:t>
            </a:r>
            <a:endParaRPr lang="en-US" altLang="ja-JP" sz="105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CIO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向け共同ソリューション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規制産業向けソリューションを共同開発（金融、ヘルスケア、公共など）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F4FA10A-30B9-0EF8-3D44-64AE506D6A02}"/>
              </a:ext>
            </a:extLst>
          </p:cNvPr>
          <p:cNvSpPr/>
          <p:nvPr/>
        </p:nvSpPr>
        <p:spPr>
          <a:xfrm>
            <a:off x="5986186" y="900750"/>
            <a:ext cx="5857457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なぜ上位レイヤーが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市場に来るのか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CE313A9-525C-D09B-F9CB-356549B146B9}"/>
              </a:ext>
            </a:extLst>
          </p:cNvPr>
          <p:cNvSpPr/>
          <p:nvPr/>
        </p:nvSpPr>
        <p:spPr>
          <a:xfrm>
            <a:off x="5986187" y="1315323"/>
            <a:ext cx="2527850" cy="3404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従来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4F21C9F-00B0-3933-110A-47CA17584583}"/>
              </a:ext>
            </a:extLst>
          </p:cNvPr>
          <p:cNvSpPr/>
          <p:nvPr/>
        </p:nvSpPr>
        <p:spPr>
          <a:xfrm>
            <a:off x="5986187" y="1655726"/>
            <a:ext cx="2527850" cy="1296196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B69CF5B-EA71-1D27-85B4-472880383B75}"/>
              </a:ext>
            </a:extLst>
          </p:cNvPr>
          <p:cNvSpPr txBox="1"/>
          <p:nvPr/>
        </p:nvSpPr>
        <p:spPr>
          <a:xfrm>
            <a:off x="5986187" y="1715201"/>
            <a:ext cx="2527851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「人を大量に回す」ビジネス → 参入障壁高い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コンサル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/SIer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にとって「利益率が低い」領域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4E1EB04-E533-41DE-6AEB-2ED2FFDF4FF8}"/>
              </a:ext>
            </a:extLst>
          </p:cNvPr>
          <p:cNvSpPr/>
          <p:nvPr/>
        </p:nvSpPr>
        <p:spPr>
          <a:xfrm>
            <a:off x="9077254" y="1315323"/>
            <a:ext cx="2766391" cy="3404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時代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E7CD3BA-1060-1D4E-745A-3440FD667B2D}"/>
              </a:ext>
            </a:extLst>
          </p:cNvPr>
          <p:cNvSpPr/>
          <p:nvPr/>
        </p:nvSpPr>
        <p:spPr>
          <a:xfrm>
            <a:off x="9077254" y="1655726"/>
            <a:ext cx="2766391" cy="1296196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09C3B86-D269-17A5-531C-D23AEA27CB25}"/>
              </a:ext>
            </a:extLst>
          </p:cNvPr>
          <p:cNvSpPr txBox="1"/>
          <p:nvPr/>
        </p:nvSpPr>
        <p:spPr>
          <a:xfrm>
            <a:off x="9077253" y="1715201"/>
            <a:ext cx="2766392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少人数・高利益率で運用可能に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継続収益（ストック型）が取れる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戦略→実行→運用まで一気通貫で囲い込める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135E682-E384-B2EB-3CCC-5B90127A0CF8}"/>
              </a:ext>
            </a:extLst>
          </p:cNvPr>
          <p:cNvSpPr txBox="1"/>
          <p:nvPr/>
        </p:nvSpPr>
        <p:spPr>
          <a:xfrm>
            <a:off x="5986186" y="2979937"/>
            <a:ext cx="5857457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の収益構造を変えた ＝ 上位レイヤーにとって「参入すべき市場」に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二等辺三角形 30">
            <a:extLst>
              <a:ext uri="{FF2B5EF4-FFF2-40B4-BE49-F238E27FC236}">
                <a16:creationId xmlns:a16="http://schemas.microsoft.com/office/drawing/2014/main" id="{D9E7CEC8-070E-F375-A04F-3F66578D4E35}"/>
              </a:ext>
            </a:extLst>
          </p:cNvPr>
          <p:cNvSpPr/>
          <p:nvPr/>
        </p:nvSpPr>
        <p:spPr>
          <a:xfrm rot="5400000">
            <a:off x="8321597" y="2024292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3A7F712-79B7-D329-057F-32C5664951D5}"/>
              </a:ext>
            </a:extLst>
          </p:cNvPr>
          <p:cNvSpPr/>
          <p:nvPr/>
        </p:nvSpPr>
        <p:spPr>
          <a:xfrm>
            <a:off x="5986186" y="3413677"/>
            <a:ext cx="5857456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時代の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市場の競争環境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矢印: 左右 34">
            <a:extLst>
              <a:ext uri="{FF2B5EF4-FFF2-40B4-BE49-F238E27FC236}">
                <a16:creationId xmlns:a16="http://schemas.microsoft.com/office/drawing/2014/main" id="{381F4762-A4AC-BB41-756E-21CC896797D3}"/>
              </a:ext>
            </a:extLst>
          </p:cNvPr>
          <p:cNvSpPr/>
          <p:nvPr/>
        </p:nvSpPr>
        <p:spPr>
          <a:xfrm>
            <a:off x="5986186" y="3782254"/>
            <a:ext cx="2667000" cy="623248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横の競争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DA8DB12-61BA-EF2A-1B81-9F9CBEFEDD0E}"/>
              </a:ext>
            </a:extLst>
          </p:cNvPr>
          <p:cNvSpPr txBox="1"/>
          <p:nvPr/>
        </p:nvSpPr>
        <p:spPr>
          <a:xfrm>
            <a:off x="5888451" y="4426504"/>
            <a:ext cx="2862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同業も生成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活用推進中（コールセンター領域の自動化が急速に進行）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5"/>
              </a:rPr>
              <a:t>トランス・コスモス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6"/>
              </a:rPr>
              <a:t>ベルシステム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6"/>
              </a:rPr>
              <a:t>24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矢印: 下 36">
            <a:extLst>
              <a:ext uri="{FF2B5EF4-FFF2-40B4-BE49-F238E27FC236}">
                <a16:creationId xmlns:a16="http://schemas.microsoft.com/office/drawing/2014/main" id="{C95E3954-6ACB-DEF8-EC21-82D042CBEDC9}"/>
              </a:ext>
            </a:extLst>
          </p:cNvPr>
          <p:cNvSpPr/>
          <p:nvPr/>
        </p:nvSpPr>
        <p:spPr>
          <a:xfrm>
            <a:off x="8951357" y="3806758"/>
            <a:ext cx="755377" cy="142521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上からの参入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A0B3C18-4329-A3D1-E2A7-186FF7EC5FD9}"/>
              </a:ext>
            </a:extLst>
          </p:cNvPr>
          <p:cNvSpPr txBox="1"/>
          <p:nvPr/>
        </p:nvSpPr>
        <p:spPr>
          <a:xfrm>
            <a:off x="9664149" y="3881749"/>
            <a:ext cx="2527851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コンサル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/SIer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武装して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市場に本格参入（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NTT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データも「コンサルから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までフルスタック提供」を明言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31CB74D-6F12-713A-764D-A49FCD49A07A}"/>
              </a:ext>
            </a:extLst>
          </p:cNvPr>
          <p:cNvGrpSpPr/>
          <p:nvPr/>
        </p:nvGrpSpPr>
        <p:grpSpPr>
          <a:xfrm>
            <a:off x="5986186" y="5267265"/>
            <a:ext cx="5857456" cy="966937"/>
            <a:chOff x="5801139" y="5501027"/>
            <a:chExt cx="5857456" cy="966937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68FD3EA-F9C7-0B09-2E5E-08BBC43FD142}"/>
                </a:ext>
              </a:extLst>
            </p:cNvPr>
            <p:cNvSpPr/>
            <p:nvPr/>
          </p:nvSpPr>
          <p:spPr>
            <a:xfrm>
              <a:off x="5801140" y="5501027"/>
              <a:ext cx="1275521" cy="9587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b="1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アクセンチュア</a:t>
              </a:r>
              <a:endParaRPr kumimoji="1"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algn="ctr"/>
              <a:r>
                <a:rPr kumimoji="1" lang="ja-JP" altLang="en-US" sz="1200" b="1">
                  <a:latin typeface="メイリオ" panose="020B0604030504040204" pitchFamily="50" charset="-128"/>
                  <a:ea typeface="メイリオ" panose="020B0604030504040204" pitchFamily="50" charset="-128"/>
                </a:rPr>
                <a:t>の強み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00115DD-43C8-CC22-0D31-B724D4BB4660}"/>
                </a:ext>
              </a:extLst>
            </p:cNvPr>
            <p:cNvSpPr/>
            <p:nvPr/>
          </p:nvSpPr>
          <p:spPr>
            <a:xfrm>
              <a:off x="5801139" y="5509196"/>
              <a:ext cx="5857456" cy="958768"/>
            </a:xfrm>
            <a:prstGeom prst="rect">
              <a:avLst/>
            </a:prstGeom>
            <a:no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FAA538B-45F1-2191-2665-59BF4583D64A}"/>
                </a:ext>
              </a:extLst>
            </p:cNvPr>
            <p:cNvSpPr txBox="1"/>
            <p:nvPr/>
          </p:nvSpPr>
          <p:spPr>
            <a:xfrm>
              <a:off x="7166114" y="5534270"/>
              <a:ext cx="3955768" cy="9002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戦略策定→実行→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IT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運用→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BPO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まで一気通貫</a:t>
              </a:r>
              <a:endPara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経営層との関係性を既に保有</a:t>
              </a:r>
              <a:endPara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IT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運用の顧客基盤から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BPO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領域へ展開可能</a:t>
              </a:r>
              <a:endPara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CF8D856-8905-3E03-8727-1CA77A4DEA5B}"/>
              </a:ext>
            </a:extLst>
          </p:cNvPr>
          <p:cNvSpPr txBox="1"/>
          <p:nvPr/>
        </p:nvSpPr>
        <p:spPr>
          <a:xfrm>
            <a:off x="5986185" y="6259276"/>
            <a:ext cx="58574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</a:t>
            </a:r>
            <a:r>
              <a:rPr lang="ja-JP" altLang="en-US" sz="1600" b="1"/>
              <a:t>既存</a:t>
            </a:r>
            <a:r>
              <a:rPr lang="en-US" altLang="ja-JP" sz="1600" b="1"/>
              <a:t>BPO</a:t>
            </a:r>
            <a:r>
              <a:rPr lang="ja-JP" altLang="en-US" sz="1600" b="1"/>
              <a:t>企業との競争に加え、上位レイヤーも参入</a:t>
            </a:r>
            <a:endParaRPr lang="en-US" altLang="ja-JP" sz="1600" b="1"/>
          </a:p>
          <a:p>
            <a:pPr algn="ctr"/>
            <a:r>
              <a:rPr lang="ja-JP" altLang="en-US" sz="1600" b="1"/>
              <a:t>→ 「動かない」という選択肢が最もリスクが高い</a:t>
            </a:r>
            <a:endParaRPr kumimoji="1" lang="en-US" altLang="ja-JP" sz="16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 descr="黒い背景に白い文字がある&#10;&#10;AI 生成コンテンツは誤りを含む可能性があります。">
            <a:extLst>
              <a:ext uri="{FF2B5EF4-FFF2-40B4-BE49-F238E27FC236}">
                <a16:creationId xmlns:a16="http://schemas.microsoft.com/office/drawing/2014/main" id="{5120D4A8-926B-7057-0355-795B899A7C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9102" y="181067"/>
            <a:ext cx="2082229" cy="54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433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1146</TotalTime>
  <Words>1744</Words>
  <Application>Microsoft Office PowerPoint</Application>
  <PresentationFormat>ワイド画面</PresentationFormat>
  <Paragraphs>242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メイリオ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kodai higuchi</dc:creator>
  <cp:lastModifiedBy>kodai higuchi</cp:lastModifiedBy>
  <cp:revision>75</cp:revision>
  <dcterms:created xsi:type="dcterms:W3CDTF">2026-02-04T06:28:26Z</dcterms:created>
  <dcterms:modified xsi:type="dcterms:W3CDTF">2026-02-05T01:34:53Z</dcterms:modified>
</cp:coreProperties>
</file>