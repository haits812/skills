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61" r:id="rId5"/>
    <p:sldId id="262" r:id="rId6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DE5F3"/>
    <a:srgbClr val="CFBAE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スタイル (中間)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987" autoAdjust="0"/>
    <p:restoredTop sz="94660"/>
  </p:normalViewPr>
  <p:slideViewPr>
    <p:cSldViewPr snapToGrid="0">
      <p:cViewPr varScale="1">
        <p:scale>
          <a:sx n="96" d="100"/>
          <a:sy n="96" d="100"/>
        </p:scale>
        <p:origin x="132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6FFD179-A474-6EED-DF30-9FAA9DB03B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D231B528-4A5C-65AF-C4EB-E7DF3942BC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B5D3B9E-0C04-1D83-356D-32619A6FE8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C022C9-6362-4D7E-800D-CCB5DC9E42C2}" type="datetimeFigureOut">
              <a:rPr kumimoji="1" lang="ja-JP" altLang="en-US" smtClean="0"/>
              <a:t>2026/2/4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B9C8F41-683B-E8A9-05C8-0F3D44A882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770C819-7B0A-1F13-8017-35F4FFEFD1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F6089D-95F5-4092-B6A7-DE2EA042654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057464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EB9FF35-2037-1EE2-3594-6ACCDF5B91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FA7A7E2-5078-B9EC-401E-AF43F42130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67FBC8D-D65B-C75C-F921-B8BDBEAA67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C022C9-6362-4D7E-800D-CCB5DC9E42C2}" type="datetimeFigureOut">
              <a:rPr kumimoji="1" lang="ja-JP" altLang="en-US" smtClean="0"/>
              <a:t>2026/2/4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B849088-2DEF-4F68-5F1E-FEBC8FFAEE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03503D1-A4D6-DCAE-5EBC-F6D2ED810C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F6089D-95F5-4092-B6A7-DE2EA042654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789620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98D8809-1FDF-B1D0-A3B9-D9B317735C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A63FD268-B254-41A0-E1C0-24031DE190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DAFBFFC-BCB5-7553-63CC-05DCE5E4D9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C022C9-6362-4D7E-800D-CCB5DC9E42C2}" type="datetimeFigureOut">
              <a:rPr kumimoji="1" lang="ja-JP" altLang="en-US" smtClean="0"/>
              <a:t>2026/2/4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E1546E2-AEAD-F18C-01AE-82BEFCABC1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2DB982F-2066-5CC4-D716-994848F329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F6089D-95F5-4092-B6A7-DE2EA042654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577038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9D34331-DF38-E363-9C50-E7579FA790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AC9B805-6A23-3757-5A3A-43371B71F6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723BEE72-B7A9-7472-5C60-92787E1C14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1A8320D9-A20F-3B2B-746E-B9AFF2048A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C022C9-6362-4D7E-800D-CCB5DC9E42C2}" type="datetimeFigureOut">
              <a:rPr kumimoji="1" lang="ja-JP" altLang="en-US" smtClean="0"/>
              <a:t>2026/2/4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868F0A13-78B6-D56B-BF06-AC2539D662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F52696EF-7B0A-C840-1169-498E27C95C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F6089D-95F5-4092-B6A7-DE2EA042654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702739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DE73861-759B-7319-407B-E857A3A112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61D1AFB5-A776-F568-047E-50FB143306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E2A78C92-645E-0A79-3BD6-D704AF98AF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FA774066-8E0D-3A51-55B6-A718A4E72BA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EB177441-F3FD-BA74-C28C-40913CAE435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94215683-BA66-60E0-6D0D-5FF4325D35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C022C9-6362-4D7E-800D-CCB5DC9E42C2}" type="datetimeFigureOut">
              <a:rPr kumimoji="1" lang="ja-JP" altLang="en-US" smtClean="0"/>
              <a:t>2026/2/4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9A5A0EE9-8736-5AD1-2372-A2B9C74AFE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FD447E25-4249-D752-B779-01F2E5C44E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F6089D-95F5-4092-B6A7-DE2EA042654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050468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4DA920B-3FEB-1718-F1EC-95F0204233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1569E227-0A61-DA64-91EA-5327D197AE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C022C9-6362-4D7E-800D-CCB5DC9E42C2}" type="datetimeFigureOut">
              <a:rPr kumimoji="1" lang="ja-JP" altLang="en-US" smtClean="0"/>
              <a:t>2026/2/4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EE9D16DB-6C64-2812-10E0-24D3B234CF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210724D3-DB86-E532-CF4E-752FB7937B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F6089D-95F5-4092-B6A7-DE2EA042654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076857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C6A39E2B-0ABB-7583-7FCF-6A0A382016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C022C9-6362-4D7E-800D-CCB5DC9E42C2}" type="datetimeFigureOut">
              <a:rPr kumimoji="1" lang="ja-JP" altLang="en-US" smtClean="0"/>
              <a:t>2026/2/4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FA3EF4CB-8A24-3436-8562-F8A083F061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AF9B8917-F443-056F-58C9-DD331ED635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F6089D-95F5-4092-B6A7-DE2EA042654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236949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062BB35-D3E8-70CC-03B0-1EBE63DC6B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9A5C77F-DD97-197C-5A1F-3AE5CBCB99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C2D136B-885B-A37F-DB9A-5BFEE05E52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B9259887-1609-6964-47BE-D54DE49C10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C022C9-6362-4D7E-800D-CCB5DC9E42C2}" type="datetimeFigureOut">
              <a:rPr kumimoji="1" lang="ja-JP" altLang="en-US" smtClean="0"/>
              <a:t>2026/2/4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6225EA83-F7D0-3C46-1822-C0F5B8950E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12DBDD24-C4E5-7023-E2C4-B0A1F47436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F6089D-95F5-4092-B6A7-DE2EA042654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88553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5FAD83D-7ECD-9EAE-CDD7-CD3CD5BC19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30AACBAB-89A4-4CEA-C612-CA6B5105CBC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29A196C1-7AC5-0C22-98DE-10069D59C51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13119D8B-5FC5-3263-5141-582D5CD2CC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C022C9-6362-4D7E-800D-CCB5DC9E42C2}" type="datetimeFigureOut">
              <a:rPr kumimoji="1" lang="ja-JP" altLang="en-US" smtClean="0"/>
              <a:t>2026/2/4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E6AA9012-0211-30F5-0FC6-55952577A1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13B1775-668E-3534-B2E7-20F412DD28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F6089D-95F5-4092-B6A7-DE2EA042654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091189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68EE62B-4E25-6957-512C-9652589046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709CC5AE-3F98-7F56-DFC7-857A77A57F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4EFD36-4C91-5754-1311-0EE16B8A8B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C022C9-6362-4D7E-800D-CCB5DC9E42C2}" type="datetimeFigureOut">
              <a:rPr kumimoji="1" lang="ja-JP" altLang="en-US" smtClean="0"/>
              <a:t>2026/2/4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E4E434A-5EC6-86B6-3D68-0F15A68775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E45B7EA-6A53-48D2-0899-786A59AE20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F6089D-95F5-4092-B6A7-DE2EA042654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514368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65055E64-173A-A46C-E067-034922F9DF0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BC2435AE-2288-BDC4-9EB4-5645819749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7FE9259-C3C0-CA00-CBBA-7C6E5A33D4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C022C9-6362-4D7E-800D-CCB5DC9E42C2}" type="datetimeFigureOut">
              <a:rPr kumimoji="1" lang="ja-JP" altLang="en-US" smtClean="0"/>
              <a:t>2026/2/4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4076CD3-9B26-E2F3-5C94-DD7BEFB324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007AA67-CF2D-0A39-A110-AF3CA7C1FB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F6089D-95F5-4092-B6A7-DE2EA042654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274297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100907DD-842A-E29E-D60A-08ED59FCD1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7F59D565-08B7-F15A-BDD8-D53BE04D44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8A62D52-320C-F297-245D-521F0BBBB7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defRPr>
            </a:lvl1pPr>
          </a:lstStyle>
          <a:p>
            <a:fld id="{50C022C9-6362-4D7E-800D-CCB5DC9E42C2}" type="datetimeFigureOut">
              <a:rPr lang="ja-JP" altLang="en-US" smtClean="0"/>
              <a:pPr/>
              <a:t>2026/2/4</a:t>
            </a:fld>
            <a:endParaRPr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D837BAE-EBEB-1F2E-57B8-5D2CB39ABBB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defRPr>
            </a:lvl1pPr>
          </a:lstStyle>
          <a:p>
            <a:endParaRPr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53B9A0A-A600-1DDE-BE15-1F6392A9E6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defRPr>
            </a:lvl1pPr>
          </a:lstStyle>
          <a:p>
            <a:fld id="{FBF6089D-95F5-4092-B6A7-DE2EA042654D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1615254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メイリオ" panose="020B0604030504040204" pitchFamily="50" charset="-128"/>
          <a:ea typeface="メイリオ" panose="020B0604030504040204" pitchFamily="50" charset="-128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メイリオ" panose="020B0604030504040204" pitchFamily="50" charset="-128"/>
          <a:ea typeface="メイリオ" panose="020B0604030504040204" pitchFamily="50" charset="-128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メイリオ" panose="020B0604030504040204" pitchFamily="50" charset="-128"/>
          <a:ea typeface="メイリオ" panose="020B0604030504040204" pitchFamily="50" charset="-128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メイリオ" panose="020B0604030504040204" pitchFamily="50" charset="-128"/>
          <a:ea typeface="メイリオ" panose="020B0604030504040204" pitchFamily="50" charset="-128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メイリオ" panose="020B0604030504040204" pitchFamily="50" charset="-128"/>
          <a:ea typeface="メイリオ" panose="020B0604030504040204" pitchFamily="50" charset="-128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メイリオ" panose="020B0604030504040204" pitchFamily="50" charset="-128"/>
          <a:ea typeface="メイリオ" panose="020B0604030504040204" pitchFamily="50" charset="-128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13" Type="http://schemas.openxmlformats.org/officeDocument/2006/relationships/hyperlink" Target="https://news.mynavi.jp/article/20251223-3859486/" TargetMode="External"/><Relationship Id="rId18" Type="http://schemas.openxmlformats.org/officeDocument/2006/relationships/image" Target="../media/image8.png"/><Relationship Id="rId3" Type="http://schemas.openxmlformats.org/officeDocument/2006/relationships/hyperlink" Target="https://news.yahoo.co.jp/expert/articles/2aaef085f14d8c5592ecd0e6df466a5afc86d56e" TargetMode="External"/><Relationship Id="rId7" Type="http://schemas.openxmlformats.org/officeDocument/2006/relationships/image" Target="../media/image3.png"/><Relationship Id="rId12" Type="http://schemas.openxmlformats.org/officeDocument/2006/relationships/hyperlink" Target="https://www.sbbit.jp/article/cont1/179458" TargetMode="External"/><Relationship Id="rId17" Type="http://schemas.openxmlformats.org/officeDocument/2006/relationships/image" Target="../media/image7.png"/><Relationship Id="rId2" Type="http://schemas.openxmlformats.org/officeDocument/2006/relationships/hyperlink" Target="https://gigazine.net/news/20251210-mcp-donated-to-aaif/" TargetMode="External"/><Relationship Id="rId16" Type="http://schemas.openxmlformats.org/officeDocument/2006/relationships/hyperlink" Target="https://www.watch.impress.co.jp/docs/topic/2079398.html" TargetMode="Externa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11" Type="http://schemas.openxmlformats.org/officeDocument/2006/relationships/hyperlink" Target="https://dev.classmethod.jp/articles/claude-desktop-mcp-answered-by-claude/" TargetMode="External"/><Relationship Id="rId5" Type="http://schemas.openxmlformats.org/officeDocument/2006/relationships/image" Target="../media/image1.jpg"/><Relationship Id="rId15" Type="http://schemas.openxmlformats.org/officeDocument/2006/relationships/hyperlink" Target="https://tech-noisy.com/2026/01/26/anthropic-claude-in-excel-beta-release/" TargetMode="External"/><Relationship Id="rId10" Type="http://schemas.openxmlformats.org/officeDocument/2006/relationships/image" Target="../media/image6.png"/><Relationship Id="rId19" Type="http://schemas.openxmlformats.org/officeDocument/2006/relationships/image" Target="../media/image9.png"/><Relationship Id="rId4" Type="http://schemas.openxmlformats.org/officeDocument/2006/relationships/hyperlink" Target="https://forest.watch.impress.co.jp/docs/news/2067633.html" TargetMode="External"/><Relationship Id="rId9" Type="http://schemas.openxmlformats.org/officeDocument/2006/relationships/image" Target="../media/image5.png"/><Relationship Id="rId14" Type="http://schemas.openxmlformats.org/officeDocument/2006/relationships/hyperlink" Target="https://forest.watch.impress.co.jp/docs/news/2055832.html" TargetMode="Externa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13" Type="http://schemas.openxmlformats.org/officeDocument/2006/relationships/hyperlink" Target="https://claude.com/ja-jp/blog/how-anthropic-teams-use-claude-code" TargetMode="External"/><Relationship Id="rId3" Type="http://schemas.openxmlformats.org/officeDocument/2006/relationships/image" Target="../media/image3.png"/><Relationship Id="rId7" Type="http://schemas.openxmlformats.org/officeDocument/2006/relationships/image" Target="../media/image11.png"/><Relationship Id="rId12" Type="http://schemas.openxmlformats.org/officeDocument/2006/relationships/hyperlink" Target="https://learn.microsoft.com/ja-jp/microsoft-365-copilot/extensibility/agents-overview" TargetMode="Externa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11" Type="http://schemas.openxmlformats.org/officeDocument/2006/relationships/image" Target="../media/image15.png"/><Relationship Id="rId5" Type="http://schemas.openxmlformats.org/officeDocument/2006/relationships/image" Target="../media/image6.png"/><Relationship Id="rId10" Type="http://schemas.openxmlformats.org/officeDocument/2006/relationships/image" Target="../media/image14.svg"/><Relationship Id="rId4" Type="http://schemas.openxmlformats.org/officeDocument/2006/relationships/hyperlink" Target="https://claude.ai/code" TargetMode="External"/><Relationship Id="rId9" Type="http://schemas.openxmlformats.org/officeDocument/2006/relationships/image" Target="../media/image1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note.com/hhu/n/n92c9c7c65722" TargetMode="External"/><Relationship Id="rId2" Type="http://schemas.openxmlformats.org/officeDocument/2006/relationships/hyperlink" Target="https://note.com/napps/n/na65725437971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docodoor.co.jp/staffblog/claudecode_for_marketing/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qiita.com/hirokidaichi/items/243bd176b84900f4cc0d" TargetMode="External"/><Relationship Id="rId7" Type="http://schemas.openxmlformats.org/officeDocument/2006/relationships/hyperlink" Target="https://group.gmo/news/article/9794/" TargetMode="External"/><Relationship Id="rId2" Type="http://schemas.openxmlformats.org/officeDocument/2006/relationships/hyperlink" Target="https://note.com/electrical_cat/n/n672a533b2004" TargetMode="Externa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zenn.dev/readyfor_blog/articles/a1cfd81a562e07" TargetMode="External"/><Relationship Id="rId5" Type="http://schemas.openxmlformats.org/officeDocument/2006/relationships/hyperlink" Target="https://www.itmedia.co.jp/news/articles/2509/29/news074.html" TargetMode="External"/><Relationship Id="rId4" Type="http://schemas.openxmlformats.org/officeDocument/2006/relationships/hyperlink" Target="https://docs.google.com/spreadsheets/d/1HW0ipoNLYD6LqbqDnfeZE8sy_PlUue-hq1B47NuwIvQ/edit?gid=0#gid=0" TargetMode="Externa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hyperlink" Target="https://www.bloomberg.com/news/articles/2025-06-10/accenture-trains-500-000-staffers-for-boom-in-ai-consulting-work" TargetMode="External"/><Relationship Id="rId7" Type="http://schemas.openxmlformats.org/officeDocument/2006/relationships/hyperlink" Target="https://www.nttdata.com/global/ja/news/topics/2025/090502/" TargetMode="External"/><Relationship Id="rId2" Type="http://schemas.openxmlformats.org/officeDocument/2006/relationships/hyperlink" Target="https://www.trans-cosmos.co.jp/ir/library/pdf/2025/pre250430.pdf" TargetMode="Externa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www.solution.bell24.co.jp/ja/solution/crm_consulting/publicsectorbpo/ai_bpo/" TargetMode="External"/><Relationship Id="rId5" Type="http://schemas.openxmlformats.org/officeDocument/2006/relationships/hyperlink" Target="https://www.trans-cosmos.co.jp/company/news/240808_0001.html" TargetMode="External"/><Relationship Id="rId4" Type="http://schemas.openxmlformats.org/officeDocument/2006/relationships/hyperlink" Target="https://newsroom.accenture.jp/jp/news/2025/release-20251217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吹き出し: 四角形 39">
            <a:extLst>
              <a:ext uri="{FF2B5EF4-FFF2-40B4-BE49-F238E27FC236}">
                <a16:creationId xmlns:a16="http://schemas.microsoft.com/office/drawing/2014/main" id="{8F283454-163A-BAFC-BB97-2206CC9B1514}"/>
              </a:ext>
            </a:extLst>
          </p:cNvPr>
          <p:cNvSpPr/>
          <p:nvPr/>
        </p:nvSpPr>
        <p:spPr>
          <a:xfrm>
            <a:off x="3880123" y="6188530"/>
            <a:ext cx="8080435" cy="618819"/>
          </a:xfrm>
          <a:prstGeom prst="wedgeRectCallout">
            <a:avLst>
              <a:gd name="adj1" fmla="val -34679"/>
              <a:gd name="adj2" fmla="val -78573"/>
            </a:avLst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ja-JP" sz="140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MCP</a:t>
            </a:r>
            <a:r>
              <a:rPr kumimoji="1" lang="ja-JP" altLang="en-US" sz="140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：</a:t>
            </a:r>
            <a:r>
              <a:rPr kumimoji="1" lang="en-US" altLang="ja-JP" sz="140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AI</a:t>
            </a:r>
            <a:r>
              <a:rPr kumimoji="1" lang="ja-JP" altLang="en-US" sz="140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と外部ツールの接続規格。</a:t>
            </a:r>
            <a:r>
              <a:rPr kumimoji="1" lang="en-US" altLang="ja-JP" sz="140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OpenAI</a:t>
            </a:r>
            <a:r>
              <a:rPr kumimoji="1" lang="ja-JP" altLang="en-US" sz="140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・</a:t>
            </a:r>
            <a:r>
              <a:rPr kumimoji="1" lang="en-US" altLang="ja-JP" sz="140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Google</a:t>
            </a:r>
            <a:r>
              <a:rPr kumimoji="1" lang="ja-JP" altLang="en-US" sz="140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・</a:t>
            </a:r>
            <a:r>
              <a:rPr kumimoji="1" lang="en-US" altLang="ja-JP" sz="140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Microsoft</a:t>
            </a:r>
            <a:r>
              <a:rPr kumimoji="1" lang="ja-JP" altLang="en-US" sz="140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も</a:t>
            </a:r>
            <a:r>
              <a:rPr kumimoji="1" lang="en-US" altLang="ja-JP" sz="140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MCP</a:t>
            </a:r>
            <a:r>
              <a:rPr kumimoji="1" lang="ja-JP" altLang="en-US" sz="140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を採用。</a:t>
            </a:r>
            <a:endParaRPr kumimoji="1" lang="en-US" altLang="ja-JP" sz="140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kumimoji="1" lang="en-US" altLang="ja-JP" sz="140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hlinkClick r:id="rId2"/>
              </a:rPr>
              <a:t>2025</a:t>
            </a:r>
            <a:r>
              <a:rPr kumimoji="1" lang="ja-JP" altLang="en-US" sz="140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hlinkClick r:id="rId2"/>
              </a:rPr>
              <a:t>年</a:t>
            </a:r>
            <a:r>
              <a:rPr kumimoji="1" lang="en-US" altLang="ja-JP" sz="140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hlinkClick r:id="rId2"/>
              </a:rPr>
              <a:t>12</a:t>
            </a:r>
            <a:r>
              <a:rPr kumimoji="1" lang="ja-JP" altLang="en-US" sz="140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hlinkClick r:id="rId2"/>
              </a:rPr>
              <a:t>月に</a:t>
            </a:r>
            <a:r>
              <a:rPr kumimoji="1" lang="en-US" altLang="ja-JP" sz="140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hlinkClick r:id="rId2"/>
              </a:rPr>
              <a:t>Linux Foundation</a:t>
            </a:r>
            <a:r>
              <a:rPr kumimoji="1" lang="ja-JP" altLang="en-US" sz="140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hlinkClick r:id="rId2"/>
              </a:rPr>
              <a:t>傘下で業界標準化。</a:t>
            </a:r>
            <a:r>
              <a:rPr kumimoji="1" lang="ja-JP" altLang="en-US" sz="140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特定のベンダーに依存しないエコシステムへ。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2D2EA754-A7B6-56E0-51E1-F086413075F2}"/>
              </a:ext>
            </a:extLst>
          </p:cNvPr>
          <p:cNvSpPr txBox="1"/>
          <p:nvPr/>
        </p:nvSpPr>
        <p:spPr>
          <a:xfrm>
            <a:off x="443466" y="317212"/>
            <a:ext cx="1121513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3200" b="1">
                <a:latin typeface="メイリオ" panose="020B0604030504040204" pitchFamily="50" charset="-128"/>
                <a:ea typeface="メイリオ" panose="020B0604030504040204" pitchFamily="50" charset="-128"/>
              </a:rPr>
              <a:t>Anthropic</a:t>
            </a:r>
            <a:r>
              <a:rPr kumimoji="1" lang="ja-JP" altLang="en-US" sz="3200" b="1">
                <a:latin typeface="メイリオ" panose="020B0604030504040204" pitchFamily="50" charset="-128"/>
                <a:ea typeface="メイリオ" panose="020B0604030504040204" pitchFamily="50" charset="-128"/>
              </a:rPr>
              <a:t>社 </a:t>
            </a:r>
            <a:r>
              <a:rPr kumimoji="1" lang="en-US" altLang="ja-JP" sz="3200" b="1">
                <a:latin typeface="メイリオ" panose="020B0604030504040204" pitchFamily="50" charset="-128"/>
                <a:ea typeface="メイリオ" panose="020B0604030504040204" pitchFamily="50" charset="-128"/>
              </a:rPr>
              <a:t>Claude</a:t>
            </a:r>
            <a:r>
              <a:rPr kumimoji="1" lang="ja-JP" altLang="en-US" sz="3200" b="1">
                <a:latin typeface="メイリオ" panose="020B0604030504040204" pitchFamily="50" charset="-128"/>
                <a:ea typeface="メイリオ" panose="020B0604030504040204" pitchFamily="50" charset="-128"/>
              </a:rPr>
              <a:t>の紹介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0C24D339-67BE-A12E-26F8-8836C35F8414}"/>
              </a:ext>
            </a:extLst>
          </p:cNvPr>
          <p:cNvSpPr txBox="1"/>
          <p:nvPr/>
        </p:nvSpPr>
        <p:spPr>
          <a:xfrm>
            <a:off x="443465" y="901987"/>
            <a:ext cx="11215133" cy="10348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ja-JP" sz="1400" b="1">
                <a:latin typeface="メイリオ" panose="020B0604030504040204" pitchFamily="50" charset="-128"/>
                <a:ea typeface="メイリオ" panose="020B0604030504040204" pitchFamily="50" charset="-128"/>
              </a:rPr>
              <a:t>Anthropic</a:t>
            </a:r>
            <a:r>
              <a:rPr kumimoji="1" lang="ja-JP" altLang="en-US" sz="1400">
                <a:latin typeface="メイリオ" panose="020B0604030504040204" pitchFamily="50" charset="-128"/>
                <a:ea typeface="メイリオ" panose="020B0604030504040204" pitchFamily="50" charset="-128"/>
              </a:rPr>
              <a:t>：</a:t>
            </a:r>
            <a:r>
              <a:rPr kumimoji="1" lang="en-US" altLang="ja-JP" sz="1400">
                <a:latin typeface="メイリオ" panose="020B0604030504040204" pitchFamily="50" charset="-128"/>
                <a:ea typeface="メイリオ" panose="020B0604030504040204" pitchFamily="50" charset="-128"/>
              </a:rPr>
              <a:t>ChatGPT</a:t>
            </a:r>
            <a:r>
              <a:rPr kumimoji="1" lang="ja-JP" altLang="en-US" sz="1400">
                <a:latin typeface="メイリオ" panose="020B0604030504040204" pitchFamily="50" charset="-128"/>
                <a:ea typeface="メイリオ" panose="020B0604030504040204" pitchFamily="50" charset="-128"/>
              </a:rPr>
              <a:t>を作っている</a:t>
            </a:r>
            <a:r>
              <a:rPr kumimoji="1" lang="en-US" altLang="ja-JP" sz="1400">
                <a:latin typeface="メイリオ" panose="020B0604030504040204" pitchFamily="50" charset="-128"/>
                <a:ea typeface="メイリオ" panose="020B0604030504040204" pitchFamily="50" charset="-128"/>
              </a:rPr>
              <a:t>OpenAI</a:t>
            </a:r>
            <a:r>
              <a:rPr kumimoji="1" lang="ja-JP" altLang="en-US" sz="1400">
                <a:latin typeface="メイリオ" panose="020B0604030504040204" pitchFamily="50" charset="-128"/>
                <a:ea typeface="メイリオ" panose="020B0604030504040204" pitchFamily="50" charset="-128"/>
              </a:rPr>
              <a:t>社の競合で、</a:t>
            </a:r>
            <a:r>
              <a:rPr kumimoji="1" lang="en-US" altLang="ja-JP" sz="1400">
                <a:latin typeface="メイリオ" panose="020B0604030504040204" pitchFamily="50" charset="-128"/>
                <a:ea typeface="メイリオ" panose="020B0604030504040204" pitchFamily="50" charset="-128"/>
              </a:rPr>
              <a:t>OpenAI</a:t>
            </a:r>
            <a:r>
              <a:rPr kumimoji="1" lang="ja-JP" altLang="en-US" sz="1400">
                <a:latin typeface="メイリオ" panose="020B0604030504040204" pitchFamily="50" charset="-128"/>
                <a:ea typeface="メイリオ" panose="020B0604030504040204" pitchFamily="50" charset="-128"/>
              </a:rPr>
              <a:t>出身者が設立した</a:t>
            </a:r>
            <a:r>
              <a:rPr kumimoji="1" lang="en-US" altLang="ja-JP" sz="1400">
                <a:latin typeface="メイリオ" panose="020B0604030504040204" pitchFamily="50" charset="-128"/>
                <a:ea typeface="メイリオ" panose="020B0604030504040204" pitchFamily="50" charset="-128"/>
              </a:rPr>
              <a:t>AI</a:t>
            </a:r>
            <a:r>
              <a:rPr kumimoji="1" lang="ja-JP" altLang="en-US" sz="1400">
                <a:latin typeface="メイリオ" panose="020B0604030504040204" pitchFamily="50" charset="-128"/>
                <a:ea typeface="メイリオ" panose="020B0604030504040204" pitchFamily="50" charset="-128"/>
              </a:rPr>
              <a:t>企業。</a:t>
            </a:r>
            <a:r>
              <a:rPr kumimoji="1" lang="en-US" altLang="ja-JP" sz="1400">
                <a:latin typeface="メイリオ" panose="020B0604030504040204" pitchFamily="50" charset="-128"/>
                <a:ea typeface="メイリオ" panose="020B0604030504040204" pitchFamily="50" charset="-128"/>
              </a:rPr>
              <a:t>MCP</a:t>
            </a:r>
            <a:r>
              <a:rPr kumimoji="1" lang="ja-JP" altLang="en-US" sz="1400">
                <a:latin typeface="メイリオ" panose="020B0604030504040204" pitchFamily="50" charset="-128"/>
                <a:ea typeface="メイリオ" panose="020B0604030504040204" pitchFamily="50" charset="-128"/>
              </a:rPr>
              <a:t>や</a:t>
            </a:r>
            <a:r>
              <a:rPr kumimoji="1" lang="en-US" altLang="ja-JP" sz="1400">
                <a:latin typeface="メイリオ" panose="020B0604030504040204" pitchFamily="50" charset="-128"/>
                <a:ea typeface="メイリオ" panose="020B0604030504040204" pitchFamily="50" charset="-128"/>
              </a:rPr>
              <a:t>Skills</a:t>
            </a:r>
            <a:r>
              <a:rPr kumimoji="1" lang="ja-JP" altLang="en-US" sz="1400">
                <a:latin typeface="メイリオ" panose="020B0604030504040204" pitchFamily="50" charset="-128"/>
                <a:ea typeface="メイリオ" panose="020B0604030504040204" pitchFamily="50" charset="-128"/>
              </a:rPr>
              <a:t>など、</a:t>
            </a:r>
            <a:r>
              <a:rPr kumimoji="1" lang="ja-JP" altLang="en-US" sz="1400" b="1">
                <a:latin typeface="メイリオ" panose="020B0604030504040204" pitchFamily="50" charset="-128"/>
                <a:ea typeface="メイリオ" panose="020B0604030504040204" pitchFamily="50" charset="-128"/>
              </a:rPr>
              <a:t>業界全体が採用する「規格を作る側」</a:t>
            </a:r>
            <a:r>
              <a:rPr kumimoji="1" lang="ja-JP" altLang="en-US" sz="1400">
                <a:latin typeface="メイリオ" panose="020B0604030504040204" pitchFamily="50" charset="-128"/>
                <a:ea typeface="メイリオ" panose="020B0604030504040204" pitchFamily="50" charset="-128"/>
              </a:rPr>
              <a:t>になっている企業。</a:t>
            </a:r>
            <a:r>
              <a:rPr kumimoji="1" lang="en-US" altLang="ja-JP" sz="1400">
                <a:latin typeface="メイリオ" panose="020B0604030504040204" pitchFamily="50" charset="-128"/>
                <a:ea typeface="メイリオ" panose="020B0604030504040204" pitchFamily="50" charset="-128"/>
              </a:rPr>
              <a:t>Claude Code</a:t>
            </a:r>
            <a:r>
              <a:rPr kumimoji="1" lang="ja-JP" altLang="en-US" sz="1400">
                <a:latin typeface="メイリオ" panose="020B0604030504040204" pitchFamily="50" charset="-128"/>
                <a:ea typeface="メイリオ" panose="020B0604030504040204" pitchFamily="50" charset="-128"/>
              </a:rPr>
              <a:t>や</a:t>
            </a:r>
            <a:r>
              <a:rPr kumimoji="1" lang="en-US" altLang="ja-JP" sz="1400">
                <a:latin typeface="メイリオ" panose="020B0604030504040204" pitchFamily="50" charset="-128"/>
                <a:ea typeface="メイリオ" panose="020B0604030504040204" pitchFamily="50" charset="-128"/>
              </a:rPr>
              <a:t>Claude in Chrome</a:t>
            </a:r>
            <a:r>
              <a:rPr kumimoji="1" lang="ja-JP" altLang="en-US" sz="1400">
                <a:latin typeface="メイリオ" panose="020B0604030504040204" pitchFamily="50" charset="-128"/>
                <a:ea typeface="メイリオ" panose="020B0604030504040204" pitchFamily="50" charset="-128"/>
              </a:rPr>
              <a:t>、</a:t>
            </a:r>
            <a:r>
              <a:rPr kumimoji="1" lang="en-US" altLang="ja-JP" sz="1400">
                <a:latin typeface="メイリオ" panose="020B0604030504040204" pitchFamily="50" charset="-128"/>
                <a:ea typeface="メイリオ" panose="020B0604030504040204" pitchFamily="50" charset="-128"/>
              </a:rPr>
              <a:t>Skills</a:t>
            </a:r>
            <a:r>
              <a:rPr kumimoji="1" lang="ja-JP" altLang="en-US" sz="1400">
                <a:latin typeface="メイリオ" panose="020B0604030504040204" pitchFamily="50" charset="-128"/>
                <a:ea typeface="メイリオ" panose="020B0604030504040204" pitchFamily="50" charset="-128"/>
              </a:rPr>
              <a:t>など、</a:t>
            </a:r>
            <a:r>
              <a:rPr kumimoji="1" lang="en-US" altLang="ja-JP" sz="1400" b="1">
                <a:latin typeface="メイリオ" panose="020B0604030504040204" pitchFamily="50" charset="-128"/>
                <a:ea typeface="メイリオ" panose="020B0604030504040204" pitchFamily="50" charset="-128"/>
              </a:rPr>
              <a:t>BPO</a:t>
            </a:r>
            <a:r>
              <a:rPr kumimoji="1" lang="ja-JP" altLang="en-US" sz="1400" b="1">
                <a:latin typeface="メイリオ" panose="020B0604030504040204" pitchFamily="50" charset="-128"/>
                <a:ea typeface="メイリオ" panose="020B0604030504040204" pitchFamily="50" charset="-128"/>
              </a:rPr>
              <a:t>の実務でも使える</a:t>
            </a:r>
            <a:r>
              <a:rPr kumimoji="1" lang="ja-JP" altLang="en-US" sz="1400">
                <a:latin typeface="メイリオ" panose="020B0604030504040204" pitchFamily="50" charset="-128"/>
                <a:ea typeface="メイリオ" panose="020B0604030504040204" pitchFamily="50" charset="-128"/>
              </a:rPr>
              <a:t>武器を複数生み出している。</a:t>
            </a:r>
            <a:endParaRPr kumimoji="1" lang="en-US" altLang="ja-JP" sz="140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>
              <a:lnSpc>
                <a:spcPct val="150000"/>
              </a:lnSpc>
            </a:pPr>
            <a:r>
              <a:rPr kumimoji="1" lang="ja-JP" altLang="en-US" sz="1400">
                <a:latin typeface="メイリオ" panose="020B0604030504040204" pitchFamily="50" charset="-128"/>
                <a:ea typeface="メイリオ" panose="020B0604030504040204" pitchFamily="50" charset="-128"/>
                <a:hlinkClick r:id="rId3"/>
              </a:rPr>
              <a:t>国内でもテック企業やスタートアップで利用する企業が出始め、先行企業は成果を出し始めている。</a:t>
            </a:r>
            <a:endParaRPr kumimoji="1" lang="en-US" altLang="ja-JP" sz="140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C3693C1E-64EA-F9BC-1D06-12C224CF3E19}"/>
              </a:ext>
            </a:extLst>
          </p:cNvPr>
          <p:cNvSpPr/>
          <p:nvPr/>
        </p:nvSpPr>
        <p:spPr>
          <a:xfrm>
            <a:off x="231441" y="2186027"/>
            <a:ext cx="3512310" cy="457200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b="1">
                <a:solidFill>
                  <a:schemeClr val="tx1">
                    <a:lumMod val="85000"/>
                    <a:lumOff val="1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Anthropic</a:t>
            </a:r>
            <a:r>
              <a:rPr kumimoji="1" lang="ja-JP" altLang="en-US" b="1">
                <a:solidFill>
                  <a:schemeClr val="tx1">
                    <a:lumMod val="85000"/>
                    <a:lumOff val="1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の位置づけ</a:t>
            </a:r>
          </a:p>
        </p:txBody>
      </p:sp>
      <p:graphicFrame>
        <p:nvGraphicFramePr>
          <p:cNvPr id="7" name="表 6">
            <a:extLst>
              <a:ext uri="{FF2B5EF4-FFF2-40B4-BE49-F238E27FC236}">
                <a16:creationId xmlns:a16="http://schemas.microsoft.com/office/drawing/2014/main" id="{8F2CB9DD-98C8-2DCA-2E08-E79602F4D7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87416970"/>
              </p:ext>
            </p:extLst>
          </p:nvPr>
        </p:nvGraphicFramePr>
        <p:xfrm>
          <a:off x="231441" y="2722404"/>
          <a:ext cx="3512310" cy="2473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5109">
                  <a:extLst>
                    <a:ext uri="{9D8B030D-6E8A-4147-A177-3AD203B41FA5}">
                      <a16:colId xmlns:a16="http://schemas.microsoft.com/office/drawing/2014/main" val="1714558132"/>
                    </a:ext>
                  </a:extLst>
                </a:gridCol>
                <a:gridCol w="1030240">
                  <a:extLst>
                    <a:ext uri="{9D8B030D-6E8A-4147-A177-3AD203B41FA5}">
                      <a16:colId xmlns:a16="http://schemas.microsoft.com/office/drawing/2014/main" val="480840800"/>
                    </a:ext>
                  </a:extLst>
                </a:gridCol>
                <a:gridCol w="1826961">
                  <a:extLst>
                    <a:ext uri="{9D8B030D-6E8A-4147-A177-3AD203B41FA5}">
                      <a16:colId xmlns:a16="http://schemas.microsoft.com/office/drawing/2014/main" val="184480872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kumimoji="1" lang="ja-JP" altLang="en-US"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60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OpenAI</a:t>
                      </a:r>
                      <a:endParaRPr kumimoji="1" lang="ja-JP" altLang="en-US" sz="1600"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60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Anthropic</a:t>
                      </a:r>
                      <a:endParaRPr kumimoji="1" lang="ja-JP" altLang="en-US" sz="1600"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88970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40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企業ポジション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40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製品化の巨人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40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業界全体が採用する技術標準を生み出す</a:t>
                      </a:r>
                      <a:endParaRPr kumimoji="1" lang="ja-JP" altLang="en-US" sz="1400"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151606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40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特徴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40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ChatGPT</a:t>
                      </a:r>
                      <a:r>
                        <a:rPr kumimoji="1" lang="ja-JP" altLang="en-US" sz="140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、</a:t>
                      </a:r>
                      <a:r>
                        <a:rPr kumimoji="1" lang="en-US" altLang="ja-JP" sz="140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Sora</a:t>
                      </a:r>
                      <a:r>
                        <a:rPr kumimoji="1" lang="ja-JP" altLang="en-US" sz="140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等で消費者市場を席巻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40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業界全体が採用する技術標準を生み出す</a:t>
                      </a:r>
                      <a:endParaRPr kumimoji="1" lang="en-US" altLang="ja-JP" sz="1400"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  <a:p>
                      <a:pPr algn="ctr"/>
                      <a:r>
                        <a:rPr kumimoji="1" lang="en-US" altLang="ja-JP" sz="140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M365 Copilot</a:t>
                      </a:r>
                      <a:r>
                        <a:rPr kumimoji="1" lang="ja-JP" altLang="en-US" sz="140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も</a:t>
                      </a:r>
                      <a:r>
                        <a:rPr kumimoji="1" lang="en-US" altLang="ja-JP" sz="140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Claude</a:t>
                      </a:r>
                      <a:r>
                        <a:rPr kumimoji="1" lang="ja-JP" altLang="en-US" sz="140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を採用（マルチモデル化）</a:t>
                      </a:r>
                      <a:endParaRPr kumimoji="1" lang="en-US" altLang="ja-JP" sz="1400"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51060320"/>
                  </a:ext>
                </a:extLst>
              </a:tr>
            </a:tbl>
          </a:graphicData>
        </a:graphic>
      </p:graphicFrame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4D38971F-DC5E-DCC5-44FA-459ECE6B67C4}"/>
              </a:ext>
            </a:extLst>
          </p:cNvPr>
          <p:cNvSpPr/>
          <p:nvPr/>
        </p:nvSpPr>
        <p:spPr>
          <a:xfrm>
            <a:off x="231442" y="5379019"/>
            <a:ext cx="3512309" cy="969199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ja-JP" sz="1400">
                <a:solidFill>
                  <a:schemeClr val="tx1">
                    <a:lumMod val="85000"/>
                    <a:lumOff val="1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Microsoft</a:t>
            </a:r>
            <a:r>
              <a:rPr kumimoji="1" lang="ja-JP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は</a:t>
            </a:r>
            <a:r>
              <a:rPr kumimoji="1" lang="en-US" altLang="ja-JP" sz="1400">
                <a:solidFill>
                  <a:schemeClr val="tx1">
                    <a:lumMod val="85000"/>
                    <a:lumOff val="1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M365 Copilot</a:t>
            </a:r>
            <a:r>
              <a:rPr kumimoji="1" lang="ja-JP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で</a:t>
            </a:r>
            <a:r>
              <a:rPr kumimoji="1" lang="en-US" altLang="ja-JP" sz="1400">
                <a:solidFill>
                  <a:schemeClr val="tx1">
                    <a:lumMod val="85000"/>
                    <a:lumOff val="1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OpenAI</a:t>
            </a:r>
            <a:r>
              <a:rPr kumimoji="1" lang="ja-JP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一本から方針転換。</a:t>
            </a:r>
            <a:r>
              <a:rPr kumimoji="1" lang="en-US" altLang="ja-JP" sz="1400">
                <a:solidFill>
                  <a:schemeClr val="tx1">
                    <a:lumMod val="85000"/>
                    <a:lumOff val="1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Copilot Studio</a:t>
            </a:r>
            <a:r>
              <a:rPr kumimoji="1" lang="ja-JP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や</a:t>
            </a:r>
            <a:r>
              <a:rPr kumimoji="1" lang="en-US" altLang="ja-JP" sz="1400">
                <a:solidFill>
                  <a:schemeClr val="tx1">
                    <a:lumMod val="85000"/>
                    <a:lumOff val="1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hlinkClick r:id="rId4"/>
              </a:rPr>
              <a:t>Excel Agent Mode</a:t>
            </a:r>
            <a:r>
              <a:rPr kumimoji="1" lang="ja-JP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hlinkClick r:id="rId4"/>
              </a:rPr>
              <a:t>で</a:t>
            </a:r>
            <a:r>
              <a:rPr kumimoji="1" lang="en-US" altLang="ja-JP" sz="1400">
                <a:solidFill>
                  <a:schemeClr val="tx1">
                    <a:lumMod val="85000"/>
                    <a:lumOff val="1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hlinkClick r:id="rId4"/>
              </a:rPr>
              <a:t>Claude Opus 4.5</a:t>
            </a:r>
            <a:r>
              <a:rPr kumimoji="1" lang="ja-JP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が</a:t>
            </a:r>
            <a:r>
              <a:rPr kumimoji="1" lang="en-US" altLang="ja-JP" sz="1400">
                <a:solidFill>
                  <a:schemeClr val="tx1">
                    <a:lumMod val="85000"/>
                    <a:lumOff val="1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2026</a:t>
            </a:r>
            <a:r>
              <a:rPr kumimoji="1" lang="ja-JP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年</a:t>
            </a:r>
            <a:r>
              <a:rPr kumimoji="1" lang="en-US" altLang="ja-JP" sz="1400">
                <a:solidFill>
                  <a:schemeClr val="tx1">
                    <a:lumMod val="85000"/>
                    <a:lumOff val="1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1</a:t>
            </a:r>
            <a:r>
              <a:rPr kumimoji="1" lang="ja-JP" altLang="en-US" sz="1400">
                <a:solidFill>
                  <a:schemeClr val="tx1">
                    <a:lumMod val="85000"/>
                    <a:lumOff val="1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月時点で選択可能に。</a:t>
            </a: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56C861DB-C164-8416-06F6-1895587D013A}"/>
              </a:ext>
            </a:extLst>
          </p:cNvPr>
          <p:cNvSpPr/>
          <p:nvPr/>
        </p:nvSpPr>
        <p:spPr>
          <a:xfrm>
            <a:off x="3954426" y="2186027"/>
            <a:ext cx="8006132" cy="457200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b="1">
                <a:solidFill>
                  <a:schemeClr val="tx1">
                    <a:lumMod val="85000"/>
                    <a:lumOff val="1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主な発表・動向</a:t>
            </a:r>
          </a:p>
        </p:txBody>
      </p:sp>
      <p:pic>
        <p:nvPicPr>
          <p:cNvPr id="15" name="図 14" descr="ロゴ&#10;&#10;AI 生成コンテンツは誤りを含む可能性があります。">
            <a:extLst>
              <a:ext uri="{FF2B5EF4-FFF2-40B4-BE49-F238E27FC236}">
                <a16:creationId xmlns:a16="http://schemas.microsoft.com/office/drawing/2014/main" id="{0D53DB3E-7418-3CCA-A579-19FA2A5E001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60111" y="2667098"/>
            <a:ext cx="1183041" cy="1183041"/>
          </a:xfrm>
          <a:prstGeom prst="rect">
            <a:avLst/>
          </a:prstGeom>
        </p:spPr>
      </p:pic>
      <p:pic>
        <p:nvPicPr>
          <p:cNvPr id="11" name="図 10" descr="図形&#10;&#10;AI 生成コンテンツは誤りを含む可能性があります。">
            <a:extLst>
              <a:ext uri="{FF2B5EF4-FFF2-40B4-BE49-F238E27FC236}">
                <a16:creationId xmlns:a16="http://schemas.microsoft.com/office/drawing/2014/main" id="{84403B7F-42B2-11C4-3574-86CE78E09BB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45847" y="2934873"/>
            <a:ext cx="748357" cy="748357"/>
          </a:xfrm>
          <a:prstGeom prst="rect">
            <a:avLst/>
          </a:prstGeom>
        </p:spPr>
      </p:pic>
      <p:pic>
        <p:nvPicPr>
          <p:cNvPr id="13" name="図 12" descr="ダイアグラム&#10;&#10;AI 生成コンテンツは誤りを含む可能性があります。">
            <a:extLst>
              <a:ext uri="{FF2B5EF4-FFF2-40B4-BE49-F238E27FC236}">
                <a16:creationId xmlns:a16="http://schemas.microsoft.com/office/drawing/2014/main" id="{010722DA-9155-ECFC-8195-638FF22F20F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99323" y="2375598"/>
            <a:ext cx="1270067" cy="748356"/>
          </a:xfrm>
          <a:prstGeom prst="rect">
            <a:avLst/>
          </a:prstGeom>
        </p:spPr>
      </p:pic>
      <p:pic>
        <p:nvPicPr>
          <p:cNvPr id="17" name="図 16" descr="アイコン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E33E1DAB-1D2B-C3B0-EFCD-A328EA1E4DF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75613" y="2849503"/>
            <a:ext cx="844630" cy="818235"/>
          </a:xfrm>
          <a:prstGeom prst="rect">
            <a:avLst/>
          </a:prstGeom>
        </p:spPr>
      </p:pic>
      <p:pic>
        <p:nvPicPr>
          <p:cNvPr id="19" name="図 18" descr="白い背景に黒い文字が書かれた絵&#10;&#10;AI 生成コンテンツは誤りを含む可能性があります。">
            <a:extLst>
              <a:ext uri="{FF2B5EF4-FFF2-40B4-BE49-F238E27FC236}">
                <a16:creationId xmlns:a16="http://schemas.microsoft.com/office/drawing/2014/main" id="{4452C3ED-B8CF-CC70-CC49-147BF9F8327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899314" y="2849502"/>
            <a:ext cx="862597" cy="818235"/>
          </a:xfrm>
          <a:prstGeom prst="rect">
            <a:avLst/>
          </a:prstGeom>
        </p:spPr>
      </p:pic>
      <p:pic>
        <p:nvPicPr>
          <p:cNvPr id="21" name="図 20" descr="アイコン&#10;&#10;AI 生成コンテンツは誤りを含む可能性があります。">
            <a:extLst>
              <a:ext uri="{FF2B5EF4-FFF2-40B4-BE49-F238E27FC236}">
                <a16:creationId xmlns:a16="http://schemas.microsoft.com/office/drawing/2014/main" id="{270F9240-AD55-0D81-5287-47C43B39FE0B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43519" y="2827837"/>
            <a:ext cx="933021" cy="868147"/>
          </a:xfrm>
          <a:prstGeom prst="rect">
            <a:avLst/>
          </a:prstGeom>
        </p:spPr>
      </p:pic>
      <p:cxnSp>
        <p:nvCxnSpPr>
          <p:cNvPr id="26" name="直線矢印コネクタ 25">
            <a:extLst>
              <a:ext uri="{FF2B5EF4-FFF2-40B4-BE49-F238E27FC236}">
                <a16:creationId xmlns:a16="http://schemas.microsoft.com/office/drawing/2014/main" id="{778FC040-8443-36E0-CC15-01B935E4416D}"/>
              </a:ext>
            </a:extLst>
          </p:cNvPr>
          <p:cNvCxnSpPr>
            <a:cxnSpLocks/>
          </p:cNvCxnSpPr>
          <p:nvPr/>
        </p:nvCxnSpPr>
        <p:spPr>
          <a:xfrm>
            <a:off x="3954426" y="3936615"/>
            <a:ext cx="8006132" cy="0"/>
          </a:xfrm>
          <a:prstGeom prst="straightConnector1">
            <a:avLst/>
          </a:prstGeom>
          <a:ln w="5715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楕円 27">
            <a:extLst>
              <a:ext uri="{FF2B5EF4-FFF2-40B4-BE49-F238E27FC236}">
                <a16:creationId xmlns:a16="http://schemas.microsoft.com/office/drawing/2014/main" id="{9060C280-1527-D343-80D8-C0CC92FAAB98}"/>
              </a:ext>
            </a:extLst>
          </p:cNvPr>
          <p:cNvSpPr/>
          <p:nvPr/>
        </p:nvSpPr>
        <p:spPr>
          <a:xfrm>
            <a:off x="4323298" y="3840791"/>
            <a:ext cx="193453" cy="191649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9" name="楕円 28">
            <a:extLst>
              <a:ext uri="{FF2B5EF4-FFF2-40B4-BE49-F238E27FC236}">
                <a16:creationId xmlns:a16="http://schemas.microsoft.com/office/drawing/2014/main" id="{359192FF-8AA3-BD6F-F681-0B966DA29631}"/>
              </a:ext>
            </a:extLst>
          </p:cNvPr>
          <p:cNvSpPr/>
          <p:nvPr/>
        </p:nvSpPr>
        <p:spPr>
          <a:xfrm>
            <a:off x="5806236" y="3840791"/>
            <a:ext cx="193453" cy="191649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0" name="楕円 29">
            <a:extLst>
              <a:ext uri="{FF2B5EF4-FFF2-40B4-BE49-F238E27FC236}">
                <a16:creationId xmlns:a16="http://schemas.microsoft.com/office/drawing/2014/main" id="{50BC03A2-ABE0-9C34-E209-1D153097FC10}"/>
              </a:ext>
            </a:extLst>
          </p:cNvPr>
          <p:cNvSpPr/>
          <p:nvPr/>
        </p:nvSpPr>
        <p:spPr>
          <a:xfrm>
            <a:off x="7454905" y="3840791"/>
            <a:ext cx="193453" cy="191649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1" name="楕円 30">
            <a:extLst>
              <a:ext uri="{FF2B5EF4-FFF2-40B4-BE49-F238E27FC236}">
                <a16:creationId xmlns:a16="http://schemas.microsoft.com/office/drawing/2014/main" id="{572C1F17-81B2-AB0E-0B00-B0CFEA066A0F}"/>
              </a:ext>
            </a:extLst>
          </p:cNvPr>
          <p:cNvSpPr/>
          <p:nvPr/>
        </p:nvSpPr>
        <p:spPr>
          <a:xfrm>
            <a:off x="8701202" y="3840791"/>
            <a:ext cx="193453" cy="191649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2" name="楕円 31">
            <a:extLst>
              <a:ext uri="{FF2B5EF4-FFF2-40B4-BE49-F238E27FC236}">
                <a16:creationId xmlns:a16="http://schemas.microsoft.com/office/drawing/2014/main" id="{41D5A154-29E3-76CF-689C-01B662E41E63}"/>
              </a:ext>
            </a:extLst>
          </p:cNvPr>
          <p:cNvSpPr/>
          <p:nvPr/>
        </p:nvSpPr>
        <p:spPr>
          <a:xfrm>
            <a:off x="10019969" y="3840791"/>
            <a:ext cx="193453" cy="191649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3" name="楕円 32">
            <a:extLst>
              <a:ext uri="{FF2B5EF4-FFF2-40B4-BE49-F238E27FC236}">
                <a16:creationId xmlns:a16="http://schemas.microsoft.com/office/drawing/2014/main" id="{D52F98E1-DBE1-DF07-AB6F-FBBD66085472}"/>
              </a:ext>
            </a:extLst>
          </p:cNvPr>
          <p:cNvSpPr/>
          <p:nvPr/>
        </p:nvSpPr>
        <p:spPr>
          <a:xfrm>
            <a:off x="11233886" y="3840791"/>
            <a:ext cx="193453" cy="191649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E37DDA82-1D84-2EEC-D97E-7259F1319258}"/>
              </a:ext>
            </a:extLst>
          </p:cNvPr>
          <p:cNvSpPr txBox="1"/>
          <p:nvPr/>
        </p:nvSpPr>
        <p:spPr>
          <a:xfrm>
            <a:off x="3812030" y="4041788"/>
            <a:ext cx="1248830" cy="16812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ja-JP" sz="1400">
                <a:latin typeface="メイリオ" panose="020B0604030504040204" pitchFamily="50" charset="-128"/>
                <a:ea typeface="メイリオ" panose="020B0604030504040204" pitchFamily="50" charset="-128"/>
              </a:rPr>
              <a:t>2024</a:t>
            </a:r>
            <a:r>
              <a:rPr lang="ja-JP" altLang="en-US" sz="1400">
                <a:latin typeface="メイリオ" panose="020B0604030504040204" pitchFamily="50" charset="-128"/>
                <a:ea typeface="メイリオ" panose="020B0604030504040204" pitchFamily="50" charset="-128"/>
              </a:rPr>
              <a:t>年</a:t>
            </a:r>
            <a:r>
              <a:rPr lang="en-US" altLang="ja-JP" sz="1400">
                <a:latin typeface="メイリオ" panose="020B0604030504040204" pitchFamily="50" charset="-128"/>
                <a:ea typeface="メイリオ" panose="020B0604030504040204" pitchFamily="50" charset="-128"/>
              </a:rPr>
              <a:t>11</a:t>
            </a:r>
            <a:r>
              <a:rPr lang="ja-JP" altLang="en-US" sz="1400">
                <a:latin typeface="メイリオ" panose="020B0604030504040204" pitchFamily="50" charset="-128"/>
                <a:ea typeface="メイリオ" panose="020B0604030504040204" pitchFamily="50" charset="-128"/>
              </a:rPr>
              <a:t>月</a:t>
            </a:r>
            <a:endParaRPr lang="en-US" altLang="ja-JP" sz="140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>
              <a:lnSpc>
                <a:spcPct val="150000"/>
              </a:lnSpc>
            </a:pPr>
            <a:r>
              <a:rPr lang="en-US" altLang="ja-JP" sz="1400" b="1">
                <a:latin typeface="メイリオ" panose="020B0604030504040204" pitchFamily="50" charset="-128"/>
                <a:ea typeface="メイリオ" panose="020B0604030504040204" pitchFamily="50" charset="-128"/>
                <a:hlinkClick r:id="rId11"/>
              </a:rPr>
              <a:t>MCP</a:t>
            </a:r>
            <a:r>
              <a:rPr lang="ja-JP" altLang="en-US" sz="1400" b="1">
                <a:latin typeface="メイリオ" panose="020B0604030504040204" pitchFamily="50" charset="-128"/>
                <a:ea typeface="メイリオ" panose="020B0604030504040204" pitchFamily="50" charset="-128"/>
              </a:rPr>
              <a:t>（</a:t>
            </a:r>
            <a:r>
              <a:rPr lang="en-US" altLang="ja-JP" sz="1400" b="1">
                <a:latin typeface="メイリオ" panose="020B0604030504040204" pitchFamily="50" charset="-128"/>
                <a:ea typeface="メイリオ" panose="020B0604030504040204" pitchFamily="50" charset="-128"/>
              </a:rPr>
              <a:t>Model Context Protocol</a:t>
            </a:r>
            <a:r>
              <a:rPr lang="ja-JP" altLang="en-US" sz="1400" b="1">
                <a:latin typeface="メイリオ" panose="020B0604030504040204" pitchFamily="50" charset="-128"/>
                <a:ea typeface="メイリオ" panose="020B0604030504040204" pitchFamily="50" charset="-128"/>
              </a:rPr>
              <a:t>）</a:t>
            </a:r>
            <a:endParaRPr kumimoji="1" lang="en-US" altLang="ja-JP" sz="1400" b="1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5" name="テキスト ボックス 34">
            <a:extLst>
              <a:ext uri="{FF2B5EF4-FFF2-40B4-BE49-F238E27FC236}">
                <a16:creationId xmlns:a16="http://schemas.microsoft.com/office/drawing/2014/main" id="{B1FABAED-0E53-4137-657B-34BED609BECF}"/>
              </a:ext>
            </a:extLst>
          </p:cNvPr>
          <p:cNvSpPr txBox="1"/>
          <p:nvPr/>
        </p:nvSpPr>
        <p:spPr>
          <a:xfrm>
            <a:off x="4968968" y="4041788"/>
            <a:ext cx="2002468" cy="15465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ja-JP" sz="1400">
                <a:latin typeface="メイリオ" panose="020B0604030504040204" pitchFamily="50" charset="-128"/>
                <a:ea typeface="メイリオ" panose="020B0604030504040204" pitchFamily="50" charset="-128"/>
              </a:rPr>
              <a:t>2025</a:t>
            </a:r>
            <a:r>
              <a:rPr lang="ja-JP" altLang="en-US" sz="1400">
                <a:latin typeface="メイリオ" panose="020B0604030504040204" pitchFamily="50" charset="-128"/>
                <a:ea typeface="メイリオ" panose="020B0604030504040204" pitchFamily="50" charset="-128"/>
              </a:rPr>
              <a:t>年</a:t>
            </a:r>
            <a:r>
              <a:rPr lang="en-US" altLang="ja-JP" sz="1400">
                <a:latin typeface="メイリオ" panose="020B0604030504040204" pitchFamily="50" charset="-128"/>
                <a:ea typeface="メイリオ" panose="020B0604030504040204" pitchFamily="50" charset="-128"/>
              </a:rPr>
              <a:t>5</a:t>
            </a:r>
            <a:r>
              <a:rPr lang="ja-JP" altLang="en-US" sz="1400">
                <a:latin typeface="メイリオ" panose="020B0604030504040204" pitchFamily="50" charset="-128"/>
                <a:ea typeface="メイリオ" panose="020B0604030504040204" pitchFamily="50" charset="-128"/>
              </a:rPr>
              <a:t>月</a:t>
            </a:r>
            <a:endParaRPr lang="en-US" altLang="ja-JP" sz="140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>
              <a:lnSpc>
                <a:spcPct val="150000"/>
              </a:lnSpc>
            </a:pPr>
            <a:r>
              <a:rPr lang="en-US" altLang="ja-JP" sz="1400" b="1">
                <a:latin typeface="メイリオ" panose="020B0604030504040204" pitchFamily="50" charset="-128"/>
                <a:ea typeface="メイリオ" panose="020B0604030504040204" pitchFamily="50" charset="-128"/>
                <a:hlinkClick r:id="rId12"/>
              </a:rPr>
              <a:t>Claude Code</a:t>
            </a:r>
            <a:endParaRPr lang="en-US" altLang="ja-JP" sz="1400" b="1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>
              <a:lnSpc>
                <a:spcPct val="150000"/>
              </a:lnSpc>
            </a:pPr>
            <a:r>
              <a:rPr lang="ja-JP" altLang="en-US" sz="1200">
                <a:latin typeface="メイリオ" panose="020B0604030504040204" pitchFamily="50" charset="-128"/>
                <a:ea typeface="メイリオ" panose="020B0604030504040204" pitchFamily="50" charset="-128"/>
              </a:rPr>
              <a:t>ターミナル（黒い画面）で動く</a:t>
            </a:r>
            <a:r>
              <a:rPr lang="en-US" altLang="ja-JP" sz="1200">
                <a:latin typeface="メイリオ" panose="020B0604030504040204" pitchFamily="50" charset="-128"/>
                <a:ea typeface="メイリオ" panose="020B0604030504040204" pitchFamily="50" charset="-128"/>
              </a:rPr>
              <a:t>AI</a:t>
            </a:r>
            <a:r>
              <a:rPr lang="ja-JP" altLang="en-US" sz="1200">
                <a:latin typeface="メイリオ" panose="020B0604030504040204" pitchFamily="50" charset="-128"/>
                <a:ea typeface="メイリオ" panose="020B0604030504040204" pitchFamily="50" charset="-128"/>
              </a:rPr>
              <a:t>エージェント。</a:t>
            </a:r>
            <a:endParaRPr lang="en-US" altLang="ja-JP" sz="120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>
              <a:lnSpc>
                <a:spcPct val="150000"/>
              </a:lnSpc>
            </a:pPr>
            <a:r>
              <a:rPr lang="ja-JP" altLang="en-US" sz="1200" b="1">
                <a:latin typeface="メイリオ" panose="020B0604030504040204" pitchFamily="50" charset="-128"/>
                <a:ea typeface="メイリオ" panose="020B0604030504040204" pitchFamily="50" charset="-128"/>
              </a:rPr>
              <a:t>開発ツールとして登場</a:t>
            </a:r>
            <a:r>
              <a:rPr lang="ja-JP" altLang="en-US" sz="1200">
                <a:latin typeface="メイリオ" panose="020B0604030504040204" pitchFamily="50" charset="-128"/>
                <a:ea typeface="メイリオ" panose="020B0604030504040204" pitchFamily="50" charset="-128"/>
              </a:rPr>
              <a:t>。</a:t>
            </a:r>
            <a:endParaRPr lang="en-US" altLang="ja-JP" sz="140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6" name="テキスト ボックス 35">
            <a:extLst>
              <a:ext uri="{FF2B5EF4-FFF2-40B4-BE49-F238E27FC236}">
                <a16:creationId xmlns:a16="http://schemas.microsoft.com/office/drawing/2014/main" id="{E24786D1-8D75-CE82-540F-7544E59D55AA}"/>
              </a:ext>
            </a:extLst>
          </p:cNvPr>
          <p:cNvSpPr txBox="1"/>
          <p:nvPr/>
        </p:nvSpPr>
        <p:spPr>
          <a:xfrm>
            <a:off x="6885836" y="4041788"/>
            <a:ext cx="1282147" cy="18697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ja-JP" sz="1400">
                <a:latin typeface="メイリオ" panose="020B0604030504040204" pitchFamily="50" charset="-128"/>
                <a:ea typeface="メイリオ" panose="020B0604030504040204" pitchFamily="50" charset="-128"/>
              </a:rPr>
              <a:t>2025</a:t>
            </a:r>
            <a:r>
              <a:rPr lang="ja-JP" altLang="en-US" sz="1400">
                <a:latin typeface="メイリオ" panose="020B0604030504040204" pitchFamily="50" charset="-128"/>
                <a:ea typeface="メイリオ" panose="020B0604030504040204" pitchFamily="50" charset="-128"/>
              </a:rPr>
              <a:t>年</a:t>
            </a:r>
            <a:r>
              <a:rPr lang="en-US" altLang="ja-JP" sz="1400">
                <a:latin typeface="メイリオ" panose="020B0604030504040204" pitchFamily="50" charset="-128"/>
                <a:ea typeface="メイリオ" panose="020B0604030504040204" pitchFamily="50" charset="-128"/>
              </a:rPr>
              <a:t>8</a:t>
            </a:r>
            <a:r>
              <a:rPr lang="ja-JP" altLang="en-US" sz="1400">
                <a:latin typeface="メイリオ" panose="020B0604030504040204" pitchFamily="50" charset="-128"/>
                <a:ea typeface="メイリオ" panose="020B0604030504040204" pitchFamily="50" charset="-128"/>
              </a:rPr>
              <a:t>月</a:t>
            </a:r>
            <a:endParaRPr lang="en-US" altLang="ja-JP" sz="140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>
              <a:lnSpc>
                <a:spcPct val="150000"/>
              </a:lnSpc>
            </a:pPr>
            <a:r>
              <a:rPr lang="en-US" altLang="ja-JP" sz="1400" b="1">
                <a:latin typeface="メイリオ" panose="020B0604030504040204" pitchFamily="50" charset="-128"/>
                <a:ea typeface="メイリオ" panose="020B0604030504040204" pitchFamily="50" charset="-128"/>
                <a:hlinkClick r:id="rId13"/>
              </a:rPr>
              <a:t>Claude in Chrome</a:t>
            </a:r>
            <a:endParaRPr lang="en-US" altLang="ja-JP" sz="1400" b="1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>
              <a:lnSpc>
                <a:spcPct val="150000"/>
              </a:lnSpc>
            </a:pPr>
            <a:r>
              <a:rPr lang="en-US" altLang="ja-JP" sz="1200">
                <a:latin typeface="メイリオ" panose="020B0604030504040204" pitchFamily="50" charset="-128"/>
                <a:ea typeface="メイリオ" panose="020B0604030504040204" pitchFamily="50" charset="-128"/>
              </a:rPr>
              <a:t>C</a:t>
            </a:r>
            <a:r>
              <a:rPr kumimoji="1" lang="en-US" altLang="ja-JP" sz="1200">
                <a:latin typeface="メイリオ" panose="020B0604030504040204" pitchFamily="50" charset="-128"/>
                <a:ea typeface="メイリオ" panose="020B0604030504040204" pitchFamily="50" charset="-128"/>
              </a:rPr>
              <a:t>hrome</a:t>
            </a:r>
            <a:r>
              <a:rPr kumimoji="1" lang="ja-JP" altLang="en-US" sz="1200">
                <a:latin typeface="メイリオ" panose="020B0604030504040204" pitchFamily="50" charset="-128"/>
                <a:ea typeface="メイリオ" panose="020B0604030504040204" pitchFamily="50" charset="-128"/>
              </a:rPr>
              <a:t>拡張で</a:t>
            </a:r>
            <a:r>
              <a:rPr kumimoji="1" lang="ja-JP" altLang="en-US" sz="1200" b="1">
                <a:latin typeface="メイリオ" panose="020B0604030504040204" pitchFamily="50" charset="-128"/>
                <a:ea typeface="メイリオ" panose="020B0604030504040204" pitchFamily="50" charset="-128"/>
              </a:rPr>
              <a:t>ブラウザ操作自動化</a:t>
            </a:r>
            <a:r>
              <a:rPr kumimoji="1" lang="ja-JP" altLang="en-US" sz="1200">
                <a:latin typeface="メイリオ" panose="020B0604030504040204" pitchFamily="50" charset="-128"/>
                <a:ea typeface="メイリオ" panose="020B0604030504040204" pitchFamily="50" charset="-128"/>
              </a:rPr>
              <a:t>。</a:t>
            </a:r>
            <a:endParaRPr kumimoji="1" lang="en-US" altLang="ja-JP" sz="120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7" name="テキスト ボックス 36">
            <a:extLst>
              <a:ext uri="{FF2B5EF4-FFF2-40B4-BE49-F238E27FC236}">
                <a16:creationId xmlns:a16="http://schemas.microsoft.com/office/drawing/2014/main" id="{5A402090-C9AB-E1FB-7611-CB6F25E423A5}"/>
              </a:ext>
            </a:extLst>
          </p:cNvPr>
          <p:cNvSpPr txBox="1"/>
          <p:nvPr/>
        </p:nvSpPr>
        <p:spPr>
          <a:xfrm>
            <a:off x="8186122" y="4041788"/>
            <a:ext cx="1282147" cy="18235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ja-JP" sz="1400">
                <a:latin typeface="メイリオ" panose="020B0604030504040204" pitchFamily="50" charset="-128"/>
                <a:ea typeface="メイリオ" panose="020B0604030504040204" pitchFamily="50" charset="-128"/>
              </a:rPr>
              <a:t>2025</a:t>
            </a:r>
            <a:r>
              <a:rPr lang="ja-JP" altLang="en-US" sz="1400">
                <a:latin typeface="メイリオ" panose="020B0604030504040204" pitchFamily="50" charset="-128"/>
                <a:ea typeface="メイリオ" panose="020B0604030504040204" pitchFamily="50" charset="-128"/>
              </a:rPr>
              <a:t>年</a:t>
            </a:r>
            <a:r>
              <a:rPr lang="en-US" altLang="ja-JP" sz="1400">
                <a:latin typeface="メイリオ" panose="020B0604030504040204" pitchFamily="50" charset="-128"/>
                <a:ea typeface="メイリオ" panose="020B0604030504040204" pitchFamily="50" charset="-128"/>
              </a:rPr>
              <a:t>10</a:t>
            </a:r>
            <a:r>
              <a:rPr lang="ja-JP" altLang="en-US" sz="1400">
                <a:latin typeface="メイリオ" panose="020B0604030504040204" pitchFamily="50" charset="-128"/>
                <a:ea typeface="メイリオ" panose="020B0604030504040204" pitchFamily="50" charset="-128"/>
              </a:rPr>
              <a:t>月</a:t>
            </a:r>
            <a:endParaRPr lang="en-US" altLang="ja-JP" sz="140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>
              <a:lnSpc>
                <a:spcPct val="150000"/>
              </a:lnSpc>
            </a:pPr>
            <a:r>
              <a:rPr lang="en-US" altLang="ja-JP" sz="1400" b="1">
                <a:latin typeface="メイリオ" panose="020B0604030504040204" pitchFamily="50" charset="-128"/>
                <a:ea typeface="メイリオ" panose="020B0604030504040204" pitchFamily="50" charset="-128"/>
                <a:hlinkClick r:id="rId14"/>
              </a:rPr>
              <a:t>Skills</a:t>
            </a:r>
            <a:endParaRPr lang="en-US" altLang="ja-JP" sz="1400" b="1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>
              <a:lnSpc>
                <a:spcPct val="150000"/>
              </a:lnSpc>
            </a:pPr>
            <a:r>
              <a:rPr lang="ja-JP" altLang="en-US" sz="1200">
                <a:latin typeface="メイリオ" panose="020B0604030504040204" pitchFamily="50" charset="-128"/>
                <a:ea typeface="メイリオ" panose="020B0604030504040204" pitchFamily="50" charset="-128"/>
              </a:rPr>
              <a:t>業務ノウハウをパッケージ化。会話だけで作成可能。</a:t>
            </a:r>
            <a:endParaRPr lang="en-US" altLang="ja-JP" sz="120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8" name="テキスト ボックス 37">
            <a:extLst>
              <a:ext uri="{FF2B5EF4-FFF2-40B4-BE49-F238E27FC236}">
                <a16:creationId xmlns:a16="http://schemas.microsoft.com/office/drawing/2014/main" id="{A2CD59AC-1CA2-56D0-908E-B072FE145934}"/>
              </a:ext>
            </a:extLst>
          </p:cNvPr>
          <p:cNvSpPr txBox="1"/>
          <p:nvPr/>
        </p:nvSpPr>
        <p:spPr>
          <a:xfrm>
            <a:off x="9472446" y="4041788"/>
            <a:ext cx="1282147" cy="15927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ja-JP" sz="1400">
                <a:latin typeface="メイリオ" panose="020B0604030504040204" pitchFamily="50" charset="-128"/>
                <a:ea typeface="メイリオ" panose="020B0604030504040204" pitchFamily="50" charset="-128"/>
              </a:rPr>
              <a:t>2025</a:t>
            </a:r>
            <a:r>
              <a:rPr lang="ja-JP" altLang="en-US" sz="1400">
                <a:latin typeface="メイリオ" panose="020B0604030504040204" pitchFamily="50" charset="-128"/>
                <a:ea typeface="メイリオ" panose="020B0604030504040204" pitchFamily="50" charset="-128"/>
              </a:rPr>
              <a:t>年</a:t>
            </a:r>
            <a:r>
              <a:rPr lang="en-US" altLang="ja-JP" sz="1400">
                <a:latin typeface="メイリオ" panose="020B0604030504040204" pitchFamily="50" charset="-128"/>
                <a:ea typeface="メイリオ" panose="020B0604030504040204" pitchFamily="50" charset="-128"/>
              </a:rPr>
              <a:t>10</a:t>
            </a:r>
            <a:r>
              <a:rPr lang="ja-JP" altLang="en-US" sz="1400">
                <a:latin typeface="メイリオ" panose="020B0604030504040204" pitchFamily="50" charset="-128"/>
                <a:ea typeface="メイリオ" panose="020B0604030504040204" pitchFamily="50" charset="-128"/>
              </a:rPr>
              <a:t>月</a:t>
            </a:r>
            <a:endParaRPr lang="en-US" altLang="ja-JP" sz="140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>
              <a:lnSpc>
                <a:spcPct val="150000"/>
              </a:lnSpc>
            </a:pPr>
            <a:r>
              <a:rPr lang="en-US" altLang="ja-JP" sz="1400" b="1">
                <a:latin typeface="メイリオ" panose="020B0604030504040204" pitchFamily="50" charset="-128"/>
                <a:ea typeface="メイリオ" panose="020B0604030504040204" pitchFamily="50" charset="-128"/>
                <a:hlinkClick r:id="rId15"/>
              </a:rPr>
              <a:t>Claude in Excel</a:t>
            </a:r>
            <a:endParaRPr lang="en-US" altLang="ja-JP" sz="1400" b="1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>
              <a:lnSpc>
                <a:spcPct val="150000"/>
              </a:lnSpc>
            </a:pPr>
            <a:r>
              <a:rPr lang="ja-JP" altLang="en-US" sz="1200">
                <a:latin typeface="メイリオ" panose="020B0604030504040204" pitchFamily="50" charset="-128"/>
                <a:ea typeface="メイリオ" panose="020B0604030504040204" pitchFamily="50" charset="-128"/>
              </a:rPr>
              <a:t>自然言語で</a:t>
            </a:r>
            <a:r>
              <a:rPr lang="en-US" altLang="ja-JP" sz="1200">
                <a:latin typeface="メイリオ" panose="020B0604030504040204" pitchFamily="50" charset="-128"/>
                <a:ea typeface="メイリオ" panose="020B0604030504040204" pitchFamily="50" charset="-128"/>
              </a:rPr>
              <a:t>Excel</a:t>
            </a:r>
            <a:r>
              <a:rPr lang="ja-JP" altLang="en-US" sz="1200">
                <a:latin typeface="メイリオ" panose="020B0604030504040204" pitchFamily="50" charset="-128"/>
                <a:ea typeface="メイリオ" panose="020B0604030504040204" pitchFamily="50" charset="-128"/>
              </a:rPr>
              <a:t>操作</a:t>
            </a:r>
            <a:endParaRPr lang="en-US" altLang="ja-JP" sz="140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9" name="テキスト ボックス 38">
            <a:extLst>
              <a:ext uri="{FF2B5EF4-FFF2-40B4-BE49-F238E27FC236}">
                <a16:creationId xmlns:a16="http://schemas.microsoft.com/office/drawing/2014/main" id="{ACFE4613-A077-9C55-328B-EB75377B5888}"/>
              </a:ext>
            </a:extLst>
          </p:cNvPr>
          <p:cNvSpPr txBox="1"/>
          <p:nvPr/>
        </p:nvSpPr>
        <p:spPr>
          <a:xfrm>
            <a:off x="10697662" y="4041788"/>
            <a:ext cx="1282147" cy="18235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ja-JP" sz="1400">
                <a:latin typeface="メイリオ" panose="020B0604030504040204" pitchFamily="50" charset="-128"/>
                <a:ea typeface="メイリオ" panose="020B0604030504040204" pitchFamily="50" charset="-128"/>
              </a:rPr>
              <a:t>2025</a:t>
            </a:r>
            <a:r>
              <a:rPr lang="ja-JP" altLang="en-US" sz="1400">
                <a:latin typeface="メイリオ" panose="020B0604030504040204" pitchFamily="50" charset="-128"/>
                <a:ea typeface="メイリオ" panose="020B0604030504040204" pitchFamily="50" charset="-128"/>
              </a:rPr>
              <a:t>年</a:t>
            </a:r>
            <a:r>
              <a:rPr lang="en-US" altLang="ja-JP" sz="1400">
                <a:latin typeface="メイリオ" panose="020B0604030504040204" pitchFamily="50" charset="-128"/>
                <a:ea typeface="メイリオ" panose="020B0604030504040204" pitchFamily="50" charset="-128"/>
              </a:rPr>
              <a:t>12</a:t>
            </a:r>
            <a:r>
              <a:rPr lang="ja-JP" altLang="en-US" sz="1400">
                <a:latin typeface="メイリオ" panose="020B0604030504040204" pitchFamily="50" charset="-128"/>
                <a:ea typeface="メイリオ" panose="020B0604030504040204" pitchFamily="50" charset="-128"/>
              </a:rPr>
              <a:t>月</a:t>
            </a:r>
            <a:endParaRPr lang="en-US" altLang="ja-JP" sz="140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>
              <a:lnSpc>
                <a:spcPct val="150000"/>
              </a:lnSpc>
            </a:pPr>
            <a:r>
              <a:rPr lang="en-US" altLang="ja-JP" sz="1400" b="1">
                <a:latin typeface="メイリオ" panose="020B0604030504040204" pitchFamily="50" charset="-128"/>
                <a:ea typeface="メイリオ" panose="020B0604030504040204" pitchFamily="50" charset="-128"/>
                <a:hlinkClick r:id="rId16"/>
              </a:rPr>
              <a:t>Cowork</a:t>
            </a:r>
            <a:endParaRPr lang="en-US" altLang="ja-JP" sz="1400" b="1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>
              <a:lnSpc>
                <a:spcPct val="150000"/>
              </a:lnSpc>
            </a:pPr>
            <a:r>
              <a:rPr lang="ja-JP" altLang="en-US" sz="1200">
                <a:latin typeface="メイリオ" panose="020B0604030504040204" pitchFamily="50" charset="-128"/>
                <a:ea typeface="メイリオ" panose="020B0604030504040204" pitchFamily="50" charset="-128"/>
              </a:rPr>
              <a:t>非開発者向けデスクトップエージェント（現在は</a:t>
            </a:r>
            <a:r>
              <a:rPr lang="en-US" altLang="ja-JP" sz="1200">
                <a:latin typeface="メイリオ" panose="020B0604030504040204" pitchFamily="50" charset="-128"/>
                <a:ea typeface="メイリオ" panose="020B0604030504040204" pitchFamily="50" charset="-128"/>
              </a:rPr>
              <a:t>Mac</a:t>
            </a:r>
            <a:r>
              <a:rPr lang="ja-JP" altLang="en-US" sz="1200">
                <a:latin typeface="メイリオ" panose="020B0604030504040204" pitchFamily="50" charset="-128"/>
                <a:ea typeface="メイリオ" panose="020B0604030504040204" pitchFamily="50" charset="-128"/>
              </a:rPr>
              <a:t>のみ）</a:t>
            </a:r>
            <a:endParaRPr lang="en-US" altLang="ja-JP" sz="140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pic>
        <p:nvPicPr>
          <p:cNvPr id="43" name="図 42" descr="ロゴ&#10;&#10;AI 生成コンテンツは誤りを含む可能性があります。">
            <a:extLst>
              <a:ext uri="{FF2B5EF4-FFF2-40B4-BE49-F238E27FC236}">
                <a16:creationId xmlns:a16="http://schemas.microsoft.com/office/drawing/2014/main" id="{0D00CE13-547E-11A0-E352-4A4F250D5252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8594" y="257739"/>
            <a:ext cx="2605659" cy="561845"/>
          </a:xfrm>
          <a:prstGeom prst="rect">
            <a:avLst/>
          </a:prstGeom>
        </p:spPr>
      </p:pic>
      <p:grpSp>
        <p:nvGrpSpPr>
          <p:cNvPr id="51" name="グループ化 50">
            <a:extLst>
              <a:ext uri="{FF2B5EF4-FFF2-40B4-BE49-F238E27FC236}">
                <a16:creationId xmlns:a16="http://schemas.microsoft.com/office/drawing/2014/main" id="{EBD3857C-FC6A-1EFF-45FD-B1C07520325C}"/>
              </a:ext>
            </a:extLst>
          </p:cNvPr>
          <p:cNvGrpSpPr/>
          <p:nvPr/>
        </p:nvGrpSpPr>
        <p:grpSpPr>
          <a:xfrm>
            <a:off x="5684999" y="2752472"/>
            <a:ext cx="1309144" cy="1037811"/>
            <a:chOff x="2028257" y="204337"/>
            <a:chExt cx="8135485" cy="6449325"/>
          </a:xfrm>
        </p:grpSpPr>
        <p:pic>
          <p:nvPicPr>
            <p:cNvPr id="52" name="図 51" descr="テキスト&#10;&#10;AI 生成コンテンツは誤りを含む可能性があります。">
              <a:extLst>
                <a:ext uri="{FF2B5EF4-FFF2-40B4-BE49-F238E27FC236}">
                  <a16:creationId xmlns:a16="http://schemas.microsoft.com/office/drawing/2014/main" id="{9771CB0C-9519-B572-D09B-2496E766DBD6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/>
            <a:stretch>
              <a:fillRect/>
            </a:stretch>
          </p:blipFill>
          <p:spPr>
            <a:xfrm>
              <a:off x="2028257" y="204337"/>
              <a:ext cx="8135485" cy="6449325"/>
            </a:xfrm>
            <a:prstGeom prst="rect">
              <a:avLst/>
            </a:prstGeom>
            <a:ln>
              <a:noFill/>
            </a:ln>
            <a:effectLst>
              <a:outerShdw blurRad="190500" algn="tl" rotWithShape="0">
                <a:srgbClr val="000000">
                  <a:alpha val="70000"/>
                </a:srgbClr>
              </a:outerShdw>
            </a:effectLst>
          </p:spPr>
        </p:pic>
        <p:pic>
          <p:nvPicPr>
            <p:cNvPr id="53" name="図 52">
              <a:extLst>
                <a:ext uri="{FF2B5EF4-FFF2-40B4-BE49-F238E27FC236}">
                  <a16:creationId xmlns:a16="http://schemas.microsoft.com/office/drawing/2014/main" id="{39D7B14C-2A36-4F8C-CF68-77D7C8DA96E1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/>
            <a:stretch>
              <a:fillRect/>
            </a:stretch>
          </p:blipFill>
          <p:spPr>
            <a:xfrm>
              <a:off x="3506669" y="1702113"/>
              <a:ext cx="2113295" cy="2808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0611623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85BF2E-8FBA-3B44-2BF5-71D087EDA4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四角形: 角を丸くする 41">
            <a:extLst>
              <a:ext uri="{FF2B5EF4-FFF2-40B4-BE49-F238E27FC236}">
                <a16:creationId xmlns:a16="http://schemas.microsoft.com/office/drawing/2014/main" id="{695047DB-4761-F67E-4248-47F90148299A}"/>
              </a:ext>
            </a:extLst>
          </p:cNvPr>
          <p:cNvSpPr/>
          <p:nvPr/>
        </p:nvSpPr>
        <p:spPr>
          <a:xfrm>
            <a:off x="8488013" y="3143760"/>
            <a:ext cx="3518935" cy="1476126"/>
          </a:xfrm>
          <a:prstGeom prst="roundRect">
            <a:avLst/>
          </a:prstGeom>
          <a:solidFill>
            <a:srgbClr val="EDE5F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3" name="四角形: 角を丸くする 42">
            <a:extLst>
              <a:ext uri="{FF2B5EF4-FFF2-40B4-BE49-F238E27FC236}">
                <a16:creationId xmlns:a16="http://schemas.microsoft.com/office/drawing/2014/main" id="{7050C24C-F094-D1CC-0E9E-B22C5D5B13CB}"/>
              </a:ext>
            </a:extLst>
          </p:cNvPr>
          <p:cNvSpPr/>
          <p:nvPr/>
        </p:nvSpPr>
        <p:spPr>
          <a:xfrm>
            <a:off x="8783112" y="3463220"/>
            <a:ext cx="2928735" cy="737978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3" name="四角形: 角を丸くする 22">
            <a:extLst>
              <a:ext uri="{FF2B5EF4-FFF2-40B4-BE49-F238E27FC236}">
                <a16:creationId xmlns:a16="http://schemas.microsoft.com/office/drawing/2014/main" id="{8680F3FE-1232-A8E3-E297-1699B63EBBCF}"/>
              </a:ext>
            </a:extLst>
          </p:cNvPr>
          <p:cNvSpPr/>
          <p:nvPr/>
        </p:nvSpPr>
        <p:spPr>
          <a:xfrm>
            <a:off x="5575852" y="3118678"/>
            <a:ext cx="2375452" cy="1476126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2E8474D0-EAC6-01B9-08C9-F6BF1E98735D}"/>
              </a:ext>
            </a:extLst>
          </p:cNvPr>
          <p:cNvSpPr txBox="1"/>
          <p:nvPr/>
        </p:nvSpPr>
        <p:spPr>
          <a:xfrm>
            <a:off x="443466" y="317212"/>
            <a:ext cx="1121513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3200" b="1">
                <a:latin typeface="メイリオ" panose="020B0604030504040204" pitchFamily="50" charset="-128"/>
                <a:ea typeface="メイリオ" panose="020B0604030504040204" pitchFamily="50" charset="-128"/>
              </a:rPr>
              <a:t>「チャットで答える</a:t>
            </a:r>
            <a:r>
              <a:rPr kumimoji="1" lang="en-US" altLang="ja-JP" sz="3200" b="1">
                <a:latin typeface="メイリオ" panose="020B0604030504040204" pitchFamily="50" charset="-128"/>
                <a:ea typeface="メイリオ" panose="020B0604030504040204" pitchFamily="50" charset="-128"/>
              </a:rPr>
              <a:t>AI</a:t>
            </a:r>
            <a:r>
              <a:rPr kumimoji="1" lang="ja-JP" altLang="en-US" sz="3200" b="1">
                <a:latin typeface="メイリオ" panose="020B0604030504040204" pitchFamily="50" charset="-128"/>
                <a:ea typeface="メイリオ" panose="020B0604030504040204" pitchFamily="50" charset="-128"/>
              </a:rPr>
              <a:t>」から「</a:t>
            </a:r>
            <a:r>
              <a:rPr kumimoji="1" lang="en-US" altLang="ja-JP" sz="3200" b="1">
                <a:latin typeface="メイリオ" panose="020B0604030504040204" pitchFamily="50" charset="-128"/>
                <a:ea typeface="メイリオ" panose="020B0604030504040204" pitchFamily="50" charset="-128"/>
              </a:rPr>
              <a:t>PC</a:t>
            </a:r>
            <a:r>
              <a:rPr kumimoji="1" lang="ja-JP" altLang="en-US" sz="3200" b="1">
                <a:latin typeface="メイリオ" panose="020B0604030504040204" pitchFamily="50" charset="-128"/>
                <a:ea typeface="メイリオ" panose="020B0604030504040204" pitchFamily="50" charset="-128"/>
              </a:rPr>
              <a:t>を動かす</a:t>
            </a:r>
            <a:r>
              <a:rPr kumimoji="1" lang="en-US" altLang="ja-JP" sz="3200" b="1">
                <a:latin typeface="メイリオ" panose="020B0604030504040204" pitchFamily="50" charset="-128"/>
                <a:ea typeface="メイリオ" panose="020B0604030504040204" pitchFamily="50" charset="-128"/>
              </a:rPr>
              <a:t>AI</a:t>
            </a:r>
            <a:r>
              <a:rPr kumimoji="1" lang="ja-JP" altLang="en-US" sz="3200" b="1">
                <a:latin typeface="メイリオ" panose="020B0604030504040204" pitchFamily="50" charset="-128"/>
                <a:ea typeface="メイリオ" panose="020B0604030504040204" pitchFamily="50" charset="-128"/>
              </a:rPr>
              <a:t>」へ</a:t>
            </a: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317CE811-0509-D08E-CFB3-4BCA1474762E}"/>
              </a:ext>
            </a:extLst>
          </p:cNvPr>
          <p:cNvSpPr/>
          <p:nvPr/>
        </p:nvSpPr>
        <p:spPr>
          <a:xfrm>
            <a:off x="185049" y="1008015"/>
            <a:ext cx="5122446" cy="457200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b="1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AI</a:t>
            </a:r>
            <a:r>
              <a:rPr lang="ja-JP" altLang="en-US" b="1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が</a:t>
            </a:r>
            <a:r>
              <a:rPr lang="en-US" altLang="ja-JP" b="1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PC</a:t>
            </a:r>
            <a:r>
              <a:rPr lang="ja-JP" altLang="en-US" b="1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・ブラウザを操作する時代</a:t>
            </a:r>
            <a:endParaRPr kumimoji="1" lang="ja-JP" altLang="en-US" b="1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pic>
        <p:nvPicPr>
          <p:cNvPr id="2" name="図 1" descr="ロゴ&#10;&#10;AI 生成コンテンツは誤りを含む可能性があります。">
            <a:extLst>
              <a:ext uri="{FF2B5EF4-FFF2-40B4-BE49-F238E27FC236}">
                <a16:creationId xmlns:a16="http://schemas.microsoft.com/office/drawing/2014/main" id="{8B9F8CC5-CA72-F45F-2548-F891A61AAA4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051" y="2134471"/>
            <a:ext cx="843930" cy="843930"/>
          </a:xfrm>
          <a:prstGeom prst="rect">
            <a:avLst/>
          </a:prstGeom>
        </p:spPr>
      </p:pic>
      <p:pic>
        <p:nvPicPr>
          <p:cNvPr id="3" name="図 2" descr="ダイアグラム&#10;&#10;AI 生成コンテンツは誤りを含む可能性があります。">
            <a:extLst>
              <a:ext uri="{FF2B5EF4-FFF2-40B4-BE49-F238E27FC236}">
                <a16:creationId xmlns:a16="http://schemas.microsoft.com/office/drawing/2014/main" id="{7A4DADF2-8EB3-05DD-1E24-34143C52680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049" y="1571243"/>
            <a:ext cx="775934" cy="457200"/>
          </a:xfrm>
          <a:prstGeom prst="rect">
            <a:avLst/>
          </a:prstGeom>
        </p:spPr>
      </p:pic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FDC608D0-F9DB-37B4-989F-3E28CA46A5A1}"/>
              </a:ext>
            </a:extLst>
          </p:cNvPr>
          <p:cNvSpPr txBox="1"/>
          <p:nvPr/>
        </p:nvSpPr>
        <p:spPr>
          <a:xfrm>
            <a:off x="960983" y="1462741"/>
            <a:ext cx="4346512" cy="711733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ja-JP" sz="1400" b="1">
                <a:latin typeface="メイリオ" panose="020B0604030504040204" pitchFamily="50" charset="-128"/>
                <a:ea typeface="メイリオ" panose="020B0604030504040204" pitchFamily="50" charset="-128"/>
              </a:rPr>
              <a:t>Claude Code</a:t>
            </a:r>
            <a:r>
              <a:rPr lang="ja-JP" altLang="en-US" sz="1400" b="1">
                <a:latin typeface="メイリオ" panose="020B0604030504040204" pitchFamily="50" charset="-128"/>
                <a:ea typeface="メイリオ" panose="020B0604030504040204" pitchFamily="50" charset="-128"/>
              </a:rPr>
              <a:t>：ターミナル</a:t>
            </a:r>
            <a:r>
              <a:rPr lang="ja-JP" altLang="en-US" sz="1400">
                <a:latin typeface="メイリオ" panose="020B0604030504040204" pitchFamily="50" charset="-128"/>
                <a:ea typeface="メイリオ" panose="020B0604030504040204" pitchFamily="50" charset="-128"/>
              </a:rPr>
              <a:t>（黒い画面）</a:t>
            </a:r>
            <a:r>
              <a:rPr lang="ja-JP" altLang="en-US" sz="1400" b="1">
                <a:latin typeface="メイリオ" panose="020B0604030504040204" pitchFamily="50" charset="-128"/>
                <a:ea typeface="メイリオ" panose="020B0604030504040204" pitchFamily="50" charset="-128"/>
              </a:rPr>
              <a:t>で動く</a:t>
            </a:r>
            <a:endParaRPr lang="en-US" altLang="ja-JP" sz="1400" b="1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>
              <a:lnSpc>
                <a:spcPct val="150000"/>
              </a:lnSpc>
            </a:pPr>
            <a:r>
              <a:rPr kumimoji="1" lang="ja-JP" altLang="en-US" sz="1400" b="1">
                <a:latin typeface="メイリオ" panose="020B0604030504040204" pitchFamily="50" charset="-128"/>
                <a:ea typeface="メイリオ" panose="020B0604030504040204" pitchFamily="50" charset="-128"/>
              </a:rPr>
              <a:t>➡</a:t>
            </a:r>
            <a:r>
              <a:rPr kumimoji="1" lang="ja-JP" altLang="en-US" sz="1050" b="1">
                <a:latin typeface="メイリオ" panose="020B0604030504040204" pitchFamily="50" charset="-128"/>
                <a:ea typeface="メイリオ" panose="020B0604030504040204" pitchFamily="50" charset="-128"/>
              </a:rPr>
              <a:t> </a:t>
            </a:r>
            <a:r>
              <a:rPr lang="en-US" altLang="ja-JP" sz="1050">
                <a:latin typeface="メイリオ" panose="020B0604030504040204" pitchFamily="50" charset="-128"/>
                <a:ea typeface="メイリオ" panose="020B0604030504040204" pitchFamily="50" charset="-128"/>
              </a:rPr>
              <a:t>(</a:t>
            </a:r>
            <a:r>
              <a:rPr lang="ja-JP" altLang="en-US" sz="1050">
                <a:latin typeface="メイリオ" panose="020B0604030504040204" pitchFamily="50" charset="-128"/>
                <a:ea typeface="メイリオ" panose="020B0604030504040204" pitchFamily="50" charset="-128"/>
              </a:rPr>
              <a:t>開発ツールだけど</a:t>
            </a:r>
            <a:r>
              <a:rPr lang="en-US" altLang="ja-JP" sz="1050">
                <a:latin typeface="メイリオ" panose="020B0604030504040204" pitchFamily="50" charset="-128"/>
                <a:ea typeface="メイリオ" panose="020B0604030504040204" pitchFamily="50" charset="-128"/>
              </a:rPr>
              <a:t>)</a:t>
            </a:r>
            <a:r>
              <a:rPr kumimoji="1" lang="en-US" altLang="ja-JP" sz="1400" b="1">
                <a:latin typeface="メイリオ" panose="020B0604030504040204" pitchFamily="50" charset="-128"/>
                <a:ea typeface="メイリオ" panose="020B0604030504040204" pitchFamily="50" charset="-128"/>
              </a:rPr>
              <a:t>PC</a:t>
            </a:r>
            <a:r>
              <a:rPr kumimoji="1" lang="ja-JP" altLang="en-US" sz="1400" b="1">
                <a:latin typeface="メイリオ" panose="020B0604030504040204" pitchFamily="50" charset="-128"/>
                <a:ea typeface="メイリオ" panose="020B0604030504040204" pitchFamily="50" charset="-128"/>
              </a:rPr>
              <a:t>自体を操作できる</a:t>
            </a:r>
            <a:r>
              <a:rPr kumimoji="1" lang="ja-JP" altLang="en-US" sz="1400">
                <a:latin typeface="メイリオ" panose="020B0604030504040204" pitchFamily="50" charset="-128"/>
                <a:ea typeface="メイリオ" panose="020B0604030504040204" pitchFamily="50" charset="-128"/>
              </a:rPr>
              <a:t>ということ</a:t>
            </a:r>
            <a:endParaRPr kumimoji="1" lang="en-US" altLang="ja-JP" sz="140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1C5EB677-2876-A69B-0321-E3AB11269551}"/>
              </a:ext>
            </a:extLst>
          </p:cNvPr>
          <p:cNvSpPr txBox="1"/>
          <p:nvPr/>
        </p:nvSpPr>
        <p:spPr>
          <a:xfrm>
            <a:off x="960983" y="2200569"/>
            <a:ext cx="4035288" cy="7117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ja-JP" sz="1400" b="1">
                <a:latin typeface="メイリオ" panose="020B0604030504040204" pitchFamily="50" charset="-128"/>
                <a:ea typeface="メイリオ" panose="020B0604030504040204" pitchFamily="50" charset="-128"/>
              </a:rPr>
              <a:t>Claude in Chrome</a:t>
            </a:r>
            <a:r>
              <a:rPr lang="ja-JP" altLang="en-US" sz="1400" b="1">
                <a:latin typeface="メイリオ" panose="020B0604030504040204" pitchFamily="50" charset="-128"/>
                <a:ea typeface="メイリオ" panose="020B0604030504040204" pitchFamily="50" charset="-128"/>
              </a:rPr>
              <a:t>：</a:t>
            </a:r>
            <a:r>
              <a:rPr lang="en-US" altLang="ja-JP" sz="1400" b="1">
                <a:latin typeface="メイリオ" panose="020B0604030504040204" pitchFamily="50" charset="-128"/>
                <a:ea typeface="メイリオ" panose="020B0604030504040204" pitchFamily="50" charset="-128"/>
              </a:rPr>
              <a:t>Chrome</a:t>
            </a:r>
            <a:r>
              <a:rPr lang="ja-JP" altLang="en-US" sz="1400" b="1">
                <a:latin typeface="メイリオ" panose="020B0604030504040204" pitchFamily="50" charset="-128"/>
                <a:ea typeface="メイリオ" panose="020B0604030504040204" pitchFamily="50" charset="-128"/>
              </a:rPr>
              <a:t>拡張として動く</a:t>
            </a:r>
            <a:endParaRPr lang="en-US" altLang="ja-JP" sz="1400" b="1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>
              <a:lnSpc>
                <a:spcPct val="150000"/>
              </a:lnSpc>
            </a:pPr>
            <a:r>
              <a:rPr kumimoji="1" lang="ja-JP" altLang="en-US" sz="1400" b="1">
                <a:latin typeface="メイリオ" panose="020B0604030504040204" pitchFamily="50" charset="-128"/>
                <a:ea typeface="メイリオ" panose="020B0604030504040204" pitchFamily="50" charset="-128"/>
              </a:rPr>
              <a:t>➡ ブラウザを操作できる</a:t>
            </a:r>
            <a:r>
              <a:rPr kumimoji="1" lang="ja-JP" altLang="en-US" sz="1400">
                <a:latin typeface="メイリオ" panose="020B0604030504040204" pitchFamily="50" charset="-128"/>
                <a:ea typeface="メイリオ" panose="020B0604030504040204" pitchFamily="50" charset="-128"/>
              </a:rPr>
              <a:t>ということ</a:t>
            </a:r>
            <a:endParaRPr kumimoji="1" lang="en-US" altLang="ja-JP" sz="140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9F102DBE-8503-73D0-0CAA-8D560FC96AC6}"/>
              </a:ext>
            </a:extLst>
          </p:cNvPr>
          <p:cNvSpPr/>
          <p:nvPr/>
        </p:nvSpPr>
        <p:spPr>
          <a:xfrm>
            <a:off x="185049" y="3084429"/>
            <a:ext cx="5122446" cy="457200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b="1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RPA</a:t>
            </a:r>
            <a:r>
              <a:rPr lang="ja-JP" altLang="en-US" b="1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との違い</a:t>
            </a:r>
            <a:endParaRPr kumimoji="1" lang="ja-JP" altLang="en-US" b="1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graphicFrame>
        <p:nvGraphicFramePr>
          <p:cNvPr id="16" name="表 15">
            <a:extLst>
              <a:ext uri="{FF2B5EF4-FFF2-40B4-BE49-F238E27FC236}">
                <a16:creationId xmlns:a16="http://schemas.microsoft.com/office/drawing/2014/main" id="{F138339E-171F-FF11-8C24-C150708111B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3402878"/>
              </p:ext>
            </p:extLst>
          </p:nvPr>
        </p:nvGraphicFramePr>
        <p:xfrm>
          <a:off x="185050" y="3597784"/>
          <a:ext cx="5122446" cy="30300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098">
                  <a:extLst>
                    <a:ext uri="{9D8B030D-6E8A-4147-A177-3AD203B41FA5}">
                      <a16:colId xmlns:a16="http://schemas.microsoft.com/office/drawing/2014/main" val="1714558132"/>
                    </a:ext>
                  </a:extLst>
                </a:gridCol>
                <a:gridCol w="1699591">
                  <a:extLst>
                    <a:ext uri="{9D8B030D-6E8A-4147-A177-3AD203B41FA5}">
                      <a16:colId xmlns:a16="http://schemas.microsoft.com/office/drawing/2014/main" val="480840800"/>
                    </a:ext>
                  </a:extLst>
                </a:gridCol>
                <a:gridCol w="2325757">
                  <a:extLst>
                    <a:ext uri="{9D8B030D-6E8A-4147-A177-3AD203B41FA5}">
                      <a16:colId xmlns:a16="http://schemas.microsoft.com/office/drawing/2014/main" val="1844808726"/>
                    </a:ext>
                  </a:extLst>
                </a:gridCol>
              </a:tblGrid>
              <a:tr h="530707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40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項目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40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従来の</a:t>
                      </a:r>
                      <a:r>
                        <a:rPr kumimoji="1" lang="en-US" altLang="ja-JP" sz="140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RPA</a:t>
                      </a:r>
                      <a:endParaRPr kumimoji="1" lang="ja-JP" altLang="en-US" sz="1400"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40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Claude Code / Claude in Chrome</a:t>
                      </a:r>
                      <a:endParaRPr kumimoji="1" lang="ja-JP" altLang="en-US" sz="1400"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08897093"/>
                  </a:ext>
                </a:extLst>
              </a:tr>
              <a:tr h="741536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40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動作環境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40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画面座標・要素</a:t>
                      </a:r>
                      <a:r>
                        <a:rPr kumimoji="1" lang="en-US" altLang="ja-JP" sz="140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ID</a:t>
                      </a:r>
                      <a:r>
                        <a:rPr kumimoji="1" lang="ja-JP" altLang="en-US" sz="140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を記録して再生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40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AI</a:t>
                      </a:r>
                      <a:r>
                        <a:rPr kumimoji="1" lang="ja-JP" altLang="en-US" sz="140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が画面を見て意味を理解して操作</a:t>
                      </a:r>
                      <a:endParaRPr kumimoji="1" lang="en-US" altLang="ja-JP" sz="1400"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  <a:p>
                      <a:pPr algn="ctr"/>
                      <a:r>
                        <a:rPr kumimoji="1" lang="ja-JP" altLang="en-US" sz="140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➡ 画面スクショを取り勝手に確認するなど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15160650"/>
                  </a:ext>
                </a:extLst>
              </a:tr>
              <a:tr h="436198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40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画面変更時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40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止まる（シナリオ作り直し）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40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AI</a:t>
                      </a:r>
                      <a:r>
                        <a:rPr kumimoji="1" lang="ja-JP" altLang="en-US" sz="140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が適応して操作を継続</a:t>
                      </a:r>
                      <a:endParaRPr kumimoji="1" lang="en-US" altLang="ja-JP" sz="1400"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51060320"/>
                  </a:ext>
                </a:extLst>
              </a:tr>
              <a:tr h="436198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40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例外処理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40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人が対応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40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AI</a:t>
                      </a:r>
                      <a:r>
                        <a:rPr kumimoji="1" lang="ja-JP" altLang="en-US" sz="140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が判断して対処、</a:t>
                      </a:r>
                      <a:endParaRPr kumimoji="1" lang="en-US" altLang="ja-JP" sz="1400"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  <a:p>
                      <a:pPr algn="ctr"/>
                      <a:r>
                        <a:rPr kumimoji="1" lang="ja-JP" altLang="en-US" sz="140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または人に確認依頼</a:t>
                      </a:r>
                      <a:endParaRPr kumimoji="1" lang="en-US" altLang="ja-JP" sz="1400"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41166824"/>
                  </a:ext>
                </a:extLst>
              </a:tr>
              <a:tr h="436198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40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作成方法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40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画面録画・スクリプト作成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40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自然言語で指示</a:t>
                      </a:r>
                      <a:endParaRPr kumimoji="1" lang="en-US" altLang="ja-JP" sz="1400"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03302509"/>
                  </a:ext>
                </a:extLst>
              </a:tr>
            </a:tbl>
          </a:graphicData>
        </a:graphic>
      </p:graphicFrame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1544AB4B-718D-64CC-A4A4-95AFEC11B529}"/>
              </a:ext>
            </a:extLst>
          </p:cNvPr>
          <p:cNvSpPr/>
          <p:nvPr/>
        </p:nvSpPr>
        <p:spPr>
          <a:xfrm>
            <a:off x="5495857" y="1008015"/>
            <a:ext cx="6511094" cy="457200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b="1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M365 Copilot </a:t>
            </a:r>
            <a:r>
              <a:rPr lang="ja-JP" altLang="en-US" b="1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との違い</a:t>
            </a:r>
            <a:endParaRPr kumimoji="1" lang="ja-JP" altLang="en-US" b="1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graphicFrame>
        <p:nvGraphicFramePr>
          <p:cNvPr id="20" name="表 19">
            <a:extLst>
              <a:ext uri="{FF2B5EF4-FFF2-40B4-BE49-F238E27FC236}">
                <a16:creationId xmlns:a16="http://schemas.microsoft.com/office/drawing/2014/main" id="{DD53D0B6-C392-7C1C-06FD-1B654C3DCB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99771185"/>
              </p:ext>
            </p:extLst>
          </p:nvPr>
        </p:nvGraphicFramePr>
        <p:xfrm>
          <a:off x="5495856" y="1510631"/>
          <a:ext cx="6511093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94511">
                  <a:extLst>
                    <a:ext uri="{9D8B030D-6E8A-4147-A177-3AD203B41FA5}">
                      <a16:colId xmlns:a16="http://schemas.microsoft.com/office/drawing/2014/main" val="1714558132"/>
                    </a:ext>
                  </a:extLst>
                </a:gridCol>
                <a:gridCol w="2011001">
                  <a:extLst>
                    <a:ext uri="{9D8B030D-6E8A-4147-A177-3AD203B41FA5}">
                      <a16:colId xmlns:a16="http://schemas.microsoft.com/office/drawing/2014/main" val="480840800"/>
                    </a:ext>
                  </a:extLst>
                </a:gridCol>
                <a:gridCol w="3105581">
                  <a:extLst>
                    <a:ext uri="{9D8B030D-6E8A-4147-A177-3AD203B41FA5}">
                      <a16:colId xmlns:a16="http://schemas.microsoft.com/office/drawing/2014/main" val="1844808726"/>
                    </a:ext>
                  </a:extLst>
                </a:gridCol>
              </a:tblGrid>
              <a:tr h="179327">
                <a:tc>
                  <a:txBody>
                    <a:bodyPr/>
                    <a:lstStyle/>
                    <a:p>
                      <a:pPr algn="ctr"/>
                      <a:endParaRPr kumimoji="1" lang="ja-JP" altLang="en-US" sz="1200"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M365 Copilot</a:t>
                      </a:r>
                      <a:endParaRPr kumimoji="1" lang="ja-JP" altLang="en-US" sz="1200"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Claude Code</a:t>
                      </a:r>
                      <a:endParaRPr kumimoji="1" lang="ja-JP" altLang="en-US" sz="1200"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08897093"/>
                  </a:ext>
                </a:extLst>
              </a:tr>
              <a:tr h="311445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20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実行環境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20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各実行したアプリ内</a:t>
                      </a:r>
                      <a:endParaRPr kumimoji="1" lang="en-US" altLang="ja-JP" sz="1200"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  <a:p>
                      <a:pPr algn="ctr"/>
                      <a:r>
                        <a:rPr kumimoji="1" lang="en-US" altLang="ja-JP" sz="120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(Word</a:t>
                      </a:r>
                      <a:r>
                        <a:rPr kumimoji="1" lang="ja-JP" altLang="en-US" sz="120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、</a:t>
                      </a:r>
                      <a:r>
                        <a:rPr kumimoji="1" lang="en-US" altLang="ja-JP" sz="120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Excel</a:t>
                      </a:r>
                      <a:r>
                        <a:rPr kumimoji="1" lang="ja-JP" altLang="en-US" sz="120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等</a:t>
                      </a:r>
                      <a:r>
                        <a:rPr kumimoji="1" lang="en-US" altLang="ja-JP" sz="120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)</a:t>
                      </a:r>
                      <a:endParaRPr kumimoji="1" lang="ja-JP" altLang="en-US" sz="1200"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20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実行</a:t>
                      </a:r>
                      <a:r>
                        <a:rPr kumimoji="1" lang="en-US" altLang="ja-JP" sz="120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PC(※1) Or </a:t>
                      </a:r>
                      <a:r>
                        <a:rPr kumimoji="1" lang="en-US" altLang="ja-JP" sz="1200">
                          <a:latin typeface="メイリオ" panose="020B0604030504040204" pitchFamily="50" charset="-128"/>
                          <a:ea typeface="メイリオ" panose="020B0604030504040204" pitchFamily="50" charset="-128"/>
                          <a:hlinkClick r:id="rId4"/>
                        </a:rPr>
                        <a:t>Web</a:t>
                      </a:r>
                      <a:r>
                        <a:rPr kumimoji="1" lang="ja-JP" altLang="en-US" sz="1200">
                          <a:latin typeface="メイリオ" panose="020B0604030504040204" pitchFamily="50" charset="-128"/>
                          <a:ea typeface="メイリオ" panose="020B0604030504040204" pitchFamily="50" charset="-128"/>
                          <a:hlinkClick r:id="rId4"/>
                        </a:rPr>
                        <a:t>アプリ上</a:t>
                      </a:r>
                      <a:endParaRPr kumimoji="1" lang="ja-JP" altLang="en-US" sz="1200"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15160650"/>
                  </a:ext>
                </a:extLst>
              </a:tr>
              <a:tr h="298878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20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連携範囲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Web</a:t>
                      </a:r>
                      <a:r>
                        <a:rPr kumimoji="1" lang="ja-JP" altLang="en-US" sz="120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検索、自社テナント内</a:t>
                      </a:r>
                      <a:r>
                        <a:rPr kumimoji="1" lang="en-US" altLang="ja-JP" sz="120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(SharePoint</a:t>
                      </a:r>
                      <a:r>
                        <a:rPr kumimoji="1" lang="ja-JP" altLang="en-US" sz="120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等</a:t>
                      </a:r>
                      <a:r>
                        <a:rPr kumimoji="1" lang="en-US" altLang="ja-JP" sz="120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)</a:t>
                      </a:r>
                      <a:endParaRPr kumimoji="1" lang="ja-JP" altLang="en-US" sz="1200"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GitHub</a:t>
                      </a:r>
                      <a:r>
                        <a:rPr kumimoji="1" lang="ja-JP" altLang="en-US" sz="120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、</a:t>
                      </a:r>
                      <a:r>
                        <a:rPr kumimoji="1" lang="en-US" altLang="ja-JP" sz="120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API</a:t>
                      </a:r>
                      <a:r>
                        <a:rPr kumimoji="1" lang="ja-JP" altLang="en-US" sz="120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、</a:t>
                      </a:r>
                      <a:r>
                        <a:rPr kumimoji="1" lang="en-US" altLang="ja-JP" sz="120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Web</a:t>
                      </a:r>
                      <a:r>
                        <a:rPr kumimoji="1" lang="ja-JP" altLang="en-US" sz="120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等の</a:t>
                      </a:r>
                      <a:endParaRPr kumimoji="1" lang="en-US" altLang="ja-JP" sz="1200"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  <a:p>
                      <a:pPr algn="ctr"/>
                      <a:r>
                        <a:rPr kumimoji="1" lang="ja-JP" altLang="en-US" sz="120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プログラムで実行できる範囲</a:t>
                      </a:r>
                      <a:endParaRPr kumimoji="1" lang="en-US" altLang="ja-JP" sz="1200"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51060320"/>
                  </a:ext>
                </a:extLst>
              </a:tr>
            </a:tbl>
          </a:graphicData>
        </a:graphic>
      </p:graphicFrame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428076EA-3616-DAED-B69D-2C0495BDB1EF}"/>
              </a:ext>
            </a:extLst>
          </p:cNvPr>
          <p:cNvSpPr txBox="1"/>
          <p:nvPr/>
        </p:nvSpPr>
        <p:spPr>
          <a:xfrm>
            <a:off x="5993245" y="3084429"/>
            <a:ext cx="1540667" cy="3885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ja-JP" sz="1400" b="1">
                <a:latin typeface="メイリオ" panose="020B0604030504040204" pitchFamily="50" charset="-128"/>
                <a:ea typeface="メイリオ" panose="020B0604030504040204" pitchFamily="50" charset="-128"/>
              </a:rPr>
              <a:t>M365 Copilot</a:t>
            </a:r>
            <a:endParaRPr kumimoji="1" lang="en-US" altLang="ja-JP" sz="140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E48421DE-3227-2531-A86F-D2ECD881183A}"/>
              </a:ext>
            </a:extLst>
          </p:cNvPr>
          <p:cNvSpPr txBox="1"/>
          <p:nvPr/>
        </p:nvSpPr>
        <p:spPr>
          <a:xfrm>
            <a:off x="5588244" y="3893328"/>
            <a:ext cx="2350668" cy="6232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kumimoji="1" lang="ja-JP" altLang="en-US" sz="1200">
                <a:latin typeface="メイリオ" panose="020B0604030504040204" pitchFamily="50" charset="-128"/>
                <a:ea typeface="メイリオ" panose="020B0604030504040204" pitchFamily="50" charset="-128"/>
              </a:rPr>
              <a:t>各アプリを箱として、</a:t>
            </a:r>
            <a:endParaRPr kumimoji="1" lang="en-US" altLang="ja-JP" sz="120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ctr">
              <a:lnSpc>
                <a:spcPct val="150000"/>
              </a:lnSpc>
            </a:pPr>
            <a:r>
              <a:rPr kumimoji="1" lang="ja-JP" altLang="en-US" sz="1200">
                <a:latin typeface="メイリオ" panose="020B0604030504040204" pitchFamily="50" charset="-128"/>
                <a:ea typeface="メイリオ" panose="020B0604030504040204" pitchFamily="50" charset="-128"/>
              </a:rPr>
              <a:t>その中で使える便利な</a:t>
            </a:r>
            <a:r>
              <a:rPr kumimoji="1" lang="en-US" altLang="ja-JP" sz="1200">
                <a:latin typeface="メイリオ" panose="020B0604030504040204" pitchFamily="50" charset="-128"/>
                <a:ea typeface="メイリオ" panose="020B0604030504040204" pitchFamily="50" charset="-128"/>
              </a:rPr>
              <a:t>AI</a:t>
            </a:r>
          </a:p>
        </p:txBody>
      </p:sp>
      <p:sp>
        <p:nvSpPr>
          <p:cNvPr id="41" name="二等辺三角形 40">
            <a:extLst>
              <a:ext uri="{FF2B5EF4-FFF2-40B4-BE49-F238E27FC236}">
                <a16:creationId xmlns:a16="http://schemas.microsoft.com/office/drawing/2014/main" id="{F1501687-E086-0EE7-2AFB-6BAB31C795FF}"/>
              </a:ext>
            </a:extLst>
          </p:cNvPr>
          <p:cNvSpPr/>
          <p:nvPr/>
        </p:nvSpPr>
        <p:spPr>
          <a:xfrm rot="5400000">
            <a:off x="7832033" y="3774059"/>
            <a:ext cx="775252" cy="238539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4" name="テキスト ボックス 43">
            <a:extLst>
              <a:ext uri="{FF2B5EF4-FFF2-40B4-BE49-F238E27FC236}">
                <a16:creationId xmlns:a16="http://schemas.microsoft.com/office/drawing/2014/main" id="{64AB2BF4-EA79-786D-D4D6-C26F1AC75F19}"/>
              </a:ext>
            </a:extLst>
          </p:cNvPr>
          <p:cNvSpPr txBox="1"/>
          <p:nvPr/>
        </p:nvSpPr>
        <p:spPr>
          <a:xfrm>
            <a:off x="9477145" y="3085240"/>
            <a:ext cx="1540667" cy="3885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ja-JP" sz="1400" b="1">
                <a:latin typeface="メイリオ" panose="020B0604030504040204" pitchFamily="50" charset="-128"/>
                <a:ea typeface="メイリオ" panose="020B0604030504040204" pitchFamily="50" charset="-128"/>
              </a:rPr>
              <a:t>Claude Code</a:t>
            </a:r>
            <a:endParaRPr kumimoji="1" lang="en-US" altLang="ja-JP" sz="140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pic>
        <p:nvPicPr>
          <p:cNvPr id="22" name="図 21" descr="アイコン&#10;&#10;AI 生成コンテンツは誤りを含む可能性があります。">
            <a:extLst>
              <a:ext uri="{FF2B5EF4-FFF2-40B4-BE49-F238E27FC236}">
                <a16:creationId xmlns:a16="http://schemas.microsoft.com/office/drawing/2014/main" id="{30B6BEEF-853C-39B0-5F32-10B93CDB987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33780" y="3463219"/>
            <a:ext cx="431632" cy="401619"/>
          </a:xfrm>
          <a:prstGeom prst="rect">
            <a:avLst/>
          </a:prstGeom>
        </p:spPr>
      </p:pic>
      <p:pic>
        <p:nvPicPr>
          <p:cNvPr id="50" name="図 49" descr="グラフィカル ユーザー インターフェイス, アイコン&#10;&#10;AI 生成コンテンツは誤りを含む可能性があります。">
            <a:extLst>
              <a:ext uri="{FF2B5EF4-FFF2-40B4-BE49-F238E27FC236}">
                <a16:creationId xmlns:a16="http://schemas.microsoft.com/office/drawing/2014/main" id="{9EEBFD5B-6AC5-330C-E9F1-DE546DC40D1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55853" y="3397937"/>
            <a:ext cx="532184" cy="532184"/>
          </a:xfrm>
          <a:prstGeom prst="rect">
            <a:avLst/>
          </a:prstGeom>
        </p:spPr>
      </p:pic>
      <p:pic>
        <p:nvPicPr>
          <p:cNvPr id="53" name="グラフィックス 52" descr="ブラウザー ウィンドウ 枠線">
            <a:extLst>
              <a:ext uri="{FF2B5EF4-FFF2-40B4-BE49-F238E27FC236}">
                <a16:creationId xmlns:a16="http://schemas.microsoft.com/office/drawing/2014/main" id="{2E321925-B9DA-4E17-38BD-279F40B377A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972277" y="3451360"/>
            <a:ext cx="550507" cy="550507"/>
          </a:xfrm>
          <a:prstGeom prst="rect">
            <a:avLst/>
          </a:prstGeom>
        </p:spPr>
      </p:pic>
      <p:pic>
        <p:nvPicPr>
          <p:cNvPr id="55" name="グラフィックス 54" descr="紙 単色塗りつぶし">
            <a:extLst>
              <a:ext uri="{FF2B5EF4-FFF2-40B4-BE49-F238E27FC236}">
                <a16:creationId xmlns:a16="http://schemas.microsoft.com/office/drawing/2014/main" id="{B411DB0D-77EC-15F9-8515-DC4CC74E9035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139029" y="3478751"/>
            <a:ext cx="477331" cy="477331"/>
          </a:xfrm>
          <a:prstGeom prst="rect">
            <a:avLst/>
          </a:prstGeom>
        </p:spPr>
      </p:pic>
      <p:pic>
        <p:nvPicPr>
          <p:cNvPr id="57" name="図 56" descr="図形&#10;&#10;AI 生成コンテンツは誤りを含む可能性があります。">
            <a:extLst>
              <a:ext uri="{FF2B5EF4-FFF2-40B4-BE49-F238E27FC236}">
                <a16:creationId xmlns:a16="http://schemas.microsoft.com/office/drawing/2014/main" id="{E91AD045-22BC-7DCF-401D-69EB6944C7CE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17812" y="3537092"/>
            <a:ext cx="388568" cy="388568"/>
          </a:xfrm>
          <a:prstGeom prst="rect">
            <a:avLst/>
          </a:prstGeom>
        </p:spPr>
      </p:pic>
      <p:sp>
        <p:nvSpPr>
          <p:cNvPr id="62" name="テキスト ボックス 61">
            <a:extLst>
              <a:ext uri="{FF2B5EF4-FFF2-40B4-BE49-F238E27FC236}">
                <a16:creationId xmlns:a16="http://schemas.microsoft.com/office/drawing/2014/main" id="{85891717-A34B-D6BC-463C-2CCADEEAC599}"/>
              </a:ext>
            </a:extLst>
          </p:cNvPr>
          <p:cNvSpPr txBox="1"/>
          <p:nvPr/>
        </p:nvSpPr>
        <p:spPr>
          <a:xfrm>
            <a:off x="8946751" y="3876108"/>
            <a:ext cx="923654" cy="3250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kumimoji="1" lang="ja-JP" altLang="en-US" sz="1100">
                <a:latin typeface="メイリオ" panose="020B0604030504040204" pitchFamily="50" charset="-128"/>
                <a:ea typeface="メイリオ" panose="020B0604030504040204" pitchFamily="50" charset="-128"/>
              </a:rPr>
              <a:t>ファイル</a:t>
            </a:r>
            <a:endParaRPr kumimoji="1" lang="en-US" altLang="ja-JP" sz="110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63" name="テキスト ボックス 62">
            <a:extLst>
              <a:ext uri="{FF2B5EF4-FFF2-40B4-BE49-F238E27FC236}">
                <a16:creationId xmlns:a16="http://schemas.microsoft.com/office/drawing/2014/main" id="{049B6624-2F28-BFFC-4979-007674CCC9DD}"/>
              </a:ext>
            </a:extLst>
          </p:cNvPr>
          <p:cNvSpPr txBox="1"/>
          <p:nvPr/>
        </p:nvSpPr>
        <p:spPr>
          <a:xfrm>
            <a:off x="9785703" y="3876108"/>
            <a:ext cx="923654" cy="3250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kumimoji="1" lang="ja-JP" altLang="en-US" sz="1100">
                <a:latin typeface="メイリオ" panose="020B0604030504040204" pitchFamily="50" charset="-128"/>
                <a:ea typeface="メイリオ" panose="020B0604030504040204" pitchFamily="50" charset="-128"/>
              </a:rPr>
              <a:t>ブラウザ</a:t>
            </a:r>
            <a:endParaRPr kumimoji="1" lang="en-US" altLang="ja-JP" sz="110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64" name="テキスト ボックス 63">
            <a:extLst>
              <a:ext uri="{FF2B5EF4-FFF2-40B4-BE49-F238E27FC236}">
                <a16:creationId xmlns:a16="http://schemas.microsoft.com/office/drawing/2014/main" id="{F68F23EA-5709-1085-DA00-DE55597E4095}"/>
              </a:ext>
            </a:extLst>
          </p:cNvPr>
          <p:cNvSpPr txBox="1"/>
          <p:nvPr/>
        </p:nvSpPr>
        <p:spPr>
          <a:xfrm>
            <a:off x="10767193" y="3876108"/>
            <a:ext cx="923654" cy="3250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kumimoji="1" lang="en-US" altLang="ja-JP" sz="1100">
                <a:latin typeface="メイリオ" panose="020B0604030504040204" pitchFamily="50" charset="-128"/>
                <a:ea typeface="メイリオ" panose="020B0604030504040204" pitchFamily="50" charset="-128"/>
              </a:rPr>
              <a:t>API</a:t>
            </a:r>
          </a:p>
        </p:txBody>
      </p:sp>
      <p:sp>
        <p:nvSpPr>
          <p:cNvPr id="65" name="テキスト ボックス 64">
            <a:extLst>
              <a:ext uri="{FF2B5EF4-FFF2-40B4-BE49-F238E27FC236}">
                <a16:creationId xmlns:a16="http://schemas.microsoft.com/office/drawing/2014/main" id="{0063E1D9-6580-4A06-AF58-1FEBAF12F55F}"/>
              </a:ext>
            </a:extLst>
          </p:cNvPr>
          <p:cNvSpPr txBox="1"/>
          <p:nvPr/>
        </p:nvSpPr>
        <p:spPr>
          <a:xfrm>
            <a:off x="8956983" y="4198805"/>
            <a:ext cx="2580995" cy="3462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kumimoji="1" lang="en-US" altLang="ja-JP" sz="1200">
                <a:latin typeface="メイリオ" panose="020B0604030504040204" pitchFamily="50" charset="-128"/>
                <a:ea typeface="メイリオ" panose="020B0604030504040204" pitchFamily="50" charset="-128"/>
              </a:rPr>
              <a:t>PC</a:t>
            </a:r>
            <a:r>
              <a:rPr kumimoji="1" lang="ja-JP" altLang="en-US" sz="1200">
                <a:latin typeface="メイリオ" panose="020B0604030504040204" pitchFamily="50" charset="-128"/>
                <a:ea typeface="メイリオ" panose="020B0604030504040204" pitchFamily="50" charset="-128"/>
              </a:rPr>
              <a:t>全体を箱として操作可能</a:t>
            </a:r>
            <a:endParaRPr kumimoji="1" lang="en-US" altLang="ja-JP" sz="120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66" name="テキスト ボックス 65">
            <a:extLst>
              <a:ext uri="{FF2B5EF4-FFF2-40B4-BE49-F238E27FC236}">
                <a16:creationId xmlns:a16="http://schemas.microsoft.com/office/drawing/2014/main" id="{6A7B16B8-6285-EBD4-5D8C-0309B3CB8B8D}"/>
              </a:ext>
            </a:extLst>
          </p:cNvPr>
          <p:cNvSpPr txBox="1"/>
          <p:nvPr/>
        </p:nvSpPr>
        <p:spPr>
          <a:xfrm>
            <a:off x="5495856" y="5831563"/>
            <a:ext cx="6511092" cy="9464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ja-JP" altLang="en-US" sz="1400" b="1">
                <a:latin typeface="メイリオ" panose="020B0604030504040204" pitchFamily="50" charset="-128"/>
                <a:ea typeface="メイリオ" panose="020B0604030504040204" pitchFamily="50" charset="-128"/>
              </a:rPr>
              <a:t>今までの</a:t>
            </a:r>
            <a:r>
              <a:rPr lang="en-US" altLang="ja-JP" sz="1400" b="1">
                <a:latin typeface="メイリオ" panose="020B0604030504040204" pitchFamily="50" charset="-128"/>
                <a:ea typeface="メイリオ" panose="020B0604030504040204" pitchFamily="50" charset="-128"/>
              </a:rPr>
              <a:t>BPO</a:t>
            </a:r>
            <a:r>
              <a:rPr lang="ja-JP" altLang="en-US" sz="1400" b="1">
                <a:latin typeface="メイリオ" panose="020B0604030504040204" pitchFamily="50" charset="-128"/>
                <a:ea typeface="メイリオ" panose="020B0604030504040204" pitchFamily="50" charset="-128"/>
              </a:rPr>
              <a:t>で扱っていた</a:t>
            </a:r>
            <a:r>
              <a:rPr lang="en-US" altLang="ja-JP" sz="1400" b="1">
                <a:latin typeface="メイリオ" panose="020B0604030504040204" pitchFamily="50" charset="-128"/>
                <a:ea typeface="メイリオ" panose="020B0604030504040204" pitchFamily="50" charset="-128"/>
              </a:rPr>
              <a:t>RPA</a:t>
            </a:r>
            <a:r>
              <a:rPr lang="ja-JP" altLang="en-US" sz="1400" b="1">
                <a:latin typeface="メイリオ" panose="020B0604030504040204" pitchFamily="50" charset="-128"/>
                <a:ea typeface="メイリオ" panose="020B0604030504040204" pitchFamily="50" charset="-128"/>
              </a:rPr>
              <a:t>の価値が変わる</a:t>
            </a:r>
            <a:endParaRPr lang="en-US" altLang="ja-JP" sz="1400" b="1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ja-JP" altLang="en-US" sz="1200">
                <a:latin typeface="メイリオ" panose="020B0604030504040204" pitchFamily="50" charset="-128"/>
                <a:ea typeface="メイリオ" panose="020B0604030504040204" pitchFamily="50" charset="-128"/>
              </a:rPr>
              <a:t>「</a:t>
            </a:r>
            <a:r>
              <a:rPr lang="en-US" altLang="ja-JP" sz="1200">
                <a:latin typeface="メイリオ" panose="020B0604030504040204" pitchFamily="50" charset="-128"/>
                <a:ea typeface="メイリオ" panose="020B0604030504040204" pitchFamily="50" charset="-128"/>
              </a:rPr>
              <a:t>Web</a:t>
            </a:r>
            <a:r>
              <a:rPr lang="ja-JP" altLang="en-US" sz="1200">
                <a:latin typeface="メイリオ" panose="020B0604030504040204" pitchFamily="50" charset="-128"/>
                <a:ea typeface="メイリオ" panose="020B0604030504040204" pitchFamily="50" charset="-128"/>
              </a:rPr>
              <a:t>システムへの入力作業」「定型的な</a:t>
            </a:r>
            <a:r>
              <a:rPr lang="en-US" altLang="ja-JP" sz="1200">
                <a:latin typeface="メイリオ" panose="020B0604030504040204" pitchFamily="50" charset="-128"/>
                <a:ea typeface="メイリオ" panose="020B0604030504040204" pitchFamily="50" charset="-128"/>
              </a:rPr>
              <a:t>PC</a:t>
            </a:r>
            <a:r>
              <a:rPr lang="ja-JP" altLang="en-US" sz="1200">
                <a:latin typeface="メイリオ" panose="020B0604030504040204" pitchFamily="50" charset="-128"/>
                <a:ea typeface="メイリオ" panose="020B0604030504040204" pitchFamily="50" charset="-128"/>
              </a:rPr>
              <a:t>操作」を、より柔軟に自動化できる。</a:t>
            </a:r>
            <a:endParaRPr lang="en-US" altLang="ja-JP" sz="120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ja-JP" altLang="en-US" sz="1200">
                <a:latin typeface="メイリオ" panose="020B0604030504040204" pitchFamily="50" charset="-128"/>
                <a:ea typeface="メイリオ" panose="020B0604030504040204" pitchFamily="50" charset="-128"/>
              </a:rPr>
              <a:t>画面構成が変わっても止まらない。</a:t>
            </a:r>
            <a:endParaRPr kumimoji="1" lang="en-US" altLang="ja-JP" sz="120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67" name="テキスト ボックス 66">
            <a:extLst>
              <a:ext uri="{FF2B5EF4-FFF2-40B4-BE49-F238E27FC236}">
                <a16:creationId xmlns:a16="http://schemas.microsoft.com/office/drawing/2014/main" id="{17F76B0E-1410-E30D-80E2-D4B7CA4D9ED0}"/>
              </a:ext>
            </a:extLst>
          </p:cNvPr>
          <p:cNvSpPr txBox="1"/>
          <p:nvPr/>
        </p:nvSpPr>
        <p:spPr>
          <a:xfrm>
            <a:off x="6619461" y="2679812"/>
            <a:ext cx="5551254" cy="3462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ja-JP" sz="1200">
                <a:latin typeface="メイリオ" panose="020B0604030504040204" pitchFamily="50" charset="-128"/>
                <a:ea typeface="メイリオ" panose="020B0604030504040204" pitchFamily="50" charset="-128"/>
              </a:rPr>
              <a:t>※1 </a:t>
            </a:r>
            <a:r>
              <a:rPr lang="ja-JP" altLang="en-US" sz="1200">
                <a:latin typeface="メイリオ" panose="020B0604030504040204" pitchFamily="50" charset="-128"/>
                <a:ea typeface="メイリオ" panose="020B0604030504040204" pitchFamily="50" charset="-128"/>
              </a:rPr>
              <a:t>実行</a:t>
            </a:r>
            <a:r>
              <a:rPr lang="en-US" altLang="ja-JP" sz="1200">
                <a:latin typeface="メイリオ" panose="020B0604030504040204" pitchFamily="50" charset="-128"/>
                <a:ea typeface="メイリオ" panose="020B0604030504040204" pitchFamily="50" charset="-128"/>
              </a:rPr>
              <a:t>PC</a:t>
            </a:r>
            <a:r>
              <a:rPr lang="ja-JP" altLang="en-US" sz="1200">
                <a:latin typeface="メイリオ" panose="020B0604030504040204" pitchFamily="50" charset="-128"/>
                <a:ea typeface="メイリオ" panose="020B0604030504040204" pitchFamily="50" charset="-128"/>
              </a:rPr>
              <a:t>版はターミナル、デスクトップアプリ、</a:t>
            </a:r>
            <a:r>
              <a:rPr lang="en-US" altLang="ja-JP" sz="1200">
                <a:latin typeface="メイリオ" panose="020B0604030504040204" pitchFamily="50" charset="-128"/>
                <a:ea typeface="メイリオ" panose="020B0604030504040204" pitchFamily="50" charset="-128"/>
              </a:rPr>
              <a:t>IDE</a:t>
            </a:r>
            <a:r>
              <a:rPr lang="ja-JP" altLang="en-US" sz="1200">
                <a:latin typeface="メイリオ" panose="020B0604030504040204" pitchFamily="50" charset="-128"/>
                <a:ea typeface="メイリオ" panose="020B0604030504040204" pitchFamily="50" charset="-128"/>
              </a:rPr>
              <a:t>拡張など複数形態あり</a:t>
            </a:r>
            <a:endParaRPr kumimoji="1" lang="en-US" altLang="ja-JP" sz="120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68" name="矢印: 下 67">
            <a:extLst>
              <a:ext uri="{FF2B5EF4-FFF2-40B4-BE49-F238E27FC236}">
                <a16:creationId xmlns:a16="http://schemas.microsoft.com/office/drawing/2014/main" id="{E9217221-EAFD-758E-154D-97838230EB45}"/>
              </a:ext>
            </a:extLst>
          </p:cNvPr>
          <p:cNvSpPr/>
          <p:nvPr/>
        </p:nvSpPr>
        <p:spPr>
          <a:xfrm>
            <a:off x="6644308" y="4488218"/>
            <a:ext cx="238540" cy="291401"/>
          </a:xfrm>
          <a:prstGeom prst="down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9" name="テキスト ボックス 68">
            <a:extLst>
              <a:ext uri="{FF2B5EF4-FFF2-40B4-BE49-F238E27FC236}">
                <a16:creationId xmlns:a16="http://schemas.microsoft.com/office/drawing/2014/main" id="{D33F1468-3D5F-9C83-BE41-F6D084DA6D70}"/>
              </a:ext>
            </a:extLst>
          </p:cNvPr>
          <p:cNvSpPr txBox="1"/>
          <p:nvPr/>
        </p:nvSpPr>
        <p:spPr>
          <a:xfrm>
            <a:off x="5575852" y="4785777"/>
            <a:ext cx="643109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200">
                <a:latin typeface="メイリオ" panose="020B0604030504040204" pitchFamily="50" charset="-128"/>
                <a:ea typeface="メイリオ" panose="020B0604030504040204" pitchFamily="50" charset="-128"/>
              </a:rPr>
              <a:t>アプリの中で使うので個人の作業効率化には有効だが、</a:t>
            </a:r>
            <a:r>
              <a:rPr kumimoji="1" lang="en-US" altLang="ja-JP" sz="1200">
                <a:latin typeface="メイリオ" panose="020B0604030504040204" pitchFamily="50" charset="-128"/>
                <a:ea typeface="メイリオ" panose="020B0604030504040204" pitchFamily="50" charset="-128"/>
              </a:rPr>
              <a:t>Microsoft</a:t>
            </a:r>
            <a:r>
              <a:rPr kumimoji="1" lang="ja-JP" altLang="en-US" sz="1200">
                <a:latin typeface="メイリオ" panose="020B0604030504040204" pitchFamily="50" charset="-128"/>
                <a:ea typeface="メイリオ" panose="020B0604030504040204" pitchFamily="50" charset="-128"/>
              </a:rPr>
              <a:t>自身が「</a:t>
            </a:r>
            <a:r>
              <a:rPr lang="en-US" altLang="ja-JP" sz="1200" b="1">
                <a:latin typeface="メイリオ" panose="020B0604030504040204" pitchFamily="50" charset="-128"/>
                <a:ea typeface="メイリオ" panose="020B0604030504040204" pitchFamily="50" charset="-128"/>
                <a:hlinkClick r:id="rId12"/>
              </a:rPr>
              <a:t>Copilot</a:t>
            </a:r>
            <a:r>
              <a:rPr lang="ja-JP" altLang="en-US" sz="1200" b="1">
                <a:latin typeface="メイリオ" panose="020B0604030504040204" pitchFamily="50" charset="-128"/>
                <a:ea typeface="メイリオ" panose="020B0604030504040204" pitchFamily="50" charset="-128"/>
                <a:hlinkClick r:id="rId12"/>
              </a:rPr>
              <a:t>だけでは組織固有のワークフロー・自動化ニーズに完全対応できない</a:t>
            </a:r>
            <a:r>
              <a:rPr lang="ja-JP" altLang="en-US" sz="1200">
                <a:latin typeface="メイリオ" panose="020B0604030504040204" pitchFamily="50" charset="-128"/>
                <a:ea typeface="メイリオ" panose="020B0604030504040204" pitchFamily="50" charset="-128"/>
              </a:rPr>
              <a:t>」と明記。</a:t>
            </a:r>
            <a:endParaRPr lang="en-US" altLang="ja-JP" sz="120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sz="1200">
                <a:latin typeface="メイリオ" panose="020B0604030504040204" pitchFamily="50" charset="-128"/>
                <a:ea typeface="メイリオ" panose="020B0604030504040204" pitchFamily="50" charset="-128"/>
              </a:rPr>
              <a:t>複数システムを横断する定型業務やデータ連携など、業務フロー全体の自動化には</a:t>
            </a:r>
            <a:r>
              <a:rPr lang="en-US" altLang="ja-JP" sz="1200">
                <a:latin typeface="メイリオ" panose="020B0604030504040204" pitchFamily="50" charset="-128"/>
                <a:ea typeface="メイリオ" panose="020B0604030504040204" pitchFamily="50" charset="-128"/>
              </a:rPr>
              <a:t>AI</a:t>
            </a:r>
            <a:r>
              <a:rPr lang="ja-JP" altLang="en-US" sz="1200">
                <a:latin typeface="メイリオ" panose="020B0604030504040204" pitchFamily="50" charset="-128"/>
                <a:ea typeface="メイリオ" panose="020B0604030504040204" pitchFamily="50" charset="-128"/>
              </a:rPr>
              <a:t>エージェントが必要。</a:t>
            </a:r>
            <a:r>
              <a:rPr lang="en-US" altLang="ja-JP" sz="1200">
                <a:latin typeface="メイリオ" panose="020B0604030504040204" pitchFamily="50" charset="-128"/>
                <a:ea typeface="メイリオ" panose="020B0604030504040204" pitchFamily="50" charset="-128"/>
                <a:hlinkClick r:id="rId13"/>
              </a:rPr>
              <a:t>Anthropic</a:t>
            </a:r>
            <a:r>
              <a:rPr lang="ja-JP" altLang="en-US" sz="1200">
                <a:latin typeface="メイリオ" panose="020B0604030504040204" pitchFamily="50" charset="-128"/>
                <a:ea typeface="メイリオ" panose="020B0604030504040204" pitchFamily="50" charset="-128"/>
                <a:hlinkClick r:id="rId13"/>
              </a:rPr>
              <a:t>社内では非技術部門でもワークフロー自動化を実現</a:t>
            </a:r>
            <a:r>
              <a:rPr lang="ja-JP" altLang="en-US" sz="1200">
                <a:latin typeface="メイリオ" panose="020B0604030504040204" pitchFamily="50" charset="-128"/>
                <a:ea typeface="メイリオ" panose="020B0604030504040204" pitchFamily="50" charset="-128"/>
              </a:rPr>
              <a:t>。</a:t>
            </a:r>
            <a:endParaRPr lang="en-US" altLang="ja-JP" sz="120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sz="1200">
                <a:latin typeface="メイリオ" panose="020B0604030504040204" pitchFamily="50" charset="-128"/>
                <a:ea typeface="メイリオ" panose="020B0604030504040204" pitchFamily="50" charset="-128"/>
              </a:rPr>
              <a:t>→ </a:t>
            </a:r>
            <a:r>
              <a:rPr lang="en-US" altLang="ja-JP" sz="1200">
                <a:latin typeface="メイリオ" panose="020B0604030504040204" pitchFamily="50" charset="-128"/>
                <a:ea typeface="メイリオ" panose="020B0604030504040204" pitchFamily="50" charset="-128"/>
              </a:rPr>
              <a:t>Copilot</a:t>
            </a:r>
            <a:r>
              <a:rPr lang="ja-JP" altLang="en-US" sz="1200">
                <a:latin typeface="メイリオ" panose="020B0604030504040204" pitchFamily="50" charset="-128"/>
                <a:ea typeface="メイリオ" panose="020B0604030504040204" pitchFamily="50" charset="-128"/>
              </a:rPr>
              <a:t>は「今の仕事を速くする」、エージェントは「仕事の仕組みを変える」</a:t>
            </a:r>
            <a:endParaRPr kumimoji="1" lang="en-US" altLang="ja-JP" sz="120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988811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BBF782-F712-53F9-BCB6-7FB2B91E98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4C4B8077-6918-1F84-00A6-E8C0DFFBEECA}"/>
              </a:ext>
            </a:extLst>
          </p:cNvPr>
          <p:cNvSpPr txBox="1"/>
          <p:nvPr/>
        </p:nvSpPr>
        <p:spPr>
          <a:xfrm>
            <a:off x="443466" y="317212"/>
            <a:ext cx="1121513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3200" b="1">
                <a:latin typeface="メイリオ" panose="020B0604030504040204" pitchFamily="50" charset="-128"/>
                <a:ea typeface="メイリオ" panose="020B0604030504040204" pitchFamily="50" charset="-128"/>
              </a:rPr>
              <a:t>Skills - </a:t>
            </a:r>
            <a:r>
              <a:rPr kumimoji="1" lang="ja-JP" altLang="en-US" sz="3200" b="1">
                <a:latin typeface="メイリオ" panose="020B0604030504040204" pitchFamily="50" charset="-128"/>
                <a:ea typeface="メイリオ" panose="020B0604030504040204" pitchFamily="50" charset="-128"/>
              </a:rPr>
              <a:t>業務ノウハウのパッケージ化</a:t>
            </a:r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63F7FBD5-2210-44D4-90FC-F12B2FBCBB61}"/>
              </a:ext>
            </a:extLst>
          </p:cNvPr>
          <p:cNvSpPr txBox="1"/>
          <p:nvPr/>
        </p:nvSpPr>
        <p:spPr>
          <a:xfrm>
            <a:off x="260898" y="901987"/>
            <a:ext cx="11670205" cy="7117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ja-JP" sz="1400" b="1">
                <a:latin typeface="メイリオ" panose="020B0604030504040204" pitchFamily="50" charset="-128"/>
                <a:ea typeface="メイリオ" panose="020B0604030504040204" pitchFamily="50" charset="-128"/>
              </a:rPr>
              <a:t>Skills</a:t>
            </a:r>
            <a:r>
              <a:rPr kumimoji="1" lang="ja-JP" altLang="en-US" sz="1400" b="1">
                <a:latin typeface="メイリオ" panose="020B0604030504040204" pitchFamily="50" charset="-128"/>
                <a:ea typeface="メイリオ" panose="020B0604030504040204" pitchFamily="50" charset="-128"/>
              </a:rPr>
              <a:t>とは</a:t>
            </a:r>
            <a:r>
              <a:rPr lang="ja-JP" altLang="en-US" sz="1400">
                <a:latin typeface="メイリオ" panose="020B0604030504040204" pitchFamily="50" charset="-128"/>
                <a:ea typeface="メイリオ" panose="020B0604030504040204" pitchFamily="50" charset="-128"/>
              </a:rPr>
              <a:t>：特定業務に必要な指示・テンプレート・ツール接続を「スキル」としてモジュール化する機能。</a:t>
            </a:r>
            <a:r>
              <a:rPr lang="en-US" altLang="ja-JP" sz="1400">
                <a:latin typeface="メイリオ" panose="020B0604030504040204" pitchFamily="50" charset="-128"/>
                <a:ea typeface="メイリオ" panose="020B0604030504040204" pitchFamily="50" charset="-128"/>
              </a:rPr>
              <a:t>Claude</a:t>
            </a:r>
            <a:r>
              <a:rPr lang="ja-JP" altLang="en-US" sz="1400">
                <a:latin typeface="メイリオ" panose="020B0604030504040204" pitchFamily="50" charset="-128"/>
                <a:ea typeface="メイリオ" panose="020B0604030504040204" pitchFamily="50" charset="-128"/>
              </a:rPr>
              <a:t>内に「</a:t>
            </a:r>
            <a:r>
              <a:rPr lang="en-US" altLang="ja-JP" sz="1400">
                <a:latin typeface="メイリオ" panose="020B0604030504040204" pitchFamily="50" charset="-128"/>
                <a:ea typeface="メイリオ" panose="020B0604030504040204" pitchFamily="50" charset="-128"/>
              </a:rPr>
              <a:t>Skill</a:t>
            </a:r>
            <a:r>
              <a:rPr lang="ja-JP" altLang="en-US" sz="1400">
                <a:latin typeface="メイリオ" panose="020B0604030504040204" pitchFamily="50" charset="-128"/>
                <a:ea typeface="メイリオ" panose="020B0604030504040204" pitchFamily="50" charset="-128"/>
              </a:rPr>
              <a:t>を作る</a:t>
            </a:r>
            <a:r>
              <a:rPr lang="en-US" altLang="ja-JP" sz="1400">
                <a:latin typeface="メイリオ" panose="020B0604030504040204" pitchFamily="50" charset="-128"/>
                <a:ea typeface="メイリオ" panose="020B0604030504040204" pitchFamily="50" charset="-128"/>
              </a:rPr>
              <a:t>Skill</a:t>
            </a:r>
            <a:r>
              <a:rPr lang="ja-JP" altLang="en-US" sz="1400">
                <a:latin typeface="メイリオ" panose="020B0604030504040204" pitchFamily="50" charset="-128"/>
                <a:ea typeface="メイリオ" panose="020B0604030504040204" pitchFamily="50" charset="-128"/>
              </a:rPr>
              <a:t>」があるため、会話するだけでスキルを作成可能。</a:t>
            </a:r>
            <a:r>
              <a:rPr lang="en-US" altLang="ja-JP" sz="1400">
                <a:latin typeface="メイリオ" panose="020B0604030504040204" pitchFamily="50" charset="-128"/>
                <a:ea typeface="メイリオ" panose="020B0604030504040204" pitchFamily="50" charset="-128"/>
              </a:rPr>
              <a:t>Claude</a:t>
            </a:r>
            <a:r>
              <a:rPr lang="ja-JP" altLang="en-US" sz="1400">
                <a:latin typeface="メイリオ" panose="020B0604030504040204" pitchFamily="50" charset="-128"/>
                <a:ea typeface="メイリオ" panose="020B0604030504040204" pitchFamily="50" charset="-128"/>
              </a:rPr>
              <a:t>と</a:t>
            </a:r>
            <a:r>
              <a:rPr lang="en-US" altLang="ja-JP" sz="1400">
                <a:latin typeface="メイリオ" panose="020B0604030504040204" pitchFamily="50" charset="-128"/>
                <a:ea typeface="メイリオ" panose="020B0604030504040204" pitchFamily="50" charset="-128"/>
              </a:rPr>
              <a:t>Claude Code</a:t>
            </a:r>
            <a:r>
              <a:rPr lang="ja-JP" altLang="en-US" sz="1400">
                <a:latin typeface="メイリオ" panose="020B0604030504040204" pitchFamily="50" charset="-128"/>
                <a:ea typeface="メイリオ" panose="020B0604030504040204" pitchFamily="50" charset="-128"/>
              </a:rPr>
              <a:t>のどちらでも利用可能。</a:t>
            </a: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73F0BAD2-E942-B780-B994-B332EBB7F34D}"/>
              </a:ext>
            </a:extLst>
          </p:cNvPr>
          <p:cNvSpPr/>
          <p:nvPr/>
        </p:nvSpPr>
        <p:spPr>
          <a:xfrm>
            <a:off x="85659" y="1685140"/>
            <a:ext cx="5221837" cy="457200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b="1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RPA</a:t>
            </a:r>
            <a:r>
              <a:rPr lang="ja-JP" altLang="en-US" b="1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との比較</a:t>
            </a:r>
            <a:endParaRPr kumimoji="1" lang="ja-JP" altLang="en-US" b="1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graphicFrame>
        <p:nvGraphicFramePr>
          <p:cNvPr id="5" name="表 4">
            <a:extLst>
              <a:ext uri="{FF2B5EF4-FFF2-40B4-BE49-F238E27FC236}">
                <a16:creationId xmlns:a16="http://schemas.microsoft.com/office/drawing/2014/main" id="{C77D86F8-5836-6ADF-12F3-6454C14532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56160584"/>
              </p:ext>
            </p:extLst>
          </p:nvPr>
        </p:nvGraphicFramePr>
        <p:xfrm>
          <a:off x="85659" y="2925493"/>
          <a:ext cx="5221837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10892">
                  <a:extLst>
                    <a:ext uri="{9D8B030D-6E8A-4147-A177-3AD203B41FA5}">
                      <a16:colId xmlns:a16="http://schemas.microsoft.com/office/drawing/2014/main" val="1714558132"/>
                    </a:ext>
                  </a:extLst>
                </a:gridCol>
                <a:gridCol w="1515614">
                  <a:extLst>
                    <a:ext uri="{9D8B030D-6E8A-4147-A177-3AD203B41FA5}">
                      <a16:colId xmlns:a16="http://schemas.microsoft.com/office/drawing/2014/main" val="480840800"/>
                    </a:ext>
                  </a:extLst>
                </a:gridCol>
                <a:gridCol w="2395331">
                  <a:extLst>
                    <a:ext uri="{9D8B030D-6E8A-4147-A177-3AD203B41FA5}">
                      <a16:colId xmlns:a16="http://schemas.microsoft.com/office/drawing/2014/main" val="1844808726"/>
                    </a:ext>
                  </a:extLst>
                </a:gridCol>
              </a:tblGrid>
              <a:tr h="192201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40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項目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40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従来の</a:t>
                      </a:r>
                      <a:r>
                        <a:rPr kumimoji="1" lang="en-US" altLang="ja-JP" sz="140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RPA</a:t>
                      </a:r>
                      <a:endParaRPr kumimoji="1" lang="ja-JP" altLang="en-US" sz="1400"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40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AI</a:t>
                      </a:r>
                      <a:r>
                        <a:rPr kumimoji="1" lang="ja-JP" altLang="en-US" sz="140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エージェント </a:t>
                      </a:r>
                      <a:r>
                        <a:rPr kumimoji="1" lang="en-US" altLang="ja-JP" sz="140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+ Skills</a:t>
                      </a:r>
                      <a:endParaRPr kumimoji="1" lang="ja-JP" altLang="en-US" sz="1400"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08897093"/>
                  </a:ext>
                </a:extLst>
              </a:tr>
              <a:tr h="2685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140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作り方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140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画面操作を録画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1400" b="1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会話で業務を説明するだけ</a:t>
                      </a:r>
                      <a:endParaRPr lang="ja-JP" altLang="en-US" sz="1400"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15160650"/>
                  </a:ext>
                </a:extLst>
              </a:tr>
              <a:tr h="15797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140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動作原理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140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録画を再生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140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目的を理解して自分で判断・実行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51060320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140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例外処理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140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止まる（人が対応）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ja-JP" sz="140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AI</a:t>
                      </a:r>
                      <a:r>
                        <a:rPr lang="ja-JP" altLang="en-US" sz="140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が判断して対処、または人に確認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41166824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140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業務変更時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140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シナリオ作り直し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140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スキルを更新するだけ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68557745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140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引き継ぎ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140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シナリオファイル＋マニュアル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1400" b="1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フォルダを渡すだけ</a:t>
                      </a:r>
                      <a:endParaRPr lang="ja-JP" altLang="en-US" sz="1400"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03302509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140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ノウハウ継承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140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できない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1400" b="1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ベテランの暗黙知をパッケージ化</a:t>
                      </a:r>
                      <a:endParaRPr lang="ja-JP" altLang="en-US" sz="1400"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76654656"/>
                  </a:ext>
                </a:extLst>
              </a:tr>
            </a:tbl>
          </a:graphicData>
        </a:graphic>
      </p:graphicFrame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F772D140-D7A7-BFD8-ADC9-E902395ACAD4}"/>
              </a:ext>
            </a:extLst>
          </p:cNvPr>
          <p:cNvSpPr txBox="1"/>
          <p:nvPr/>
        </p:nvSpPr>
        <p:spPr>
          <a:xfrm>
            <a:off x="85659" y="2142340"/>
            <a:ext cx="5321228" cy="10348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ja-JP" sz="1400" b="1">
                <a:latin typeface="メイリオ" panose="020B0604030504040204" pitchFamily="50" charset="-128"/>
                <a:ea typeface="メイリオ" panose="020B0604030504040204" pitchFamily="50" charset="-128"/>
              </a:rPr>
              <a:t>Skills</a:t>
            </a:r>
            <a:r>
              <a:rPr kumimoji="1" lang="ja-JP" altLang="en-US" sz="1400" b="1">
                <a:latin typeface="メイリオ" panose="020B0604030504040204" pitchFamily="50" charset="-128"/>
                <a:ea typeface="メイリオ" panose="020B0604030504040204" pitchFamily="50" charset="-128"/>
              </a:rPr>
              <a:t>は部品。エージェントが必要に応じて呼び出して利用可能。</a:t>
            </a:r>
            <a:endParaRPr kumimoji="1" lang="en-US" altLang="ja-JP" sz="1400" b="1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>
              <a:lnSpc>
                <a:spcPct val="150000"/>
              </a:lnSpc>
            </a:pPr>
            <a:r>
              <a:rPr lang="ja-JP" altLang="en-US" sz="1400" b="1">
                <a:latin typeface="メイリオ" panose="020B0604030504040204" pitchFamily="50" charset="-128"/>
                <a:ea typeface="メイリオ" panose="020B0604030504040204" pitchFamily="50" charset="-128"/>
              </a:rPr>
              <a:t>頻繁に行う作業は</a:t>
            </a:r>
            <a:r>
              <a:rPr lang="en-US" altLang="ja-JP" sz="1400" b="1">
                <a:latin typeface="メイリオ" panose="020B0604030504040204" pitchFamily="50" charset="-128"/>
                <a:ea typeface="メイリオ" panose="020B0604030504040204" pitchFamily="50" charset="-128"/>
              </a:rPr>
              <a:t>Skill</a:t>
            </a:r>
            <a:r>
              <a:rPr lang="ja-JP" altLang="en-US" sz="1400" b="1">
                <a:latin typeface="メイリオ" panose="020B0604030504040204" pitchFamily="50" charset="-128"/>
                <a:ea typeface="メイリオ" panose="020B0604030504040204" pitchFamily="50" charset="-128"/>
              </a:rPr>
              <a:t>化しておくことで品質を担保できる。</a:t>
            </a:r>
            <a:endParaRPr kumimoji="1" lang="en-US" altLang="ja-JP" sz="1400" b="1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>
              <a:lnSpc>
                <a:spcPct val="150000"/>
              </a:lnSpc>
            </a:pPr>
            <a:endParaRPr lang="ja-JP" altLang="en-US" sz="140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45BCE894-66E6-464E-3869-F88F44511450}"/>
              </a:ext>
            </a:extLst>
          </p:cNvPr>
          <p:cNvSpPr txBox="1"/>
          <p:nvPr/>
        </p:nvSpPr>
        <p:spPr>
          <a:xfrm>
            <a:off x="85659" y="6125893"/>
            <a:ext cx="5221837" cy="6232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ja-JP" sz="1200" b="1">
                <a:latin typeface="メイリオ" panose="020B0604030504040204" pitchFamily="50" charset="-128"/>
                <a:ea typeface="メイリオ" panose="020B0604030504040204" pitchFamily="50" charset="-128"/>
              </a:rPr>
              <a:t>RPA</a:t>
            </a:r>
            <a:r>
              <a:rPr kumimoji="1" lang="ja-JP" altLang="en-US" sz="1200" b="1">
                <a:latin typeface="メイリオ" panose="020B0604030504040204" pitchFamily="50" charset="-128"/>
                <a:ea typeface="メイリオ" panose="020B0604030504040204" pitchFamily="50" charset="-128"/>
              </a:rPr>
              <a:t>が「マニュアル通りにしか動けないパート従業員」なら、</a:t>
            </a:r>
            <a:endParaRPr kumimoji="1" lang="en-US" altLang="ja-JP" sz="1200" b="1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>
              <a:lnSpc>
                <a:spcPct val="150000"/>
              </a:lnSpc>
            </a:pPr>
            <a:r>
              <a:rPr lang="en-US" altLang="ja-JP" sz="1200" b="1">
                <a:latin typeface="メイリオ" panose="020B0604030504040204" pitchFamily="50" charset="-128"/>
                <a:ea typeface="メイリオ" panose="020B0604030504040204" pitchFamily="50" charset="-128"/>
              </a:rPr>
              <a:t>Skills</a:t>
            </a:r>
            <a:r>
              <a:rPr lang="ja-JP" altLang="en-US" sz="1200" b="1">
                <a:latin typeface="メイリオ" panose="020B0604030504040204" pitchFamily="50" charset="-128"/>
                <a:ea typeface="メイリオ" panose="020B0604030504040204" pitchFamily="50" charset="-128"/>
              </a:rPr>
              <a:t>は「業務マニュアルを渡したら自分で考えて動ける正社員」</a:t>
            </a:r>
            <a:endParaRPr lang="ja-JP" altLang="en-US" sz="120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86CB0CF2-20ED-46BE-CCD5-B134C1AB4E73}"/>
              </a:ext>
            </a:extLst>
          </p:cNvPr>
          <p:cNvSpPr/>
          <p:nvPr/>
        </p:nvSpPr>
        <p:spPr>
          <a:xfrm>
            <a:off x="5495859" y="1685140"/>
            <a:ext cx="6610482" cy="457200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b="1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Skills</a:t>
            </a:r>
            <a:r>
              <a:rPr lang="ja-JP" altLang="en-US" b="1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の</a:t>
            </a:r>
            <a:r>
              <a:rPr lang="en-US" altLang="ja-JP" b="1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3</a:t>
            </a:r>
            <a:r>
              <a:rPr lang="ja-JP" altLang="en-US" b="1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つの革新性</a:t>
            </a:r>
            <a:endParaRPr kumimoji="1" lang="ja-JP" altLang="en-US" b="1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FAD93C74-FE32-B621-D415-7DAFA1685F46}"/>
              </a:ext>
            </a:extLst>
          </p:cNvPr>
          <p:cNvSpPr txBox="1"/>
          <p:nvPr/>
        </p:nvSpPr>
        <p:spPr>
          <a:xfrm>
            <a:off x="5495859" y="2213760"/>
            <a:ext cx="6610482" cy="9002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ja-JP" altLang="en-US" sz="1200">
                <a:latin typeface="メイリオ" panose="020B0604030504040204" pitchFamily="50" charset="-128"/>
                <a:ea typeface="メイリオ" panose="020B0604030504040204" pitchFamily="50" charset="-128"/>
              </a:rPr>
              <a:t>ポータビリティ：業務引継ぎは「フォルダを渡すだけ」で完了</a:t>
            </a:r>
            <a:endParaRPr lang="en-US" altLang="ja-JP" sz="120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ja-JP" altLang="en-US" sz="1200">
                <a:latin typeface="メイリオ" panose="020B0604030504040204" pitchFamily="50" charset="-128"/>
                <a:ea typeface="メイリオ" panose="020B0604030504040204" pitchFamily="50" charset="-128"/>
              </a:rPr>
              <a:t>ノウハウ継承：ベテランの暗黙知を</a:t>
            </a:r>
            <a:r>
              <a:rPr lang="en-US" altLang="ja-JP" sz="1200">
                <a:latin typeface="メイリオ" panose="020B0604030504040204" pitchFamily="50" charset="-128"/>
                <a:ea typeface="メイリオ" panose="020B0604030504040204" pitchFamily="50" charset="-128"/>
              </a:rPr>
              <a:t>AI</a:t>
            </a:r>
            <a:r>
              <a:rPr lang="ja-JP" altLang="en-US" sz="1200">
                <a:latin typeface="メイリオ" panose="020B0604030504040204" pitchFamily="50" charset="-128"/>
                <a:ea typeface="メイリオ" panose="020B0604030504040204" pitchFamily="50" charset="-128"/>
              </a:rPr>
              <a:t>に学習させ、新人でも同等パフォーマンス</a:t>
            </a:r>
            <a:endParaRPr lang="en-US" altLang="ja-JP" sz="120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ja-JP" altLang="en-US" sz="1200">
                <a:latin typeface="メイリオ" panose="020B0604030504040204" pitchFamily="50" charset="-128"/>
                <a:ea typeface="メイリオ" panose="020B0604030504040204" pitchFamily="50" charset="-128"/>
              </a:rPr>
              <a:t>会話で作成可能：プログラミング不要、業務のやり方を</a:t>
            </a:r>
            <a:r>
              <a:rPr lang="en-US" altLang="ja-JP" sz="1200">
                <a:latin typeface="メイリオ" panose="020B0604030504040204" pitchFamily="50" charset="-128"/>
                <a:ea typeface="メイリオ" panose="020B0604030504040204" pitchFamily="50" charset="-128"/>
              </a:rPr>
              <a:t>AI</a:t>
            </a:r>
            <a:r>
              <a:rPr lang="ja-JP" altLang="en-US" sz="1200">
                <a:latin typeface="メイリオ" panose="020B0604030504040204" pitchFamily="50" charset="-128"/>
                <a:ea typeface="メイリオ" panose="020B0604030504040204" pitchFamily="50" charset="-128"/>
              </a:rPr>
              <a:t>と会話するだけでスキル化</a:t>
            </a:r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EA6D808A-3012-ADE1-3315-08824A87B85F}"/>
              </a:ext>
            </a:extLst>
          </p:cNvPr>
          <p:cNvSpPr/>
          <p:nvPr/>
        </p:nvSpPr>
        <p:spPr>
          <a:xfrm>
            <a:off x="5495859" y="3159189"/>
            <a:ext cx="6610482" cy="457200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b="1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活用事例</a:t>
            </a:r>
            <a:endParaRPr kumimoji="1" lang="ja-JP" altLang="en-US" b="1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graphicFrame>
        <p:nvGraphicFramePr>
          <p:cNvPr id="15" name="表 14">
            <a:extLst>
              <a:ext uri="{FF2B5EF4-FFF2-40B4-BE49-F238E27FC236}">
                <a16:creationId xmlns:a16="http://schemas.microsoft.com/office/drawing/2014/main" id="{DE0B346F-5EF0-4B86-1AA2-6432E9CD2C9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8333516"/>
              </p:ext>
            </p:extLst>
          </p:nvPr>
        </p:nvGraphicFramePr>
        <p:xfrm>
          <a:off x="5495859" y="3661572"/>
          <a:ext cx="6610482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6602">
                  <a:extLst>
                    <a:ext uri="{9D8B030D-6E8A-4147-A177-3AD203B41FA5}">
                      <a16:colId xmlns:a16="http://schemas.microsoft.com/office/drawing/2014/main" val="2318932400"/>
                    </a:ext>
                  </a:extLst>
                </a:gridCol>
                <a:gridCol w="4343880">
                  <a:extLst>
                    <a:ext uri="{9D8B030D-6E8A-4147-A177-3AD203B41FA5}">
                      <a16:colId xmlns:a16="http://schemas.microsoft.com/office/drawing/2014/main" val="3640577625"/>
                    </a:ext>
                  </a:extLst>
                </a:gridCol>
              </a:tblGrid>
              <a:tr h="192201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40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企業・領域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40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活用内容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96534210"/>
                  </a:ext>
                </a:extLst>
              </a:tr>
              <a:tr h="2685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140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自治体（北海道）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1400">
                          <a:latin typeface="メイリオ" panose="020B0604030504040204" pitchFamily="50" charset="-128"/>
                          <a:ea typeface="メイリオ" panose="020B0604030504040204" pitchFamily="50" charset="-128"/>
                          <a:hlinkClick r:id="rId2"/>
                        </a:rPr>
                        <a:t>水道トラブル対応の暗黙知を</a:t>
                      </a:r>
                      <a:r>
                        <a:rPr lang="en-US" altLang="ja-JP" sz="1400">
                          <a:latin typeface="メイリオ" panose="020B0604030504040204" pitchFamily="50" charset="-128"/>
                          <a:ea typeface="メイリオ" panose="020B0604030504040204" pitchFamily="50" charset="-128"/>
                          <a:hlinkClick r:id="rId2"/>
                        </a:rPr>
                        <a:t>AI</a:t>
                      </a:r>
                      <a:r>
                        <a:rPr lang="ja-JP" altLang="en-US" sz="1400">
                          <a:latin typeface="メイリオ" panose="020B0604030504040204" pitchFamily="50" charset="-128"/>
                          <a:ea typeface="メイリオ" panose="020B0604030504040204" pitchFamily="50" charset="-128"/>
                          <a:hlinkClick r:id="rId2"/>
                        </a:rPr>
                        <a:t>化 → 新人でも熟練と同等の対応</a:t>
                      </a:r>
                      <a:endParaRPr lang="ja-JP" altLang="en-US" sz="1400"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70260975"/>
                  </a:ext>
                </a:extLst>
              </a:tr>
              <a:tr h="15797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140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営業会社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1400">
                          <a:latin typeface="メイリオ" panose="020B0604030504040204" pitchFamily="50" charset="-128"/>
                          <a:ea typeface="メイリオ" panose="020B0604030504040204" pitchFamily="50" charset="-128"/>
                          <a:hlinkClick r:id="rId2"/>
                        </a:rPr>
                        <a:t>トップセールスのノウハウ継承</a:t>
                      </a:r>
                      <a:endParaRPr lang="ja-JP" altLang="en-US" sz="1400"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12966937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140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経理（エクスプラザ）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1400">
                          <a:latin typeface="メイリオ" panose="020B0604030504040204" pitchFamily="50" charset="-128"/>
                          <a:ea typeface="メイリオ" panose="020B0604030504040204" pitchFamily="50" charset="-128"/>
                          <a:hlinkClick r:id="rId3"/>
                        </a:rPr>
                        <a:t>領収書→仕訳</a:t>
                      </a:r>
                      <a:r>
                        <a:rPr lang="en-US" altLang="ja-JP" sz="1400">
                          <a:latin typeface="メイリオ" panose="020B0604030504040204" pitchFamily="50" charset="-128"/>
                          <a:ea typeface="メイリオ" panose="020B0604030504040204" pitchFamily="50" charset="-128"/>
                          <a:hlinkClick r:id="rId3"/>
                        </a:rPr>
                        <a:t>CSV</a:t>
                      </a:r>
                      <a:r>
                        <a:rPr lang="ja-JP" altLang="en-US" sz="1400">
                          <a:latin typeface="メイリオ" panose="020B0604030504040204" pitchFamily="50" charset="-128"/>
                          <a:ea typeface="メイリオ" panose="020B0604030504040204" pitchFamily="50" charset="-128"/>
                          <a:hlinkClick r:id="rId3"/>
                        </a:rPr>
                        <a:t>作成</a:t>
                      </a:r>
                      <a:r>
                        <a:rPr lang="en-US" altLang="ja-JP" sz="1400">
                          <a:latin typeface="メイリオ" panose="020B0604030504040204" pitchFamily="50" charset="-128"/>
                          <a:ea typeface="メイリオ" panose="020B0604030504040204" pitchFamily="50" charset="-128"/>
                          <a:hlinkClick r:id="rId3"/>
                        </a:rPr>
                        <a:t>Skill</a:t>
                      </a:r>
                      <a:r>
                        <a:rPr lang="ja-JP" altLang="en-US" sz="1400">
                          <a:latin typeface="メイリオ" panose="020B0604030504040204" pitchFamily="50" charset="-128"/>
                          <a:ea typeface="メイリオ" panose="020B0604030504040204" pitchFamily="50" charset="-128"/>
                          <a:hlinkClick r:id="rId3"/>
                        </a:rPr>
                        <a:t>化</a:t>
                      </a:r>
                      <a:endParaRPr lang="ja-JP" altLang="en-US" sz="1400"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91984798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140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マーケター（ドコドア）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1400">
                          <a:latin typeface="メイリオ" panose="020B0604030504040204" pitchFamily="50" charset="-128"/>
                          <a:ea typeface="メイリオ" panose="020B0604030504040204" pitchFamily="50" charset="-128"/>
                          <a:hlinkClick r:id="rId4"/>
                        </a:rPr>
                        <a:t>週次</a:t>
                      </a:r>
                      <a:r>
                        <a:rPr lang="en-US" altLang="ja-JP" sz="1400">
                          <a:latin typeface="メイリオ" panose="020B0604030504040204" pitchFamily="50" charset="-128"/>
                          <a:ea typeface="メイリオ" panose="020B0604030504040204" pitchFamily="50" charset="-128"/>
                          <a:hlinkClick r:id="rId4"/>
                        </a:rPr>
                        <a:t>ROAS</a:t>
                      </a:r>
                      <a:r>
                        <a:rPr lang="ja-JP" altLang="en-US" sz="1400">
                          <a:latin typeface="メイリオ" panose="020B0604030504040204" pitchFamily="50" charset="-128"/>
                          <a:ea typeface="メイリオ" panose="020B0604030504040204" pitchFamily="50" charset="-128"/>
                          <a:hlinkClick r:id="rId4"/>
                        </a:rPr>
                        <a:t>・</a:t>
                      </a:r>
                      <a:r>
                        <a:rPr lang="en-US" altLang="ja-JP" sz="1400">
                          <a:latin typeface="メイリオ" panose="020B0604030504040204" pitchFamily="50" charset="-128"/>
                          <a:ea typeface="メイリオ" panose="020B0604030504040204" pitchFamily="50" charset="-128"/>
                          <a:hlinkClick r:id="rId4"/>
                        </a:rPr>
                        <a:t>KPI</a:t>
                      </a:r>
                      <a:r>
                        <a:rPr lang="ja-JP" altLang="en-US" sz="1400">
                          <a:latin typeface="メイリオ" panose="020B0604030504040204" pitchFamily="50" charset="-128"/>
                          <a:ea typeface="メイリオ" panose="020B0604030504040204" pitchFamily="50" charset="-128"/>
                          <a:hlinkClick r:id="rId4"/>
                        </a:rPr>
                        <a:t>レポート自動化</a:t>
                      </a:r>
                      <a:endParaRPr lang="ja-JP" altLang="en-US" sz="1400"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67063229"/>
                  </a:ext>
                </a:extLst>
              </a:tr>
            </a:tbl>
          </a:graphicData>
        </a:graphic>
      </p:graphicFrame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9950F895-2669-6C6F-1A92-E31A802931A8}"/>
              </a:ext>
            </a:extLst>
          </p:cNvPr>
          <p:cNvSpPr txBox="1"/>
          <p:nvPr/>
        </p:nvSpPr>
        <p:spPr>
          <a:xfrm>
            <a:off x="5495856" y="5525729"/>
            <a:ext cx="6511092" cy="12234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ja-JP" sz="1400" b="1">
                <a:latin typeface="メイリオ" panose="020B0604030504040204" pitchFamily="50" charset="-128"/>
                <a:ea typeface="メイリオ" panose="020B0604030504040204" pitchFamily="50" charset="-128"/>
              </a:rPr>
              <a:t>BPO</a:t>
            </a:r>
            <a:r>
              <a:rPr lang="ja-JP" altLang="en-US" sz="1400" b="1">
                <a:latin typeface="メイリオ" panose="020B0604030504040204" pitchFamily="50" charset="-128"/>
                <a:ea typeface="メイリオ" panose="020B0604030504040204" pitchFamily="50" charset="-128"/>
              </a:rPr>
              <a:t>業務視点ではどう変化する？</a:t>
            </a:r>
            <a:endParaRPr lang="en-US" altLang="ja-JP" sz="1400" b="1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ja-JP" altLang="en-US" sz="1200">
                <a:latin typeface="メイリオ" panose="020B0604030504040204" pitchFamily="50" charset="-128"/>
                <a:ea typeface="メイリオ" panose="020B0604030504040204" pitchFamily="50" charset="-128"/>
              </a:rPr>
              <a:t>属人化した業務知識の継承</a:t>
            </a:r>
            <a:endParaRPr kumimoji="1" lang="en-US" altLang="ja-JP" sz="120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ja-JP" altLang="en-US" sz="1200">
                <a:latin typeface="メイリオ" panose="020B0604030504040204" pitchFamily="50" charset="-128"/>
                <a:ea typeface="メイリオ" panose="020B0604030504040204" pitchFamily="50" charset="-128"/>
              </a:rPr>
              <a:t>引継ぎコストの削減</a:t>
            </a:r>
            <a:endParaRPr lang="en-US" altLang="ja-JP" sz="120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ja-JP" altLang="en-US" sz="1200">
                <a:latin typeface="メイリオ" panose="020B0604030504040204" pitchFamily="50" charset="-128"/>
                <a:ea typeface="メイリオ" panose="020B0604030504040204" pitchFamily="50" charset="-128"/>
              </a:rPr>
              <a:t>クライアント提案の差別化（「</a:t>
            </a:r>
            <a:r>
              <a:rPr kumimoji="1" lang="en-US" altLang="ja-JP" sz="1200">
                <a:latin typeface="メイリオ" panose="020B0604030504040204" pitchFamily="50" charset="-128"/>
                <a:ea typeface="メイリオ" panose="020B0604030504040204" pitchFamily="50" charset="-128"/>
              </a:rPr>
              <a:t>Skills</a:t>
            </a:r>
            <a:r>
              <a:rPr lang="ja-JP" altLang="en-US" sz="1200">
                <a:latin typeface="メイリオ" panose="020B0604030504040204" pitchFamily="50" charset="-128"/>
                <a:ea typeface="メイリオ" panose="020B0604030504040204" pitchFamily="50" charset="-128"/>
              </a:rPr>
              <a:t>化した業務改善</a:t>
            </a:r>
            <a:r>
              <a:rPr kumimoji="1" lang="ja-JP" altLang="en-US" sz="1200">
                <a:latin typeface="メイリオ" panose="020B0604030504040204" pitchFamily="50" charset="-128"/>
                <a:ea typeface="メイリオ" panose="020B0604030504040204" pitchFamily="50" charset="-128"/>
              </a:rPr>
              <a:t>」を提案に組み込める）</a:t>
            </a:r>
            <a:endParaRPr kumimoji="1" lang="en-US" altLang="ja-JP" sz="120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9010459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9BE63E-48DE-46BD-A0F1-F75A4883DB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287793A3-C588-FC3F-3786-1CE1CBFDAC4A}"/>
              </a:ext>
            </a:extLst>
          </p:cNvPr>
          <p:cNvSpPr txBox="1"/>
          <p:nvPr/>
        </p:nvSpPr>
        <p:spPr>
          <a:xfrm>
            <a:off x="443466" y="317212"/>
            <a:ext cx="1121513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3200" b="1">
                <a:latin typeface="メイリオ" panose="020B0604030504040204" pitchFamily="50" charset="-128"/>
                <a:ea typeface="メイリオ" panose="020B0604030504040204" pitchFamily="50" charset="-128"/>
              </a:rPr>
              <a:t>非エンジニアも使い始めている理由 ➡ ただし環境が必要</a:t>
            </a: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C503231F-9BC4-C3FF-FA45-B0D34E7AF822}"/>
              </a:ext>
            </a:extLst>
          </p:cNvPr>
          <p:cNvSpPr/>
          <p:nvPr/>
        </p:nvSpPr>
        <p:spPr>
          <a:xfrm>
            <a:off x="185048" y="1008015"/>
            <a:ext cx="5679039" cy="457200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b="1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Claude</a:t>
            </a:r>
            <a:r>
              <a:rPr lang="ja-JP" altLang="en-US" b="1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で広がる可能性</a:t>
            </a:r>
            <a:endParaRPr kumimoji="1" lang="ja-JP" altLang="en-US" b="1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graphicFrame>
        <p:nvGraphicFramePr>
          <p:cNvPr id="7" name="表 6">
            <a:extLst>
              <a:ext uri="{FF2B5EF4-FFF2-40B4-BE49-F238E27FC236}">
                <a16:creationId xmlns:a16="http://schemas.microsoft.com/office/drawing/2014/main" id="{CC8069A0-210A-4A9E-74B2-C2D5EC2950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96879498"/>
              </p:ext>
            </p:extLst>
          </p:nvPr>
        </p:nvGraphicFramePr>
        <p:xfrm>
          <a:off x="172076" y="1571243"/>
          <a:ext cx="5692011" cy="2199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51046">
                  <a:extLst>
                    <a:ext uri="{9D8B030D-6E8A-4147-A177-3AD203B41FA5}">
                      <a16:colId xmlns:a16="http://schemas.microsoft.com/office/drawing/2014/main" val="1166856973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895650728"/>
                    </a:ext>
                  </a:extLst>
                </a:gridCol>
                <a:gridCol w="1389660">
                  <a:extLst>
                    <a:ext uri="{9D8B030D-6E8A-4147-A177-3AD203B41FA5}">
                      <a16:colId xmlns:a16="http://schemas.microsoft.com/office/drawing/2014/main" val="2168024439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476826760"/>
                    </a:ext>
                  </a:extLst>
                </a:gridCol>
                <a:gridCol w="2934745">
                  <a:extLst>
                    <a:ext uri="{9D8B030D-6E8A-4147-A177-3AD203B41FA5}">
                      <a16:colId xmlns:a16="http://schemas.microsoft.com/office/drawing/2014/main" val="277805539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20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できること</a:t>
                      </a:r>
                      <a:endParaRPr kumimoji="1" lang="en-US" altLang="ja-JP" sz="1200"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200"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20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ということは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200"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20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さらに言うと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545232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ja-JP" altLang="en-US" sz="120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ターミナルで動く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20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➡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PC</a:t>
                      </a:r>
                      <a:r>
                        <a:rPr kumimoji="1" lang="ja-JP" altLang="en-US" sz="120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操作ができる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20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➡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20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ファイル一括リネーム、フォルダ整理、請求書</a:t>
                      </a:r>
                      <a:r>
                        <a:rPr lang="en-US" altLang="ja-JP" sz="120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PDF</a:t>
                      </a:r>
                      <a:r>
                        <a:rPr lang="ja-JP" altLang="en-US" sz="120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一括生成など</a:t>
                      </a:r>
                      <a:endParaRPr kumimoji="1" lang="ja-JP" altLang="en-US" sz="1200"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063811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sz="120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Python</a:t>
                      </a:r>
                      <a:r>
                        <a:rPr kumimoji="1" lang="ja-JP" altLang="en-US" sz="120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を実行できる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20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➡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Python</a:t>
                      </a:r>
                      <a:r>
                        <a:rPr kumimoji="1" lang="ja-JP" altLang="en-US" sz="120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のライブラリが使える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20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➡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200">
                          <a:latin typeface="メイリオ" panose="020B0604030504040204" pitchFamily="50" charset="-128"/>
                          <a:ea typeface="メイリオ" panose="020B0604030504040204" pitchFamily="50" charset="-128"/>
                          <a:hlinkClick r:id="rId2"/>
                        </a:rPr>
                        <a:t>動画編集</a:t>
                      </a:r>
                      <a:r>
                        <a:rPr lang="ja-JP" altLang="en-US" sz="120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、画像の一括加工、音声文字起こし、</a:t>
                      </a:r>
                      <a:r>
                        <a:rPr lang="ja-JP" altLang="en-US" sz="1200">
                          <a:latin typeface="メイリオ" panose="020B0604030504040204" pitchFamily="50" charset="-128"/>
                          <a:ea typeface="メイリオ" panose="020B0604030504040204" pitchFamily="50" charset="-128"/>
                          <a:hlinkClick r:id="rId3"/>
                        </a:rPr>
                        <a:t>資料作成</a:t>
                      </a:r>
                      <a:r>
                        <a:rPr kumimoji="1" lang="ja-JP" altLang="en-US" sz="120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など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457029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sz="120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Chrome</a:t>
                      </a:r>
                      <a:r>
                        <a:rPr kumimoji="1" lang="ja-JP" altLang="en-US" sz="120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拡張が入る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20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➡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120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ブラウザ操作できる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20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➡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>
                          <a:latin typeface="メイリオ" panose="020B0604030504040204" pitchFamily="50" charset="-128"/>
                          <a:ea typeface="メイリオ" panose="020B0604030504040204" pitchFamily="50" charset="-128"/>
                          <a:hlinkClick r:id="rId4"/>
                        </a:rPr>
                        <a:t>Web</a:t>
                      </a:r>
                      <a:r>
                        <a:rPr kumimoji="1" lang="ja-JP" altLang="en-US" sz="1200">
                          <a:latin typeface="メイリオ" panose="020B0604030504040204" pitchFamily="50" charset="-128"/>
                          <a:ea typeface="メイリオ" panose="020B0604030504040204" pitchFamily="50" charset="-128"/>
                          <a:hlinkClick r:id="rId4"/>
                        </a:rPr>
                        <a:t>システム入力、情報収集など</a:t>
                      </a:r>
                      <a:endParaRPr kumimoji="1" lang="ja-JP" altLang="en-US" sz="1200"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731287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sz="120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MCP</a:t>
                      </a:r>
                      <a:r>
                        <a:rPr kumimoji="1" lang="ja-JP" altLang="en-US" sz="120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で外部連携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20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➡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120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業務</a:t>
                      </a:r>
                      <a:r>
                        <a:rPr kumimoji="1" lang="en-US" altLang="ja-JP" sz="120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SaaS</a:t>
                      </a:r>
                      <a:r>
                        <a:rPr kumimoji="1" lang="ja-JP" altLang="en-US" sz="120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と繋がる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20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➡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ja-JP" sz="120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freee</a:t>
                      </a:r>
                      <a:r>
                        <a:rPr lang="ja-JP" altLang="en-US" sz="120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会計で仕訳作成、</a:t>
                      </a:r>
                      <a:r>
                        <a:rPr lang="en-US" altLang="ja-JP" sz="120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kintone</a:t>
                      </a:r>
                      <a:r>
                        <a:rPr lang="ja-JP" altLang="en-US" sz="120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でデータ操作、</a:t>
                      </a:r>
                      <a:r>
                        <a:rPr lang="en-US" altLang="ja-JP" sz="120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Salesforce</a:t>
                      </a:r>
                      <a:r>
                        <a:rPr lang="ja-JP" altLang="en-US" sz="120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で顧客管理など</a:t>
                      </a:r>
                      <a:endParaRPr kumimoji="1" lang="ja-JP" altLang="en-US" sz="1200"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67664732"/>
                  </a:ext>
                </a:extLst>
              </a:tr>
            </a:tbl>
          </a:graphicData>
        </a:graphic>
      </p:graphicFrame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38AF5F06-959D-9E91-2370-6731F21C3BFC}"/>
              </a:ext>
            </a:extLst>
          </p:cNvPr>
          <p:cNvSpPr/>
          <p:nvPr/>
        </p:nvSpPr>
        <p:spPr>
          <a:xfrm>
            <a:off x="6327913" y="1008015"/>
            <a:ext cx="5679039" cy="457200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b="1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「～ということは」の裏側</a:t>
            </a:r>
            <a:endParaRPr kumimoji="1" lang="ja-JP" altLang="en-US" b="1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graphicFrame>
        <p:nvGraphicFramePr>
          <p:cNvPr id="3" name="表 2">
            <a:extLst>
              <a:ext uri="{FF2B5EF4-FFF2-40B4-BE49-F238E27FC236}">
                <a16:creationId xmlns:a16="http://schemas.microsoft.com/office/drawing/2014/main" id="{A27170B4-7BF2-AB1D-3113-009043979A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2922063"/>
              </p:ext>
            </p:extLst>
          </p:nvPr>
        </p:nvGraphicFramePr>
        <p:xfrm>
          <a:off x="6327911" y="1606726"/>
          <a:ext cx="5679038" cy="17496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2296">
                  <a:extLst>
                    <a:ext uri="{9D8B030D-6E8A-4147-A177-3AD203B41FA5}">
                      <a16:colId xmlns:a16="http://schemas.microsoft.com/office/drawing/2014/main" val="1166856973"/>
                    </a:ext>
                  </a:extLst>
                </a:gridCol>
                <a:gridCol w="1789043">
                  <a:extLst>
                    <a:ext uri="{9D8B030D-6E8A-4147-A177-3AD203B41FA5}">
                      <a16:colId xmlns:a16="http://schemas.microsoft.com/office/drawing/2014/main" val="2168024439"/>
                    </a:ext>
                  </a:extLst>
                </a:gridCol>
                <a:gridCol w="2087699">
                  <a:extLst>
                    <a:ext uri="{9D8B030D-6E8A-4147-A177-3AD203B41FA5}">
                      <a16:colId xmlns:a16="http://schemas.microsoft.com/office/drawing/2014/main" val="2778055396"/>
                    </a:ext>
                  </a:extLst>
                </a:gridCol>
              </a:tblGrid>
              <a:tr h="530410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40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できること</a:t>
                      </a:r>
                      <a:endParaRPr kumimoji="1" lang="en-US" altLang="ja-JP" sz="1400"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40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必要な環境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40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企業のよくある</a:t>
                      </a:r>
                      <a:endParaRPr kumimoji="1" lang="en-US" altLang="ja-JP" sz="1400"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  <a:p>
                      <a:pPr algn="ctr"/>
                      <a:r>
                        <a:rPr kumimoji="1" lang="ja-JP" altLang="en-US" sz="140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セキュリティルール</a:t>
                      </a:r>
                    </a:p>
                  </a:txBody>
                  <a:tcPr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452329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kumimoji="1" lang="en-US" altLang="ja-JP" sz="140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Python</a:t>
                      </a:r>
                      <a:r>
                        <a:rPr kumimoji="1" lang="ja-JP" altLang="en-US" sz="140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が書ける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kumimoji="1" lang="en-US" altLang="ja-JP" sz="140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Python</a:t>
                      </a:r>
                      <a:r>
                        <a:rPr kumimoji="1" lang="ja-JP" altLang="en-US" sz="140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実行環境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kumimoji="1" lang="ja-JP" altLang="en-US" sz="140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開発ツール禁止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638112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kumimoji="1" lang="ja-JP" altLang="en-US" sz="140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ライブラリが使える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kumimoji="1" lang="en-US" altLang="ja-JP" sz="140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pip install</a:t>
                      </a:r>
                      <a:endParaRPr kumimoji="1" lang="ja-JP" altLang="en-US" sz="1400"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kumimoji="1" lang="ja-JP" altLang="en-US" sz="140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未承認ソフト禁止</a:t>
                      </a:r>
                    </a:p>
                  </a:txBody>
                  <a:tcPr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570293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kumimoji="1" lang="en-US" altLang="ja-JP" sz="140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MCP</a:t>
                      </a:r>
                      <a:r>
                        <a:rPr kumimoji="1" lang="ja-JP" altLang="en-US" sz="140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連携できる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kumimoji="1" lang="en-US" altLang="ja-JP" sz="140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npm install</a:t>
                      </a:r>
                      <a:endParaRPr kumimoji="1" lang="ja-JP" altLang="en-US" sz="1400"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kumimoji="1" lang="ja-JP" altLang="en-US" sz="140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未承認ソフト禁止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312875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kumimoji="1" lang="ja-JP" altLang="en-US" sz="140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ファイル操作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kumimoji="1" lang="ja-JP" altLang="en-US" sz="140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ローカル権限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kumimoji="1" lang="ja-JP" altLang="en-US" sz="140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アクセス制限</a:t>
                      </a:r>
                    </a:p>
                  </a:txBody>
                  <a:tcPr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7664732"/>
                  </a:ext>
                </a:extLst>
              </a:tr>
            </a:tbl>
          </a:graphicData>
        </a:graphic>
      </p:graphicFrame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5CEAA898-BC26-F2A1-254D-1FE7CDBBFBD8}"/>
              </a:ext>
            </a:extLst>
          </p:cNvPr>
          <p:cNvSpPr/>
          <p:nvPr/>
        </p:nvSpPr>
        <p:spPr>
          <a:xfrm>
            <a:off x="6327912" y="3903282"/>
            <a:ext cx="5679038" cy="44971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b="1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Claude Code</a:t>
            </a:r>
            <a:r>
              <a:rPr lang="ja-JP" altLang="en-US" b="1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「だけ」を使えるようにしても</a:t>
            </a:r>
            <a:endParaRPr kumimoji="1" lang="ja-JP" altLang="en-US" b="1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E77A5E95-0E55-26FF-E146-E5F2E7DADE3D}"/>
              </a:ext>
            </a:extLst>
          </p:cNvPr>
          <p:cNvSpPr txBox="1"/>
          <p:nvPr/>
        </p:nvSpPr>
        <p:spPr>
          <a:xfrm>
            <a:off x="6327911" y="4386870"/>
            <a:ext cx="5679038" cy="21929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ja-JP" altLang="en-US" sz="1400">
                <a:latin typeface="メイリオ" panose="020B0604030504040204" pitchFamily="50" charset="-128"/>
                <a:ea typeface="メイリオ" panose="020B0604030504040204" pitchFamily="50" charset="-128"/>
              </a:rPr>
              <a:t>他のセキュリティルールを解決せずに</a:t>
            </a:r>
            <a:r>
              <a:rPr lang="en-US" altLang="ja-JP" sz="1400">
                <a:latin typeface="メイリオ" panose="020B0604030504040204" pitchFamily="50" charset="-128"/>
                <a:ea typeface="メイリオ" panose="020B0604030504040204" pitchFamily="50" charset="-128"/>
              </a:rPr>
              <a:t>Claude Code</a:t>
            </a:r>
            <a:r>
              <a:rPr lang="ja-JP" altLang="en-US" sz="1400">
                <a:latin typeface="メイリオ" panose="020B0604030504040204" pitchFamily="50" charset="-128"/>
                <a:ea typeface="メイリオ" panose="020B0604030504040204" pitchFamily="50" charset="-128"/>
              </a:rPr>
              <a:t>だけを導入しても「ただのチャット</a:t>
            </a:r>
            <a:r>
              <a:rPr lang="en-US" altLang="ja-JP" sz="1400">
                <a:latin typeface="メイリオ" panose="020B0604030504040204" pitchFamily="50" charset="-128"/>
                <a:ea typeface="メイリオ" panose="020B0604030504040204" pitchFamily="50" charset="-128"/>
              </a:rPr>
              <a:t>AI</a:t>
            </a:r>
            <a:r>
              <a:rPr lang="ja-JP" altLang="en-US" sz="1400">
                <a:latin typeface="メイリオ" panose="020B0604030504040204" pitchFamily="50" charset="-128"/>
                <a:ea typeface="メイリオ" panose="020B0604030504040204" pitchFamily="50" charset="-128"/>
              </a:rPr>
              <a:t>」程度の価値に制限される。</a:t>
            </a:r>
            <a:endParaRPr lang="en-US" altLang="ja-JP" sz="140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>
              <a:lnSpc>
                <a:spcPct val="200000"/>
              </a:lnSpc>
            </a:pPr>
            <a:r>
              <a:rPr lang="ja-JP" altLang="en-US" sz="1400">
                <a:latin typeface="メイリオ" panose="020B0604030504040204" pitchFamily="50" charset="-128"/>
                <a:ea typeface="メイリオ" panose="020B0604030504040204" pitchFamily="50" charset="-128"/>
              </a:rPr>
              <a:t>スクリプト実行も外部連携もできず、前頁までの例を実行する可能性が閉じる。</a:t>
            </a:r>
            <a:endParaRPr lang="en-US" altLang="ja-JP" sz="140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>
              <a:lnSpc>
                <a:spcPct val="200000"/>
              </a:lnSpc>
            </a:pPr>
            <a:r>
              <a:rPr lang="ja-JP" altLang="en-US" sz="1400">
                <a:latin typeface="メイリオ" panose="020B0604030504040204" pitchFamily="50" charset="-128"/>
                <a:ea typeface="メイリオ" panose="020B0604030504040204" pitchFamily="50" charset="-128"/>
              </a:rPr>
              <a:t>ルールを確認して「試せる環境を作る」ことが大事になる。</a:t>
            </a:r>
          </a:p>
        </p:txBody>
      </p:sp>
      <p:sp>
        <p:nvSpPr>
          <p:cNvPr id="15" name="二等辺三角形 14">
            <a:extLst>
              <a:ext uri="{FF2B5EF4-FFF2-40B4-BE49-F238E27FC236}">
                <a16:creationId xmlns:a16="http://schemas.microsoft.com/office/drawing/2014/main" id="{2D74A0F6-774F-CBE9-0322-852E6AB13850}"/>
              </a:ext>
            </a:extLst>
          </p:cNvPr>
          <p:cNvSpPr/>
          <p:nvPr/>
        </p:nvSpPr>
        <p:spPr>
          <a:xfrm rot="10800000">
            <a:off x="8647001" y="3543613"/>
            <a:ext cx="1040860" cy="218660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226F918C-2B6C-0166-AA78-3A6E2F5C1517}"/>
              </a:ext>
            </a:extLst>
          </p:cNvPr>
          <p:cNvSpPr/>
          <p:nvPr/>
        </p:nvSpPr>
        <p:spPr>
          <a:xfrm>
            <a:off x="185048" y="3950121"/>
            <a:ext cx="5679039" cy="52722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400" b="1">
                <a:latin typeface="メイリオ" panose="020B0604030504040204" pitchFamily="50" charset="-128"/>
                <a:ea typeface="メイリオ" panose="020B0604030504040204" pitchFamily="50" charset="-128"/>
              </a:rPr>
              <a:t>テック企業・スタートアップなどの</a:t>
            </a:r>
          </a:p>
          <a:p>
            <a:pPr algn="ctr"/>
            <a:r>
              <a:rPr lang="ja-JP" altLang="en-US" sz="1400" b="1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フットワークの軽い企業は既に利用している</a:t>
            </a:r>
            <a:endParaRPr kumimoji="1" lang="ja-JP" altLang="en-US" sz="1400" b="1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graphicFrame>
        <p:nvGraphicFramePr>
          <p:cNvPr id="17" name="表 16">
            <a:extLst>
              <a:ext uri="{FF2B5EF4-FFF2-40B4-BE49-F238E27FC236}">
                <a16:creationId xmlns:a16="http://schemas.microsoft.com/office/drawing/2014/main" id="{90F2E913-1465-06ED-F33D-D53F948C6AC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8237393"/>
              </p:ext>
            </p:extLst>
          </p:nvPr>
        </p:nvGraphicFramePr>
        <p:xfrm>
          <a:off x="185048" y="4583378"/>
          <a:ext cx="5679038" cy="168122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63022">
                  <a:extLst>
                    <a:ext uri="{9D8B030D-6E8A-4147-A177-3AD203B41FA5}">
                      <a16:colId xmlns:a16="http://schemas.microsoft.com/office/drawing/2014/main" val="3037731002"/>
                    </a:ext>
                  </a:extLst>
                </a:gridCol>
                <a:gridCol w="3916016">
                  <a:extLst>
                    <a:ext uri="{9D8B030D-6E8A-4147-A177-3AD203B41FA5}">
                      <a16:colId xmlns:a16="http://schemas.microsoft.com/office/drawing/2014/main" val="1864579049"/>
                    </a:ext>
                  </a:extLst>
                </a:gridCol>
              </a:tblGrid>
              <a:tr h="40674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40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企業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40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内容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77036342"/>
                  </a:ext>
                </a:extLst>
              </a:tr>
              <a:tr h="40674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140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楽天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1400">
                          <a:latin typeface="メイリオ" panose="020B0604030504040204" pitchFamily="50" charset="-128"/>
                          <a:ea typeface="メイリオ" panose="020B0604030504040204" pitchFamily="50" charset="-128"/>
                          <a:hlinkClick r:id="rId5"/>
                        </a:rPr>
                        <a:t>開発期間</a:t>
                      </a:r>
                      <a:r>
                        <a:rPr lang="en-US" altLang="ja-JP" sz="1400">
                          <a:latin typeface="メイリオ" panose="020B0604030504040204" pitchFamily="50" charset="-128"/>
                          <a:ea typeface="メイリオ" panose="020B0604030504040204" pitchFamily="50" charset="-128"/>
                          <a:hlinkClick r:id="rId5"/>
                        </a:rPr>
                        <a:t>79%</a:t>
                      </a:r>
                      <a:r>
                        <a:rPr lang="ja-JP" altLang="en-US" sz="1400">
                          <a:latin typeface="メイリオ" panose="020B0604030504040204" pitchFamily="50" charset="-128"/>
                          <a:ea typeface="メイリオ" panose="020B0604030504040204" pitchFamily="50" charset="-128"/>
                          <a:hlinkClick r:id="rId5"/>
                        </a:rPr>
                        <a:t>短縮</a:t>
                      </a:r>
                      <a:endParaRPr lang="ja-JP" altLang="en-US" sz="1400"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06549550"/>
                  </a:ext>
                </a:extLst>
              </a:tr>
              <a:tr h="46098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ja-JP" sz="140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READYFOR</a:t>
                      </a:r>
                      <a:endParaRPr lang="ja-JP" altLang="en-US" sz="1400"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ja-JP" sz="1400">
                          <a:latin typeface="メイリオ" panose="020B0604030504040204" pitchFamily="50" charset="-128"/>
                          <a:ea typeface="メイリオ" panose="020B0604030504040204" pitchFamily="50" charset="-128"/>
                          <a:hlinkClick r:id="rId6"/>
                        </a:rPr>
                        <a:t>83%</a:t>
                      </a:r>
                      <a:r>
                        <a:rPr lang="ja-JP" altLang="en-US" sz="1400">
                          <a:latin typeface="メイリオ" panose="020B0604030504040204" pitchFamily="50" charset="-128"/>
                          <a:ea typeface="メイリオ" panose="020B0604030504040204" pitchFamily="50" charset="-128"/>
                          <a:hlinkClick r:id="rId6"/>
                        </a:rPr>
                        <a:t>が生産性向上実感</a:t>
                      </a:r>
                      <a:endParaRPr lang="ja-JP" altLang="en-US" sz="1400"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42126384"/>
                  </a:ext>
                </a:extLst>
              </a:tr>
              <a:tr h="40674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ja-JP" sz="140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GMO</a:t>
                      </a:r>
                      <a:r>
                        <a:rPr lang="ja-JP" altLang="en-US" sz="140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デザインワン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ja-JP" altLang="en-US" sz="1400">
                          <a:latin typeface="メイリオ" panose="020B0604030504040204" pitchFamily="50" charset="-128"/>
                          <a:ea typeface="メイリオ" panose="020B0604030504040204" pitchFamily="50" charset="-128"/>
                          <a:hlinkClick r:id="rId7"/>
                        </a:rPr>
                        <a:t>全エンジニア導入（効率</a:t>
                      </a:r>
                      <a:r>
                        <a:rPr lang="en-US" altLang="ja-JP" sz="1400">
                          <a:latin typeface="メイリオ" panose="020B0604030504040204" pitchFamily="50" charset="-128"/>
                          <a:ea typeface="メイリオ" panose="020B0604030504040204" pitchFamily="50" charset="-128"/>
                          <a:hlinkClick r:id="rId7"/>
                        </a:rPr>
                        <a:t>50%</a:t>
                      </a:r>
                      <a:r>
                        <a:rPr lang="ja-JP" altLang="en-US" sz="1400">
                          <a:latin typeface="メイリオ" panose="020B0604030504040204" pitchFamily="50" charset="-128"/>
                          <a:ea typeface="メイリオ" panose="020B0604030504040204" pitchFamily="50" charset="-128"/>
                          <a:hlinkClick r:id="rId7"/>
                        </a:rPr>
                        <a:t>向上目指す）</a:t>
                      </a:r>
                      <a:endParaRPr lang="ja-JP" altLang="en-US" sz="1400"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80712108"/>
                  </a:ext>
                </a:extLst>
              </a:tr>
            </a:tbl>
          </a:graphicData>
        </a:graphic>
      </p:graphicFrame>
      <p:sp>
        <p:nvSpPr>
          <p:cNvPr id="18" name="二等辺三角形 17">
            <a:extLst>
              <a:ext uri="{FF2B5EF4-FFF2-40B4-BE49-F238E27FC236}">
                <a16:creationId xmlns:a16="http://schemas.microsoft.com/office/drawing/2014/main" id="{BD70DA43-B865-34AC-29F0-B404E876AB95}"/>
              </a:ext>
            </a:extLst>
          </p:cNvPr>
          <p:cNvSpPr/>
          <p:nvPr/>
        </p:nvSpPr>
        <p:spPr>
          <a:xfrm rot="5400000">
            <a:off x="5575569" y="2561733"/>
            <a:ext cx="1040860" cy="218660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矢印: 右 15">
            <a:extLst>
              <a:ext uri="{FF2B5EF4-FFF2-40B4-BE49-F238E27FC236}">
                <a16:creationId xmlns:a16="http://schemas.microsoft.com/office/drawing/2014/main" id="{8990D795-895E-3D30-5F11-D331FCD991F4}"/>
              </a:ext>
            </a:extLst>
          </p:cNvPr>
          <p:cNvSpPr/>
          <p:nvPr/>
        </p:nvSpPr>
        <p:spPr>
          <a:xfrm>
            <a:off x="185048" y="6264607"/>
            <a:ext cx="5679038" cy="593392"/>
          </a:xfrm>
          <a:prstGeom prst="rightArrow">
            <a:avLst>
              <a:gd name="adj1" fmla="val 50000"/>
              <a:gd name="adj2" fmla="val 59714"/>
            </a:avLst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600" b="1">
                <a:latin typeface="メイリオ" panose="020B0604030504040204" pitchFamily="50" charset="-128"/>
                <a:ea typeface="メイリオ" panose="020B0604030504040204" pitchFamily="50" charset="-128"/>
              </a:rPr>
              <a:t>➡ この生産性の差は時間が経つほど更に広がる</a:t>
            </a:r>
          </a:p>
        </p:txBody>
      </p:sp>
    </p:spTree>
    <p:extLst>
      <p:ext uri="{BB962C8B-B14F-4D97-AF65-F5344CB8AC3E}">
        <p14:creationId xmlns:p14="http://schemas.microsoft.com/office/powerpoint/2010/main" val="40119407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380A0B-ADEE-5342-2E09-8D18577603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2EDF1249-4ABB-A939-009F-9E739CAE8ED7}"/>
              </a:ext>
            </a:extLst>
          </p:cNvPr>
          <p:cNvSpPr txBox="1"/>
          <p:nvPr/>
        </p:nvSpPr>
        <p:spPr>
          <a:xfrm>
            <a:off x="443466" y="317212"/>
            <a:ext cx="1121513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3200" b="1">
                <a:latin typeface="メイリオ" panose="020B0604030504040204" pitchFamily="50" charset="-128"/>
                <a:ea typeface="メイリオ" panose="020B0604030504040204" pitchFamily="50" charset="-128"/>
              </a:rPr>
              <a:t>BPO</a:t>
            </a:r>
            <a:r>
              <a:rPr lang="ja-JP" altLang="en-US" sz="3200" b="1">
                <a:latin typeface="メイリオ" panose="020B0604030504040204" pitchFamily="50" charset="-128"/>
                <a:ea typeface="メイリオ" panose="020B0604030504040204" pitchFamily="50" charset="-128"/>
              </a:rPr>
              <a:t>市場に上位レイヤーが降りてくる</a:t>
            </a:r>
            <a:endParaRPr kumimoji="1" lang="ja-JP" altLang="en-US" sz="3200" b="1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C0F86B2D-21A9-CEB3-D403-69B171721435}"/>
              </a:ext>
            </a:extLst>
          </p:cNvPr>
          <p:cNvSpPr/>
          <p:nvPr/>
        </p:nvSpPr>
        <p:spPr>
          <a:xfrm>
            <a:off x="370095" y="901988"/>
            <a:ext cx="5420623" cy="340403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400" b="1">
                <a:latin typeface="メイリオ" panose="020B0604030504040204" pitchFamily="50" charset="-128"/>
                <a:ea typeface="メイリオ" panose="020B0604030504040204" pitchFamily="50" charset="-128"/>
              </a:rPr>
              <a:t>アクセンチュアの動き</a:t>
            </a:r>
            <a:endParaRPr kumimoji="1" lang="ja-JP" altLang="en-US" sz="1400" b="1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graphicFrame>
        <p:nvGraphicFramePr>
          <p:cNvPr id="14" name="表 13">
            <a:extLst>
              <a:ext uri="{FF2B5EF4-FFF2-40B4-BE49-F238E27FC236}">
                <a16:creationId xmlns:a16="http://schemas.microsoft.com/office/drawing/2014/main" id="{44778E8B-23B9-15AC-76FC-FA23580880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06993687"/>
              </p:ext>
            </p:extLst>
          </p:nvPr>
        </p:nvGraphicFramePr>
        <p:xfrm>
          <a:off x="370094" y="1253795"/>
          <a:ext cx="5420624" cy="2301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2901">
                  <a:extLst>
                    <a:ext uri="{9D8B030D-6E8A-4147-A177-3AD203B41FA5}">
                      <a16:colId xmlns:a16="http://schemas.microsoft.com/office/drawing/2014/main" val="2611708119"/>
                    </a:ext>
                  </a:extLst>
                </a:gridCol>
                <a:gridCol w="1749287">
                  <a:extLst>
                    <a:ext uri="{9D8B030D-6E8A-4147-A177-3AD203B41FA5}">
                      <a16:colId xmlns:a16="http://schemas.microsoft.com/office/drawing/2014/main" val="3939045994"/>
                    </a:ext>
                  </a:extLst>
                </a:gridCol>
                <a:gridCol w="1888436">
                  <a:extLst>
                    <a:ext uri="{9D8B030D-6E8A-4147-A177-3AD203B41FA5}">
                      <a16:colId xmlns:a16="http://schemas.microsoft.com/office/drawing/2014/main" val="261436345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40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指標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40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グローバル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40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日本国内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372212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20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全社売上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697</a:t>
                      </a:r>
                      <a:r>
                        <a:rPr kumimoji="1" lang="ja-JP" altLang="en-US" sz="120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億ドル</a:t>
                      </a:r>
                      <a:r>
                        <a:rPr kumimoji="1" lang="en-US" altLang="ja-JP" sz="120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(</a:t>
                      </a:r>
                      <a:r>
                        <a:rPr kumimoji="1" lang="ja-JP" altLang="en-US" sz="120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約</a:t>
                      </a:r>
                      <a:r>
                        <a:rPr kumimoji="1" lang="en-US" altLang="ja-JP" sz="120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10</a:t>
                      </a:r>
                      <a:r>
                        <a:rPr kumimoji="1" lang="ja-JP" altLang="en-US" sz="120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兆円</a:t>
                      </a:r>
                      <a:r>
                        <a:rPr kumimoji="1" lang="en-US" altLang="ja-JP" sz="120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)</a:t>
                      </a:r>
                      <a:endParaRPr kumimoji="1" lang="ja-JP" altLang="en-US" sz="1200"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7,175</a:t>
                      </a:r>
                      <a:r>
                        <a:rPr kumimoji="1" lang="ja-JP" altLang="en-US" sz="120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億円</a:t>
                      </a:r>
                      <a:r>
                        <a:rPr kumimoji="1" lang="en-US" altLang="ja-JP" sz="105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(2024</a:t>
                      </a:r>
                      <a:r>
                        <a:rPr kumimoji="1" lang="ja-JP" altLang="en-US" sz="105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年</a:t>
                      </a:r>
                      <a:r>
                        <a:rPr kumimoji="1" lang="en-US" altLang="ja-JP" sz="105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8</a:t>
                      </a:r>
                      <a:r>
                        <a:rPr kumimoji="1" lang="ja-JP" altLang="en-US" sz="105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月期</a:t>
                      </a:r>
                      <a:r>
                        <a:rPr kumimoji="1" lang="en-US" altLang="ja-JP" sz="105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)</a:t>
                      </a:r>
                      <a:endParaRPr kumimoji="1" lang="ja-JP" altLang="en-US" sz="1200"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665638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20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マネージドサービス</a:t>
                      </a:r>
                      <a:br>
                        <a:rPr kumimoji="1" lang="en-US" altLang="ja-JP" sz="120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</a:br>
                      <a:r>
                        <a:rPr kumimoji="1" lang="en-US" altLang="ja-JP" sz="120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(IT</a:t>
                      </a:r>
                      <a:r>
                        <a:rPr kumimoji="1" lang="ja-JP" altLang="en-US" sz="120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運用 </a:t>
                      </a:r>
                      <a:r>
                        <a:rPr kumimoji="1" lang="en-US" altLang="ja-JP" sz="120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+ BPO)</a:t>
                      </a:r>
                      <a:endParaRPr kumimoji="1" lang="ja-JP" altLang="en-US" sz="1200"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20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約</a:t>
                      </a:r>
                      <a:r>
                        <a:rPr kumimoji="1" lang="en-US" altLang="ja-JP" sz="120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49</a:t>
                      </a:r>
                      <a:r>
                        <a:rPr kumimoji="1" lang="ja-JP" altLang="en-US" sz="120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％</a:t>
                      </a:r>
                      <a:r>
                        <a:rPr kumimoji="1" lang="en-US" altLang="ja-JP" sz="120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(</a:t>
                      </a:r>
                      <a:r>
                        <a:rPr kumimoji="1" lang="ja-JP" altLang="en-US" sz="120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約</a:t>
                      </a:r>
                      <a:r>
                        <a:rPr kumimoji="1" lang="en-US" altLang="ja-JP" sz="120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5</a:t>
                      </a:r>
                      <a:r>
                        <a:rPr kumimoji="1" lang="ja-JP" altLang="en-US" sz="120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兆円</a:t>
                      </a:r>
                      <a:r>
                        <a:rPr kumimoji="1" lang="en-US" altLang="ja-JP" sz="120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)</a:t>
                      </a:r>
                      <a:endParaRPr kumimoji="1" lang="ja-JP" altLang="en-US" sz="1200"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20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推定約</a:t>
                      </a:r>
                      <a:r>
                        <a:rPr kumimoji="1" lang="en-US" altLang="ja-JP" sz="120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3,500</a:t>
                      </a:r>
                      <a:r>
                        <a:rPr kumimoji="1" lang="ja-JP" altLang="en-US" sz="120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億円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65324594"/>
                  </a:ext>
                </a:extLst>
              </a:tr>
              <a:tr h="259080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20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うちオペレーションズ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20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約</a:t>
                      </a:r>
                      <a:r>
                        <a:rPr kumimoji="1" lang="en-US" altLang="ja-JP" sz="120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14%(</a:t>
                      </a:r>
                      <a:r>
                        <a:rPr kumimoji="1" lang="ja-JP" altLang="en-US" sz="120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約</a:t>
                      </a:r>
                      <a:r>
                        <a:rPr kumimoji="1" lang="en-US" altLang="ja-JP" sz="120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1.5</a:t>
                      </a:r>
                      <a:r>
                        <a:rPr kumimoji="1" lang="ja-JP" altLang="en-US" sz="120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兆円</a:t>
                      </a:r>
                      <a:r>
                        <a:rPr kumimoji="1" lang="en-US" altLang="ja-JP" sz="120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)</a:t>
                      </a:r>
                      <a:endParaRPr kumimoji="1" lang="ja-JP" altLang="en-US" sz="1200"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20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推定約</a:t>
                      </a:r>
                      <a:r>
                        <a:rPr kumimoji="1" lang="en-US" altLang="ja-JP" sz="120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1,000</a:t>
                      </a:r>
                      <a:r>
                        <a:rPr kumimoji="1" lang="ja-JP" altLang="en-US" sz="120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億円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43037330"/>
                  </a:ext>
                </a:extLst>
              </a:tr>
              <a:tr h="259080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20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市場シェア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20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世界</a:t>
                      </a:r>
                      <a:r>
                        <a:rPr kumimoji="1" lang="en-US" altLang="ja-JP" sz="120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1</a:t>
                      </a:r>
                      <a:r>
                        <a:rPr kumimoji="1" lang="ja-JP" altLang="en-US" sz="120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位</a:t>
                      </a:r>
                      <a:r>
                        <a:rPr kumimoji="1" lang="en-US" altLang="ja-JP" sz="120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(10.24%)</a:t>
                      </a:r>
                      <a:endParaRPr kumimoji="1" lang="ja-JP" altLang="en-US" sz="1200"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20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国別売上</a:t>
                      </a:r>
                      <a:r>
                        <a:rPr kumimoji="1" lang="en-US" altLang="ja-JP" sz="120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2</a:t>
                      </a:r>
                      <a:r>
                        <a:rPr kumimoji="1" lang="ja-JP" altLang="en-US" sz="120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位</a:t>
                      </a:r>
                      <a:endParaRPr kumimoji="1" lang="en-US" altLang="ja-JP" sz="1200"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  <a:p>
                      <a:pPr algn="ctr"/>
                      <a:r>
                        <a:rPr kumimoji="1" lang="en-US" altLang="ja-JP" sz="120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(</a:t>
                      </a:r>
                      <a:r>
                        <a:rPr kumimoji="1" lang="ja-JP" altLang="en-US" sz="120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米国に次ぐ</a:t>
                      </a:r>
                      <a:r>
                        <a:rPr kumimoji="1" lang="en-US" altLang="ja-JP" sz="120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)</a:t>
                      </a:r>
                      <a:endParaRPr kumimoji="1" lang="ja-JP" altLang="en-US" sz="1200"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32604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BPO</a:t>
                      </a:r>
                      <a:r>
                        <a:rPr kumimoji="1" lang="ja-JP" altLang="en-US" sz="120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従事者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21.9</a:t>
                      </a:r>
                      <a:r>
                        <a:rPr kumimoji="1" lang="ja-JP" altLang="en-US" sz="120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万人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2.3</a:t>
                      </a:r>
                      <a:r>
                        <a:rPr kumimoji="1" lang="ja-JP" altLang="en-US" sz="1200"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万人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62444929"/>
                  </a:ext>
                </a:extLst>
              </a:tr>
            </a:tbl>
          </a:graphicData>
        </a:graphic>
      </p:graphicFrame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41B5D906-D697-6942-07E0-90AAF0A47B1E}"/>
              </a:ext>
            </a:extLst>
          </p:cNvPr>
          <p:cNvSpPr txBox="1"/>
          <p:nvPr/>
        </p:nvSpPr>
        <p:spPr>
          <a:xfrm>
            <a:off x="370095" y="3566439"/>
            <a:ext cx="5616092" cy="6232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ja-JP" altLang="en-US" sz="1200" b="1">
                <a:latin typeface="メイリオ" panose="020B0604030504040204" pitchFamily="50" charset="-128"/>
                <a:ea typeface="メイリオ" panose="020B0604030504040204" pitchFamily="50" charset="-128"/>
              </a:rPr>
              <a:t>➡ マネージドサービス推定約</a:t>
            </a:r>
            <a:r>
              <a:rPr lang="en-US" altLang="ja-JP" sz="1200" b="1">
                <a:latin typeface="メイリオ" panose="020B0604030504040204" pitchFamily="50" charset="-128"/>
                <a:ea typeface="メイリオ" panose="020B0604030504040204" pitchFamily="50" charset="-128"/>
              </a:rPr>
              <a:t>3,500</a:t>
            </a:r>
            <a:r>
              <a:rPr lang="ja-JP" altLang="en-US" sz="1200" b="1">
                <a:latin typeface="メイリオ" panose="020B0604030504040204" pitchFamily="50" charset="-128"/>
                <a:ea typeface="メイリオ" panose="020B0604030504040204" pitchFamily="50" charset="-128"/>
              </a:rPr>
              <a:t>億円は</a:t>
            </a:r>
            <a:r>
              <a:rPr lang="ja-JP" altLang="en-US" sz="1200" b="1">
                <a:latin typeface="メイリオ" panose="020B0604030504040204" pitchFamily="50" charset="-128"/>
                <a:ea typeface="メイリオ" panose="020B0604030504040204" pitchFamily="50" charset="-128"/>
                <a:hlinkClick r:id="rId2"/>
              </a:rPr>
              <a:t>トランスコスモス</a:t>
            </a:r>
            <a:r>
              <a:rPr lang="en-US" altLang="ja-JP" sz="1200" b="1">
                <a:latin typeface="メイリオ" panose="020B0604030504040204" pitchFamily="50" charset="-128"/>
                <a:ea typeface="メイリオ" panose="020B0604030504040204" pitchFamily="50" charset="-128"/>
                <a:hlinkClick r:id="rId2"/>
              </a:rPr>
              <a:t>(2025</a:t>
            </a:r>
            <a:r>
              <a:rPr lang="ja-JP" altLang="en-US" sz="1200" b="1">
                <a:latin typeface="メイリオ" panose="020B0604030504040204" pitchFamily="50" charset="-128"/>
                <a:ea typeface="メイリオ" panose="020B0604030504040204" pitchFamily="50" charset="-128"/>
                <a:hlinkClick r:id="rId2"/>
              </a:rPr>
              <a:t>年</a:t>
            </a:r>
            <a:r>
              <a:rPr lang="en-US" altLang="ja-JP" sz="1200" b="1">
                <a:latin typeface="メイリオ" panose="020B0604030504040204" pitchFamily="50" charset="-128"/>
                <a:ea typeface="メイリオ" panose="020B0604030504040204" pitchFamily="50" charset="-128"/>
                <a:hlinkClick r:id="rId2"/>
              </a:rPr>
              <a:t>3</a:t>
            </a:r>
            <a:r>
              <a:rPr lang="ja-JP" altLang="en-US" sz="1200" b="1">
                <a:latin typeface="メイリオ" panose="020B0604030504040204" pitchFamily="50" charset="-128"/>
                <a:ea typeface="メイリオ" panose="020B0604030504040204" pitchFamily="50" charset="-128"/>
                <a:hlinkClick r:id="rId2"/>
              </a:rPr>
              <a:t>月期</a:t>
            </a:r>
            <a:r>
              <a:rPr lang="en-US" altLang="ja-JP" sz="1200" b="1">
                <a:latin typeface="メイリオ" panose="020B0604030504040204" pitchFamily="50" charset="-128"/>
                <a:ea typeface="メイリオ" panose="020B0604030504040204" pitchFamily="50" charset="-128"/>
                <a:hlinkClick r:id="rId2"/>
              </a:rPr>
              <a:t>)</a:t>
            </a:r>
            <a:r>
              <a:rPr lang="ja-JP" altLang="en-US" sz="1200" b="1">
                <a:latin typeface="メイリオ" panose="020B0604030504040204" pitchFamily="50" charset="-128"/>
                <a:ea typeface="メイリオ" panose="020B0604030504040204" pitchFamily="50" charset="-128"/>
                <a:hlinkClick r:id="rId2"/>
              </a:rPr>
              <a:t>連結売上</a:t>
            </a:r>
            <a:r>
              <a:rPr lang="en-US" altLang="ja-JP" sz="1200" b="1">
                <a:latin typeface="メイリオ" panose="020B0604030504040204" pitchFamily="50" charset="-128"/>
                <a:ea typeface="メイリオ" panose="020B0604030504040204" pitchFamily="50" charset="-128"/>
                <a:hlinkClick r:id="rId2"/>
              </a:rPr>
              <a:t>(</a:t>
            </a:r>
            <a:r>
              <a:rPr lang="ja-JP" altLang="en-US" sz="1200" b="1">
                <a:latin typeface="メイリオ" panose="020B0604030504040204" pitchFamily="50" charset="-128"/>
                <a:ea typeface="メイリオ" panose="020B0604030504040204" pitchFamily="50" charset="-128"/>
                <a:hlinkClick r:id="rId2"/>
              </a:rPr>
              <a:t>約</a:t>
            </a:r>
            <a:r>
              <a:rPr lang="en-US" altLang="ja-JP" sz="1200" b="1">
                <a:latin typeface="メイリオ" panose="020B0604030504040204" pitchFamily="50" charset="-128"/>
                <a:ea typeface="メイリオ" panose="020B0604030504040204" pitchFamily="50" charset="-128"/>
                <a:hlinkClick r:id="rId2"/>
              </a:rPr>
              <a:t>3,758</a:t>
            </a:r>
            <a:r>
              <a:rPr lang="ja-JP" altLang="en-US" sz="1200" b="1">
                <a:latin typeface="メイリオ" panose="020B0604030504040204" pitchFamily="50" charset="-128"/>
                <a:ea typeface="メイリオ" panose="020B0604030504040204" pitchFamily="50" charset="-128"/>
                <a:hlinkClick r:id="rId2"/>
              </a:rPr>
              <a:t>億円</a:t>
            </a:r>
            <a:r>
              <a:rPr lang="en-US" altLang="ja-JP" sz="1200" b="1">
                <a:latin typeface="メイリオ" panose="020B0604030504040204" pitchFamily="50" charset="-128"/>
                <a:ea typeface="メイリオ" panose="020B0604030504040204" pitchFamily="50" charset="-128"/>
                <a:hlinkClick r:id="rId2"/>
              </a:rPr>
              <a:t>)</a:t>
            </a:r>
            <a:r>
              <a:rPr lang="ja-JP" altLang="en-US" sz="1200" b="1">
                <a:latin typeface="メイリオ" panose="020B0604030504040204" pitchFamily="50" charset="-128"/>
                <a:ea typeface="メイリオ" panose="020B0604030504040204" pitchFamily="50" charset="-128"/>
              </a:rPr>
              <a:t>と同規模　</a:t>
            </a:r>
            <a:r>
              <a:rPr kumimoji="1" lang="en-US" altLang="ja-JP" sz="1000">
                <a:latin typeface="メイリオ" panose="020B0604030504040204" pitchFamily="50" charset="-128"/>
                <a:ea typeface="メイリオ" panose="020B0604030504040204" pitchFamily="50" charset="-128"/>
              </a:rPr>
              <a:t>※</a:t>
            </a:r>
            <a:r>
              <a:rPr kumimoji="1" lang="ja-JP" altLang="en-US" sz="1000">
                <a:latin typeface="メイリオ" panose="020B0604030504040204" pitchFamily="50" charset="-128"/>
                <a:ea typeface="メイリオ" panose="020B0604030504040204" pitchFamily="50" charset="-128"/>
              </a:rPr>
              <a:t>事業構成は異なる（</a:t>
            </a:r>
            <a:r>
              <a:rPr kumimoji="1" lang="en-US" altLang="ja-JP" sz="1000">
                <a:latin typeface="メイリオ" panose="020B0604030504040204" pitchFamily="50" charset="-128"/>
                <a:ea typeface="メイリオ" panose="020B0604030504040204" pitchFamily="50" charset="-128"/>
              </a:rPr>
              <a:t>CX 7</a:t>
            </a:r>
            <a:r>
              <a:rPr kumimoji="1" lang="ja-JP" altLang="en-US" sz="1000">
                <a:latin typeface="メイリオ" panose="020B0604030504040204" pitchFamily="50" charset="-128"/>
                <a:ea typeface="メイリオ" panose="020B0604030504040204" pitchFamily="50" charset="-128"/>
              </a:rPr>
              <a:t>割：</a:t>
            </a:r>
            <a:r>
              <a:rPr kumimoji="1" lang="en-US" altLang="ja-JP" sz="1000">
                <a:latin typeface="メイリオ" panose="020B0604030504040204" pitchFamily="50" charset="-128"/>
                <a:ea typeface="メイリオ" panose="020B0604030504040204" pitchFamily="50" charset="-128"/>
              </a:rPr>
              <a:t>BPO 3</a:t>
            </a:r>
            <a:r>
              <a:rPr kumimoji="1" lang="ja-JP" altLang="en-US" sz="1000">
                <a:latin typeface="メイリオ" panose="020B0604030504040204" pitchFamily="50" charset="-128"/>
                <a:ea typeface="メイリオ" panose="020B0604030504040204" pitchFamily="50" charset="-128"/>
              </a:rPr>
              <a:t>割）</a:t>
            </a:r>
            <a:endParaRPr kumimoji="1" lang="en-US" altLang="ja-JP" sz="120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33414942-2D23-06A3-0217-2F30C5D69DC9}"/>
              </a:ext>
            </a:extLst>
          </p:cNvPr>
          <p:cNvSpPr txBox="1"/>
          <p:nvPr/>
        </p:nvSpPr>
        <p:spPr>
          <a:xfrm>
            <a:off x="267388" y="4466523"/>
            <a:ext cx="5718796" cy="19534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ja-JP" altLang="en-US" sz="1400" b="1">
                <a:latin typeface="メイリオ" panose="020B0604030504040204" pitchFamily="50" charset="-128"/>
                <a:ea typeface="メイリオ" panose="020B0604030504040204" pitchFamily="50" charset="-128"/>
              </a:rPr>
              <a:t>アクセンチュアの</a:t>
            </a:r>
            <a:r>
              <a:rPr lang="en-US" altLang="ja-JP" sz="1400" b="1">
                <a:latin typeface="メイリオ" panose="020B0604030504040204" pitchFamily="50" charset="-128"/>
                <a:ea typeface="メイリオ" panose="020B0604030504040204" pitchFamily="50" charset="-128"/>
              </a:rPr>
              <a:t>AI</a:t>
            </a:r>
            <a:r>
              <a:rPr lang="ja-JP" altLang="en-US" sz="1400" b="1">
                <a:latin typeface="メイリオ" panose="020B0604030504040204" pitchFamily="50" charset="-128"/>
                <a:ea typeface="メイリオ" panose="020B0604030504040204" pitchFamily="50" charset="-128"/>
              </a:rPr>
              <a:t>戦略：</a:t>
            </a:r>
            <a:endParaRPr lang="en-US" altLang="ja-JP" sz="1400" b="1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ja-JP" sz="1200">
                <a:latin typeface="メイリオ" panose="020B0604030504040204" pitchFamily="50" charset="-128"/>
                <a:ea typeface="メイリオ" panose="020B0604030504040204" pitchFamily="50" charset="-128"/>
                <a:hlinkClick r:id="rId3"/>
              </a:rPr>
              <a:t>50</a:t>
            </a:r>
            <a:r>
              <a:rPr lang="ja-JP" altLang="en-US" sz="1200">
                <a:latin typeface="メイリオ" panose="020B0604030504040204" pitchFamily="50" charset="-128"/>
                <a:ea typeface="メイリオ" panose="020B0604030504040204" pitchFamily="50" charset="-128"/>
                <a:hlinkClick r:id="rId3"/>
              </a:rPr>
              <a:t>万人に</a:t>
            </a:r>
            <a:r>
              <a:rPr lang="en-US" altLang="ja-JP" sz="1200">
                <a:latin typeface="メイリオ" panose="020B0604030504040204" pitchFamily="50" charset="-128"/>
                <a:ea typeface="メイリオ" panose="020B0604030504040204" pitchFamily="50" charset="-128"/>
                <a:hlinkClick r:id="rId3"/>
              </a:rPr>
              <a:t>AI</a:t>
            </a:r>
            <a:r>
              <a:rPr lang="ja-JP" altLang="en-US" sz="1200">
                <a:latin typeface="メイリオ" panose="020B0604030504040204" pitchFamily="50" charset="-128"/>
                <a:ea typeface="メイリオ" panose="020B0604030504040204" pitchFamily="50" charset="-128"/>
                <a:hlinkClick r:id="rId3"/>
              </a:rPr>
              <a:t>研修実施（</a:t>
            </a:r>
            <a:r>
              <a:rPr lang="en-US" altLang="ja-JP" sz="1200">
                <a:latin typeface="メイリオ" panose="020B0604030504040204" pitchFamily="50" charset="-128"/>
                <a:ea typeface="メイリオ" panose="020B0604030504040204" pitchFamily="50" charset="-128"/>
                <a:hlinkClick r:id="rId3"/>
              </a:rPr>
              <a:t>2025</a:t>
            </a:r>
            <a:r>
              <a:rPr lang="ja-JP" altLang="en-US" sz="1200">
                <a:latin typeface="メイリオ" panose="020B0604030504040204" pitchFamily="50" charset="-128"/>
                <a:ea typeface="メイリオ" panose="020B0604030504040204" pitchFamily="50" charset="-128"/>
                <a:hlinkClick r:id="rId3"/>
              </a:rPr>
              <a:t>年</a:t>
            </a:r>
            <a:r>
              <a:rPr lang="en-US" altLang="ja-JP" sz="1200">
                <a:latin typeface="メイリオ" panose="020B0604030504040204" pitchFamily="50" charset="-128"/>
                <a:ea typeface="メイリオ" panose="020B0604030504040204" pitchFamily="50" charset="-128"/>
                <a:hlinkClick r:id="rId3"/>
              </a:rPr>
              <a:t>6</a:t>
            </a:r>
            <a:r>
              <a:rPr lang="ja-JP" altLang="en-US" sz="1200">
                <a:latin typeface="メイリオ" panose="020B0604030504040204" pitchFamily="50" charset="-128"/>
                <a:ea typeface="メイリオ" panose="020B0604030504040204" pitchFamily="50" charset="-128"/>
                <a:hlinkClick r:id="rId3"/>
              </a:rPr>
              <a:t>月） </a:t>
            </a:r>
            <a:endParaRPr lang="en-US" altLang="ja-JP" sz="120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ja-JP" altLang="en-US" sz="1200">
                <a:latin typeface="メイリオ" panose="020B0604030504040204" pitchFamily="50" charset="-128"/>
                <a:ea typeface="メイリオ" panose="020B0604030504040204" pitchFamily="50" charset="-128"/>
                <a:hlinkClick r:id="rId4"/>
              </a:rPr>
              <a:t>「数年内に</a:t>
            </a:r>
            <a:r>
              <a:rPr lang="en-US" altLang="ja-JP" sz="1200">
                <a:latin typeface="メイリオ" panose="020B0604030504040204" pitchFamily="50" charset="-128"/>
                <a:ea typeface="メイリオ" panose="020B0604030504040204" pitchFamily="50" charset="-128"/>
                <a:hlinkClick r:id="rId4"/>
              </a:rPr>
              <a:t>AI</a:t>
            </a:r>
            <a:r>
              <a:rPr lang="ja-JP" altLang="en-US" sz="1200">
                <a:latin typeface="メイリオ" panose="020B0604030504040204" pitchFamily="50" charset="-128"/>
                <a:ea typeface="メイリオ" panose="020B0604030504040204" pitchFamily="50" charset="-128"/>
                <a:hlinkClick r:id="rId4"/>
              </a:rPr>
              <a:t>・データ関連を売上の</a:t>
            </a:r>
            <a:r>
              <a:rPr lang="en-US" altLang="ja-JP" sz="1200">
                <a:latin typeface="メイリオ" panose="020B0604030504040204" pitchFamily="50" charset="-128"/>
                <a:ea typeface="メイリオ" panose="020B0604030504040204" pitchFamily="50" charset="-128"/>
                <a:hlinkClick r:id="rId4"/>
              </a:rPr>
              <a:t>8</a:t>
            </a:r>
            <a:r>
              <a:rPr lang="ja-JP" altLang="en-US" sz="1200">
                <a:latin typeface="メイリオ" panose="020B0604030504040204" pitchFamily="50" charset="-128"/>
                <a:ea typeface="メイリオ" panose="020B0604030504040204" pitchFamily="50" charset="-128"/>
                <a:hlinkClick r:id="rId4"/>
              </a:rPr>
              <a:t>割へ」（江川社長発言）（</a:t>
            </a:r>
            <a:r>
              <a:rPr lang="en-US" altLang="ja-JP" sz="1200">
                <a:latin typeface="メイリオ" panose="020B0604030504040204" pitchFamily="50" charset="-128"/>
                <a:ea typeface="メイリオ" panose="020B0604030504040204" pitchFamily="50" charset="-128"/>
                <a:hlinkClick r:id="rId4"/>
              </a:rPr>
              <a:t>2025</a:t>
            </a:r>
            <a:r>
              <a:rPr lang="ja-JP" altLang="en-US" sz="1200">
                <a:latin typeface="メイリオ" panose="020B0604030504040204" pitchFamily="50" charset="-128"/>
                <a:ea typeface="メイリオ" panose="020B0604030504040204" pitchFamily="50" charset="-128"/>
                <a:hlinkClick r:id="rId4"/>
              </a:rPr>
              <a:t>年</a:t>
            </a:r>
            <a:r>
              <a:rPr lang="en-US" altLang="ja-JP" sz="1200">
                <a:latin typeface="メイリオ" panose="020B0604030504040204" pitchFamily="50" charset="-128"/>
                <a:ea typeface="メイリオ" panose="020B0604030504040204" pitchFamily="50" charset="-128"/>
                <a:hlinkClick r:id="rId4"/>
              </a:rPr>
              <a:t>9</a:t>
            </a:r>
            <a:r>
              <a:rPr lang="ja-JP" altLang="en-US" sz="1200">
                <a:latin typeface="メイリオ" panose="020B0604030504040204" pitchFamily="50" charset="-128"/>
                <a:ea typeface="メイリオ" panose="020B0604030504040204" pitchFamily="50" charset="-128"/>
                <a:hlinkClick r:id="rId4"/>
              </a:rPr>
              <a:t>月）</a:t>
            </a:r>
            <a:endParaRPr lang="en-US" altLang="ja-JP" sz="120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ja-JP" sz="1200" b="1">
                <a:latin typeface="メイリオ" panose="020B0604030504040204" pitchFamily="50" charset="-128"/>
                <a:ea typeface="メイリオ" panose="020B0604030504040204" pitchFamily="50" charset="-128"/>
                <a:hlinkClick r:id="rId4"/>
              </a:rPr>
              <a:t>Anthropic</a:t>
            </a:r>
            <a:r>
              <a:rPr lang="ja-JP" altLang="en-US" sz="1200" b="1">
                <a:latin typeface="メイリオ" panose="020B0604030504040204" pitchFamily="50" charset="-128"/>
                <a:ea typeface="メイリオ" panose="020B0604030504040204" pitchFamily="50" charset="-128"/>
                <a:hlinkClick r:id="rId4"/>
              </a:rPr>
              <a:t>提携（</a:t>
            </a:r>
            <a:r>
              <a:rPr lang="en-US" altLang="ja-JP" sz="1200" b="1">
                <a:latin typeface="メイリオ" panose="020B0604030504040204" pitchFamily="50" charset="-128"/>
                <a:ea typeface="メイリオ" panose="020B0604030504040204" pitchFamily="50" charset="-128"/>
                <a:hlinkClick r:id="rId4"/>
              </a:rPr>
              <a:t>Claude</a:t>
            </a:r>
            <a:r>
              <a:rPr lang="ja-JP" altLang="en-US" sz="1200" b="1">
                <a:latin typeface="メイリオ" panose="020B0604030504040204" pitchFamily="50" charset="-128"/>
                <a:ea typeface="メイリオ" panose="020B0604030504040204" pitchFamily="50" charset="-128"/>
                <a:hlinkClick r:id="rId4"/>
              </a:rPr>
              <a:t>専門家</a:t>
            </a:r>
            <a:r>
              <a:rPr lang="en-US" altLang="ja-JP" sz="1200" b="1">
                <a:latin typeface="メイリオ" panose="020B0604030504040204" pitchFamily="50" charset="-128"/>
                <a:ea typeface="メイリオ" panose="020B0604030504040204" pitchFamily="50" charset="-128"/>
                <a:hlinkClick r:id="rId4"/>
              </a:rPr>
              <a:t>3</a:t>
            </a:r>
            <a:r>
              <a:rPr lang="ja-JP" altLang="en-US" sz="1200" b="1">
                <a:latin typeface="メイリオ" panose="020B0604030504040204" pitchFamily="50" charset="-128"/>
                <a:ea typeface="メイリオ" panose="020B0604030504040204" pitchFamily="50" charset="-128"/>
                <a:hlinkClick r:id="rId4"/>
              </a:rPr>
              <a:t>万人育成）（</a:t>
            </a:r>
            <a:r>
              <a:rPr lang="en-US" altLang="ja-JP" sz="1200" b="1">
                <a:latin typeface="メイリオ" panose="020B0604030504040204" pitchFamily="50" charset="-128"/>
                <a:ea typeface="メイリオ" panose="020B0604030504040204" pitchFamily="50" charset="-128"/>
                <a:hlinkClick r:id="rId4"/>
              </a:rPr>
              <a:t>2025</a:t>
            </a:r>
            <a:r>
              <a:rPr lang="ja-JP" altLang="en-US" sz="1200" b="1">
                <a:latin typeface="メイリオ" panose="020B0604030504040204" pitchFamily="50" charset="-128"/>
                <a:ea typeface="メイリオ" panose="020B0604030504040204" pitchFamily="50" charset="-128"/>
                <a:hlinkClick r:id="rId4"/>
              </a:rPr>
              <a:t>年</a:t>
            </a:r>
            <a:r>
              <a:rPr lang="en-US" altLang="ja-JP" sz="1200" b="1">
                <a:latin typeface="メイリオ" panose="020B0604030504040204" pitchFamily="50" charset="-128"/>
                <a:ea typeface="メイリオ" panose="020B0604030504040204" pitchFamily="50" charset="-128"/>
                <a:hlinkClick r:id="rId4"/>
              </a:rPr>
              <a:t>12</a:t>
            </a:r>
            <a:r>
              <a:rPr lang="ja-JP" altLang="en-US" sz="1200" b="1">
                <a:latin typeface="メイリオ" panose="020B0604030504040204" pitchFamily="50" charset="-128"/>
                <a:ea typeface="メイリオ" panose="020B0604030504040204" pitchFamily="50" charset="-128"/>
                <a:hlinkClick r:id="rId4"/>
              </a:rPr>
              <a:t>月）</a:t>
            </a:r>
            <a:endParaRPr lang="en-US" altLang="ja-JP" sz="1200" b="1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marL="628650" lvl="1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ja-JP" sz="1050" b="1">
                <a:latin typeface="メイリオ" panose="020B0604030504040204" pitchFamily="50" charset="-128"/>
                <a:ea typeface="メイリオ" panose="020B0604030504040204" pitchFamily="50" charset="-128"/>
              </a:rPr>
              <a:t>Claude Code</a:t>
            </a:r>
            <a:r>
              <a:rPr lang="ja-JP" altLang="en-US" sz="1050" b="1">
                <a:latin typeface="メイリオ" panose="020B0604030504040204" pitchFamily="50" charset="-128"/>
                <a:ea typeface="メイリオ" panose="020B0604030504040204" pitchFamily="50" charset="-128"/>
              </a:rPr>
              <a:t>のプレミアパートナーに</a:t>
            </a:r>
            <a:endParaRPr lang="en-US" altLang="ja-JP" sz="1050" b="1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marL="628650" lvl="1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ja-JP" sz="1050">
                <a:latin typeface="メイリオ" panose="020B0604030504040204" pitchFamily="50" charset="-128"/>
                <a:ea typeface="メイリオ" panose="020B0604030504040204" pitchFamily="50" charset="-128"/>
              </a:rPr>
              <a:t>CIO</a:t>
            </a:r>
            <a:r>
              <a:rPr lang="ja-JP" altLang="en-US" sz="1050">
                <a:latin typeface="メイリオ" panose="020B0604030504040204" pitchFamily="50" charset="-128"/>
                <a:ea typeface="メイリオ" panose="020B0604030504040204" pitchFamily="50" charset="-128"/>
              </a:rPr>
              <a:t>向け共同ソリューション</a:t>
            </a:r>
            <a:endParaRPr lang="en-US" altLang="ja-JP" sz="105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marL="628650" lvl="1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ja-JP" altLang="en-US" sz="1050">
                <a:latin typeface="メイリオ" panose="020B0604030504040204" pitchFamily="50" charset="-128"/>
                <a:ea typeface="メイリオ" panose="020B0604030504040204" pitchFamily="50" charset="-128"/>
              </a:rPr>
              <a:t>規制産業向けソリューションを共同開発（金融、ヘルスケア、公共など）</a:t>
            </a:r>
            <a:endParaRPr lang="en-US" altLang="ja-JP" sz="105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7F4FA10A-30B9-0EF8-3D44-64AE506D6A02}"/>
              </a:ext>
            </a:extLst>
          </p:cNvPr>
          <p:cNvSpPr/>
          <p:nvPr/>
        </p:nvSpPr>
        <p:spPr>
          <a:xfrm>
            <a:off x="5986186" y="900750"/>
            <a:ext cx="5857457" cy="340403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400" b="1">
                <a:latin typeface="メイリオ" panose="020B0604030504040204" pitchFamily="50" charset="-128"/>
                <a:ea typeface="メイリオ" panose="020B0604030504040204" pitchFamily="50" charset="-128"/>
              </a:rPr>
              <a:t>なぜ上位レイヤーが</a:t>
            </a:r>
            <a:r>
              <a:rPr lang="en-US" altLang="ja-JP" sz="1400" b="1">
                <a:latin typeface="メイリオ" panose="020B0604030504040204" pitchFamily="50" charset="-128"/>
                <a:ea typeface="メイリオ" panose="020B0604030504040204" pitchFamily="50" charset="-128"/>
              </a:rPr>
              <a:t>BPO</a:t>
            </a:r>
            <a:r>
              <a:rPr lang="ja-JP" altLang="en-US" sz="1400" b="1">
                <a:latin typeface="メイリオ" panose="020B0604030504040204" pitchFamily="50" charset="-128"/>
                <a:ea typeface="メイリオ" panose="020B0604030504040204" pitchFamily="50" charset="-128"/>
              </a:rPr>
              <a:t>市場に来るのか</a:t>
            </a:r>
            <a:endParaRPr kumimoji="1" lang="ja-JP" altLang="en-US" sz="1400" b="1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2" name="正方形/長方形 21">
            <a:extLst>
              <a:ext uri="{FF2B5EF4-FFF2-40B4-BE49-F238E27FC236}">
                <a16:creationId xmlns:a16="http://schemas.microsoft.com/office/drawing/2014/main" id="{6CE313A9-525C-D09B-F9CB-356549B146B9}"/>
              </a:ext>
            </a:extLst>
          </p:cNvPr>
          <p:cNvSpPr/>
          <p:nvPr/>
        </p:nvSpPr>
        <p:spPr>
          <a:xfrm>
            <a:off x="5986187" y="1315323"/>
            <a:ext cx="2527850" cy="340403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>
                <a:latin typeface="メイリオ" panose="020B0604030504040204" pitchFamily="50" charset="-128"/>
                <a:ea typeface="メイリオ" panose="020B0604030504040204" pitchFamily="50" charset="-128"/>
              </a:rPr>
              <a:t>従来</a:t>
            </a:r>
          </a:p>
        </p:txBody>
      </p:sp>
      <p:sp>
        <p:nvSpPr>
          <p:cNvPr id="23" name="正方形/長方形 22">
            <a:extLst>
              <a:ext uri="{FF2B5EF4-FFF2-40B4-BE49-F238E27FC236}">
                <a16:creationId xmlns:a16="http://schemas.microsoft.com/office/drawing/2014/main" id="{C4F21C9F-00B0-3933-110A-47CA17584583}"/>
              </a:ext>
            </a:extLst>
          </p:cNvPr>
          <p:cNvSpPr/>
          <p:nvPr/>
        </p:nvSpPr>
        <p:spPr>
          <a:xfrm>
            <a:off x="5986187" y="1655726"/>
            <a:ext cx="2527850" cy="1296196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DB69CF5B-EA71-1D27-85B4-472880383B75}"/>
              </a:ext>
            </a:extLst>
          </p:cNvPr>
          <p:cNvSpPr txBox="1"/>
          <p:nvPr/>
        </p:nvSpPr>
        <p:spPr>
          <a:xfrm>
            <a:off x="5986187" y="1715201"/>
            <a:ext cx="2527851" cy="11772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ja-JP" altLang="en-US" sz="1200">
                <a:latin typeface="メイリオ" panose="020B0604030504040204" pitchFamily="50" charset="-128"/>
                <a:ea typeface="メイリオ" panose="020B0604030504040204" pitchFamily="50" charset="-128"/>
              </a:rPr>
              <a:t>「人を大量に回す」ビジネス → 参入障壁高い</a:t>
            </a:r>
            <a:endParaRPr lang="en-US" altLang="ja-JP" sz="120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ja-JP" altLang="en-US" sz="1200">
                <a:latin typeface="メイリオ" panose="020B0604030504040204" pitchFamily="50" charset="-128"/>
                <a:ea typeface="メイリオ" panose="020B0604030504040204" pitchFamily="50" charset="-128"/>
              </a:rPr>
              <a:t>コンサル</a:t>
            </a:r>
            <a:r>
              <a:rPr lang="en-US" altLang="ja-JP" sz="1200">
                <a:latin typeface="メイリオ" panose="020B0604030504040204" pitchFamily="50" charset="-128"/>
                <a:ea typeface="メイリオ" panose="020B0604030504040204" pitchFamily="50" charset="-128"/>
              </a:rPr>
              <a:t>/SIer</a:t>
            </a:r>
            <a:r>
              <a:rPr lang="ja-JP" altLang="en-US" sz="1200">
                <a:latin typeface="メイリオ" panose="020B0604030504040204" pitchFamily="50" charset="-128"/>
                <a:ea typeface="メイリオ" panose="020B0604030504040204" pitchFamily="50" charset="-128"/>
              </a:rPr>
              <a:t>にとって「利益率が低い」領域</a:t>
            </a:r>
            <a:endParaRPr kumimoji="1" lang="en-US" altLang="ja-JP" sz="120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5" name="正方形/長方形 24">
            <a:extLst>
              <a:ext uri="{FF2B5EF4-FFF2-40B4-BE49-F238E27FC236}">
                <a16:creationId xmlns:a16="http://schemas.microsoft.com/office/drawing/2014/main" id="{94E1EB04-E533-41DE-6AEB-2ED2FFDF4FF8}"/>
              </a:ext>
            </a:extLst>
          </p:cNvPr>
          <p:cNvSpPr/>
          <p:nvPr/>
        </p:nvSpPr>
        <p:spPr>
          <a:xfrm>
            <a:off x="9077254" y="1315323"/>
            <a:ext cx="2766391" cy="340403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>
                <a:latin typeface="メイリオ" panose="020B0604030504040204" pitchFamily="50" charset="-128"/>
                <a:ea typeface="メイリオ" panose="020B0604030504040204" pitchFamily="50" charset="-128"/>
              </a:rPr>
              <a:t>AI</a:t>
            </a:r>
            <a:r>
              <a:rPr kumimoji="1" lang="ja-JP" altLang="en-US">
                <a:latin typeface="メイリオ" panose="020B0604030504040204" pitchFamily="50" charset="-128"/>
                <a:ea typeface="メイリオ" panose="020B0604030504040204" pitchFamily="50" charset="-128"/>
              </a:rPr>
              <a:t>時代</a:t>
            </a:r>
          </a:p>
        </p:txBody>
      </p:sp>
      <p:sp>
        <p:nvSpPr>
          <p:cNvPr id="26" name="正方形/長方形 25">
            <a:extLst>
              <a:ext uri="{FF2B5EF4-FFF2-40B4-BE49-F238E27FC236}">
                <a16:creationId xmlns:a16="http://schemas.microsoft.com/office/drawing/2014/main" id="{4E7CD3BA-1060-1D4E-745A-3440FD667B2D}"/>
              </a:ext>
            </a:extLst>
          </p:cNvPr>
          <p:cNvSpPr/>
          <p:nvPr/>
        </p:nvSpPr>
        <p:spPr>
          <a:xfrm>
            <a:off x="9077254" y="1655726"/>
            <a:ext cx="2766391" cy="1296196"/>
          </a:xfrm>
          <a:prstGeom prst="rect">
            <a:avLst/>
          </a:prstGeom>
          <a:noFill/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709C3B86-D269-17A5-531C-D23AEA27CB25}"/>
              </a:ext>
            </a:extLst>
          </p:cNvPr>
          <p:cNvSpPr txBox="1"/>
          <p:nvPr/>
        </p:nvSpPr>
        <p:spPr>
          <a:xfrm>
            <a:off x="9077253" y="1715201"/>
            <a:ext cx="2766392" cy="11772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ja-JP" altLang="en-US" sz="1200">
                <a:latin typeface="メイリオ" panose="020B0604030504040204" pitchFamily="50" charset="-128"/>
                <a:ea typeface="メイリオ" panose="020B0604030504040204" pitchFamily="50" charset="-128"/>
              </a:rPr>
              <a:t>少人数・高利益率で運用可能に</a:t>
            </a:r>
            <a:endParaRPr lang="en-US" altLang="ja-JP" sz="120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ja-JP" altLang="en-US" sz="1200">
                <a:latin typeface="メイリオ" panose="020B0604030504040204" pitchFamily="50" charset="-128"/>
                <a:ea typeface="メイリオ" panose="020B0604030504040204" pitchFamily="50" charset="-128"/>
              </a:rPr>
              <a:t>継続収益（ストック型）が取れる</a:t>
            </a:r>
            <a:endParaRPr lang="en-US" altLang="ja-JP" sz="120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ja-JP" altLang="en-US" sz="1200">
                <a:latin typeface="メイリオ" panose="020B0604030504040204" pitchFamily="50" charset="-128"/>
                <a:ea typeface="メイリオ" panose="020B0604030504040204" pitchFamily="50" charset="-128"/>
              </a:rPr>
              <a:t>戦略→実行→運用まで一気通貫で囲い込める</a:t>
            </a:r>
            <a:endParaRPr kumimoji="1" lang="en-US" altLang="ja-JP" sz="120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C135E682-E384-B2EB-3CCC-5B90127A0CF8}"/>
              </a:ext>
            </a:extLst>
          </p:cNvPr>
          <p:cNvSpPr txBox="1"/>
          <p:nvPr/>
        </p:nvSpPr>
        <p:spPr>
          <a:xfrm>
            <a:off x="5986186" y="2979937"/>
            <a:ext cx="5857457" cy="3462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ja-JP" altLang="en-US" sz="1200" b="1">
                <a:latin typeface="メイリオ" panose="020B0604030504040204" pitchFamily="50" charset="-128"/>
                <a:ea typeface="メイリオ" panose="020B0604030504040204" pitchFamily="50" charset="-128"/>
              </a:rPr>
              <a:t>➡ </a:t>
            </a:r>
            <a:r>
              <a:rPr lang="en-US" altLang="ja-JP" sz="1200" b="1">
                <a:latin typeface="メイリオ" panose="020B0604030504040204" pitchFamily="50" charset="-128"/>
                <a:ea typeface="メイリオ" panose="020B0604030504040204" pitchFamily="50" charset="-128"/>
              </a:rPr>
              <a:t>AI</a:t>
            </a:r>
            <a:r>
              <a:rPr lang="ja-JP" altLang="en-US" sz="1200" b="1">
                <a:latin typeface="メイリオ" panose="020B0604030504040204" pitchFamily="50" charset="-128"/>
                <a:ea typeface="メイリオ" panose="020B0604030504040204" pitchFamily="50" charset="-128"/>
              </a:rPr>
              <a:t>が</a:t>
            </a:r>
            <a:r>
              <a:rPr lang="en-US" altLang="ja-JP" sz="1200" b="1">
                <a:latin typeface="メイリオ" panose="020B0604030504040204" pitchFamily="50" charset="-128"/>
                <a:ea typeface="メイリオ" panose="020B0604030504040204" pitchFamily="50" charset="-128"/>
              </a:rPr>
              <a:t>BPO</a:t>
            </a:r>
            <a:r>
              <a:rPr lang="ja-JP" altLang="en-US" sz="1200" b="1">
                <a:latin typeface="メイリオ" panose="020B0604030504040204" pitchFamily="50" charset="-128"/>
                <a:ea typeface="メイリオ" panose="020B0604030504040204" pitchFamily="50" charset="-128"/>
              </a:rPr>
              <a:t>の収益構造を変えた ＝ 上位レイヤーにとって「参入すべき市場」に</a:t>
            </a:r>
            <a:endParaRPr kumimoji="1" lang="en-US" altLang="ja-JP" sz="120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1" name="二等辺三角形 30">
            <a:extLst>
              <a:ext uri="{FF2B5EF4-FFF2-40B4-BE49-F238E27FC236}">
                <a16:creationId xmlns:a16="http://schemas.microsoft.com/office/drawing/2014/main" id="{D9E7CEC8-070E-F375-A04F-3F66578D4E35}"/>
              </a:ext>
            </a:extLst>
          </p:cNvPr>
          <p:cNvSpPr/>
          <p:nvPr/>
        </p:nvSpPr>
        <p:spPr>
          <a:xfrm rot="5400000">
            <a:off x="8321597" y="2024292"/>
            <a:ext cx="1040860" cy="218660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3" name="正方形/長方形 32">
            <a:extLst>
              <a:ext uri="{FF2B5EF4-FFF2-40B4-BE49-F238E27FC236}">
                <a16:creationId xmlns:a16="http://schemas.microsoft.com/office/drawing/2014/main" id="{E3A7F712-79B7-D329-057F-32C5664951D5}"/>
              </a:ext>
            </a:extLst>
          </p:cNvPr>
          <p:cNvSpPr/>
          <p:nvPr/>
        </p:nvSpPr>
        <p:spPr>
          <a:xfrm>
            <a:off x="5986186" y="3413677"/>
            <a:ext cx="5857456" cy="340403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400" b="1">
                <a:latin typeface="メイリオ" panose="020B0604030504040204" pitchFamily="50" charset="-128"/>
                <a:ea typeface="メイリオ" panose="020B0604030504040204" pitchFamily="50" charset="-128"/>
              </a:rPr>
              <a:t>AI</a:t>
            </a:r>
            <a:r>
              <a:rPr lang="ja-JP" altLang="en-US" sz="1400" b="1">
                <a:latin typeface="メイリオ" panose="020B0604030504040204" pitchFamily="50" charset="-128"/>
                <a:ea typeface="メイリオ" panose="020B0604030504040204" pitchFamily="50" charset="-128"/>
              </a:rPr>
              <a:t>時代の</a:t>
            </a:r>
            <a:r>
              <a:rPr lang="en-US" altLang="ja-JP" sz="1400" b="1">
                <a:latin typeface="メイリオ" panose="020B0604030504040204" pitchFamily="50" charset="-128"/>
                <a:ea typeface="メイリオ" panose="020B0604030504040204" pitchFamily="50" charset="-128"/>
              </a:rPr>
              <a:t>BPO</a:t>
            </a:r>
            <a:r>
              <a:rPr lang="ja-JP" altLang="en-US" sz="1400" b="1">
                <a:latin typeface="メイリオ" panose="020B0604030504040204" pitchFamily="50" charset="-128"/>
                <a:ea typeface="メイリオ" panose="020B0604030504040204" pitchFamily="50" charset="-128"/>
              </a:rPr>
              <a:t>市場の競争環境</a:t>
            </a:r>
            <a:endParaRPr kumimoji="1" lang="ja-JP" altLang="en-US" sz="1400" b="1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5" name="矢印: 左右 34">
            <a:extLst>
              <a:ext uri="{FF2B5EF4-FFF2-40B4-BE49-F238E27FC236}">
                <a16:creationId xmlns:a16="http://schemas.microsoft.com/office/drawing/2014/main" id="{381F4762-A4AC-BB41-756E-21CC896797D3}"/>
              </a:ext>
            </a:extLst>
          </p:cNvPr>
          <p:cNvSpPr/>
          <p:nvPr/>
        </p:nvSpPr>
        <p:spPr>
          <a:xfrm>
            <a:off x="5986186" y="3782254"/>
            <a:ext cx="2667000" cy="623248"/>
          </a:xfrm>
          <a:prstGeom prst="leftRight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b="1">
                <a:latin typeface="メイリオ" panose="020B0604030504040204" pitchFamily="50" charset="-128"/>
                <a:ea typeface="メイリオ" panose="020B0604030504040204" pitchFamily="50" charset="-128"/>
              </a:rPr>
              <a:t>横の競争</a:t>
            </a:r>
          </a:p>
        </p:txBody>
      </p:sp>
      <p:sp>
        <p:nvSpPr>
          <p:cNvPr id="36" name="テキスト ボックス 35">
            <a:extLst>
              <a:ext uri="{FF2B5EF4-FFF2-40B4-BE49-F238E27FC236}">
                <a16:creationId xmlns:a16="http://schemas.microsoft.com/office/drawing/2014/main" id="{9DA8DB12-61BA-EF2A-1B81-9F9CBEFEDD0E}"/>
              </a:ext>
            </a:extLst>
          </p:cNvPr>
          <p:cNvSpPr txBox="1"/>
          <p:nvPr/>
        </p:nvSpPr>
        <p:spPr>
          <a:xfrm>
            <a:off x="5888451" y="4426504"/>
            <a:ext cx="286247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200">
                <a:latin typeface="メイリオ" panose="020B0604030504040204" pitchFamily="50" charset="-128"/>
                <a:ea typeface="メイリオ" panose="020B0604030504040204" pitchFamily="50" charset="-128"/>
              </a:rPr>
              <a:t>BPO</a:t>
            </a:r>
            <a:r>
              <a:rPr lang="ja-JP" altLang="en-US" sz="1200">
                <a:latin typeface="メイリオ" panose="020B0604030504040204" pitchFamily="50" charset="-128"/>
                <a:ea typeface="メイリオ" panose="020B0604030504040204" pitchFamily="50" charset="-128"/>
              </a:rPr>
              <a:t>同業も生成</a:t>
            </a:r>
            <a:r>
              <a:rPr lang="en-US" altLang="ja-JP" sz="1200">
                <a:latin typeface="メイリオ" panose="020B0604030504040204" pitchFamily="50" charset="-128"/>
                <a:ea typeface="メイリオ" panose="020B0604030504040204" pitchFamily="50" charset="-128"/>
              </a:rPr>
              <a:t>AI</a:t>
            </a:r>
            <a:r>
              <a:rPr lang="ja-JP" altLang="en-US" sz="1200">
                <a:latin typeface="メイリオ" panose="020B0604030504040204" pitchFamily="50" charset="-128"/>
                <a:ea typeface="メイリオ" panose="020B0604030504040204" pitchFamily="50" charset="-128"/>
              </a:rPr>
              <a:t>活用推進中（コールセンター領域の自動化が急速に進行）</a:t>
            </a:r>
            <a:endParaRPr lang="en-US" altLang="ja-JP" sz="120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kumimoji="1" lang="ja-JP" altLang="en-US" sz="1200">
                <a:latin typeface="メイリオ" panose="020B0604030504040204" pitchFamily="50" charset="-128"/>
                <a:ea typeface="メイリオ" panose="020B0604030504040204" pitchFamily="50" charset="-128"/>
                <a:hlinkClick r:id="rId5"/>
              </a:rPr>
              <a:t>トランス・コスモス</a:t>
            </a:r>
            <a:endParaRPr kumimoji="1" lang="en-US" altLang="ja-JP" sz="120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ja-JP" altLang="en-US" sz="1200">
                <a:latin typeface="メイリオ" panose="020B0604030504040204" pitchFamily="50" charset="-128"/>
                <a:ea typeface="メイリオ" panose="020B0604030504040204" pitchFamily="50" charset="-128"/>
                <a:hlinkClick r:id="rId6"/>
              </a:rPr>
              <a:t>ベルシステム</a:t>
            </a:r>
            <a:r>
              <a:rPr lang="en-US" altLang="ja-JP" sz="1200">
                <a:latin typeface="メイリオ" panose="020B0604030504040204" pitchFamily="50" charset="-128"/>
                <a:ea typeface="メイリオ" panose="020B0604030504040204" pitchFamily="50" charset="-128"/>
                <a:hlinkClick r:id="rId6"/>
              </a:rPr>
              <a:t>24</a:t>
            </a:r>
            <a:endParaRPr kumimoji="1" lang="en-US" altLang="ja-JP" sz="120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7" name="矢印: 下 36">
            <a:extLst>
              <a:ext uri="{FF2B5EF4-FFF2-40B4-BE49-F238E27FC236}">
                <a16:creationId xmlns:a16="http://schemas.microsoft.com/office/drawing/2014/main" id="{C95E3954-6ACB-DEF8-EC21-82D042CBEDC9}"/>
              </a:ext>
            </a:extLst>
          </p:cNvPr>
          <p:cNvSpPr/>
          <p:nvPr/>
        </p:nvSpPr>
        <p:spPr>
          <a:xfrm>
            <a:off x="8951357" y="3806758"/>
            <a:ext cx="755377" cy="1425211"/>
          </a:xfrm>
          <a:prstGeom prst="down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b="1">
                <a:latin typeface="メイリオ" panose="020B0604030504040204" pitchFamily="50" charset="-128"/>
                <a:ea typeface="メイリオ" panose="020B0604030504040204" pitchFamily="50" charset="-128"/>
              </a:rPr>
              <a:t>上からの参入</a:t>
            </a:r>
          </a:p>
        </p:txBody>
      </p:sp>
      <p:sp>
        <p:nvSpPr>
          <p:cNvPr id="38" name="テキスト ボックス 37">
            <a:extLst>
              <a:ext uri="{FF2B5EF4-FFF2-40B4-BE49-F238E27FC236}">
                <a16:creationId xmlns:a16="http://schemas.microsoft.com/office/drawing/2014/main" id="{5A0B3C18-4329-A3D1-E2A7-186FF7EC5FD9}"/>
              </a:ext>
            </a:extLst>
          </p:cNvPr>
          <p:cNvSpPr txBox="1"/>
          <p:nvPr/>
        </p:nvSpPr>
        <p:spPr>
          <a:xfrm>
            <a:off x="9664149" y="3881749"/>
            <a:ext cx="2527851" cy="11772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ja-JP" altLang="en-US" sz="1200">
                <a:latin typeface="メイリオ" panose="020B0604030504040204" pitchFamily="50" charset="-128"/>
                <a:ea typeface="メイリオ" panose="020B0604030504040204" pitchFamily="50" charset="-128"/>
              </a:rPr>
              <a:t>コンサル</a:t>
            </a:r>
            <a:r>
              <a:rPr lang="en-US" altLang="ja-JP" sz="1200">
                <a:latin typeface="メイリオ" panose="020B0604030504040204" pitchFamily="50" charset="-128"/>
                <a:ea typeface="メイリオ" panose="020B0604030504040204" pitchFamily="50" charset="-128"/>
              </a:rPr>
              <a:t>/SIer</a:t>
            </a:r>
            <a:r>
              <a:rPr lang="ja-JP" altLang="en-US" sz="1200">
                <a:latin typeface="メイリオ" panose="020B0604030504040204" pitchFamily="50" charset="-128"/>
                <a:ea typeface="メイリオ" panose="020B0604030504040204" pitchFamily="50" charset="-128"/>
              </a:rPr>
              <a:t>が</a:t>
            </a:r>
            <a:r>
              <a:rPr lang="en-US" altLang="ja-JP" sz="1200">
                <a:latin typeface="メイリオ" panose="020B0604030504040204" pitchFamily="50" charset="-128"/>
                <a:ea typeface="メイリオ" panose="020B0604030504040204" pitchFamily="50" charset="-128"/>
              </a:rPr>
              <a:t>AI</a:t>
            </a:r>
            <a:r>
              <a:rPr lang="ja-JP" altLang="en-US" sz="1200">
                <a:latin typeface="メイリオ" panose="020B0604030504040204" pitchFamily="50" charset="-128"/>
                <a:ea typeface="メイリオ" panose="020B0604030504040204" pitchFamily="50" charset="-128"/>
              </a:rPr>
              <a:t>武装して</a:t>
            </a:r>
            <a:r>
              <a:rPr lang="en-US" altLang="ja-JP" sz="1200">
                <a:latin typeface="メイリオ" panose="020B0604030504040204" pitchFamily="50" charset="-128"/>
                <a:ea typeface="メイリオ" panose="020B0604030504040204" pitchFamily="50" charset="-128"/>
              </a:rPr>
              <a:t>BPO</a:t>
            </a:r>
            <a:r>
              <a:rPr lang="ja-JP" altLang="en-US" sz="1200">
                <a:latin typeface="メイリオ" panose="020B0604030504040204" pitchFamily="50" charset="-128"/>
                <a:ea typeface="メイリオ" panose="020B0604030504040204" pitchFamily="50" charset="-128"/>
              </a:rPr>
              <a:t>市場に本格参入（</a:t>
            </a:r>
            <a:r>
              <a:rPr lang="en-US" altLang="ja-JP" sz="1200">
                <a:latin typeface="メイリオ" panose="020B0604030504040204" pitchFamily="50" charset="-128"/>
                <a:ea typeface="メイリオ" panose="020B0604030504040204" pitchFamily="50" charset="-128"/>
                <a:hlinkClick r:id="rId7"/>
              </a:rPr>
              <a:t>NTT</a:t>
            </a:r>
            <a:r>
              <a:rPr lang="ja-JP" altLang="en-US" sz="1200">
                <a:latin typeface="メイリオ" panose="020B0604030504040204" pitchFamily="50" charset="-128"/>
                <a:ea typeface="メイリオ" panose="020B0604030504040204" pitchFamily="50" charset="-128"/>
                <a:hlinkClick r:id="rId7"/>
              </a:rPr>
              <a:t>データも「コンサルから</a:t>
            </a:r>
            <a:r>
              <a:rPr lang="en-US" altLang="ja-JP" sz="1200">
                <a:latin typeface="メイリオ" panose="020B0604030504040204" pitchFamily="50" charset="-128"/>
                <a:ea typeface="メイリオ" panose="020B0604030504040204" pitchFamily="50" charset="-128"/>
                <a:hlinkClick r:id="rId7"/>
              </a:rPr>
              <a:t>BPO</a:t>
            </a:r>
            <a:r>
              <a:rPr lang="ja-JP" altLang="en-US" sz="1200">
                <a:latin typeface="メイリオ" panose="020B0604030504040204" pitchFamily="50" charset="-128"/>
                <a:ea typeface="メイリオ" panose="020B0604030504040204" pitchFamily="50" charset="-128"/>
                <a:hlinkClick r:id="rId7"/>
              </a:rPr>
              <a:t>までフルスタック提供」を明言</a:t>
            </a:r>
            <a:r>
              <a:rPr lang="ja-JP" altLang="en-US" sz="1200">
                <a:latin typeface="メイリオ" panose="020B0604030504040204" pitchFamily="50" charset="-128"/>
                <a:ea typeface="メイリオ" panose="020B0604030504040204" pitchFamily="50" charset="-128"/>
              </a:rPr>
              <a:t>）</a:t>
            </a:r>
            <a:endParaRPr kumimoji="1" lang="en-US" altLang="ja-JP" sz="120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grpSp>
        <p:nvGrpSpPr>
          <p:cNvPr id="43" name="グループ化 42">
            <a:extLst>
              <a:ext uri="{FF2B5EF4-FFF2-40B4-BE49-F238E27FC236}">
                <a16:creationId xmlns:a16="http://schemas.microsoft.com/office/drawing/2014/main" id="{831CB74D-6F12-713A-764D-A49FCD49A07A}"/>
              </a:ext>
            </a:extLst>
          </p:cNvPr>
          <p:cNvGrpSpPr/>
          <p:nvPr/>
        </p:nvGrpSpPr>
        <p:grpSpPr>
          <a:xfrm>
            <a:off x="5986186" y="5267265"/>
            <a:ext cx="5857456" cy="966937"/>
            <a:chOff x="5801139" y="5501027"/>
            <a:chExt cx="5857456" cy="966937"/>
          </a:xfrm>
        </p:grpSpPr>
        <p:sp>
          <p:nvSpPr>
            <p:cNvPr id="39" name="正方形/長方形 38">
              <a:extLst>
                <a:ext uri="{FF2B5EF4-FFF2-40B4-BE49-F238E27FC236}">
                  <a16:creationId xmlns:a16="http://schemas.microsoft.com/office/drawing/2014/main" id="{C68FD3EA-F9C7-0B09-2E5E-08BBC43FD142}"/>
                </a:ext>
              </a:extLst>
            </p:cNvPr>
            <p:cNvSpPr/>
            <p:nvPr/>
          </p:nvSpPr>
          <p:spPr>
            <a:xfrm>
              <a:off x="5801140" y="5501027"/>
              <a:ext cx="1275521" cy="958768"/>
            </a:xfrm>
            <a:prstGeom prst="rect">
              <a:avLst/>
            </a:prstGeom>
            <a:solidFill>
              <a:schemeClr val="tx2">
                <a:lumMod val="75000"/>
                <a:lumOff val="25000"/>
              </a:schemeClr>
            </a:solidFill>
            <a:ln>
              <a:solidFill>
                <a:schemeClr val="tx2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sz="1200" b="1">
                  <a:latin typeface="メイリオ" panose="020B0604030504040204" pitchFamily="50" charset="-128"/>
                  <a:ea typeface="メイリオ" panose="020B0604030504040204" pitchFamily="50" charset="-128"/>
                </a:rPr>
                <a:t>アクセンチュア</a:t>
              </a:r>
              <a:endParaRPr kumimoji="1" lang="en-US" altLang="ja-JP" sz="1200" b="1">
                <a:latin typeface="メイリオ" panose="020B0604030504040204" pitchFamily="50" charset="-128"/>
                <a:ea typeface="メイリオ" panose="020B0604030504040204" pitchFamily="50" charset="-128"/>
              </a:endParaRPr>
            </a:p>
            <a:p>
              <a:pPr algn="ctr"/>
              <a:r>
                <a:rPr kumimoji="1" lang="ja-JP" altLang="en-US" sz="1200" b="1">
                  <a:latin typeface="メイリオ" panose="020B0604030504040204" pitchFamily="50" charset="-128"/>
                  <a:ea typeface="メイリオ" panose="020B0604030504040204" pitchFamily="50" charset="-128"/>
                </a:rPr>
                <a:t>の強み</a:t>
              </a:r>
            </a:p>
          </p:txBody>
        </p:sp>
        <p:sp>
          <p:nvSpPr>
            <p:cNvPr id="41" name="正方形/長方形 40">
              <a:extLst>
                <a:ext uri="{FF2B5EF4-FFF2-40B4-BE49-F238E27FC236}">
                  <a16:creationId xmlns:a16="http://schemas.microsoft.com/office/drawing/2014/main" id="{000115DD-43C8-CC22-0D31-B724D4BB4660}"/>
                </a:ext>
              </a:extLst>
            </p:cNvPr>
            <p:cNvSpPr/>
            <p:nvPr/>
          </p:nvSpPr>
          <p:spPr>
            <a:xfrm>
              <a:off x="5801139" y="5509196"/>
              <a:ext cx="5857456" cy="958768"/>
            </a:xfrm>
            <a:prstGeom prst="rect">
              <a:avLst/>
            </a:prstGeom>
            <a:noFill/>
            <a:ln>
              <a:solidFill>
                <a:schemeClr val="tx2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メイリオ" panose="020B0604030504040204" pitchFamily="50" charset="-128"/>
                <a:ea typeface="メイリオ" panose="020B0604030504040204" pitchFamily="50" charset="-128"/>
              </a:endParaRPr>
            </a:p>
          </p:txBody>
        </p:sp>
        <p:sp>
          <p:nvSpPr>
            <p:cNvPr id="42" name="テキスト ボックス 41">
              <a:extLst>
                <a:ext uri="{FF2B5EF4-FFF2-40B4-BE49-F238E27FC236}">
                  <a16:creationId xmlns:a16="http://schemas.microsoft.com/office/drawing/2014/main" id="{EFAA538B-45F1-2191-2665-59BF4583D64A}"/>
                </a:ext>
              </a:extLst>
            </p:cNvPr>
            <p:cNvSpPr txBox="1"/>
            <p:nvPr/>
          </p:nvSpPr>
          <p:spPr>
            <a:xfrm>
              <a:off x="7166114" y="5534270"/>
              <a:ext cx="3955768" cy="90024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71450" indent="-1714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ja-JP" altLang="en-US" sz="1200">
                  <a:latin typeface="メイリオ" panose="020B0604030504040204" pitchFamily="50" charset="-128"/>
                  <a:ea typeface="メイリオ" panose="020B0604030504040204" pitchFamily="50" charset="-128"/>
                </a:rPr>
                <a:t>戦略策定→実行→</a:t>
              </a:r>
              <a:r>
                <a:rPr lang="en-US" altLang="ja-JP" sz="1200">
                  <a:latin typeface="メイリオ" panose="020B0604030504040204" pitchFamily="50" charset="-128"/>
                  <a:ea typeface="メイリオ" panose="020B0604030504040204" pitchFamily="50" charset="-128"/>
                </a:rPr>
                <a:t>IT</a:t>
              </a:r>
              <a:r>
                <a:rPr lang="ja-JP" altLang="en-US" sz="1200">
                  <a:latin typeface="メイリオ" panose="020B0604030504040204" pitchFamily="50" charset="-128"/>
                  <a:ea typeface="メイリオ" panose="020B0604030504040204" pitchFamily="50" charset="-128"/>
                </a:rPr>
                <a:t>運用→</a:t>
              </a:r>
              <a:r>
                <a:rPr lang="en-US" altLang="ja-JP" sz="1200">
                  <a:latin typeface="メイリオ" panose="020B0604030504040204" pitchFamily="50" charset="-128"/>
                  <a:ea typeface="メイリオ" panose="020B0604030504040204" pitchFamily="50" charset="-128"/>
                </a:rPr>
                <a:t>BPO</a:t>
              </a:r>
              <a:r>
                <a:rPr lang="ja-JP" altLang="en-US" sz="1200">
                  <a:latin typeface="メイリオ" panose="020B0604030504040204" pitchFamily="50" charset="-128"/>
                  <a:ea typeface="メイリオ" panose="020B0604030504040204" pitchFamily="50" charset="-128"/>
                </a:rPr>
                <a:t>まで一気通貫</a:t>
              </a:r>
              <a:endParaRPr lang="en-US" altLang="ja-JP" sz="1200">
                <a:latin typeface="メイリオ" panose="020B0604030504040204" pitchFamily="50" charset="-128"/>
                <a:ea typeface="メイリオ" panose="020B0604030504040204" pitchFamily="50" charset="-128"/>
              </a:endParaRPr>
            </a:p>
            <a:p>
              <a:pPr marL="171450" indent="-1714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ja-JP" altLang="en-US" sz="1200">
                  <a:latin typeface="メイリオ" panose="020B0604030504040204" pitchFamily="50" charset="-128"/>
                  <a:ea typeface="メイリオ" panose="020B0604030504040204" pitchFamily="50" charset="-128"/>
                </a:rPr>
                <a:t>経営層との関係性を既に保有</a:t>
              </a:r>
              <a:endParaRPr lang="en-US" altLang="ja-JP" sz="1200">
                <a:latin typeface="メイリオ" panose="020B0604030504040204" pitchFamily="50" charset="-128"/>
                <a:ea typeface="メイリオ" panose="020B0604030504040204" pitchFamily="50" charset="-128"/>
              </a:endParaRPr>
            </a:p>
            <a:p>
              <a:pPr marL="171450" indent="-1714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altLang="ja-JP" sz="1200">
                  <a:latin typeface="メイリオ" panose="020B0604030504040204" pitchFamily="50" charset="-128"/>
                  <a:ea typeface="メイリオ" panose="020B0604030504040204" pitchFamily="50" charset="-128"/>
                </a:rPr>
                <a:t>IT</a:t>
              </a:r>
              <a:r>
                <a:rPr lang="ja-JP" altLang="en-US" sz="1200">
                  <a:latin typeface="メイリオ" panose="020B0604030504040204" pitchFamily="50" charset="-128"/>
                  <a:ea typeface="メイリオ" panose="020B0604030504040204" pitchFamily="50" charset="-128"/>
                </a:rPr>
                <a:t>運用の顧客基盤から</a:t>
              </a:r>
              <a:r>
                <a:rPr lang="en-US" altLang="ja-JP" sz="1200">
                  <a:latin typeface="メイリオ" panose="020B0604030504040204" pitchFamily="50" charset="-128"/>
                  <a:ea typeface="メイリオ" panose="020B0604030504040204" pitchFamily="50" charset="-128"/>
                </a:rPr>
                <a:t>BPO</a:t>
              </a:r>
              <a:r>
                <a:rPr lang="ja-JP" altLang="en-US" sz="1200">
                  <a:latin typeface="メイリオ" panose="020B0604030504040204" pitchFamily="50" charset="-128"/>
                  <a:ea typeface="メイリオ" panose="020B0604030504040204" pitchFamily="50" charset="-128"/>
                </a:rPr>
                <a:t>領域へ展開可能</a:t>
              </a:r>
              <a:endParaRPr kumimoji="1" lang="en-US" altLang="ja-JP" sz="1200">
                <a:latin typeface="メイリオ" panose="020B0604030504040204" pitchFamily="50" charset="-128"/>
                <a:ea typeface="メイリオ" panose="020B0604030504040204" pitchFamily="50" charset="-128"/>
              </a:endParaRPr>
            </a:p>
          </p:txBody>
        </p:sp>
      </p:grpSp>
      <p:sp>
        <p:nvSpPr>
          <p:cNvPr id="44" name="テキスト ボックス 43">
            <a:extLst>
              <a:ext uri="{FF2B5EF4-FFF2-40B4-BE49-F238E27FC236}">
                <a16:creationId xmlns:a16="http://schemas.microsoft.com/office/drawing/2014/main" id="{ECF8D856-8905-3E03-8727-1CA77A4DEA5B}"/>
              </a:ext>
            </a:extLst>
          </p:cNvPr>
          <p:cNvSpPr txBox="1"/>
          <p:nvPr/>
        </p:nvSpPr>
        <p:spPr>
          <a:xfrm>
            <a:off x="5986185" y="6259276"/>
            <a:ext cx="585745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1600" b="1">
                <a:latin typeface="メイリオ" panose="020B0604030504040204" pitchFamily="50" charset="-128"/>
                <a:ea typeface="メイリオ" panose="020B0604030504040204" pitchFamily="50" charset="-128"/>
              </a:rPr>
              <a:t>➡ </a:t>
            </a:r>
            <a:r>
              <a:rPr lang="ja-JP" altLang="en-US" sz="1600" b="1"/>
              <a:t>既存</a:t>
            </a:r>
            <a:r>
              <a:rPr lang="en-US" altLang="ja-JP" sz="1600" b="1"/>
              <a:t>BPO</a:t>
            </a:r>
            <a:r>
              <a:rPr lang="ja-JP" altLang="en-US" sz="1600" b="1"/>
              <a:t>企業との競争に加え、上位レイヤーも参入</a:t>
            </a:r>
            <a:endParaRPr lang="en-US" altLang="ja-JP" sz="1600" b="1"/>
          </a:p>
          <a:p>
            <a:pPr algn="ctr"/>
            <a:r>
              <a:rPr lang="ja-JP" altLang="en-US" sz="1600" b="1"/>
              <a:t>→ 「動かない」という選択肢が最もリスクが高い</a:t>
            </a:r>
            <a:endParaRPr kumimoji="1" lang="en-US" altLang="ja-JP" sz="160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pic>
        <p:nvPicPr>
          <p:cNvPr id="8" name="図 7" descr="黒い背景に白い文字がある&#10;&#10;AI 生成コンテンツは誤りを含む可能性があります。">
            <a:extLst>
              <a:ext uri="{FF2B5EF4-FFF2-40B4-BE49-F238E27FC236}">
                <a16:creationId xmlns:a16="http://schemas.microsoft.com/office/drawing/2014/main" id="{5120D4A8-926B-7057-0355-795B899A7CF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79102" y="181067"/>
            <a:ext cx="2082229" cy="5487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04335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629</TotalTime>
  <Words>1736</Words>
  <Application>Microsoft Office PowerPoint</Application>
  <PresentationFormat>ワイド画面</PresentationFormat>
  <Paragraphs>241</Paragraphs>
  <Slides>5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2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5</vt:i4>
      </vt:variant>
    </vt:vector>
  </HeadingPairs>
  <TitlesOfParts>
    <vt:vector size="8" baseType="lpstr">
      <vt:lpstr>メイリオ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kodai higuchi</dc:creator>
  <cp:lastModifiedBy>kodai higuchi</cp:lastModifiedBy>
  <cp:revision>71</cp:revision>
  <dcterms:created xsi:type="dcterms:W3CDTF">2026-02-04T06:28:26Z</dcterms:created>
  <dcterms:modified xsi:type="dcterms:W3CDTF">2026-02-04T16:58:06Z</dcterms:modified>
</cp:coreProperties>
</file>