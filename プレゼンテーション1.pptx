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9" r:id="rId4"/>
    <p:sldId id="261" r:id="rId5"/>
    <p:sldId id="262" r:id="rId6"/>
    <p:sldId id="263" r:id="rId7"/>
    <p:sldId id="268" r:id="rId8"/>
    <p:sldId id="264" r:id="rId9"/>
    <p:sldId id="265" r:id="rId10"/>
    <p:sldId id="266" r:id="rId11"/>
    <p:sldId id="267"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E5F3"/>
    <a:srgbClr val="CFBAE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987" autoAdjust="0"/>
    <p:restoredTop sz="94660"/>
  </p:normalViewPr>
  <p:slideViewPr>
    <p:cSldViewPr snapToGrid="0">
      <p:cViewPr varScale="1">
        <p:scale>
          <a:sx n="91" d="100"/>
          <a:sy n="91" d="100"/>
        </p:scale>
        <p:origin x="102" y="3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8F722D-2274-4A30-A214-7B03C3AD31F9}" type="datetimeFigureOut">
              <a:rPr kumimoji="1" lang="ja-JP" altLang="en-US" smtClean="0"/>
              <a:t>2026/3/5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30768A-7EDE-4A60-A3AD-7A6D00335ACD}" type="slidenum">
              <a:rPr kumimoji="1" lang="ja-JP" altLang="en-US" smtClean="0"/>
              <a:t>‹#›</a:t>
            </a:fld>
            <a:endParaRPr kumimoji="1" lang="ja-JP" altLang="en-US"/>
          </a:p>
        </p:txBody>
      </p:sp>
    </p:spTree>
    <p:extLst>
      <p:ext uri="{BB962C8B-B14F-4D97-AF65-F5344CB8AC3E}">
        <p14:creationId xmlns:p14="http://schemas.microsoft.com/office/powerpoint/2010/main" val="124388297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EB30768A-7EDE-4A60-A3AD-7A6D00335ACD}" type="slidenum">
              <a:rPr kumimoji="1" lang="ja-JP" altLang="en-US" smtClean="0"/>
              <a:t>7</a:t>
            </a:fld>
            <a:endParaRPr kumimoji="1" lang="ja-JP" altLang="en-US"/>
          </a:p>
        </p:txBody>
      </p:sp>
    </p:spTree>
    <p:extLst>
      <p:ext uri="{BB962C8B-B14F-4D97-AF65-F5344CB8AC3E}">
        <p14:creationId xmlns:p14="http://schemas.microsoft.com/office/powerpoint/2010/main" val="431941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6FFD179-A474-6EED-DF30-9FAA9DB03BD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D231B528-4A5C-65AF-C4EB-E7DF3942BC1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B5D3B9E-0C04-1D83-356D-32619A6FE84C}"/>
              </a:ext>
            </a:extLst>
          </p:cNvPr>
          <p:cNvSpPr>
            <a:spLocks noGrp="1"/>
          </p:cNvSpPr>
          <p:nvPr>
            <p:ph type="dt" sz="half" idx="10"/>
          </p:nvPr>
        </p:nvSpPr>
        <p:spPr/>
        <p:txBody>
          <a:bodyPr/>
          <a:lstStyle/>
          <a:p>
            <a:fld id="{50C022C9-6362-4D7E-800D-CCB5DC9E42C2}" type="datetimeFigureOut">
              <a:rPr kumimoji="1" lang="ja-JP" altLang="en-US" smtClean="0"/>
              <a:t>2026/3/5</a:t>
            </a:fld>
            <a:endParaRPr kumimoji="1" lang="ja-JP" altLang="en-US"/>
          </a:p>
        </p:txBody>
      </p:sp>
      <p:sp>
        <p:nvSpPr>
          <p:cNvPr id="5" name="フッター プレースホルダー 4">
            <a:extLst>
              <a:ext uri="{FF2B5EF4-FFF2-40B4-BE49-F238E27FC236}">
                <a16:creationId xmlns:a16="http://schemas.microsoft.com/office/drawing/2014/main" id="{DB9C8F41-683B-E8A9-05C8-0F3D44A882D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770C819-7B0A-1F13-8017-35F4FFEFD1A7}"/>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36057464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EB9FF35-2037-1EE2-3594-6ACCDF5B913E}"/>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FA7A7E2-5078-B9EC-401E-AF43F421301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67FBC8D-D65B-C75C-F921-B8BDBEAA67BD}"/>
              </a:ext>
            </a:extLst>
          </p:cNvPr>
          <p:cNvSpPr>
            <a:spLocks noGrp="1"/>
          </p:cNvSpPr>
          <p:nvPr>
            <p:ph type="dt" sz="half" idx="10"/>
          </p:nvPr>
        </p:nvSpPr>
        <p:spPr/>
        <p:txBody>
          <a:bodyPr/>
          <a:lstStyle/>
          <a:p>
            <a:fld id="{50C022C9-6362-4D7E-800D-CCB5DC9E42C2}" type="datetimeFigureOut">
              <a:rPr kumimoji="1" lang="ja-JP" altLang="en-US" smtClean="0"/>
              <a:t>2026/3/5</a:t>
            </a:fld>
            <a:endParaRPr kumimoji="1" lang="ja-JP" altLang="en-US"/>
          </a:p>
        </p:txBody>
      </p:sp>
      <p:sp>
        <p:nvSpPr>
          <p:cNvPr id="5" name="フッター プレースホルダー 4">
            <a:extLst>
              <a:ext uri="{FF2B5EF4-FFF2-40B4-BE49-F238E27FC236}">
                <a16:creationId xmlns:a16="http://schemas.microsoft.com/office/drawing/2014/main" id="{FB849088-2DEF-4F68-5F1E-FEBC8FFAEEB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03503D1-A4D6-DCAE-5EBC-F6D2ED810CF4}"/>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20789620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8D8809-1FDF-B1D0-A3B9-D9B317735CFF}"/>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FD268-B254-41A0-E1C0-24031DE1906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7DAFBFFC-BCB5-7553-63CC-05DCE5E4D91F}"/>
              </a:ext>
            </a:extLst>
          </p:cNvPr>
          <p:cNvSpPr>
            <a:spLocks noGrp="1"/>
          </p:cNvSpPr>
          <p:nvPr>
            <p:ph type="dt" sz="half" idx="10"/>
          </p:nvPr>
        </p:nvSpPr>
        <p:spPr/>
        <p:txBody>
          <a:bodyPr/>
          <a:lstStyle/>
          <a:p>
            <a:fld id="{50C022C9-6362-4D7E-800D-CCB5DC9E42C2}" type="datetimeFigureOut">
              <a:rPr kumimoji="1" lang="ja-JP" altLang="en-US" smtClean="0"/>
              <a:t>2026/3/5</a:t>
            </a:fld>
            <a:endParaRPr kumimoji="1" lang="ja-JP" altLang="en-US"/>
          </a:p>
        </p:txBody>
      </p:sp>
      <p:sp>
        <p:nvSpPr>
          <p:cNvPr id="5" name="フッター プレースホルダー 4">
            <a:extLst>
              <a:ext uri="{FF2B5EF4-FFF2-40B4-BE49-F238E27FC236}">
                <a16:creationId xmlns:a16="http://schemas.microsoft.com/office/drawing/2014/main" id="{BE1546E2-AEAD-F18C-01AE-82BEFCABC16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2DB982F-2066-5CC4-D716-994848F3294A}"/>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9577038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9D34331-DF38-E363-9C50-E7579FA790D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C9B805-6A23-3757-5A3A-43371B71F6A2}"/>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23BEE72-B7A9-7472-5C60-92787E1C141D}"/>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1A8320D9-A20F-3B2B-746E-B9AFF2048A0C}"/>
              </a:ext>
            </a:extLst>
          </p:cNvPr>
          <p:cNvSpPr>
            <a:spLocks noGrp="1"/>
          </p:cNvSpPr>
          <p:nvPr>
            <p:ph type="dt" sz="half" idx="10"/>
          </p:nvPr>
        </p:nvSpPr>
        <p:spPr/>
        <p:txBody>
          <a:bodyPr/>
          <a:lstStyle/>
          <a:p>
            <a:fld id="{50C022C9-6362-4D7E-800D-CCB5DC9E42C2}" type="datetimeFigureOut">
              <a:rPr kumimoji="1" lang="ja-JP" altLang="en-US" smtClean="0"/>
              <a:t>2026/3/5</a:t>
            </a:fld>
            <a:endParaRPr kumimoji="1" lang="ja-JP" altLang="en-US"/>
          </a:p>
        </p:txBody>
      </p:sp>
      <p:sp>
        <p:nvSpPr>
          <p:cNvPr id="6" name="フッター プレースホルダー 5">
            <a:extLst>
              <a:ext uri="{FF2B5EF4-FFF2-40B4-BE49-F238E27FC236}">
                <a16:creationId xmlns:a16="http://schemas.microsoft.com/office/drawing/2014/main" id="{868F0A13-78B6-D56B-BF06-AC2539D6624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52696EF-7B0A-C840-1169-498E27C95C07}"/>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1470273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DE73861-759B-7319-407B-E857A3A11273}"/>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1D1AFB5-A776-F568-047E-50FB143306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E2A78C92-645E-0A79-3BD6-D704AF98AF9C}"/>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FA774066-8E0D-3A51-55B6-A718A4E72BA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EB177441-F3FD-BA74-C28C-40913CAE435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94215683-BA66-60E0-6D0D-5FF4325D35B5}"/>
              </a:ext>
            </a:extLst>
          </p:cNvPr>
          <p:cNvSpPr>
            <a:spLocks noGrp="1"/>
          </p:cNvSpPr>
          <p:nvPr>
            <p:ph type="dt" sz="half" idx="10"/>
          </p:nvPr>
        </p:nvSpPr>
        <p:spPr/>
        <p:txBody>
          <a:bodyPr/>
          <a:lstStyle/>
          <a:p>
            <a:fld id="{50C022C9-6362-4D7E-800D-CCB5DC9E42C2}" type="datetimeFigureOut">
              <a:rPr kumimoji="1" lang="ja-JP" altLang="en-US" smtClean="0"/>
              <a:t>2026/3/5</a:t>
            </a:fld>
            <a:endParaRPr kumimoji="1" lang="ja-JP" altLang="en-US"/>
          </a:p>
        </p:txBody>
      </p:sp>
      <p:sp>
        <p:nvSpPr>
          <p:cNvPr id="8" name="フッター プレースホルダー 7">
            <a:extLst>
              <a:ext uri="{FF2B5EF4-FFF2-40B4-BE49-F238E27FC236}">
                <a16:creationId xmlns:a16="http://schemas.microsoft.com/office/drawing/2014/main" id="{9A5A0EE9-8736-5AD1-2372-A2B9C74AFEAC}"/>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FD447E25-4249-D752-B779-01F2E5C44ED8}"/>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21050468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DA920B-3FEB-1718-F1EC-95F0204233A1}"/>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569E227-0A61-DA64-91EA-5327D197AE17}"/>
              </a:ext>
            </a:extLst>
          </p:cNvPr>
          <p:cNvSpPr>
            <a:spLocks noGrp="1"/>
          </p:cNvSpPr>
          <p:nvPr>
            <p:ph type="dt" sz="half" idx="10"/>
          </p:nvPr>
        </p:nvSpPr>
        <p:spPr/>
        <p:txBody>
          <a:bodyPr/>
          <a:lstStyle/>
          <a:p>
            <a:fld id="{50C022C9-6362-4D7E-800D-CCB5DC9E42C2}" type="datetimeFigureOut">
              <a:rPr kumimoji="1" lang="ja-JP" altLang="en-US" smtClean="0"/>
              <a:t>2026/3/5</a:t>
            </a:fld>
            <a:endParaRPr kumimoji="1" lang="ja-JP" altLang="en-US"/>
          </a:p>
        </p:txBody>
      </p:sp>
      <p:sp>
        <p:nvSpPr>
          <p:cNvPr id="4" name="フッター プレースホルダー 3">
            <a:extLst>
              <a:ext uri="{FF2B5EF4-FFF2-40B4-BE49-F238E27FC236}">
                <a16:creationId xmlns:a16="http://schemas.microsoft.com/office/drawing/2014/main" id="{EE9D16DB-6C64-2812-10E0-24D3B234CFA0}"/>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210724D3-DB86-E532-CF4E-752FB7937B8C}"/>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2107685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6A39E2B-0ABB-7583-7FCF-6A0A382016AB}"/>
              </a:ext>
            </a:extLst>
          </p:cNvPr>
          <p:cNvSpPr>
            <a:spLocks noGrp="1"/>
          </p:cNvSpPr>
          <p:nvPr>
            <p:ph type="dt" sz="half" idx="10"/>
          </p:nvPr>
        </p:nvSpPr>
        <p:spPr/>
        <p:txBody>
          <a:bodyPr/>
          <a:lstStyle/>
          <a:p>
            <a:fld id="{50C022C9-6362-4D7E-800D-CCB5DC9E42C2}" type="datetimeFigureOut">
              <a:rPr kumimoji="1" lang="ja-JP" altLang="en-US" smtClean="0"/>
              <a:t>2026/3/5</a:t>
            </a:fld>
            <a:endParaRPr kumimoji="1" lang="ja-JP" altLang="en-US"/>
          </a:p>
        </p:txBody>
      </p:sp>
      <p:sp>
        <p:nvSpPr>
          <p:cNvPr id="3" name="フッター プレースホルダー 2">
            <a:extLst>
              <a:ext uri="{FF2B5EF4-FFF2-40B4-BE49-F238E27FC236}">
                <a16:creationId xmlns:a16="http://schemas.microsoft.com/office/drawing/2014/main" id="{FA3EF4CB-8A24-3436-8562-F8A083F0615F}"/>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AF9B8917-F443-056F-58C9-DD331ED635DF}"/>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17236949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62BB35-D3E8-70CC-03B0-1EBE63DC6B1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9A5C77F-DD97-197C-5A1F-3AE5CBCB99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C2D136B-885B-A37F-DB9A-5BFEE05E52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9259887-1609-6964-47BE-D54DE49C1072}"/>
              </a:ext>
            </a:extLst>
          </p:cNvPr>
          <p:cNvSpPr>
            <a:spLocks noGrp="1"/>
          </p:cNvSpPr>
          <p:nvPr>
            <p:ph type="dt" sz="half" idx="10"/>
          </p:nvPr>
        </p:nvSpPr>
        <p:spPr/>
        <p:txBody>
          <a:bodyPr/>
          <a:lstStyle/>
          <a:p>
            <a:fld id="{50C022C9-6362-4D7E-800D-CCB5DC9E42C2}" type="datetimeFigureOut">
              <a:rPr kumimoji="1" lang="ja-JP" altLang="en-US" smtClean="0"/>
              <a:t>2026/3/5</a:t>
            </a:fld>
            <a:endParaRPr kumimoji="1" lang="ja-JP" altLang="en-US"/>
          </a:p>
        </p:txBody>
      </p:sp>
      <p:sp>
        <p:nvSpPr>
          <p:cNvPr id="6" name="フッター プレースホルダー 5">
            <a:extLst>
              <a:ext uri="{FF2B5EF4-FFF2-40B4-BE49-F238E27FC236}">
                <a16:creationId xmlns:a16="http://schemas.microsoft.com/office/drawing/2014/main" id="{6225EA83-F7D0-3C46-1822-C0F5B8950E0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2DBDD24-C4E5-7023-E2C4-B0A1F4743688}"/>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6588553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5FAD83D-7ECD-9EAE-CDD7-CD3CD5BC197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0AACBAB-89A4-4CEA-C612-CA6B5105CB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9A196C1-7AC5-0C22-98DE-10069D59C5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3119D8B-5FC5-3263-5141-582D5CD2CC4A}"/>
              </a:ext>
            </a:extLst>
          </p:cNvPr>
          <p:cNvSpPr>
            <a:spLocks noGrp="1"/>
          </p:cNvSpPr>
          <p:nvPr>
            <p:ph type="dt" sz="half" idx="10"/>
          </p:nvPr>
        </p:nvSpPr>
        <p:spPr/>
        <p:txBody>
          <a:bodyPr/>
          <a:lstStyle/>
          <a:p>
            <a:fld id="{50C022C9-6362-4D7E-800D-CCB5DC9E42C2}" type="datetimeFigureOut">
              <a:rPr kumimoji="1" lang="ja-JP" altLang="en-US" smtClean="0"/>
              <a:t>2026/3/5</a:t>
            </a:fld>
            <a:endParaRPr kumimoji="1" lang="ja-JP" altLang="en-US"/>
          </a:p>
        </p:txBody>
      </p:sp>
      <p:sp>
        <p:nvSpPr>
          <p:cNvPr id="6" name="フッター プレースホルダー 5">
            <a:extLst>
              <a:ext uri="{FF2B5EF4-FFF2-40B4-BE49-F238E27FC236}">
                <a16:creationId xmlns:a16="http://schemas.microsoft.com/office/drawing/2014/main" id="{E6AA9012-0211-30F5-0FC6-55952577A11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13B1775-668E-3534-B2E7-20F412DD28F5}"/>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42091189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8EE62B-4E25-6957-512C-96525890465A}"/>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709CC5AE-3F98-7F56-DFC7-857A77A57F45}"/>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EFD36-4C91-5754-1311-0EE16B8A8B18}"/>
              </a:ext>
            </a:extLst>
          </p:cNvPr>
          <p:cNvSpPr>
            <a:spLocks noGrp="1"/>
          </p:cNvSpPr>
          <p:nvPr>
            <p:ph type="dt" sz="half" idx="10"/>
          </p:nvPr>
        </p:nvSpPr>
        <p:spPr/>
        <p:txBody>
          <a:bodyPr/>
          <a:lstStyle/>
          <a:p>
            <a:fld id="{50C022C9-6362-4D7E-800D-CCB5DC9E42C2}" type="datetimeFigureOut">
              <a:rPr kumimoji="1" lang="ja-JP" altLang="en-US" smtClean="0"/>
              <a:t>2026/3/5</a:t>
            </a:fld>
            <a:endParaRPr kumimoji="1" lang="ja-JP" altLang="en-US"/>
          </a:p>
        </p:txBody>
      </p:sp>
      <p:sp>
        <p:nvSpPr>
          <p:cNvPr id="5" name="フッター プレースホルダー 4">
            <a:extLst>
              <a:ext uri="{FF2B5EF4-FFF2-40B4-BE49-F238E27FC236}">
                <a16:creationId xmlns:a16="http://schemas.microsoft.com/office/drawing/2014/main" id="{7E4E434A-5EC6-86B6-3D68-0F15A68775A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E45B7EA-6A53-48D2-0899-786A59AE2029}"/>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20514368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5055E64-173A-A46C-E067-034922F9DF0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BC2435AE-2288-BDC4-9EB4-56458197498C}"/>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7FE9259-C3C0-CA00-CBBA-7C6E5A33D42D}"/>
              </a:ext>
            </a:extLst>
          </p:cNvPr>
          <p:cNvSpPr>
            <a:spLocks noGrp="1"/>
          </p:cNvSpPr>
          <p:nvPr>
            <p:ph type="dt" sz="half" idx="10"/>
          </p:nvPr>
        </p:nvSpPr>
        <p:spPr/>
        <p:txBody>
          <a:bodyPr/>
          <a:lstStyle/>
          <a:p>
            <a:fld id="{50C022C9-6362-4D7E-800D-CCB5DC9E42C2}" type="datetimeFigureOut">
              <a:rPr kumimoji="1" lang="ja-JP" altLang="en-US" smtClean="0"/>
              <a:t>2026/3/5</a:t>
            </a:fld>
            <a:endParaRPr kumimoji="1" lang="ja-JP" altLang="en-US"/>
          </a:p>
        </p:txBody>
      </p:sp>
      <p:sp>
        <p:nvSpPr>
          <p:cNvPr id="5" name="フッター プレースホルダー 4">
            <a:extLst>
              <a:ext uri="{FF2B5EF4-FFF2-40B4-BE49-F238E27FC236}">
                <a16:creationId xmlns:a16="http://schemas.microsoft.com/office/drawing/2014/main" id="{64076CD3-9B26-E2F3-5C94-DD7BEFB3240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007AA67-CF2D-0A39-A110-AF3CA7C1FB4D}"/>
              </a:ext>
            </a:extLst>
          </p:cNvPr>
          <p:cNvSpPr>
            <a:spLocks noGrp="1"/>
          </p:cNvSpPr>
          <p:nvPr>
            <p:ph type="sldNum" sz="quarter" idx="12"/>
          </p:nvPr>
        </p:nvSpPr>
        <p:spPr/>
        <p:txBody>
          <a:bodyPr/>
          <a:lstStyle/>
          <a:p>
            <a:fld id="{FBF6089D-95F5-4092-B6A7-DE2EA042654D}" type="slidenum">
              <a:rPr kumimoji="1" lang="ja-JP" altLang="en-US" smtClean="0"/>
              <a:t>‹#›</a:t>
            </a:fld>
            <a:endParaRPr kumimoji="1" lang="ja-JP" altLang="en-US"/>
          </a:p>
        </p:txBody>
      </p:sp>
    </p:spTree>
    <p:extLst>
      <p:ext uri="{BB962C8B-B14F-4D97-AF65-F5344CB8AC3E}">
        <p14:creationId xmlns:p14="http://schemas.microsoft.com/office/powerpoint/2010/main" val="10274297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100907DD-842A-E29E-D60A-08ED59FCD11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7F59D565-08B7-F15A-BDD8-D53BE04D444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8A62D52-320C-F297-245D-521F0BBBB7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メイリオ" panose="020B0604030504040204" pitchFamily="50" charset="-128"/>
                <a:ea typeface="メイリオ" panose="020B0604030504040204" pitchFamily="50" charset="-128"/>
              </a:defRPr>
            </a:lvl1pPr>
          </a:lstStyle>
          <a:p>
            <a:fld id="{50C022C9-6362-4D7E-800D-CCB5DC9E42C2}" type="datetimeFigureOut">
              <a:rPr lang="ja-JP" altLang="en-US" smtClean="0"/>
              <a:pPr/>
              <a:t>2026/3/5</a:t>
            </a:fld>
            <a:endParaRPr lang="ja-JP" altLang="en-US"/>
          </a:p>
        </p:txBody>
      </p:sp>
      <p:sp>
        <p:nvSpPr>
          <p:cNvPr id="5" name="フッター プレースホルダー 4">
            <a:extLst>
              <a:ext uri="{FF2B5EF4-FFF2-40B4-BE49-F238E27FC236}">
                <a16:creationId xmlns:a16="http://schemas.microsoft.com/office/drawing/2014/main" id="{DD837BAE-EBEB-1F2E-57B8-5D2CB39ABB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メイリオ" panose="020B0604030504040204" pitchFamily="50" charset="-128"/>
                <a:ea typeface="メイリオ" panose="020B0604030504040204" pitchFamily="50" charset="-128"/>
              </a:defRPr>
            </a:lvl1pPr>
          </a:lstStyle>
          <a:p>
            <a:endParaRPr lang="ja-JP" altLang="en-US"/>
          </a:p>
        </p:txBody>
      </p:sp>
      <p:sp>
        <p:nvSpPr>
          <p:cNvPr id="6" name="スライド番号プレースホルダー 5">
            <a:extLst>
              <a:ext uri="{FF2B5EF4-FFF2-40B4-BE49-F238E27FC236}">
                <a16:creationId xmlns:a16="http://schemas.microsoft.com/office/drawing/2014/main" id="{E53B9A0A-A600-1DDE-BE15-1F6392A9E6B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メイリオ" panose="020B0604030504040204" pitchFamily="50" charset="-128"/>
                <a:ea typeface="メイリオ" panose="020B0604030504040204" pitchFamily="50" charset="-128"/>
              </a:defRPr>
            </a:lvl1pPr>
          </a:lstStyle>
          <a:p>
            <a:fld id="{FBF6089D-95F5-4092-B6A7-DE2EA042654D}" type="slidenum">
              <a:rPr lang="ja-JP" altLang="en-US" smtClean="0"/>
              <a:pPr/>
              <a:t>‹#›</a:t>
            </a:fld>
            <a:endParaRPr lang="ja-JP" altLang="en-US"/>
          </a:p>
        </p:txBody>
      </p:sp>
    </p:spTree>
    <p:extLst>
      <p:ext uri="{BB962C8B-B14F-4D97-AF65-F5344CB8AC3E}">
        <p14:creationId xmlns:p14="http://schemas.microsoft.com/office/powerpoint/2010/main" val="31615254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メイリオ" panose="020B0604030504040204" pitchFamily="50" charset="-128"/>
          <a:ea typeface="メイリオ" panose="020B0604030504040204" pitchFamily="50"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13" Type="http://schemas.openxmlformats.org/officeDocument/2006/relationships/hyperlink" Target="https://news.mynavi.jp/article/20251223-3859486/" TargetMode="External"/><Relationship Id="rId18" Type="http://schemas.openxmlformats.org/officeDocument/2006/relationships/image" Target="../media/image8.png"/><Relationship Id="rId3" Type="http://schemas.openxmlformats.org/officeDocument/2006/relationships/hyperlink" Target="https://news.yahoo.co.jp/expert/articles/2aaef085f14d8c5592ecd0e6df466a5afc86d56e" TargetMode="External"/><Relationship Id="rId7" Type="http://schemas.openxmlformats.org/officeDocument/2006/relationships/image" Target="../media/image3.png"/><Relationship Id="rId12" Type="http://schemas.openxmlformats.org/officeDocument/2006/relationships/hyperlink" Target="https://www.sbbit.jp/article/cont1/179458" TargetMode="External"/><Relationship Id="rId17" Type="http://schemas.openxmlformats.org/officeDocument/2006/relationships/image" Target="../media/image7.png"/><Relationship Id="rId2" Type="http://schemas.openxmlformats.org/officeDocument/2006/relationships/hyperlink" Target="https://gigazine.net/news/20251210-mcp-donated-to-aaif/" TargetMode="External"/><Relationship Id="rId16" Type="http://schemas.openxmlformats.org/officeDocument/2006/relationships/hyperlink" Target="https://www.watch.impress.co.jp/docs/topic/2079398.html" TargetMode="External"/><Relationship Id="rId1" Type="http://schemas.openxmlformats.org/officeDocument/2006/relationships/slideLayout" Target="../slideLayouts/slideLayout1.xml"/><Relationship Id="rId6" Type="http://schemas.openxmlformats.org/officeDocument/2006/relationships/image" Target="../media/image2.png"/><Relationship Id="rId11" Type="http://schemas.openxmlformats.org/officeDocument/2006/relationships/hyperlink" Target="https://dev.classmethod.jp/articles/claude-desktop-mcp-answered-by-claude/" TargetMode="External"/><Relationship Id="rId5" Type="http://schemas.openxmlformats.org/officeDocument/2006/relationships/image" Target="../media/image1.jpg"/><Relationship Id="rId15" Type="http://schemas.openxmlformats.org/officeDocument/2006/relationships/hyperlink" Target="https://tech-noisy.com/2026/01/26/anthropic-claude-in-excel-beta-release/" TargetMode="External"/><Relationship Id="rId10" Type="http://schemas.openxmlformats.org/officeDocument/2006/relationships/image" Target="../media/image6.png"/><Relationship Id="rId19" Type="http://schemas.openxmlformats.org/officeDocument/2006/relationships/image" Target="../media/image9.png"/><Relationship Id="rId4" Type="http://schemas.openxmlformats.org/officeDocument/2006/relationships/hyperlink" Target="https://forest.watch.impress.co.jp/docs/news/2067633.html" TargetMode="External"/><Relationship Id="rId9" Type="http://schemas.openxmlformats.org/officeDocument/2006/relationships/image" Target="../media/image5.png"/><Relationship Id="rId14" Type="http://schemas.openxmlformats.org/officeDocument/2006/relationships/hyperlink" Target="https://forest.watch.impress.co.jp/docs/news/2055832.html" TargetMode="External"/></Relationships>
</file>

<file path=ppt/slides/_rels/slide2.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hyperlink" Target="https://claude.com/ja-jp/blog/how-anthropic-teams-use-claude-code" TargetMode="External"/><Relationship Id="rId3" Type="http://schemas.openxmlformats.org/officeDocument/2006/relationships/image" Target="../media/image3.png"/><Relationship Id="rId7" Type="http://schemas.openxmlformats.org/officeDocument/2006/relationships/image" Target="../media/image11.png"/><Relationship Id="rId12" Type="http://schemas.openxmlformats.org/officeDocument/2006/relationships/hyperlink" Target="https://learn.microsoft.com/ja-jp/microsoft-365-copilot/extensibility/agents-overview" TargetMode="External"/><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6.png"/><Relationship Id="rId10" Type="http://schemas.openxmlformats.org/officeDocument/2006/relationships/image" Target="../media/image14.svg"/><Relationship Id="rId4" Type="http://schemas.openxmlformats.org/officeDocument/2006/relationships/hyperlink" Target="https://claude.ai/code" TargetMode="External"/><Relationship Id="rId9" Type="http://schemas.openxmlformats.org/officeDocument/2006/relationships/image" Target="../media/image13.png"/></Relationships>
</file>

<file path=ppt/slides/_rels/slide3.xml.rels><?xml version="1.0" encoding="UTF-8" standalone="yes"?>
<Relationships xmlns="http://schemas.openxmlformats.org/package/2006/relationships"><Relationship Id="rId3" Type="http://schemas.openxmlformats.org/officeDocument/2006/relationships/hyperlink" Target="https://note.com/hhu/n/n92c9c7c65722" TargetMode="External"/><Relationship Id="rId2" Type="http://schemas.openxmlformats.org/officeDocument/2006/relationships/hyperlink" Target="https://note.com/napps/n/na65725437971" TargetMode="External"/><Relationship Id="rId1" Type="http://schemas.openxmlformats.org/officeDocument/2006/relationships/slideLayout" Target="../slideLayouts/slideLayout1.xml"/><Relationship Id="rId4" Type="http://schemas.openxmlformats.org/officeDocument/2006/relationships/hyperlink" Target="https://docodoor.co.jp/staffblog/claudecode_for_marketing/"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qiita.com/hirokidaichi/items/243bd176b84900f4cc0d" TargetMode="External"/><Relationship Id="rId7" Type="http://schemas.openxmlformats.org/officeDocument/2006/relationships/hyperlink" Target="https://group.gmo/news/article/9794/" TargetMode="External"/><Relationship Id="rId2" Type="http://schemas.openxmlformats.org/officeDocument/2006/relationships/hyperlink" Target="https://note.com/electrical_cat/n/n672a533b2004" TargetMode="External"/><Relationship Id="rId1" Type="http://schemas.openxmlformats.org/officeDocument/2006/relationships/slideLayout" Target="../slideLayouts/slideLayout1.xml"/><Relationship Id="rId6" Type="http://schemas.openxmlformats.org/officeDocument/2006/relationships/hyperlink" Target="https://zenn.dev/readyfor_blog/articles/a1cfd81a562e07" TargetMode="External"/><Relationship Id="rId5" Type="http://schemas.openxmlformats.org/officeDocument/2006/relationships/hyperlink" Target="https://www.itmedia.co.jp/news/articles/2509/29/news074.html" TargetMode="External"/><Relationship Id="rId4" Type="http://schemas.openxmlformats.org/officeDocument/2006/relationships/hyperlink" Target="https://docs.google.com/spreadsheets/d/1HW0ipoNLYD6LqbqDnfeZE8sy_PlUue-hq1B47NuwIvQ/edit?gid=0#gid=0" TargetMode="External"/></Relationships>
</file>

<file path=ppt/slides/_rels/slide5.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hyperlink" Target="https://www.bloomberg.com/news/articles/2025-06-10/accenture-trains-500-000-staffers-for-boom-in-ai-consulting-work" TargetMode="External"/><Relationship Id="rId7" Type="http://schemas.openxmlformats.org/officeDocument/2006/relationships/hyperlink" Target="https://www.nttdata.com/global/ja/news/topics/2025/090502/" TargetMode="External"/><Relationship Id="rId2" Type="http://schemas.openxmlformats.org/officeDocument/2006/relationships/hyperlink" Target="https://www.trans-cosmos.co.jp/ir/library/pdf/2025/pre250430.pdf" TargetMode="External"/><Relationship Id="rId1" Type="http://schemas.openxmlformats.org/officeDocument/2006/relationships/slideLayout" Target="../slideLayouts/slideLayout1.xml"/><Relationship Id="rId6" Type="http://schemas.openxmlformats.org/officeDocument/2006/relationships/hyperlink" Target="https://www.solution.bell24.co.jp/ja/solution/crm_consulting/publicsectorbpo/ai_bpo/" TargetMode="External"/><Relationship Id="rId5" Type="http://schemas.openxmlformats.org/officeDocument/2006/relationships/hyperlink" Target="https://www.trans-cosmos.co.jp/company/news/240808_0001.html" TargetMode="External"/><Relationship Id="rId4" Type="http://schemas.openxmlformats.org/officeDocument/2006/relationships/hyperlink" Target="https://newsroom.accenture.jp/jp/news/2025/release-20251217"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hyperlink" Target="https://blog.lai.so/openclaw/" TargetMode="External"/><Relationship Id="rId7" Type="http://schemas.openxmlformats.org/officeDocument/2006/relationships/image" Target="../media/image19.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hyperlink" Target="https://www.techno-edge.net/article/2026/02/16/4867.html" TargetMode="External"/><Relationship Id="rId5" Type="http://schemas.openxmlformats.org/officeDocument/2006/relationships/image" Target="../media/image17.png"/><Relationship Id="rId10" Type="http://schemas.openxmlformats.org/officeDocument/2006/relationships/image" Target="../media/image21.jpg"/><Relationship Id="rId4" Type="http://schemas.openxmlformats.org/officeDocument/2006/relationships/hyperlink" Target="https://www.cnbc.com/2026/02/15/openclaw-creator-peter-steinberger-joining-openai-altman-says.html" TargetMode="External"/><Relationship Id="rId9" Type="http://schemas.openxmlformats.org/officeDocument/2006/relationships/hyperlink" Target="https://x.com/AlicanKiraz0/status/2025277145589617139"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吹き出し: 四角形 39">
            <a:extLst>
              <a:ext uri="{FF2B5EF4-FFF2-40B4-BE49-F238E27FC236}">
                <a16:creationId xmlns:a16="http://schemas.microsoft.com/office/drawing/2014/main" id="{8F283454-163A-BAFC-BB97-2206CC9B1514}"/>
              </a:ext>
            </a:extLst>
          </p:cNvPr>
          <p:cNvSpPr/>
          <p:nvPr/>
        </p:nvSpPr>
        <p:spPr>
          <a:xfrm>
            <a:off x="3880123" y="6188530"/>
            <a:ext cx="8080435" cy="618819"/>
          </a:xfrm>
          <a:prstGeom prst="wedgeRectCallout">
            <a:avLst>
              <a:gd name="adj1" fmla="val -42182"/>
              <a:gd name="adj2" fmla="val -118727"/>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a:solidFill>
                  <a:schemeClr val="tx1"/>
                </a:solidFill>
                <a:latin typeface="メイリオ" panose="020B0604030504040204" pitchFamily="50" charset="-128"/>
                <a:ea typeface="メイリオ" panose="020B0604030504040204" pitchFamily="50" charset="-128"/>
              </a:rPr>
              <a:t>MCP</a:t>
            </a:r>
            <a:r>
              <a:rPr kumimoji="1" lang="ja-JP" altLang="en-US" sz="1400">
                <a:solidFill>
                  <a:schemeClr val="tx1"/>
                </a:solidFill>
                <a:latin typeface="メイリオ" panose="020B0604030504040204" pitchFamily="50" charset="-128"/>
                <a:ea typeface="メイリオ" panose="020B0604030504040204" pitchFamily="50" charset="-128"/>
              </a:rPr>
              <a:t>：</a:t>
            </a:r>
            <a:r>
              <a:rPr kumimoji="1" lang="en-US" altLang="ja-JP" sz="1400">
                <a:solidFill>
                  <a:schemeClr val="tx1"/>
                </a:solidFill>
                <a:latin typeface="メイリオ" panose="020B0604030504040204" pitchFamily="50" charset="-128"/>
                <a:ea typeface="メイリオ" panose="020B0604030504040204" pitchFamily="50" charset="-128"/>
              </a:rPr>
              <a:t>AI</a:t>
            </a:r>
            <a:r>
              <a:rPr kumimoji="1" lang="ja-JP" altLang="en-US" sz="1400">
                <a:solidFill>
                  <a:schemeClr val="tx1"/>
                </a:solidFill>
                <a:latin typeface="メイリオ" panose="020B0604030504040204" pitchFamily="50" charset="-128"/>
                <a:ea typeface="メイリオ" panose="020B0604030504040204" pitchFamily="50" charset="-128"/>
              </a:rPr>
              <a:t>と外部ツールの接続規格。</a:t>
            </a:r>
            <a:r>
              <a:rPr kumimoji="1" lang="en-US" altLang="ja-JP" sz="1400">
                <a:solidFill>
                  <a:schemeClr val="tx1"/>
                </a:solidFill>
                <a:latin typeface="メイリオ" panose="020B0604030504040204" pitchFamily="50" charset="-128"/>
                <a:ea typeface="メイリオ" panose="020B0604030504040204" pitchFamily="50" charset="-128"/>
              </a:rPr>
              <a:t>OpenAI</a:t>
            </a:r>
            <a:r>
              <a:rPr kumimoji="1" lang="ja-JP" altLang="en-US" sz="1400">
                <a:solidFill>
                  <a:schemeClr val="tx1"/>
                </a:solidFill>
                <a:latin typeface="メイリオ" panose="020B0604030504040204" pitchFamily="50" charset="-128"/>
                <a:ea typeface="メイリオ" panose="020B0604030504040204" pitchFamily="50" charset="-128"/>
              </a:rPr>
              <a:t>・</a:t>
            </a:r>
            <a:r>
              <a:rPr kumimoji="1" lang="en-US" altLang="ja-JP" sz="1400">
                <a:solidFill>
                  <a:schemeClr val="tx1"/>
                </a:solidFill>
                <a:latin typeface="メイリオ" panose="020B0604030504040204" pitchFamily="50" charset="-128"/>
                <a:ea typeface="メイリオ" panose="020B0604030504040204" pitchFamily="50" charset="-128"/>
              </a:rPr>
              <a:t>Google</a:t>
            </a:r>
            <a:r>
              <a:rPr kumimoji="1" lang="ja-JP" altLang="en-US" sz="1400">
                <a:solidFill>
                  <a:schemeClr val="tx1"/>
                </a:solidFill>
                <a:latin typeface="メイリオ" panose="020B0604030504040204" pitchFamily="50" charset="-128"/>
                <a:ea typeface="メイリオ" panose="020B0604030504040204" pitchFamily="50" charset="-128"/>
              </a:rPr>
              <a:t>・</a:t>
            </a:r>
            <a:r>
              <a:rPr kumimoji="1" lang="en-US" altLang="ja-JP" sz="1400">
                <a:solidFill>
                  <a:schemeClr val="tx1"/>
                </a:solidFill>
                <a:latin typeface="メイリオ" panose="020B0604030504040204" pitchFamily="50" charset="-128"/>
                <a:ea typeface="メイリオ" panose="020B0604030504040204" pitchFamily="50" charset="-128"/>
              </a:rPr>
              <a:t>Microsoft</a:t>
            </a:r>
            <a:r>
              <a:rPr kumimoji="1" lang="ja-JP" altLang="en-US" sz="1400">
                <a:solidFill>
                  <a:schemeClr val="tx1"/>
                </a:solidFill>
                <a:latin typeface="メイリオ" panose="020B0604030504040204" pitchFamily="50" charset="-128"/>
                <a:ea typeface="メイリオ" panose="020B0604030504040204" pitchFamily="50" charset="-128"/>
              </a:rPr>
              <a:t>も</a:t>
            </a:r>
            <a:r>
              <a:rPr kumimoji="1" lang="en-US" altLang="ja-JP" sz="1400">
                <a:solidFill>
                  <a:schemeClr val="tx1"/>
                </a:solidFill>
                <a:latin typeface="メイリオ" panose="020B0604030504040204" pitchFamily="50" charset="-128"/>
                <a:ea typeface="メイリオ" panose="020B0604030504040204" pitchFamily="50" charset="-128"/>
              </a:rPr>
              <a:t>MCP</a:t>
            </a:r>
            <a:r>
              <a:rPr kumimoji="1" lang="ja-JP" altLang="en-US" sz="1400">
                <a:solidFill>
                  <a:schemeClr val="tx1"/>
                </a:solidFill>
                <a:latin typeface="メイリオ" panose="020B0604030504040204" pitchFamily="50" charset="-128"/>
                <a:ea typeface="メイリオ" panose="020B0604030504040204" pitchFamily="50" charset="-128"/>
              </a:rPr>
              <a:t>を採用。</a:t>
            </a:r>
            <a:endParaRPr kumimoji="1" lang="en-US" altLang="ja-JP" sz="1400">
              <a:solidFill>
                <a:schemeClr val="tx1"/>
              </a:solidFill>
              <a:latin typeface="メイリオ" panose="020B0604030504040204" pitchFamily="50" charset="-128"/>
              <a:ea typeface="メイリオ" panose="020B0604030504040204" pitchFamily="50" charset="-128"/>
            </a:endParaRPr>
          </a:p>
          <a:p>
            <a:r>
              <a:rPr kumimoji="1" lang="en-US" altLang="ja-JP" sz="1400">
                <a:solidFill>
                  <a:schemeClr val="tx1"/>
                </a:solidFill>
                <a:latin typeface="メイリオ" panose="020B0604030504040204" pitchFamily="50" charset="-128"/>
                <a:ea typeface="メイリオ" panose="020B0604030504040204" pitchFamily="50" charset="-128"/>
                <a:hlinkClick r:id="rId2"/>
              </a:rPr>
              <a:t>2025</a:t>
            </a:r>
            <a:r>
              <a:rPr kumimoji="1" lang="ja-JP" altLang="en-US" sz="1400">
                <a:solidFill>
                  <a:schemeClr val="tx1"/>
                </a:solidFill>
                <a:latin typeface="メイリオ" panose="020B0604030504040204" pitchFamily="50" charset="-128"/>
                <a:ea typeface="メイリオ" panose="020B0604030504040204" pitchFamily="50" charset="-128"/>
                <a:hlinkClick r:id="rId2"/>
              </a:rPr>
              <a:t>年</a:t>
            </a:r>
            <a:r>
              <a:rPr kumimoji="1" lang="en-US" altLang="ja-JP" sz="1400">
                <a:solidFill>
                  <a:schemeClr val="tx1"/>
                </a:solidFill>
                <a:latin typeface="メイリオ" panose="020B0604030504040204" pitchFamily="50" charset="-128"/>
                <a:ea typeface="メイリオ" panose="020B0604030504040204" pitchFamily="50" charset="-128"/>
                <a:hlinkClick r:id="rId2"/>
              </a:rPr>
              <a:t>12</a:t>
            </a:r>
            <a:r>
              <a:rPr kumimoji="1" lang="ja-JP" altLang="en-US" sz="1400">
                <a:solidFill>
                  <a:schemeClr val="tx1"/>
                </a:solidFill>
                <a:latin typeface="メイリオ" panose="020B0604030504040204" pitchFamily="50" charset="-128"/>
                <a:ea typeface="メイリオ" panose="020B0604030504040204" pitchFamily="50" charset="-128"/>
                <a:hlinkClick r:id="rId2"/>
              </a:rPr>
              <a:t>月に</a:t>
            </a:r>
            <a:r>
              <a:rPr kumimoji="1" lang="en-US" altLang="ja-JP" sz="1400">
                <a:solidFill>
                  <a:schemeClr val="tx1"/>
                </a:solidFill>
                <a:latin typeface="メイリオ" panose="020B0604030504040204" pitchFamily="50" charset="-128"/>
                <a:ea typeface="メイリオ" panose="020B0604030504040204" pitchFamily="50" charset="-128"/>
                <a:hlinkClick r:id="rId2"/>
              </a:rPr>
              <a:t>Linux Foundation</a:t>
            </a:r>
            <a:r>
              <a:rPr kumimoji="1" lang="ja-JP" altLang="en-US" sz="1400">
                <a:solidFill>
                  <a:schemeClr val="tx1"/>
                </a:solidFill>
                <a:latin typeface="メイリオ" panose="020B0604030504040204" pitchFamily="50" charset="-128"/>
                <a:ea typeface="メイリオ" panose="020B0604030504040204" pitchFamily="50" charset="-128"/>
                <a:hlinkClick r:id="rId2"/>
              </a:rPr>
              <a:t>傘下で業界標準化。</a:t>
            </a:r>
            <a:r>
              <a:rPr kumimoji="1" lang="ja-JP" altLang="en-US" sz="1400">
                <a:solidFill>
                  <a:schemeClr val="tx1"/>
                </a:solidFill>
                <a:latin typeface="メイリオ" panose="020B0604030504040204" pitchFamily="50" charset="-128"/>
                <a:ea typeface="メイリオ" panose="020B0604030504040204" pitchFamily="50" charset="-128"/>
              </a:rPr>
              <a:t>特定のベンダーに依存しないエコシステムへ。</a:t>
            </a:r>
          </a:p>
        </p:txBody>
      </p:sp>
      <p:sp>
        <p:nvSpPr>
          <p:cNvPr id="4" name="テキスト ボックス 3">
            <a:extLst>
              <a:ext uri="{FF2B5EF4-FFF2-40B4-BE49-F238E27FC236}">
                <a16:creationId xmlns:a16="http://schemas.microsoft.com/office/drawing/2014/main" id="{2D2EA754-A7B6-56E0-51E1-F086413075F2}"/>
              </a:ext>
            </a:extLst>
          </p:cNvPr>
          <p:cNvSpPr txBox="1"/>
          <p:nvPr/>
        </p:nvSpPr>
        <p:spPr>
          <a:xfrm>
            <a:off x="443466" y="317212"/>
            <a:ext cx="11215133" cy="584775"/>
          </a:xfrm>
          <a:prstGeom prst="rect">
            <a:avLst/>
          </a:prstGeom>
          <a:noFill/>
        </p:spPr>
        <p:txBody>
          <a:bodyPr wrap="square" rtlCol="0">
            <a:spAutoFit/>
          </a:bodyPr>
          <a:lstStyle/>
          <a:p>
            <a:r>
              <a:rPr kumimoji="1" lang="en-US" altLang="ja-JP" sz="3200" b="1">
                <a:latin typeface="メイリオ" panose="020B0604030504040204" pitchFamily="50" charset="-128"/>
                <a:ea typeface="メイリオ" panose="020B0604030504040204" pitchFamily="50" charset="-128"/>
              </a:rPr>
              <a:t>Anthropic</a:t>
            </a:r>
            <a:r>
              <a:rPr kumimoji="1" lang="ja-JP" altLang="en-US" sz="3200" b="1">
                <a:latin typeface="メイリオ" panose="020B0604030504040204" pitchFamily="50" charset="-128"/>
                <a:ea typeface="メイリオ" panose="020B0604030504040204" pitchFamily="50" charset="-128"/>
              </a:rPr>
              <a:t>社 </a:t>
            </a:r>
            <a:r>
              <a:rPr kumimoji="1" lang="en-US" altLang="ja-JP" sz="3200" b="1">
                <a:latin typeface="メイリオ" panose="020B0604030504040204" pitchFamily="50" charset="-128"/>
                <a:ea typeface="メイリオ" panose="020B0604030504040204" pitchFamily="50" charset="-128"/>
              </a:rPr>
              <a:t>Claude</a:t>
            </a:r>
            <a:r>
              <a:rPr kumimoji="1" lang="ja-JP" altLang="en-US" sz="3200" b="1">
                <a:latin typeface="メイリオ" panose="020B0604030504040204" pitchFamily="50" charset="-128"/>
                <a:ea typeface="メイリオ" panose="020B0604030504040204" pitchFamily="50" charset="-128"/>
              </a:rPr>
              <a:t>の紹介</a:t>
            </a:r>
          </a:p>
        </p:txBody>
      </p:sp>
      <p:sp>
        <p:nvSpPr>
          <p:cNvPr id="5" name="テキスト ボックス 4">
            <a:extLst>
              <a:ext uri="{FF2B5EF4-FFF2-40B4-BE49-F238E27FC236}">
                <a16:creationId xmlns:a16="http://schemas.microsoft.com/office/drawing/2014/main" id="{0C24D339-67BE-A12E-26F8-8836C35F8414}"/>
              </a:ext>
            </a:extLst>
          </p:cNvPr>
          <p:cNvSpPr txBox="1"/>
          <p:nvPr/>
        </p:nvSpPr>
        <p:spPr>
          <a:xfrm>
            <a:off x="443465" y="901987"/>
            <a:ext cx="11215133" cy="1034899"/>
          </a:xfrm>
          <a:prstGeom prst="rect">
            <a:avLst/>
          </a:prstGeom>
          <a:noFill/>
        </p:spPr>
        <p:txBody>
          <a:bodyPr wrap="square" rtlCol="0">
            <a:spAutoFit/>
          </a:bodyPr>
          <a:lstStyle/>
          <a:p>
            <a:pPr>
              <a:lnSpc>
                <a:spcPct val="150000"/>
              </a:lnSpc>
            </a:pPr>
            <a:r>
              <a:rPr lang="en-US" altLang="ja-JP" sz="1400" b="1">
                <a:latin typeface="メイリオ" panose="020B0604030504040204" pitchFamily="50" charset="-128"/>
                <a:ea typeface="メイリオ" panose="020B0604030504040204" pitchFamily="50" charset="-128"/>
              </a:rPr>
              <a:t>Anthropic</a:t>
            </a:r>
            <a:r>
              <a:rPr kumimoji="1" lang="ja-JP" altLang="en-US" sz="1400">
                <a:latin typeface="メイリオ" panose="020B0604030504040204" pitchFamily="50" charset="-128"/>
                <a:ea typeface="メイリオ" panose="020B0604030504040204" pitchFamily="50" charset="-128"/>
              </a:rPr>
              <a:t>：</a:t>
            </a:r>
            <a:r>
              <a:rPr kumimoji="1" lang="en-US" altLang="ja-JP" sz="1400">
                <a:latin typeface="メイリオ" panose="020B0604030504040204" pitchFamily="50" charset="-128"/>
                <a:ea typeface="メイリオ" panose="020B0604030504040204" pitchFamily="50" charset="-128"/>
              </a:rPr>
              <a:t>ChatGPT</a:t>
            </a:r>
            <a:r>
              <a:rPr kumimoji="1" lang="ja-JP" altLang="en-US" sz="1400">
                <a:latin typeface="メイリオ" panose="020B0604030504040204" pitchFamily="50" charset="-128"/>
                <a:ea typeface="メイリオ" panose="020B0604030504040204" pitchFamily="50" charset="-128"/>
              </a:rPr>
              <a:t>を作っている</a:t>
            </a:r>
            <a:r>
              <a:rPr kumimoji="1" lang="en-US" altLang="ja-JP" sz="1400">
                <a:latin typeface="メイリオ" panose="020B0604030504040204" pitchFamily="50" charset="-128"/>
                <a:ea typeface="メイリオ" panose="020B0604030504040204" pitchFamily="50" charset="-128"/>
              </a:rPr>
              <a:t>OpenAI</a:t>
            </a:r>
            <a:r>
              <a:rPr kumimoji="1" lang="ja-JP" altLang="en-US" sz="1400">
                <a:latin typeface="メイリオ" panose="020B0604030504040204" pitchFamily="50" charset="-128"/>
                <a:ea typeface="メイリオ" panose="020B0604030504040204" pitchFamily="50" charset="-128"/>
              </a:rPr>
              <a:t>社の競合で、</a:t>
            </a:r>
            <a:r>
              <a:rPr kumimoji="1" lang="en-US" altLang="ja-JP" sz="1400">
                <a:latin typeface="メイリオ" panose="020B0604030504040204" pitchFamily="50" charset="-128"/>
                <a:ea typeface="メイリオ" panose="020B0604030504040204" pitchFamily="50" charset="-128"/>
              </a:rPr>
              <a:t>OpenAI</a:t>
            </a:r>
            <a:r>
              <a:rPr kumimoji="1" lang="ja-JP" altLang="en-US" sz="1400">
                <a:latin typeface="メイリオ" panose="020B0604030504040204" pitchFamily="50" charset="-128"/>
                <a:ea typeface="メイリオ" panose="020B0604030504040204" pitchFamily="50" charset="-128"/>
              </a:rPr>
              <a:t>出身者が設立した</a:t>
            </a:r>
            <a:r>
              <a:rPr kumimoji="1" lang="en-US" altLang="ja-JP" sz="1400">
                <a:latin typeface="メイリオ" panose="020B0604030504040204" pitchFamily="50" charset="-128"/>
                <a:ea typeface="メイリオ" panose="020B0604030504040204" pitchFamily="50" charset="-128"/>
              </a:rPr>
              <a:t>AI</a:t>
            </a:r>
            <a:r>
              <a:rPr kumimoji="1" lang="ja-JP" altLang="en-US" sz="1400">
                <a:latin typeface="メイリオ" panose="020B0604030504040204" pitchFamily="50" charset="-128"/>
                <a:ea typeface="メイリオ" panose="020B0604030504040204" pitchFamily="50" charset="-128"/>
              </a:rPr>
              <a:t>企業。</a:t>
            </a:r>
            <a:r>
              <a:rPr kumimoji="1" lang="en-US" altLang="ja-JP" sz="1400">
                <a:latin typeface="メイリオ" panose="020B0604030504040204" pitchFamily="50" charset="-128"/>
                <a:ea typeface="メイリオ" panose="020B0604030504040204" pitchFamily="50" charset="-128"/>
              </a:rPr>
              <a:t>MCP</a:t>
            </a:r>
            <a:r>
              <a:rPr kumimoji="1" lang="ja-JP" altLang="en-US" sz="1400">
                <a:latin typeface="メイリオ" panose="020B0604030504040204" pitchFamily="50" charset="-128"/>
                <a:ea typeface="メイリオ" panose="020B0604030504040204" pitchFamily="50" charset="-128"/>
              </a:rPr>
              <a:t>や</a:t>
            </a:r>
            <a:r>
              <a:rPr kumimoji="1" lang="en-US" altLang="ja-JP" sz="1400">
                <a:latin typeface="メイリオ" panose="020B0604030504040204" pitchFamily="50" charset="-128"/>
                <a:ea typeface="メイリオ" panose="020B0604030504040204" pitchFamily="50" charset="-128"/>
              </a:rPr>
              <a:t>Skills</a:t>
            </a:r>
            <a:r>
              <a:rPr kumimoji="1" lang="ja-JP" altLang="en-US" sz="1400">
                <a:latin typeface="メイリオ" panose="020B0604030504040204" pitchFamily="50" charset="-128"/>
                <a:ea typeface="メイリオ" panose="020B0604030504040204" pitchFamily="50" charset="-128"/>
              </a:rPr>
              <a:t>など、</a:t>
            </a:r>
            <a:r>
              <a:rPr kumimoji="1" lang="ja-JP" altLang="en-US" sz="1400" b="1">
                <a:latin typeface="メイリオ" panose="020B0604030504040204" pitchFamily="50" charset="-128"/>
                <a:ea typeface="メイリオ" panose="020B0604030504040204" pitchFamily="50" charset="-128"/>
              </a:rPr>
              <a:t>業界全体が採用する「規格を作る側」</a:t>
            </a:r>
            <a:r>
              <a:rPr kumimoji="1" lang="ja-JP" altLang="en-US" sz="1400">
                <a:latin typeface="メイリオ" panose="020B0604030504040204" pitchFamily="50" charset="-128"/>
                <a:ea typeface="メイリオ" panose="020B0604030504040204" pitchFamily="50" charset="-128"/>
              </a:rPr>
              <a:t>になっている企業。</a:t>
            </a:r>
            <a:r>
              <a:rPr kumimoji="1" lang="en-US" altLang="ja-JP" sz="1400">
                <a:latin typeface="メイリオ" panose="020B0604030504040204" pitchFamily="50" charset="-128"/>
                <a:ea typeface="メイリオ" panose="020B0604030504040204" pitchFamily="50" charset="-128"/>
              </a:rPr>
              <a:t>Claude Code</a:t>
            </a:r>
            <a:r>
              <a:rPr kumimoji="1" lang="ja-JP" altLang="en-US" sz="1400">
                <a:latin typeface="メイリオ" panose="020B0604030504040204" pitchFamily="50" charset="-128"/>
                <a:ea typeface="メイリオ" panose="020B0604030504040204" pitchFamily="50" charset="-128"/>
              </a:rPr>
              <a:t>や</a:t>
            </a:r>
            <a:r>
              <a:rPr kumimoji="1" lang="en-US" altLang="ja-JP" sz="1400">
                <a:latin typeface="メイリオ" panose="020B0604030504040204" pitchFamily="50" charset="-128"/>
                <a:ea typeface="メイリオ" panose="020B0604030504040204" pitchFamily="50" charset="-128"/>
              </a:rPr>
              <a:t>Claude in Chrome</a:t>
            </a:r>
            <a:r>
              <a:rPr kumimoji="1" lang="ja-JP" altLang="en-US" sz="1400">
                <a:latin typeface="メイリオ" panose="020B0604030504040204" pitchFamily="50" charset="-128"/>
                <a:ea typeface="メイリオ" panose="020B0604030504040204" pitchFamily="50" charset="-128"/>
              </a:rPr>
              <a:t>、</a:t>
            </a:r>
            <a:r>
              <a:rPr kumimoji="1" lang="en-US" altLang="ja-JP" sz="1400">
                <a:latin typeface="メイリオ" panose="020B0604030504040204" pitchFamily="50" charset="-128"/>
                <a:ea typeface="メイリオ" panose="020B0604030504040204" pitchFamily="50" charset="-128"/>
              </a:rPr>
              <a:t>Skills</a:t>
            </a:r>
            <a:r>
              <a:rPr kumimoji="1" lang="ja-JP" altLang="en-US" sz="1400">
                <a:latin typeface="メイリオ" panose="020B0604030504040204" pitchFamily="50" charset="-128"/>
                <a:ea typeface="メイリオ" panose="020B0604030504040204" pitchFamily="50" charset="-128"/>
              </a:rPr>
              <a:t>など、</a:t>
            </a:r>
            <a:r>
              <a:rPr kumimoji="1" lang="en-US" altLang="ja-JP" sz="1400" b="1">
                <a:latin typeface="メイリオ" panose="020B0604030504040204" pitchFamily="50" charset="-128"/>
                <a:ea typeface="メイリオ" panose="020B0604030504040204" pitchFamily="50" charset="-128"/>
              </a:rPr>
              <a:t>BPO</a:t>
            </a:r>
            <a:r>
              <a:rPr kumimoji="1" lang="ja-JP" altLang="en-US" sz="1400" b="1">
                <a:latin typeface="メイリオ" panose="020B0604030504040204" pitchFamily="50" charset="-128"/>
                <a:ea typeface="メイリオ" panose="020B0604030504040204" pitchFamily="50" charset="-128"/>
              </a:rPr>
              <a:t>の実務でも使える</a:t>
            </a:r>
            <a:r>
              <a:rPr kumimoji="1" lang="ja-JP" altLang="en-US" sz="1400">
                <a:latin typeface="メイリオ" panose="020B0604030504040204" pitchFamily="50" charset="-128"/>
                <a:ea typeface="メイリオ" panose="020B0604030504040204" pitchFamily="50" charset="-128"/>
              </a:rPr>
              <a:t>武器を複数生み出している。</a:t>
            </a:r>
            <a:endParaRPr kumimoji="1" lang="en-US" altLang="ja-JP" sz="1400">
              <a:latin typeface="メイリオ" panose="020B0604030504040204" pitchFamily="50" charset="-128"/>
              <a:ea typeface="メイリオ" panose="020B0604030504040204" pitchFamily="50" charset="-128"/>
            </a:endParaRPr>
          </a:p>
          <a:p>
            <a:pPr>
              <a:lnSpc>
                <a:spcPct val="150000"/>
              </a:lnSpc>
            </a:pPr>
            <a:r>
              <a:rPr kumimoji="1" lang="ja-JP" altLang="en-US" sz="1400">
                <a:latin typeface="メイリオ" panose="020B0604030504040204" pitchFamily="50" charset="-128"/>
                <a:ea typeface="メイリオ" panose="020B0604030504040204" pitchFamily="50" charset="-128"/>
                <a:hlinkClick r:id="rId3"/>
              </a:rPr>
              <a:t>国内でもテック企業やスタートアップで利用する企業が出始め、先行企業は成果を出し始めている。</a:t>
            </a:r>
            <a:endParaRPr kumimoji="1" lang="en-US" altLang="ja-JP" sz="1400">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C3693C1E-64EA-F9BC-1D06-12C224CF3E19}"/>
              </a:ext>
            </a:extLst>
          </p:cNvPr>
          <p:cNvSpPr/>
          <p:nvPr/>
        </p:nvSpPr>
        <p:spPr>
          <a:xfrm>
            <a:off x="231441" y="2186027"/>
            <a:ext cx="3512310"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solidFill>
                  <a:schemeClr val="tx1">
                    <a:lumMod val="85000"/>
                    <a:lumOff val="15000"/>
                  </a:schemeClr>
                </a:solidFill>
                <a:latin typeface="メイリオ" panose="020B0604030504040204" pitchFamily="50" charset="-128"/>
                <a:ea typeface="メイリオ" panose="020B0604030504040204" pitchFamily="50" charset="-128"/>
              </a:rPr>
              <a:t>Anthropic</a:t>
            </a:r>
            <a:r>
              <a:rPr kumimoji="1" lang="ja-JP" altLang="en-US" b="1">
                <a:solidFill>
                  <a:schemeClr val="tx1">
                    <a:lumMod val="85000"/>
                    <a:lumOff val="15000"/>
                  </a:schemeClr>
                </a:solidFill>
                <a:latin typeface="メイリオ" panose="020B0604030504040204" pitchFamily="50" charset="-128"/>
                <a:ea typeface="メイリオ" panose="020B0604030504040204" pitchFamily="50" charset="-128"/>
              </a:rPr>
              <a:t>の位置づけ</a:t>
            </a:r>
          </a:p>
        </p:txBody>
      </p:sp>
      <p:graphicFrame>
        <p:nvGraphicFramePr>
          <p:cNvPr id="7" name="表 6">
            <a:extLst>
              <a:ext uri="{FF2B5EF4-FFF2-40B4-BE49-F238E27FC236}">
                <a16:creationId xmlns:a16="http://schemas.microsoft.com/office/drawing/2014/main" id="{8F2CB9DD-98C8-2DCA-2E08-E79602F4D7B8}"/>
              </a:ext>
            </a:extLst>
          </p:cNvPr>
          <p:cNvGraphicFramePr>
            <a:graphicFrameLocks noGrp="1"/>
          </p:cNvGraphicFramePr>
          <p:nvPr>
            <p:extLst>
              <p:ext uri="{D42A27DB-BD31-4B8C-83A1-F6EECF244321}">
                <p14:modId xmlns:p14="http://schemas.microsoft.com/office/powerpoint/2010/main" val="787416970"/>
              </p:ext>
            </p:extLst>
          </p:nvPr>
        </p:nvGraphicFramePr>
        <p:xfrm>
          <a:off x="231441" y="2722404"/>
          <a:ext cx="3512310" cy="2473960"/>
        </p:xfrm>
        <a:graphic>
          <a:graphicData uri="http://schemas.openxmlformats.org/drawingml/2006/table">
            <a:tbl>
              <a:tblPr firstRow="1" bandRow="1">
                <a:tableStyleId>{5C22544A-7EE6-4342-B048-85BDC9FD1C3A}</a:tableStyleId>
              </a:tblPr>
              <a:tblGrid>
                <a:gridCol w="655109">
                  <a:extLst>
                    <a:ext uri="{9D8B030D-6E8A-4147-A177-3AD203B41FA5}">
                      <a16:colId xmlns:a16="http://schemas.microsoft.com/office/drawing/2014/main" val="1714558132"/>
                    </a:ext>
                  </a:extLst>
                </a:gridCol>
                <a:gridCol w="1030240">
                  <a:extLst>
                    <a:ext uri="{9D8B030D-6E8A-4147-A177-3AD203B41FA5}">
                      <a16:colId xmlns:a16="http://schemas.microsoft.com/office/drawing/2014/main" val="480840800"/>
                    </a:ext>
                  </a:extLst>
                </a:gridCol>
                <a:gridCol w="1826961">
                  <a:extLst>
                    <a:ext uri="{9D8B030D-6E8A-4147-A177-3AD203B41FA5}">
                      <a16:colId xmlns:a16="http://schemas.microsoft.com/office/drawing/2014/main" val="1844808726"/>
                    </a:ext>
                  </a:extLst>
                </a:gridCol>
              </a:tblGrid>
              <a:tr h="370840">
                <a:tc>
                  <a:txBody>
                    <a:bodyPr/>
                    <a:lstStyle/>
                    <a:p>
                      <a:endParaRPr kumimoji="1" lang="ja-JP" altLang="en-US">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a:latin typeface="メイリオ" panose="020B0604030504040204" pitchFamily="50" charset="-128"/>
                          <a:ea typeface="メイリオ" panose="020B0604030504040204" pitchFamily="50" charset="-128"/>
                        </a:rPr>
                        <a:t>OpenAI</a:t>
                      </a:r>
                      <a:endParaRPr kumimoji="1" lang="ja-JP" altLang="en-US" sz="160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a:latin typeface="メイリオ" panose="020B0604030504040204" pitchFamily="50" charset="-128"/>
                          <a:ea typeface="メイリオ" panose="020B0604030504040204" pitchFamily="50" charset="-128"/>
                        </a:rPr>
                        <a:t>Anthropic</a:t>
                      </a:r>
                      <a:endParaRPr kumimoji="1" lang="ja-JP" altLang="en-US" sz="160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708897093"/>
                  </a:ext>
                </a:extLst>
              </a:tr>
              <a:tr h="370840">
                <a:tc>
                  <a:txBody>
                    <a:bodyPr/>
                    <a:lstStyle/>
                    <a:p>
                      <a:pPr algn="ctr"/>
                      <a:r>
                        <a:rPr kumimoji="1" lang="ja-JP" altLang="en-US" sz="1400">
                          <a:latin typeface="メイリオ" panose="020B0604030504040204" pitchFamily="50" charset="-128"/>
                          <a:ea typeface="メイリオ" panose="020B0604030504040204" pitchFamily="50" charset="-128"/>
                        </a:rPr>
                        <a:t>企業ポジション</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製品化の巨人</a:t>
                      </a:r>
                    </a:p>
                  </a:txBody>
                  <a:tcPr anchor="ctr"/>
                </a:tc>
                <a:tc>
                  <a:txBody>
                    <a:bodyPr/>
                    <a:lstStyle/>
                    <a:p>
                      <a:pPr algn="ctr"/>
                      <a:r>
                        <a:rPr lang="ja-JP" altLang="en-US" sz="1400">
                          <a:latin typeface="メイリオ" panose="020B0604030504040204" pitchFamily="50" charset="-128"/>
                          <a:ea typeface="メイリオ" panose="020B0604030504040204" pitchFamily="50" charset="-128"/>
                        </a:rPr>
                        <a:t>業界全体が採用する技術標準を生み出す</a:t>
                      </a:r>
                      <a:endParaRPr kumimoji="1"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915160650"/>
                  </a:ext>
                </a:extLst>
              </a:tr>
              <a:tr h="370840">
                <a:tc>
                  <a:txBody>
                    <a:bodyPr/>
                    <a:lstStyle/>
                    <a:p>
                      <a:pPr algn="ctr"/>
                      <a:r>
                        <a:rPr kumimoji="1" lang="ja-JP" altLang="en-US" sz="1400">
                          <a:latin typeface="メイリオ" panose="020B0604030504040204" pitchFamily="50" charset="-128"/>
                          <a:ea typeface="メイリオ" panose="020B0604030504040204" pitchFamily="50" charset="-128"/>
                        </a:rPr>
                        <a:t>特徴</a:t>
                      </a:r>
                    </a:p>
                  </a:txBody>
                  <a:tcPr anchor="ctr"/>
                </a:tc>
                <a:tc>
                  <a:txBody>
                    <a:bodyPr/>
                    <a:lstStyle/>
                    <a:p>
                      <a:pPr algn="ctr"/>
                      <a:r>
                        <a:rPr kumimoji="1" lang="en-US" altLang="ja-JP" sz="1400">
                          <a:latin typeface="メイリオ" panose="020B0604030504040204" pitchFamily="50" charset="-128"/>
                          <a:ea typeface="メイリオ" panose="020B0604030504040204" pitchFamily="50" charset="-128"/>
                        </a:rPr>
                        <a:t>ChatGPT</a:t>
                      </a:r>
                      <a:r>
                        <a:rPr kumimoji="1" lang="ja-JP" altLang="en-US" sz="1400">
                          <a:latin typeface="メイリオ" panose="020B0604030504040204" pitchFamily="50" charset="-128"/>
                          <a:ea typeface="メイリオ" panose="020B0604030504040204" pitchFamily="50" charset="-128"/>
                        </a:rPr>
                        <a:t>、</a:t>
                      </a:r>
                      <a:r>
                        <a:rPr kumimoji="1" lang="en-US" altLang="ja-JP" sz="1400">
                          <a:latin typeface="メイリオ" panose="020B0604030504040204" pitchFamily="50" charset="-128"/>
                          <a:ea typeface="メイリオ" panose="020B0604030504040204" pitchFamily="50" charset="-128"/>
                        </a:rPr>
                        <a:t>Sora</a:t>
                      </a:r>
                      <a:r>
                        <a:rPr kumimoji="1" lang="ja-JP" altLang="en-US" sz="1400">
                          <a:latin typeface="メイリオ" panose="020B0604030504040204" pitchFamily="50" charset="-128"/>
                          <a:ea typeface="メイリオ" panose="020B0604030504040204" pitchFamily="50" charset="-128"/>
                        </a:rPr>
                        <a:t>等で消費者市場を席巻</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業界全体が採用する技術標準を生み出す</a:t>
                      </a:r>
                      <a:endParaRPr kumimoji="1" lang="en-US" altLang="ja-JP" sz="1400">
                        <a:latin typeface="メイリオ" panose="020B0604030504040204" pitchFamily="50" charset="-128"/>
                        <a:ea typeface="メイリオ" panose="020B0604030504040204" pitchFamily="50" charset="-128"/>
                      </a:endParaRPr>
                    </a:p>
                    <a:p>
                      <a:pPr algn="ctr"/>
                      <a:r>
                        <a:rPr kumimoji="1" lang="en-US" altLang="ja-JP" sz="1400">
                          <a:latin typeface="メイリオ" panose="020B0604030504040204" pitchFamily="50" charset="-128"/>
                          <a:ea typeface="メイリオ" panose="020B0604030504040204" pitchFamily="50" charset="-128"/>
                        </a:rPr>
                        <a:t>M365 Copilot</a:t>
                      </a:r>
                      <a:r>
                        <a:rPr kumimoji="1" lang="ja-JP" altLang="en-US" sz="1400">
                          <a:latin typeface="メイリオ" panose="020B0604030504040204" pitchFamily="50" charset="-128"/>
                          <a:ea typeface="メイリオ" panose="020B0604030504040204" pitchFamily="50" charset="-128"/>
                        </a:rPr>
                        <a:t>も</a:t>
                      </a:r>
                      <a:r>
                        <a:rPr kumimoji="1" lang="en-US" altLang="ja-JP" sz="1400">
                          <a:latin typeface="メイリオ" panose="020B0604030504040204" pitchFamily="50" charset="-128"/>
                          <a:ea typeface="メイリオ" panose="020B0604030504040204" pitchFamily="50" charset="-128"/>
                        </a:rPr>
                        <a:t>Claude</a:t>
                      </a:r>
                      <a:r>
                        <a:rPr kumimoji="1" lang="ja-JP" altLang="en-US" sz="1400">
                          <a:latin typeface="メイリオ" panose="020B0604030504040204" pitchFamily="50" charset="-128"/>
                          <a:ea typeface="メイリオ" panose="020B0604030504040204" pitchFamily="50" charset="-128"/>
                        </a:rPr>
                        <a:t>を採用（マルチモデル化）</a:t>
                      </a:r>
                      <a:endParaRPr kumimoji="1" lang="en-US" altLang="ja-JP"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551060320"/>
                  </a:ext>
                </a:extLst>
              </a:tr>
            </a:tbl>
          </a:graphicData>
        </a:graphic>
      </p:graphicFrame>
      <p:sp>
        <p:nvSpPr>
          <p:cNvPr id="8" name="正方形/長方形 7">
            <a:extLst>
              <a:ext uri="{FF2B5EF4-FFF2-40B4-BE49-F238E27FC236}">
                <a16:creationId xmlns:a16="http://schemas.microsoft.com/office/drawing/2014/main" id="{4D38971F-DC5E-DCC5-44FA-459ECE6B67C4}"/>
              </a:ext>
            </a:extLst>
          </p:cNvPr>
          <p:cNvSpPr/>
          <p:nvPr/>
        </p:nvSpPr>
        <p:spPr>
          <a:xfrm>
            <a:off x="231442" y="5379019"/>
            <a:ext cx="3512309" cy="969199"/>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a:solidFill>
                  <a:schemeClr val="tx1">
                    <a:lumMod val="85000"/>
                    <a:lumOff val="15000"/>
                  </a:schemeClr>
                </a:solidFill>
                <a:latin typeface="メイリオ" panose="020B0604030504040204" pitchFamily="50" charset="-128"/>
                <a:ea typeface="メイリオ" panose="020B0604030504040204" pitchFamily="50" charset="-128"/>
              </a:rPr>
              <a:t>Microsoft</a:t>
            </a:r>
            <a:r>
              <a:rPr kumimoji="1" lang="ja-JP" altLang="en-US" sz="1400">
                <a:solidFill>
                  <a:schemeClr val="tx1">
                    <a:lumMod val="85000"/>
                    <a:lumOff val="15000"/>
                  </a:schemeClr>
                </a:solidFill>
                <a:latin typeface="メイリオ" panose="020B0604030504040204" pitchFamily="50" charset="-128"/>
                <a:ea typeface="メイリオ" panose="020B0604030504040204" pitchFamily="50" charset="-128"/>
              </a:rPr>
              <a:t>は</a:t>
            </a:r>
            <a:r>
              <a:rPr kumimoji="1" lang="en-US" altLang="ja-JP" sz="1400">
                <a:solidFill>
                  <a:schemeClr val="tx1">
                    <a:lumMod val="85000"/>
                    <a:lumOff val="15000"/>
                  </a:schemeClr>
                </a:solidFill>
                <a:latin typeface="メイリオ" panose="020B0604030504040204" pitchFamily="50" charset="-128"/>
                <a:ea typeface="メイリオ" panose="020B0604030504040204" pitchFamily="50" charset="-128"/>
              </a:rPr>
              <a:t>M365 Copilot</a:t>
            </a:r>
            <a:r>
              <a:rPr kumimoji="1" lang="ja-JP" altLang="en-US" sz="1400">
                <a:solidFill>
                  <a:schemeClr val="tx1">
                    <a:lumMod val="85000"/>
                    <a:lumOff val="15000"/>
                  </a:schemeClr>
                </a:solidFill>
                <a:latin typeface="メイリオ" panose="020B0604030504040204" pitchFamily="50" charset="-128"/>
                <a:ea typeface="メイリオ" panose="020B0604030504040204" pitchFamily="50" charset="-128"/>
              </a:rPr>
              <a:t>で</a:t>
            </a:r>
            <a:r>
              <a:rPr kumimoji="1" lang="en-US" altLang="ja-JP" sz="1400">
                <a:solidFill>
                  <a:schemeClr val="tx1">
                    <a:lumMod val="85000"/>
                    <a:lumOff val="15000"/>
                  </a:schemeClr>
                </a:solidFill>
                <a:latin typeface="メイリオ" panose="020B0604030504040204" pitchFamily="50" charset="-128"/>
                <a:ea typeface="メイリオ" panose="020B0604030504040204" pitchFamily="50" charset="-128"/>
              </a:rPr>
              <a:t>OpenAI</a:t>
            </a:r>
            <a:r>
              <a:rPr kumimoji="1" lang="ja-JP" altLang="en-US" sz="1400">
                <a:solidFill>
                  <a:schemeClr val="tx1">
                    <a:lumMod val="85000"/>
                    <a:lumOff val="15000"/>
                  </a:schemeClr>
                </a:solidFill>
                <a:latin typeface="メイリオ" panose="020B0604030504040204" pitchFamily="50" charset="-128"/>
                <a:ea typeface="メイリオ" panose="020B0604030504040204" pitchFamily="50" charset="-128"/>
              </a:rPr>
              <a:t>一本から方針転換。</a:t>
            </a:r>
            <a:r>
              <a:rPr kumimoji="1" lang="en-US" altLang="ja-JP" sz="1400">
                <a:solidFill>
                  <a:schemeClr val="tx1">
                    <a:lumMod val="85000"/>
                    <a:lumOff val="15000"/>
                  </a:schemeClr>
                </a:solidFill>
                <a:latin typeface="メイリオ" panose="020B0604030504040204" pitchFamily="50" charset="-128"/>
                <a:ea typeface="メイリオ" panose="020B0604030504040204" pitchFamily="50" charset="-128"/>
              </a:rPr>
              <a:t>Copilot Studio</a:t>
            </a:r>
            <a:r>
              <a:rPr kumimoji="1" lang="ja-JP" altLang="en-US" sz="1400">
                <a:solidFill>
                  <a:schemeClr val="tx1">
                    <a:lumMod val="85000"/>
                    <a:lumOff val="15000"/>
                  </a:schemeClr>
                </a:solidFill>
                <a:latin typeface="メイリオ" panose="020B0604030504040204" pitchFamily="50" charset="-128"/>
                <a:ea typeface="メイリオ" panose="020B0604030504040204" pitchFamily="50" charset="-128"/>
              </a:rPr>
              <a:t>や</a:t>
            </a:r>
            <a:r>
              <a:rPr kumimoji="1" lang="en-US" altLang="ja-JP" sz="1400">
                <a:solidFill>
                  <a:schemeClr val="tx1">
                    <a:lumMod val="85000"/>
                    <a:lumOff val="15000"/>
                  </a:schemeClr>
                </a:solidFill>
                <a:latin typeface="メイリオ" panose="020B0604030504040204" pitchFamily="50" charset="-128"/>
                <a:ea typeface="メイリオ" panose="020B0604030504040204" pitchFamily="50" charset="-128"/>
                <a:hlinkClick r:id="rId4"/>
              </a:rPr>
              <a:t>Excel Agent Mode</a:t>
            </a:r>
            <a:r>
              <a:rPr kumimoji="1" lang="ja-JP" altLang="en-US" sz="1400">
                <a:solidFill>
                  <a:schemeClr val="tx1">
                    <a:lumMod val="85000"/>
                    <a:lumOff val="15000"/>
                  </a:schemeClr>
                </a:solidFill>
                <a:latin typeface="メイリオ" panose="020B0604030504040204" pitchFamily="50" charset="-128"/>
                <a:ea typeface="メイリオ" panose="020B0604030504040204" pitchFamily="50" charset="-128"/>
                <a:hlinkClick r:id="rId4"/>
              </a:rPr>
              <a:t>で</a:t>
            </a:r>
            <a:r>
              <a:rPr kumimoji="1" lang="en-US" altLang="ja-JP" sz="1400">
                <a:solidFill>
                  <a:schemeClr val="tx1">
                    <a:lumMod val="85000"/>
                    <a:lumOff val="15000"/>
                  </a:schemeClr>
                </a:solidFill>
                <a:latin typeface="メイリオ" panose="020B0604030504040204" pitchFamily="50" charset="-128"/>
                <a:ea typeface="メイリオ" panose="020B0604030504040204" pitchFamily="50" charset="-128"/>
                <a:hlinkClick r:id="rId4"/>
              </a:rPr>
              <a:t>Claude Opus 4.5</a:t>
            </a:r>
            <a:r>
              <a:rPr kumimoji="1" lang="ja-JP" altLang="en-US" sz="1400">
                <a:solidFill>
                  <a:schemeClr val="tx1">
                    <a:lumMod val="85000"/>
                    <a:lumOff val="15000"/>
                  </a:schemeClr>
                </a:solidFill>
                <a:latin typeface="メイリオ" panose="020B0604030504040204" pitchFamily="50" charset="-128"/>
                <a:ea typeface="メイリオ" panose="020B0604030504040204" pitchFamily="50" charset="-128"/>
              </a:rPr>
              <a:t>が</a:t>
            </a:r>
            <a:r>
              <a:rPr kumimoji="1" lang="en-US" altLang="ja-JP" sz="1400">
                <a:solidFill>
                  <a:schemeClr val="tx1">
                    <a:lumMod val="85000"/>
                    <a:lumOff val="15000"/>
                  </a:schemeClr>
                </a:solidFill>
                <a:latin typeface="メイリオ" panose="020B0604030504040204" pitchFamily="50" charset="-128"/>
                <a:ea typeface="メイリオ" panose="020B0604030504040204" pitchFamily="50" charset="-128"/>
              </a:rPr>
              <a:t>2026</a:t>
            </a:r>
            <a:r>
              <a:rPr kumimoji="1" lang="ja-JP" altLang="en-US" sz="1400">
                <a:solidFill>
                  <a:schemeClr val="tx1">
                    <a:lumMod val="85000"/>
                    <a:lumOff val="15000"/>
                  </a:schemeClr>
                </a:solidFill>
                <a:latin typeface="メイリオ" panose="020B0604030504040204" pitchFamily="50" charset="-128"/>
                <a:ea typeface="メイリオ" panose="020B0604030504040204" pitchFamily="50" charset="-128"/>
              </a:rPr>
              <a:t>年</a:t>
            </a:r>
            <a:r>
              <a:rPr kumimoji="1" lang="en-US" altLang="ja-JP" sz="1400">
                <a:solidFill>
                  <a:schemeClr val="tx1">
                    <a:lumMod val="85000"/>
                    <a:lumOff val="15000"/>
                  </a:schemeClr>
                </a:solidFill>
                <a:latin typeface="メイリオ" panose="020B0604030504040204" pitchFamily="50" charset="-128"/>
                <a:ea typeface="メイリオ" panose="020B0604030504040204" pitchFamily="50" charset="-128"/>
              </a:rPr>
              <a:t>1</a:t>
            </a:r>
            <a:r>
              <a:rPr kumimoji="1" lang="ja-JP" altLang="en-US" sz="1400">
                <a:solidFill>
                  <a:schemeClr val="tx1">
                    <a:lumMod val="85000"/>
                    <a:lumOff val="15000"/>
                  </a:schemeClr>
                </a:solidFill>
                <a:latin typeface="メイリオ" panose="020B0604030504040204" pitchFamily="50" charset="-128"/>
                <a:ea typeface="メイリオ" panose="020B0604030504040204" pitchFamily="50" charset="-128"/>
              </a:rPr>
              <a:t>月時点で選択可能に。</a:t>
            </a:r>
          </a:p>
        </p:txBody>
      </p:sp>
      <p:sp>
        <p:nvSpPr>
          <p:cNvPr id="9" name="正方形/長方形 8">
            <a:extLst>
              <a:ext uri="{FF2B5EF4-FFF2-40B4-BE49-F238E27FC236}">
                <a16:creationId xmlns:a16="http://schemas.microsoft.com/office/drawing/2014/main" id="{56C861DB-C164-8416-06F6-1895587D013A}"/>
              </a:ext>
            </a:extLst>
          </p:cNvPr>
          <p:cNvSpPr/>
          <p:nvPr/>
        </p:nvSpPr>
        <p:spPr>
          <a:xfrm>
            <a:off x="3954426" y="2186027"/>
            <a:ext cx="8006132"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a:solidFill>
                  <a:schemeClr val="tx1">
                    <a:lumMod val="85000"/>
                    <a:lumOff val="15000"/>
                  </a:schemeClr>
                </a:solidFill>
                <a:latin typeface="メイリオ" panose="020B0604030504040204" pitchFamily="50" charset="-128"/>
                <a:ea typeface="メイリオ" panose="020B0604030504040204" pitchFamily="50" charset="-128"/>
              </a:rPr>
              <a:t>主な発表・動向</a:t>
            </a:r>
          </a:p>
        </p:txBody>
      </p:sp>
      <p:pic>
        <p:nvPicPr>
          <p:cNvPr id="15" name="図 14" descr="ロゴ&#10;&#10;AI 生成コンテンツは誤りを含む可能性があります。">
            <a:extLst>
              <a:ext uri="{FF2B5EF4-FFF2-40B4-BE49-F238E27FC236}">
                <a16:creationId xmlns:a16="http://schemas.microsoft.com/office/drawing/2014/main" id="{0D53DB3E-7418-3CCA-A579-19FA2A5E001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60111" y="2667098"/>
            <a:ext cx="1183041" cy="1183041"/>
          </a:xfrm>
          <a:prstGeom prst="rect">
            <a:avLst/>
          </a:prstGeom>
        </p:spPr>
      </p:pic>
      <p:pic>
        <p:nvPicPr>
          <p:cNvPr id="11" name="図 10" descr="図形&#10;&#10;AI 生成コンテンツは誤りを含む可能性があります。">
            <a:extLst>
              <a:ext uri="{FF2B5EF4-FFF2-40B4-BE49-F238E27FC236}">
                <a16:creationId xmlns:a16="http://schemas.microsoft.com/office/drawing/2014/main" id="{84403B7F-42B2-11C4-3574-86CE78E09BB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045847" y="2934873"/>
            <a:ext cx="748357" cy="748357"/>
          </a:xfrm>
          <a:prstGeom prst="rect">
            <a:avLst/>
          </a:prstGeom>
        </p:spPr>
      </p:pic>
      <p:pic>
        <p:nvPicPr>
          <p:cNvPr id="13" name="図 12" descr="ダイアグラム&#10;&#10;AI 生成コンテンツは誤りを含む可能性があります。">
            <a:extLst>
              <a:ext uri="{FF2B5EF4-FFF2-40B4-BE49-F238E27FC236}">
                <a16:creationId xmlns:a16="http://schemas.microsoft.com/office/drawing/2014/main" id="{010722DA-9155-ECFC-8195-638FF22F20F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899323" y="2375598"/>
            <a:ext cx="1270067" cy="748356"/>
          </a:xfrm>
          <a:prstGeom prst="rect">
            <a:avLst/>
          </a:prstGeom>
        </p:spPr>
      </p:pic>
      <p:pic>
        <p:nvPicPr>
          <p:cNvPr id="17" name="図 16" descr="アイコン が含まれている画像&#10;&#10;AI 生成コンテンツは誤りを含む可能性があります。">
            <a:extLst>
              <a:ext uri="{FF2B5EF4-FFF2-40B4-BE49-F238E27FC236}">
                <a16:creationId xmlns:a16="http://schemas.microsoft.com/office/drawing/2014/main" id="{E33E1DAB-1D2B-C3B0-EFCD-A328EA1E4DFC}"/>
              </a:ext>
            </a:extLst>
          </p:cNvPr>
          <p:cNvPicPr>
            <a:picLocks noChangeAspect="1"/>
          </p:cNvPicPr>
          <p:nvPr/>
        </p:nvPicPr>
        <p:blipFill>
          <a:blip r:embed="rId8"/>
          <a:stretch>
            <a:fillRect/>
          </a:stretch>
        </p:blipFill>
        <p:spPr>
          <a:xfrm>
            <a:off x="8375613" y="2849503"/>
            <a:ext cx="844630" cy="818235"/>
          </a:xfrm>
          <a:prstGeom prst="rect">
            <a:avLst/>
          </a:prstGeom>
        </p:spPr>
      </p:pic>
      <p:pic>
        <p:nvPicPr>
          <p:cNvPr id="19" name="図 18" descr="白い背景に黒い文字が書かれた絵&#10;&#10;AI 生成コンテンツは誤りを含む可能性があります。">
            <a:extLst>
              <a:ext uri="{FF2B5EF4-FFF2-40B4-BE49-F238E27FC236}">
                <a16:creationId xmlns:a16="http://schemas.microsoft.com/office/drawing/2014/main" id="{4452C3ED-B8CF-CC70-CC49-147BF9F8327C}"/>
              </a:ext>
            </a:extLst>
          </p:cNvPr>
          <p:cNvPicPr>
            <a:picLocks noChangeAspect="1"/>
          </p:cNvPicPr>
          <p:nvPr/>
        </p:nvPicPr>
        <p:blipFill>
          <a:blip r:embed="rId9"/>
          <a:stretch>
            <a:fillRect/>
          </a:stretch>
        </p:blipFill>
        <p:spPr>
          <a:xfrm>
            <a:off x="10899314" y="2849502"/>
            <a:ext cx="862597" cy="818235"/>
          </a:xfrm>
          <a:prstGeom prst="rect">
            <a:avLst/>
          </a:prstGeom>
        </p:spPr>
      </p:pic>
      <p:pic>
        <p:nvPicPr>
          <p:cNvPr id="21" name="図 20" descr="アイコン&#10;&#10;AI 生成コンテンツは誤りを含む可能性があります。">
            <a:extLst>
              <a:ext uri="{FF2B5EF4-FFF2-40B4-BE49-F238E27FC236}">
                <a16:creationId xmlns:a16="http://schemas.microsoft.com/office/drawing/2014/main" id="{270F9240-AD55-0D81-5287-47C43B39FE0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43519" y="2827837"/>
            <a:ext cx="933021" cy="868147"/>
          </a:xfrm>
          <a:prstGeom prst="rect">
            <a:avLst/>
          </a:prstGeom>
        </p:spPr>
      </p:pic>
      <p:cxnSp>
        <p:nvCxnSpPr>
          <p:cNvPr id="26" name="直線矢印コネクタ 25">
            <a:extLst>
              <a:ext uri="{FF2B5EF4-FFF2-40B4-BE49-F238E27FC236}">
                <a16:creationId xmlns:a16="http://schemas.microsoft.com/office/drawing/2014/main" id="{778FC040-8443-36E0-CC15-01B935E4416D}"/>
              </a:ext>
            </a:extLst>
          </p:cNvPr>
          <p:cNvCxnSpPr>
            <a:cxnSpLocks/>
          </p:cNvCxnSpPr>
          <p:nvPr/>
        </p:nvCxnSpPr>
        <p:spPr>
          <a:xfrm>
            <a:off x="3954426" y="3936615"/>
            <a:ext cx="8006132" cy="0"/>
          </a:xfrm>
          <a:prstGeom prst="straightConnector1">
            <a:avLst/>
          </a:prstGeom>
          <a:ln w="57150">
            <a:solidFill>
              <a:schemeClr val="accent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8" name="楕円 27">
            <a:extLst>
              <a:ext uri="{FF2B5EF4-FFF2-40B4-BE49-F238E27FC236}">
                <a16:creationId xmlns:a16="http://schemas.microsoft.com/office/drawing/2014/main" id="{9060C280-1527-D343-80D8-C0CC92FAAB98}"/>
              </a:ext>
            </a:extLst>
          </p:cNvPr>
          <p:cNvSpPr/>
          <p:nvPr/>
        </p:nvSpPr>
        <p:spPr>
          <a:xfrm>
            <a:off x="4323298" y="3840791"/>
            <a:ext cx="193453" cy="191649"/>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29" name="楕円 28">
            <a:extLst>
              <a:ext uri="{FF2B5EF4-FFF2-40B4-BE49-F238E27FC236}">
                <a16:creationId xmlns:a16="http://schemas.microsoft.com/office/drawing/2014/main" id="{359192FF-8AA3-BD6F-F681-0B966DA29631}"/>
              </a:ext>
            </a:extLst>
          </p:cNvPr>
          <p:cNvSpPr/>
          <p:nvPr/>
        </p:nvSpPr>
        <p:spPr>
          <a:xfrm>
            <a:off x="5806236" y="3840791"/>
            <a:ext cx="193453" cy="191649"/>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30" name="楕円 29">
            <a:extLst>
              <a:ext uri="{FF2B5EF4-FFF2-40B4-BE49-F238E27FC236}">
                <a16:creationId xmlns:a16="http://schemas.microsoft.com/office/drawing/2014/main" id="{50BC03A2-ABE0-9C34-E209-1D153097FC10}"/>
              </a:ext>
            </a:extLst>
          </p:cNvPr>
          <p:cNvSpPr/>
          <p:nvPr/>
        </p:nvSpPr>
        <p:spPr>
          <a:xfrm>
            <a:off x="7454905" y="3840791"/>
            <a:ext cx="193453" cy="191649"/>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31" name="楕円 30">
            <a:extLst>
              <a:ext uri="{FF2B5EF4-FFF2-40B4-BE49-F238E27FC236}">
                <a16:creationId xmlns:a16="http://schemas.microsoft.com/office/drawing/2014/main" id="{572C1F17-81B2-AB0E-0B00-B0CFEA066A0F}"/>
              </a:ext>
            </a:extLst>
          </p:cNvPr>
          <p:cNvSpPr/>
          <p:nvPr/>
        </p:nvSpPr>
        <p:spPr>
          <a:xfrm>
            <a:off x="8701202" y="3840791"/>
            <a:ext cx="193453" cy="191649"/>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32" name="楕円 31">
            <a:extLst>
              <a:ext uri="{FF2B5EF4-FFF2-40B4-BE49-F238E27FC236}">
                <a16:creationId xmlns:a16="http://schemas.microsoft.com/office/drawing/2014/main" id="{41D5A154-29E3-76CF-689C-01B662E41E63}"/>
              </a:ext>
            </a:extLst>
          </p:cNvPr>
          <p:cNvSpPr/>
          <p:nvPr/>
        </p:nvSpPr>
        <p:spPr>
          <a:xfrm>
            <a:off x="10019969" y="3840791"/>
            <a:ext cx="193453" cy="191649"/>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33" name="楕円 32">
            <a:extLst>
              <a:ext uri="{FF2B5EF4-FFF2-40B4-BE49-F238E27FC236}">
                <a16:creationId xmlns:a16="http://schemas.microsoft.com/office/drawing/2014/main" id="{D52F98E1-DBE1-DF07-AB6F-FBBD66085472}"/>
              </a:ext>
            </a:extLst>
          </p:cNvPr>
          <p:cNvSpPr/>
          <p:nvPr/>
        </p:nvSpPr>
        <p:spPr>
          <a:xfrm>
            <a:off x="11233886" y="3840791"/>
            <a:ext cx="193453" cy="191649"/>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34" name="テキスト ボックス 33">
            <a:extLst>
              <a:ext uri="{FF2B5EF4-FFF2-40B4-BE49-F238E27FC236}">
                <a16:creationId xmlns:a16="http://schemas.microsoft.com/office/drawing/2014/main" id="{E37DDA82-1D84-2EEC-D97E-7259F1319258}"/>
              </a:ext>
            </a:extLst>
          </p:cNvPr>
          <p:cNvSpPr txBox="1"/>
          <p:nvPr/>
        </p:nvSpPr>
        <p:spPr>
          <a:xfrm>
            <a:off x="3812030" y="4041788"/>
            <a:ext cx="1248830" cy="1681229"/>
          </a:xfrm>
          <a:prstGeom prst="rect">
            <a:avLst/>
          </a:prstGeom>
          <a:noFill/>
        </p:spPr>
        <p:txBody>
          <a:bodyPr wrap="square" rtlCol="0">
            <a:spAutoFit/>
          </a:bodyPr>
          <a:lstStyle/>
          <a:p>
            <a:pPr>
              <a:lnSpc>
                <a:spcPct val="150000"/>
              </a:lnSpc>
            </a:pPr>
            <a:r>
              <a:rPr lang="en-US" altLang="ja-JP" sz="1400">
                <a:latin typeface="メイリオ" panose="020B0604030504040204" pitchFamily="50" charset="-128"/>
                <a:ea typeface="メイリオ" panose="020B0604030504040204" pitchFamily="50" charset="-128"/>
              </a:rPr>
              <a:t>2024</a:t>
            </a:r>
            <a:r>
              <a:rPr lang="ja-JP" altLang="en-US" sz="1400">
                <a:latin typeface="メイリオ" panose="020B0604030504040204" pitchFamily="50" charset="-128"/>
                <a:ea typeface="メイリオ" panose="020B0604030504040204" pitchFamily="50" charset="-128"/>
              </a:rPr>
              <a:t>年</a:t>
            </a:r>
            <a:r>
              <a:rPr lang="en-US" altLang="ja-JP" sz="1400">
                <a:latin typeface="メイリオ" panose="020B0604030504040204" pitchFamily="50" charset="-128"/>
                <a:ea typeface="メイリオ" panose="020B0604030504040204" pitchFamily="50" charset="-128"/>
              </a:rPr>
              <a:t>11</a:t>
            </a:r>
            <a:r>
              <a:rPr lang="ja-JP" altLang="en-US" sz="1400">
                <a:latin typeface="メイリオ" panose="020B0604030504040204" pitchFamily="50" charset="-128"/>
                <a:ea typeface="メイリオ" panose="020B0604030504040204" pitchFamily="50" charset="-128"/>
              </a:rPr>
              <a:t>月</a:t>
            </a:r>
            <a:endParaRPr lang="en-US" altLang="ja-JP" sz="1400">
              <a:latin typeface="メイリオ" panose="020B0604030504040204" pitchFamily="50" charset="-128"/>
              <a:ea typeface="メイリオ" panose="020B0604030504040204" pitchFamily="50" charset="-128"/>
            </a:endParaRPr>
          </a:p>
          <a:p>
            <a:pPr>
              <a:lnSpc>
                <a:spcPct val="150000"/>
              </a:lnSpc>
            </a:pPr>
            <a:r>
              <a:rPr lang="en-US" altLang="ja-JP" sz="1400" b="1">
                <a:latin typeface="メイリオ" panose="020B0604030504040204" pitchFamily="50" charset="-128"/>
                <a:ea typeface="メイリオ" panose="020B0604030504040204" pitchFamily="50" charset="-128"/>
                <a:hlinkClick r:id="rId11"/>
              </a:rPr>
              <a:t>MCP</a:t>
            </a:r>
            <a:r>
              <a:rPr lang="ja-JP" altLang="en-US" sz="1400" b="1">
                <a:latin typeface="メイリオ" panose="020B0604030504040204" pitchFamily="50" charset="-128"/>
                <a:ea typeface="メイリオ" panose="020B0604030504040204" pitchFamily="50" charset="-128"/>
              </a:rPr>
              <a:t>（</a:t>
            </a:r>
            <a:r>
              <a:rPr lang="en-US" altLang="ja-JP" sz="1400" b="1">
                <a:latin typeface="メイリオ" panose="020B0604030504040204" pitchFamily="50" charset="-128"/>
                <a:ea typeface="メイリオ" panose="020B0604030504040204" pitchFamily="50" charset="-128"/>
              </a:rPr>
              <a:t>Model Context Protocol</a:t>
            </a:r>
            <a:r>
              <a:rPr lang="ja-JP" altLang="en-US" sz="1400" b="1">
                <a:latin typeface="メイリオ" panose="020B0604030504040204" pitchFamily="50" charset="-128"/>
                <a:ea typeface="メイリオ" panose="020B0604030504040204" pitchFamily="50" charset="-128"/>
              </a:rPr>
              <a:t>）</a:t>
            </a:r>
            <a:endParaRPr kumimoji="1" lang="en-US" altLang="ja-JP" sz="1400" b="1">
              <a:latin typeface="メイリオ" panose="020B0604030504040204" pitchFamily="50" charset="-128"/>
              <a:ea typeface="メイリオ" panose="020B0604030504040204" pitchFamily="50" charset="-128"/>
            </a:endParaRPr>
          </a:p>
        </p:txBody>
      </p:sp>
      <p:sp>
        <p:nvSpPr>
          <p:cNvPr id="35" name="テキスト ボックス 34">
            <a:extLst>
              <a:ext uri="{FF2B5EF4-FFF2-40B4-BE49-F238E27FC236}">
                <a16:creationId xmlns:a16="http://schemas.microsoft.com/office/drawing/2014/main" id="{B1FABAED-0E53-4137-657B-34BED609BECF}"/>
              </a:ext>
            </a:extLst>
          </p:cNvPr>
          <p:cNvSpPr txBox="1"/>
          <p:nvPr/>
        </p:nvSpPr>
        <p:spPr>
          <a:xfrm>
            <a:off x="4968968" y="4041788"/>
            <a:ext cx="2002468" cy="2100575"/>
          </a:xfrm>
          <a:prstGeom prst="rect">
            <a:avLst/>
          </a:prstGeom>
          <a:noFill/>
        </p:spPr>
        <p:txBody>
          <a:bodyPr wrap="square" rtlCol="0">
            <a:spAutoFit/>
          </a:bodyPr>
          <a:lstStyle/>
          <a:p>
            <a:pPr>
              <a:lnSpc>
                <a:spcPct val="150000"/>
              </a:lnSpc>
            </a:pPr>
            <a:r>
              <a:rPr lang="en-US" altLang="ja-JP" sz="1400">
                <a:latin typeface="メイリオ" panose="020B0604030504040204" pitchFamily="50" charset="-128"/>
                <a:ea typeface="メイリオ" panose="020B0604030504040204" pitchFamily="50" charset="-128"/>
              </a:rPr>
              <a:t>2025</a:t>
            </a:r>
            <a:r>
              <a:rPr lang="ja-JP" altLang="en-US" sz="1400">
                <a:latin typeface="メイリオ" panose="020B0604030504040204" pitchFamily="50" charset="-128"/>
                <a:ea typeface="メイリオ" panose="020B0604030504040204" pitchFamily="50" charset="-128"/>
              </a:rPr>
              <a:t>年</a:t>
            </a:r>
            <a:r>
              <a:rPr lang="en-US" altLang="ja-JP" sz="1400">
                <a:latin typeface="メイリオ" panose="020B0604030504040204" pitchFamily="50" charset="-128"/>
                <a:ea typeface="メイリオ" panose="020B0604030504040204" pitchFamily="50" charset="-128"/>
              </a:rPr>
              <a:t>3</a:t>
            </a:r>
            <a:r>
              <a:rPr lang="ja-JP" altLang="en-US" sz="1400">
                <a:latin typeface="メイリオ" panose="020B0604030504040204" pitchFamily="50" charset="-128"/>
                <a:ea typeface="メイリオ" panose="020B0604030504040204" pitchFamily="50" charset="-128"/>
              </a:rPr>
              <a:t>月</a:t>
            </a:r>
            <a:endParaRPr lang="en-US" altLang="ja-JP" sz="1400">
              <a:latin typeface="メイリオ" panose="020B0604030504040204" pitchFamily="50" charset="-128"/>
              <a:ea typeface="メイリオ" panose="020B0604030504040204" pitchFamily="50" charset="-128"/>
            </a:endParaRPr>
          </a:p>
          <a:p>
            <a:pPr>
              <a:lnSpc>
                <a:spcPct val="150000"/>
              </a:lnSpc>
            </a:pPr>
            <a:r>
              <a:rPr lang="en-US" altLang="ja-JP" sz="1400" b="1">
                <a:latin typeface="メイリオ" panose="020B0604030504040204" pitchFamily="50" charset="-128"/>
                <a:ea typeface="メイリオ" panose="020B0604030504040204" pitchFamily="50" charset="-128"/>
                <a:hlinkClick r:id="rId12"/>
              </a:rPr>
              <a:t>Claude Code</a:t>
            </a:r>
            <a:endParaRPr lang="en-US" altLang="ja-JP" sz="1400" b="1">
              <a:latin typeface="メイリオ" panose="020B0604030504040204" pitchFamily="50" charset="-128"/>
              <a:ea typeface="メイリオ" panose="020B0604030504040204" pitchFamily="50" charset="-128"/>
            </a:endParaRPr>
          </a:p>
          <a:p>
            <a:pPr>
              <a:lnSpc>
                <a:spcPct val="150000"/>
              </a:lnSpc>
            </a:pPr>
            <a:r>
              <a:rPr lang="ja-JP" altLang="en-US" sz="1200">
                <a:latin typeface="メイリオ" panose="020B0604030504040204" pitchFamily="50" charset="-128"/>
                <a:ea typeface="メイリオ" panose="020B0604030504040204" pitchFamily="50" charset="-128"/>
              </a:rPr>
              <a:t>ターミナル（黒い画面）で動く</a:t>
            </a:r>
            <a:r>
              <a:rPr lang="en-US" altLang="ja-JP" sz="1200">
                <a:latin typeface="メイリオ" panose="020B0604030504040204" pitchFamily="50" charset="-128"/>
                <a:ea typeface="メイリオ" panose="020B0604030504040204" pitchFamily="50" charset="-128"/>
              </a:rPr>
              <a:t>AI</a:t>
            </a:r>
            <a:r>
              <a:rPr lang="ja-JP" altLang="en-US" sz="1200">
                <a:latin typeface="メイリオ" panose="020B0604030504040204" pitchFamily="50" charset="-128"/>
                <a:ea typeface="メイリオ" panose="020B0604030504040204" pitchFamily="50" charset="-128"/>
              </a:rPr>
              <a:t>エージェント。</a:t>
            </a:r>
            <a:endParaRPr lang="en-US" altLang="ja-JP" sz="1200">
              <a:latin typeface="メイリオ" panose="020B0604030504040204" pitchFamily="50" charset="-128"/>
              <a:ea typeface="メイリオ" panose="020B0604030504040204" pitchFamily="50" charset="-128"/>
            </a:endParaRPr>
          </a:p>
          <a:p>
            <a:pPr>
              <a:lnSpc>
                <a:spcPct val="150000"/>
              </a:lnSpc>
            </a:pPr>
            <a:r>
              <a:rPr lang="ja-JP" altLang="en-US" sz="1200" b="1">
                <a:latin typeface="メイリオ" panose="020B0604030504040204" pitchFamily="50" charset="-128"/>
                <a:ea typeface="メイリオ" panose="020B0604030504040204" pitchFamily="50" charset="-128"/>
              </a:rPr>
              <a:t>開発ツールとして登場</a:t>
            </a:r>
            <a:r>
              <a:rPr lang="ja-JP" altLang="en-US" sz="1200">
                <a:latin typeface="メイリオ" panose="020B0604030504040204" pitchFamily="50" charset="-128"/>
                <a:ea typeface="メイリオ" panose="020B0604030504040204" pitchFamily="50" charset="-128"/>
              </a:rPr>
              <a:t>。</a:t>
            </a:r>
            <a:endParaRPr lang="en-US" altLang="ja-JP" sz="1200">
              <a:latin typeface="メイリオ" panose="020B0604030504040204" pitchFamily="50" charset="-128"/>
              <a:ea typeface="メイリオ" panose="020B0604030504040204" pitchFamily="50" charset="-128"/>
            </a:endParaRPr>
          </a:p>
          <a:p>
            <a:pPr>
              <a:lnSpc>
                <a:spcPct val="150000"/>
              </a:lnSpc>
            </a:pPr>
            <a:r>
              <a:rPr lang="en-US" altLang="ja-JP" sz="1200">
                <a:latin typeface="メイリオ" panose="020B0604030504040204" pitchFamily="50" charset="-128"/>
                <a:ea typeface="メイリオ" panose="020B0604030504040204" pitchFamily="50" charset="-128"/>
              </a:rPr>
              <a:t>2025</a:t>
            </a:r>
            <a:r>
              <a:rPr lang="ja-JP" altLang="en-US" sz="1200">
                <a:latin typeface="メイリオ" panose="020B0604030504040204" pitchFamily="50" charset="-128"/>
                <a:ea typeface="メイリオ" panose="020B0604030504040204" pitchFamily="50" charset="-128"/>
              </a:rPr>
              <a:t>年</a:t>
            </a:r>
            <a:r>
              <a:rPr lang="en-US" altLang="ja-JP" sz="1200">
                <a:latin typeface="メイリオ" panose="020B0604030504040204" pitchFamily="50" charset="-128"/>
                <a:ea typeface="メイリオ" panose="020B0604030504040204" pitchFamily="50" charset="-128"/>
              </a:rPr>
              <a:t>5</a:t>
            </a:r>
            <a:r>
              <a:rPr lang="ja-JP" altLang="en-US" sz="1200">
                <a:latin typeface="メイリオ" panose="020B0604030504040204" pitchFamily="50" charset="-128"/>
                <a:ea typeface="メイリオ" panose="020B0604030504040204" pitchFamily="50" charset="-128"/>
              </a:rPr>
              <a:t>月に正式リリース。</a:t>
            </a:r>
            <a:endParaRPr lang="en-US" altLang="ja-JP" sz="1400">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E24786D1-8D75-CE82-540F-7544E59D55AA}"/>
              </a:ext>
            </a:extLst>
          </p:cNvPr>
          <p:cNvSpPr txBox="1"/>
          <p:nvPr/>
        </p:nvSpPr>
        <p:spPr>
          <a:xfrm>
            <a:off x="6885836" y="4041788"/>
            <a:ext cx="1282147" cy="1869743"/>
          </a:xfrm>
          <a:prstGeom prst="rect">
            <a:avLst/>
          </a:prstGeom>
          <a:noFill/>
        </p:spPr>
        <p:txBody>
          <a:bodyPr wrap="square" rtlCol="0">
            <a:spAutoFit/>
          </a:bodyPr>
          <a:lstStyle/>
          <a:p>
            <a:pPr>
              <a:lnSpc>
                <a:spcPct val="150000"/>
              </a:lnSpc>
            </a:pPr>
            <a:r>
              <a:rPr lang="en-US" altLang="ja-JP" sz="1400">
                <a:latin typeface="メイリオ" panose="020B0604030504040204" pitchFamily="50" charset="-128"/>
                <a:ea typeface="メイリオ" panose="020B0604030504040204" pitchFamily="50" charset="-128"/>
              </a:rPr>
              <a:t>2025</a:t>
            </a:r>
            <a:r>
              <a:rPr lang="ja-JP" altLang="en-US" sz="1400">
                <a:latin typeface="メイリオ" panose="020B0604030504040204" pitchFamily="50" charset="-128"/>
                <a:ea typeface="メイリオ" panose="020B0604030504040204" pitchFamily="50" charset="-128"/>
              </a:rPr>
              <a:t>年</a:t>
            </a:r>
            <a:r>
              <a:rPr lang="en-US" altLang="ja-JP" sz="1400">
                <a:latin typeface="メイリオ" panose="020B0604030504040204" pitchFamily="50" charset="-128"/>
                <a:ea typeface="メイリオ" panose="020B0604030504040204" pitchFamily="50" charset="-128"/>
              </a:rPr>
              <a:t>8</a:t>
            </a:r>
            <a:r>
              <a:rPr lang="ja-JP" altLang="en-US" sz="1400">
                <a:latin typeface="メイリオ" panose="020B0604030504040204" pitchFamily="50" charset="-128"/>
                <a:ea typeface="メイリオ" panose="020B0604030504040204" pitchFamily="50" charset="-128"/>
              </a:rPr>
              <a:t>月</a:t>
            </a:r>
            <a:endParaRPr lang="en-US" altLang="ja-JP" sz="1400">
              <a:latin typeface="メイリオ" panose="020B0604030504040204" pitchFamily="50" charset="-128"/>
              <a:ea typeface="メイリオ" panose="020B0604030504040204" pitchFamily="50" charset="-128"/>
            </a:endParaRPr>
          </a:p>
          <a:p>
            <a:pPr>
              <a:lnSpc>
                <a:spcPct val="150000"/>
              </a:lnSpc>
            </a:pPr>
            <a:r>
              <a:rPr lang="en-US" altLang="ja-JP" sz="1400" b="1">
                <a:latin typeface="メイリオ" panose="020B0604030504040204" pitchFamily="50" charset="-128"/>
                <a:ea typeface="メイリオ" panose="020B0604030504040204" pitchFamily="50" charset="-128"/>
                <a:hlinkClick r:id="rId13"/>
              </a:rPr>
              <a:t>Claude in Chrome</a:t>
            </a:r>
            <a:endParaRPr lang="en-US" altLang="ja-JP" sz="1400" b="1">
              <a:latin typeface="メイリオ" panose="020B0604030504040204" pitchFamily="50" charset="-128"/>
              <a:ea typeface="メイリオ" panose="020B0604030504040204" pitchFamily="50" charset="-128"/>
            </a:endParaRPr>
          </a:p>
          <a:p>
            <a:pPr>
              <a:lnSpc>
                <a:spcPct val="150000"/>
              </a:lnSpc>
            </a:pPr>
            <a:r>
              <a:rPr lang="en-US" altLang="ja-JP" sz="1200">
                <a:latin typeface="メイリオ" panose="020B0604030504040204" pitchFamily="50" charset="-128"/>
                <a:ea typeface="メイリオ" panose="020B0604030504040204" pitchFamily="50" charset="-128"/>
              </a:rPr>
              <a:t>C</a:t>
            </a:r>
            <a:r>
              <a:rPr kumimoji="1" lang="en-US" altLang="ja-JP" sz="1200">
                <a:latin typeface="メイリオ" panose="020B0604030504040204" pitchFamily="50" charset="-128"/>
                <a:ea typeface="メイリオ" panose="020B0604030504040204" pitchFamily="50" charset="-128"/>
              </a:rPr>
              <a:t>hrome</a:t>
            </a:r>
            <a:r>
              <a:rPr kumimoji="1" lang="ja-JP" altLang="en-US" sz="1200">
                <a:latin typeface="メイリオ" panose="020B0604030504040204" pitchFamily="50" charset="-128"/>
                <a:ea typeface="メイリオ" panose="020B0604030504040204" pitchFamily="50" charset="-128"/>
              </a:rPr>
              <a:t>拡張で</a:t>
            </a:r>
            <a:r>
              <a:rPr kumimoji="1" lang="ja-JP" altLang="en-US" sz="1200" b="1">
                <a:latin typeface="メイリオ" panose="020B0604030504040204" pitchFamily="50" charset="-128"/>
                <a:ea typeface="メイリオ" panose="020B0604030504040204" pitchFamily="50" charset="-128"/>
              </a:rPr>
              <a:t>ブラウザ操作自動化</a:t>
            </a:r>
            <a:r>
              <a:rPr kumimoji="1" lang="ja-JP" altLang="en-US" sz="1200">
                <a:latin typeface="メイリオ" panose="020B0604030504040204" pitchFamily="50" charset="-128"/>
                <a:ea typeface="メイリオ" panose="020B0604030504040204" pitchFamily="50" charset="-128"/>
              </a:rPr>
              <a:t>。</a:t>
            </a:r>
            <a:endParaRPr kumimoji="1" lang="en-US" altLang="ja-JP" sz="1200">
              <a:latin typeface="メイリオ" panose="020B0604030504040204" pitchFamily="50" charset="-128"/>
              <a:ea typeface="メイリオ" panose="020B0604030504040204" pitchFamily="50" charset="-128"/>
            </a:endParaRPr>
          </a:p>
        </p:txBody>
      </p:sp>
      <p:sp>
        <p:nvSpPr>
          <p:cNvPr id="37" name="テキスト ボックス 36">
            <a:extLst>
              <a:ext uri="{FF2B5EF4-FFF2-40B4-BE49-F238E27FC236}">
                <a16:creationId xmlns:a16="http://schemas.microsoft.com/office/drawing/2014/main" id="{5A402090-C9AB-E1FB-7611-CB6F25E423A5}"/>
              </a:ext>
            </a:extLst>
          </p:cNvPr>
          <p:cNvSpPr txBox="1"/>
          <p:nvPr/>
        </p:nvSpPr>
        <p:spPr>
          <a:xfrm>
            <a:off x="8186122" y="4041788"/>
            <a:ext cx="1282147" cy="1823576"/>
          </a:xfrm>
          <a:prstGeom prst="rect">
            <a:avLst/>
          </a:prstGeom>
          <a:noFill/>
        </p:spPr>
        <p:txBody>
          <a:bodyPr wrap="square" rtlCol="0">
            <a:spAutoFit/>
          </a:bodyPr>
          <a:lstStyle/>
          <a:p>
            <a:pPr>
              <a:lnSpc>
                <a:spcPct val="150000"/>
              </a:lnSpc>
            </a:pPr>
            <a:r>
              <a:rPr lang="en-US" altLang="ja-JP" sz="1400">
                <a:latin typeface="メイリオ" panose="020B0604030504040204" pitchFamily="50" charset="-128"/>
                <a:ea typeface="メイリオ" panose="020B0604030504040204" pitchFamily="50" charset="-128"/>
              </a:rPr>
              <a:t>2025</a:t>
            </a:r>
            <a:r>
              <a:rPr lang="ja-JP" altLang="en-US" sz="1400">
                <a:latin typeface="メイリオ" panose="020B0604030504040204" pitchFamily="50" charset="-128"/>
                <a:ea typeface="メイリオ" panose="020B0604030504040204" pitchFamily="50" charset="-128"/>
              </a:rPr>
              <a:t>年</a:t>
            </a:r>
            <a:r>
              <a:rPr lang="en-US" altLang="ja-JP" sz="1400">
                <a:latin typeface="メイリオ" panose="020B0604030504040204" pitchFamily="50" charset="-128"/>
                <a:ea typeface="メイリオ" panose="020B0604030504040204" pitchFamily="50" charset="-128"/>
              </a:rPr>
              <a:t>10</a:t>
            </a:r>
            <a:r>
              <a:rPr lang="ja-JP" altLang="en-US" sz="1400">
                <a:latin typeface="メイリオ" panose="020B0604030504040204" pitchFamily="50" charset="-128"/>
                <a:ea typeface="メイリオ" panose="020B0604030504040204" pitchFamily="50" charset="-128"/>
              </a:rPr>
              <a:t>月</a:t>
            </a:r>
            <a:endParaRPr lang="en-US" altLang="ja-JP" sz="1400">
              <a:latin typeface="メイリオ" panose="020B0604030504040204" pitchFamily="50" charset="-128"/>
              <a:ea typeface="メイリオ" panose="020B0604030504040204" pitchFamily="50" charset="-128"/>
            </a:endParaRPr>
          </a:p>
          <a:p>
            <a:pPr>
              <a:lnSpc>
                <a:spcPct val="150000"/>
              </a:lnSpc>
            </a:pPr>
            <a:r>
              <a:rPr lang="en-US" altLang="ja-JP" sz="1400" b="1">
                <a:latin typeface="メイリオ" panose="020B0604030504040204" pitchFamily="50" charset="-128"/>
                <a:ea typeface="メイリオ" panose="020B0604030504040204" pitchFamily="50" charset="-128"/>
                <a:hlinkClick r:id="rId14"/>
              </a:rPr>
              <a:t>Skills</a:t>
            </a:r>
            <a:endParaRPr lang="en-US" altLang="ja-JP" sz="1400" b="1">
              <a:latin typeface="メイリオ" panose="020B0604030504040204" pitchFamily="50" charset="-128"/>
              <a:ea typeface="メイリオ" panose="020B0604030504040204" pitchFamily="50" charset="-128"/>
            </a:endParaRPr>
          </a:p>
          <a:p>
            <a:pPr>
              <a:lnSpc>
                <a:spcPct val="150000"/>
              </a:lnSpc>
            </a:pPr>
            <a:r>
              <a:rPr lang="ja-JP" altLang="en-US" sz="1200">
                <a:latin typeface="メイリオ" panose="020B0604030504040204" pitchFamily="50" charset="-128"/>
                <a:ea typeface="メイリオ" panose="020B0604030504040204" pitchFamily="50" charset="-128"/>
              </a:rPr>
              <a:t>業務ノウハウをパッケージ化。会話だけで作成可能。</a:t>
            </a:r>
            <a:endParaRPr lang="en-US" altLang="ja-JP" sz="1200">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A2CD59AC-1CA2-56D0-908E-B072FE145934}"/>
              </a:ext>
            </a:extLst>
          </p:cNvPr>
          <p:cNvSpPr txBox="1"/>
          <p:nvPr/>
        </p:nvSpPr>
        <p:spPr>
          <a:xfrm>
            <a:off x="9472446" y="4041788"/>
            <a:ext cx="1282147" cy="1592744"/>
          </a:xfrm>
          <a:prstGeom prst="rect">
            <a:avLst/>
          </a:prstGeom>
          <a:noFill/>
        </p:spPr>
        <p:txBody>
          <a:bodyPr wrap="square" rtlCol="0">
            <a:spAutoFit/>
          </a:bodyPr>
          <a:lstStyle/>
          <a:p>
            <a:pPr>
              <a:lnSpc>
                <a:spcPct val="150000"/>
              </a:lnSpc>
            </a:pPr>
            <a:r>
              <a:rPr lang="en-US" altLang="ja-JP" sz="1400">
                <a:latin typeface="メイリオ" panose="020B0604030504040204" pitchFamily="50" charset="-128"/>
                <a:ea typeface="メイリオ" panose="020B0604030504040204" pitchFamily="50" charset="-128"/>
              </a:rPr>
              <a:t>2025</a:t>
            </a:r>
            <a:r>
              <a:rPr lang="ja-JP" altLang="en-US" sz="1400">
                <a:latin typeface="メイリオ" panose="020B0604030504040204" pitchFamily="50" charset="-128"/>
                <a:ea typeface="メイリオ" panose="020B0604030504040204" pitchFamily="50" charset="-128"/>
              </a:rPr>
              <a:t>年</a:t>
            </a:r>
            <a:r>
              <a:rPr lang="en-US" altLang="ja-JP" sz="1400">
                <a:latin typeface="メイリオ" panose="020B0604030504040204" pitchFamily="50" charset="-128"/>
                <a:ea typeface="メイリオ" panose="020B0604030504040204" pitchFamily="50" charset="-128"/>
              </a:rPr>
              <a:t>10</a:t>
            </a:r>
            <a:r>
              <a:rPr lang="ja-JP" altLang="en-US" sz="1400">
                <a:latin typeface="メイリオ" panose="020B0604030504040204" pitchFamily="50" charset="-128"/>
                <a:ea typeface="メイリオ" panose="020B0604030504040204" pitchFamily="50" charset="-128"/>
              </a:rPr>
              <a:t>月</a:t>
            </a:r>
            <a:endParaRPr lang="en-US" altLang="ja-JP" sz="1400">
              <a:latin typeface="メイリオ" panose="020B0604030504040204" pitchFamily="50" charset="-128"/>
              <a:ea typeface="メイリオ" panose="020B0604030504040204" pitchFamily="50" charset="-128"/>
            </a:endParaRPr>
          </a:p>
          <a:p>
            <a:pPr>
              <a:lnSpc>
                <a:spcPct val="150000"/>
              </a:lnSpc>
            </a:pPr>
            <a:r>
              <a:rPr lang="en-US" altLang="ja-JP" sz="1400" b="1">
                <a:latin typeface="メイリオ" panose="020B0604030504040204" pitchFamily="50" charset="-128"/>
                <a:ea typeface="メイリオ" panose="020B0604030504040204" pitchFamily="50" charset="-128"/>
                <a:hlinkClick r:id="rId15"/>
              </a:rPr>
              <a:t>Claude in Excel</a:t>
            </a:r>
            <a:endParaRPr lang="en-US" altLang="ja-JP" sz="1400" b="1">
              <a:latin typeface="メイリオ" panose="020B0604030504040204" pitchFamily="50" charset="-128"/>
              <a:ea typeface="メイリオ" panose="020B0604030504040204" pitchFamily="50" charset="-128"/>
            </a:endParaRPr>
          </a:p>
          <a:p>
            <a:pPr>
              <a:lnSpc>
                <a:spcPct val="150000"/>
              </a:lnSpc>
            </a:pPr>
            <a:r>
              <a:rPr lang="ja-JP" altLang="en-US" sz="1200">
                <a:latin typeface="メイリオ" panose="020B0604030504040204" pitchFamily="50" charset="-128"/>
                <a:ea typeface="メイリオ" panose="020B0604030504040204" pitchFamily="50" charset="-128"/>
              </a:rPr>
              <a:t>自然言語で</a:t>
            </a:r>
            <a:r>
              <a:rPr lang="en-US" altLang="ja-JP" sz="1200">
                <a:latin typeface="メイリオ" panose="020B0604030504040204" pitchFamily="50" charset="-128"/>
                <a:ea typeface="メイリオ" panose="020B0604030504040204" pitchFamily="50" charset="-128"/>
              </a:rPr>
              <a:t>Excel</a:t>
            </a:r>
            <a:r>
              <a:rPr lang="ja-JP" altLang="en-US" sz="1200">
                <a:latin typeface="メイリオ" panose="020B0604030504040204" pitchFamily="50" charset="-128"/>
                <a:ea typeface="メイリオ" panose="020B0604030504040204" pitchFamily="50" charset="-128"/>
              </a:rPr>
              <a:t>操作</a:t>
            </a:r>
            <a:endParaRPr lang="en-US" altLang="ja-JP" sz="1400">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ACFE4613-A077-9C55-328B-EB75377B5888}"/>
              </a:ext>
            </a:extLst>
          </p:cNvPr>
          <p:cNvSpPr txBox="1"/>
          <p:nvPr/>
        </p:nvSpPr>
        <p:spPr>
          <a:xfrm>
            <a:off x="10697662" y="4041788"/>
            <a:ext cx="1282147" cy="1823576"/>
          </a:xfrm>
          <a:prstGeom prst="rect">
            <a:avLst/>
          </a:prstGeom>
          <a:noFill/>
        </p:spPr>
        <p:txBody>
          <a:bodyPr wrap="square" rtlCol="0">
            <a:spAutoFit/>
          </a:bodyPr>
          <a:lstStyle/>
          <a:p>
            <a:pPr>
              <a:lnSpc>
                <a:spcPct val="150000"/>
              </a:lnSpc>
            </a:pPr>
            <a:r>
              <a:rPr lang="en-US" altLang="ja-JP" sz="1400">
                <a:latin typeface="メイリオ" panose="020B0604030504040204" pitchFamily="50" charset="-128"/>
                <a:ea typeface="メイリオ" panose="020B0604030504040204" pitchFamily="50" charset="-128"/>
              </a:rPr>
              <a:t>2026</a:t>
            </a:r>
            <a:r>
              <a:rPr lang="ja-JP" altLang="en-US" sz="1400">
                <a:latin typeface="メイリオ" panose="020B0604030504040204" pitchFamily="50" charset="-128"/>
                <a:ea typeface="メイリオ" panose="020B0604030504040204" pitchFamily="50" charset="-128"/>
              </a:rPr>
              <a:t>年</a:t>
            </a:r>
            <a:r>
              <a:rPr lang="en-US" altLang="ja-JP" sz="1400">
                <a:latin typeface="メイリオ" panose="020B0604030504040204" pitchFamily="50" charset="-128"/>
                <a:ea typeface="メイリオ" panose="020B0604030504040204" pitchFamily="50" charset="-128"/>
              </a:rPr>
              <a:t>1</a:t>
            </a:r>
            <a:r>
              <a:rPr lang="ja-JP" altLang="en-US" sz="1400">
                <a:latin typeface="メイリオ" panose="020B0604030504040204" pitchFamily="50" charset="-128"/>
                <a:ea typeface="メイリオ" panose="020B0604030504040204" pitchFamily="50" charset="-128"/>
              </a:rPr>
              <a:t>月</a:t>
            </a:r>
            <a:endParaRPr lang="en-US" altLang="ja-JP" sz="1400">
              <a:latin typeface="メイリオ" panose="020B0604030504040204" pitchFamily="50" charset="-128"/>
              <a:ea typeface="メイリオ" panose="020B0604030504040204" pitchFamily="50" charset="-128"/>
            </a:endParaRPr>
          </a:p>
          <a:p>
            <a:pPr>
              <a:lnSpc>
                <a:spcPct val="150000"/>
              </a:lnSpc>
            </a:pPr>
            <a:r>
              <a:rPr lang="en-US" altLang="ja-JP" sz="1400" b="1">
                <a:latin typeface="メイリオ" panose="020B0604030504040204" pitchFamily="50" charset="-128"/>
                <a:ea typeface="メイリオ" panose="020B0604030504040204" pitchFamily="50" charset="-128"/>
                <a:hlinkClick r:id="rId16"/>
              </a:rPr>
              <a:t>Cowork</a:t>
            </a:r>
            <a:endParaRPr lang="en-US" altLang="ja-JP" sz="1400" b="1">
              <a:latin typeface="メイリオ" panose="020B0604030504040204" pitchFamily="50" charset="-128"/>
              <a:ea typeface="メイリオ" panose="020B0604030504040204" pitchFamily="50" charset="-128"/>
            </a:endParaRPr>
          </a:p>
          <a:p>
            <a:pPr>
              <a:lnSpc>
                <a:spcPct val="150000"/>
              </a:lnSpc>
            </a:pPr>
            <a:r>
              <a:rPr lang="ja-JP" altLang="en-US" sz="1200">
                <a:latin typeface="メイリオ" panose="020B0604030504040204" pitchFamily="50" charset="-128"/>
                <a:ea typeface="メイリオ" panose="020B0604030504040204" pitchFamily="50" charset="-128"/>
              </a:rPr>
              <a:t>非開発者向けデスクトップエージェント（現在は</a:t>
            </a:r>
            <a:r>
              <a:rPr lang="en-US" altLang="ja-JP" sz="1200">
                <a:latin typeface="メイリオ" panose="020B0604030504040204" pitchFamily="50" charset="-128"/>
                <a:ea typeface="メイリオ" panose="020B0604030504040204" pitchFamily="50" charset="-128"/>
              </a:rPr>
              <a:t>Mac</a:t>
            </a:r>
            <a:r>
              <a:rPr lang="ja-JP" altLang="en-US" sz="1200">
                <a:latin typeface="メイリオ" panose="020B0604030504040204" pitchFamily="50" charset="-128"/>
                <a:ea typeface="メイリオ" panose="020B0604030504040204" pitchFamily="50" charset="-128"/>
              </a:rPr>
              <a:t>のみ）</a:t>
            </a:r>
            <a:endParaRPr lang="en-US" altLang="ja-JP" sz="1400">
              <a:latin typeface="メイリオ" panose="020B0604030504040204" pitchFamily="50" charset="-128"/>
              <a:ea typeface="メイリオ" panose="020B0604030504040204" pitchFamily="50" charset="-128"/>
            </a:endParaRPr>
          </a:p>
        </p:txBody>
      </p:sp>
      <p:pic>
        <p:nvPicPr>
          <p:cNvPr id="43" name="図 42" descr="ロゴ&#10;&#10;AI 生成コンテンツは誤りを含む可能性があります。">
            <a:extLst>
              <a:ext uri="{FF2B5EF4-FFF2-40B4-BE49-F238E27FC236}">
                <a16:creationId xmlns:a16="http://schemas.microsoft.com/office/drawing/2014/main" id="{0D00CE13-547E-11A0-E352-4A4F250D5252}"/>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348594" y="257739"/>
            <a:ext cx="2605659" cy="561845"/>
          </a:xfrm>
          <a:prstGeom prst="rect">
            <a:avLst/>
          </a:prstGeom>
        </p:spPr>
      </p:pic>
      <p:grpSp>
        <p:nvGrpSpPr>
          <p:cNvPr id="51" name="グループ化 50">
            <a:extLst>
              <a:ext uri="{FF2B5EF4-FFF2-40B4-BE49-F238E27FC236}">
                <a16:creationId xmlns:a16="http://schemas.microsoft.com/office/drawing/2014/main" id="{EBD3857C-FC6A-1EFF-45FD-B1C07520325C}"/>
              </a:ext>
            </a:extLst>
          </p:cNvPr>
          <p:cNvGrpSpPr/>
          <p:nvPr/>
        </p:nvGrpSpPr>
        <p:grpSpPr>
          <a:xfrm>
            <a:off x="5684999" y="2752472"/>
            <a:ext cx="1309144" cy="1037811"/>
            <a:chOff x="2028257" y="204337"/>
            <a:chExt cx="8135485" cy="6449325"/>
          </a:xfrm>
        </p:grpSpPr>
        <p:pic>
          <p:nvPicPr>
            <p:cNvPr id="52" name="図 51" descr="テキスト&#10;&#10;AI 生成コンテンツは誤りを含む可能性があります。">
              <a:extLst>
                <a:ext uri="{FF2B5EF4-FFF2-40B4-BE49-F238E27FC236}">
                  <a16:creationId xmlns:a16="http://schemas.microsoft.com/office/drawing/2014/main" id="{9771CB0C-9519-B572-D09B-2496E766DBD6}"/>
                </a:ext>
              </a:extLst>
            </p:cNvPr>
            <p:cNvPicPr>
              <a:picLocks noChangeAspect="1"/>
            </p:cNvPicPr>
            <p:nvPr/>
          </p:nvPicPr>
          <p:blipFill>
            <a:blip r:embed="rId18"/>
            <a:stretch>
              <a:fillRect/>
            </a:stretch>
          </p:blipFill>
          <p:spPr>
            <a:xfrm>
              <a:off x="2028257" y="204337"/>
              <a:ext cx="8135485" cy="6449325"/>
            </a:xfrm>
            <a:prstGeom prst="rect">
              <a:avLst/>
            </a:prstGeom>
            <a:ln>
              <a:noFill/>
            </a:ln>
            <a:effectLst>
              <a:outerShdw blurRad="190500" algn="tl" rotWithShape="0">
                <a:srgbClr val="000000">
                  <a:alpha val="70000"/>
                </a:srgbClr>
              </a:outerShdw>
            </a:effectLst>
          </p:spPr>
        </p:pic>
        <p:pic>
          <p:nvPicPr>
            <p:cNvPr id="53" name="図 52">
              <a:extLst>
                <a:ext uri="{FF2B5EF4-FFF2-40B4-BE49-F238E27FC236}">
                  <a16:creationId xmlns:a16="http://schemas.microsoft.com/office/drawing/2014/main" id="{39D7B14C-2A36-4F8C-CF68-77D7C8DA96E1}"/>
                </a:ext>
              </a:extLst>
            </p:cNvPr>
            <p:cNvPicPr>
              <a:picLocks noChangeAspect="1"/>
            </p:cNvPicPr>
            <p:nvPr/>
          </p:nvPicPr>
          <p:blipFill>
            <a:blip r:embed="rId19"/>
            <a:stretch>
              <a:fillRect/>
            </a:stretch>
          </p:blipFill>
          <p:spPr>
            <a:xfrm>
              <a:off x="3506669" y="1702113"/>
              <a:ext cx="2113295" cy="280800"/>
            </a:xfrm>
            <a:prstGeom prst="rect">
              <a:avLst/>
            </a:prstGeom>
          </p:spPr>
        </p:pic>
      </p:grpSp>
    </p:spTree>
    <p:extLst>
      <p:ext uri="{BB962C8B-B14F-4D97-AF65-F5344CB8AC3E}">
        <p14:creationId xmlns:p14="http://schemas.microsoft.com/office/powerpoint/2010/main" val="40611623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5BF2E-8FBA-3B44-2BF5-71D087EDA49D}"/>
            </a:ext>
          </a:extLst>
        </p:cNvPr>
        <p:cNvGrpSpPr/>
        <p:nvPr/>
      </p:nvGrpSpPr>
      <p:grpSpPr>
        <a:xfrm>
          <a:off x="0" y="0"/>
          <a:ext cx="0" cy="0"/>
          <a:chOff x="0" y="0"/>
          <a:chExt cx="0" cy="0"/>
        </a:xfrm>
      </p:grpSpPr>
      <p:sp>
        <p:nvSpPr>
          <p:cNvPr id="42" name="四角形: 角を丸くする 41">
            <a:extLst>
              <a:ext uri="{FF2B5EF4-FFF2-40B4-BE49-F238E27FC236}">
                <a16:creationId xmlns:a16="http://schemas.microsoft.com/office/drawing/2014/main" id="{695047DB-4761-F67E-4248-47F90148299A}"/>
              </a:ext>
            </a:extLst>
          </p:cNvPr>
          <p:cNvSpPr/>
          <p:nvPr/>
        </p:nvSpPr>
        <p:spPr>
          <a:xfrm>
            <a:off x="8488013" y="3143760"/>
            <a:ext cx="3518935" cy="1476126"/>
          </a:xfrm>
          <a:prstGeom prst="roundRect">
            <a:avLst/>
          </a:prstGeom>
          <a:solidFill>
            <a:srgbClr val="EDE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3" name="四角形: 角を丸くする 42">
            <a:extLst>
              <a:ext uri="{FF2B5EF4-FFF2-40B4-BE49-F238E27FC236}">
                <a16:creationId xmlns:a16="http://schemas.microsoft.com/office/drawing/2014/main" id="{7050C24C-F094-D1CC-0E9E-B22C5D5B13CB}"/>
              </a:ext>
            </a:extLst>
          </p:cNvPr>
          <p:cNvSpPr/>
          <p:nvPr/>
        </p:nvSpPr>
        <p:spPr>
          <a:xfrm>
            <a:off x="8783112" y="3463220"/>
            <a:ext cx="2928735" cy="737978"/>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23" name="四角形: 角を丸くする 22">
            <a:extLst>
              <a:ext uri="{FF2B5EF4-FFF2-40B4-BE49-F238E27FC236}">
                <a16:creationId xmlns:a16="http://schemas.microsoft.com/office/drawing/2014/main" id="{8680F3FE-1232-A8E3-E297-1699B63EBBCF}"/>
              </a:ext>
            </a:extLst>
          </p:cNvPr>
          <p:cNvSpPr/>
          <p:nvPr/>
        </p:nvSpPr>
        <p:spPr>
          <a:xfrm>
            <a:off x="5575852" y="3118678"/>
            <a:ext cx="2375452" cy="1476126"/>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テキスト ボックス 3">
            <a:extLst>
              <a:ext uri="{FF2B5EF4-FFF2-40B4-BE49-F238E27FC236}">
                <a16:creationId xmlns:a16="http://schemas.microsoft.com/office/drawing/2014/main" id="{2E8474D0-EAC6-01B9-08C9-F6BF1E98735D}"/>
              </a:ext>
            </a:extLst>
          </p:cNvPr>
          <p:cNvSpPr txBox="1"/>
          <p:nvPr/>
        </p:nvSpPr>
        <p:spPr>
          <a:xfrm>
            <a:off x="443466" y="317212"/>
            <a:ext cx="11215133" cy="584775"/>
          </a:xfrm>
          <a:prstGeom prst="rect">
            <a:avLst/>
          </a:prstGeom>
          <a:noFill/>
        </p:spPr>
        <p:txBody>
          <a:bodyPr wrap="square" rtlCol="0">
            <a:spAutoFit/>
          </a:bodyPr>
          <a:lstStyle/>
          <a:p>
            <a:r>
              <a:rPr kumimoji="1" lang="ja-JP" altLang="en-US" sz="3200" b="1">
                <a:latin typeface="メイリオ" panose="020B0604030504040204" pitchFamily="50" charset="-128"/>
                <a:ea typeface="メイリオ" panose="020B0604030504040204" pitchFamily="50" charset="-128"/>
              </a:rPr>
              <a:t>「チャットで答える</a:t>
            </a:r>
            <a:r>
              <a:rPr kumimoji="1" lang="en-US" altLang="ja-JP" sz="3200" b="1">
                <a:latin typeface="メイリオ" panose="020B0604030504040204" pitchFamily="50" charset="-128"/>
                <a:ea typeface="メイリオ" panose="020B0604030504040204" pitchFamily="50" charset="-128"/>
              </a:rPr>
              <a:t>AI</a:t>
            </a:r>
            <a:r>
              <a:rPr kumimoji="1" lang="ja-JP" altLang="en-US" sz="3200" b="1">
                <a:latin typeface="メイリオ" panose="020B0604030504040204" pitchFamily="50" charset="-128"/>
                <a:ea typeface="メイリオ" panose="020B0604030504040204" pitchFamily="50" charset="-128"/>
              </a:rPr>
              <a:t>」から「</a:t>
            </a:r>
            <a:r>
              <a:rPr kumimoji="1" lang="en-US" altLang="ja-JP" sz="3200" b="1">
                <a:latin typeface="メイリオ" panose="020B0604030504040204" pitchFamily="50" charset="-128"/>
                <a:ea typeface="メイリオ" panose="020B0604030504040204" pitchFamily="50" charset="-128"/>
              </a:rPr>
              <a:t>PC</a:t>
            </a:r>
            <a:r>
              <a:rPr kumimoji="1" lang="ja-JP" altLang="en-US" sz="3200" b="1">
                <a:latin typeface="メイリオ" panose="020B0604030504040204" pitchFamily="50" charset="-128"/>
                <a:ea typeface="メイリオ" panose="020B0604030504040204" pitchFamily="50" charset="-128"/>
              </a:rPr>
              <a:t>を動かす</a:t>
            </a:r>
            <a:r>
              <a:rPr kumimoji="1" lang="en-US" altLang="ja-JP" sz="3200" b="1">
                <a:latin typeface="メイリオ" panose="020B0604030504040204" pitchFamily="50" charset="-128"/>
                <a:ea typeface="メイリオ" panose="020B0604030504040204" pitchFamily="50" charset="-128"/>
              </a:rPr>
              <a:t>AI</a:t>
            </a:r>
            <a:r>
              <a:rPr kumimoji="1" lang="ja-JP" altLang="en-US" sz="3200" b="1">
                <a:latin typeface="メイリオ" panose="020B0604030504040204" pitchFamily="50" charset="-128"/>
                <a:ea typeface="メイリオ" panose="020B0604030504040204" pitchFamily="50" charset="-128"/>
              </a:rPr>
              <a:t>」へ</a:t>
            </a:r>
          </a:p>
        </p:txBody>
      </p:sp>
      <p:sp>
        <p:nvSpPr>
          <p:cNvPr id="6" name="正方形/長方形 5">
            <a:extLst>
              <a:ext uri="{FF2B5EF4-FFF2-40B4-BE49-F238E27FC236}">
                <a16:creationId xmlns:a16="http://schemas.microsoft.com/office/drawing/2014/main" id="{317CE811-0509-D08E-CFB3-4BCA1474762E}"/>
              </a:ext>
            </a:extLst>
          </p:cNvPr>
          <p:cNvSpPr/>
          <p:nvPr/>
        </p:nvSpPr>
        <p:spPr>
          <a:xfrm>
            <a:off x="185049" y="1008015"/>
            <a:ext cx="5122446"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solidFill>
                  <a:schemeClr val="tx1"/>
                </a:solidFill>
                <a:latin typeface="メイリオ" panose="020B0604030504040204" pitchFamily="50" charset="-128"/>
                <a:ea typeface="メイリオ" panose="020B0604030504040204" pitchFamily="50" charset="-128"/>
              </a:rPr>
              <a:t>AI</a:t>
            </a:r>
            <a:r>
              <a:rPr lang="ja-JP" altLang="en-US" b="1">
                <a:solidFill>
                  <a:schemeClr val="tx1"/>
                </a:solidFill>
                <a:latin typeface="メイリオ" panose="020B0604030504040204" pitchFamily="50" charset="-128"/>
                <a:ea typeface="メイリオ" panose="020B0604030504040204" pitchFamily="50" charset="-128"/>
              </a:rPr>
              <a:t>が</a:t>
            </a:r>
            <a:r>
              <a:rPr lang="en-US" altLang="ja-JP" b="1">
                <a:solidFill>
                  <a:schemeClr val="tx1"/>
                </a:solidFill>
                <a:latin typeface="メイリオ" panose="020B0604030504040204" pitchFamily="50" charset="-128"/>
                <a:ea typeface="メイリオ" panose="020B0604030504040204" pitchFamily="50" charset="-128"/>
              </a:rPr>
              <a:t>PC</a:t>
            </a:r>
            <a:r>
              <a:rPr lang="ja-JP" altLang="en-US" b="1">
                <a:solidFill>
                  <a:schemeClr val="tx1"/>
                </a:solidFill>
                <a:latin typeface="メイリオ" panose="020B0604030504040204" pitchFamily="50" charset="-128"/>
                <a:ea typeface="メイリオ" panose="020B0604030504040204" pitchFamily="50" charset="-128"/>
              </a:rPr>
              <a:t>・ブラウザを操作する時代</a:t>
            </a:r>
            <a:endParaRPr kumimoji="1" lang="ja-JP" altLang="en-US" b="1">
              <a:solidFill>
                <a:schemeClr val="tx1"/>
              </a:solidFill>
              <a:latin typeface="メイリオ" panose="020B0604030504040204" pitchFamily="50" charset="-128"/>
              <a:ea typeface="メイリオ" panose="020B0604030504040204" pitchFamily="50" charset="-128"/>
            </a:endParaRPr>
          </a:p>
        </p:txBody>
      </p:sp>
      <p:pic>
        <p:nvPicPr>
          <p:cNvPr id="2" name="図 1" descr="ロゴ&#10;&#10;AI 生成コンテンツは誤りを含む可能性があります。">
            <a:extLst>
              <a:ext uri="{FF2B5EF4-FFF2-40B4-BE49-F238E27FC236}">
                <a16:creationId xmlns:a16="http://schemas.microsoft.com/office/drawing/2014/main" id="{8B9F8CC5-CA72-F45F-2548-F891A61AAA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051" y="2134471"/>
            <a:ext cx="843930" cy="843930"/>
          </a:xfrm>
          <a:prstGeom prst="rect">
            <a:avLst/>
          </a:prstGeom>
        </p:spPr>
      </p:pic>
      <p:pic>
        <p:nvPicPr>
          <p:cNvPr id="3" name="図 2" descr="ダイアグラム&#10;&#10;AI 生成コンテンツは誤りを含む可能性があります。">
            <a:extLst>
              <a:ext uri="{FF2B5EF4-FFF2-40B4-BE49-F238E27FC236}">
                <a16:creationId xmlns:a16="http://schemas.microsoft.com/office/drawing/2014/main" id="{7A4DADF2-8EB3-05DD-1E24-34143C5268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049" y="1571243"/>
            <a:ext cx="775934" cy="457200"/>
          </a:xfrm>
          <a:prstGeom prst="rect">
            <a:avLst/>
          </a:prstGeom>
        </p:spPr>
      </p:pic>
      <p:sp>
        <p:nvSpPr>
          <p:cNvPr id="10" name="テキスト ボックス 9">
            <a:extLst>
              <a:ext uri="{FF2B5EF4-FFF2-40B4-BE49-F238E27FC236}">
                <a16:creationId xmlns:a16="http://schemas.microsoft.com/office/drawing/2014/main" id="{FDC608D0-F9DB-37B4-989F-3E28CA46A5A1}"/>
              </a:ext>
            </a:extLst>
          </p:cNvPr>
          <p:cNvSpPr txBox="1"/>
          <p:nvPr/>
        </p:nvSpPr>
        <p:spPr>
          <a:xfrm>
            <a:off x="960983" y="1462741"/>
            <a:ext cx="4346512" cy="711733"/>
          </a:xfrm>
          <a:prstGeom prst="rect">
            <a:avLst/>
          </a:prstGeom>
          <a:noFill/>
        </p:spPr>
        <p:txBody>
          <a:bodyPr wrap="square" rtlCol="0" anchor="ctr">
            <a:spAutoFit/>
          </a:bodyPr>
          <a:lstStyle/>
          <a:p>
            <a:pPr>
              <a:lnSpc>
                <a:spcPct val="150000"/>
              </a:lnSpc>
            </a:pPr>
            <a:r>
              <a:rPr lang="en-US" altLang="ja-JP" sz="1400" b="1">
                <a:latin typeface="メイリオ" panose="020B0604030504040204" pitchFamily="50" charset="-128"/>
                <a:ea typeface="メイリオ" panose="020B0604030504040204" pitchFamily="50" charset="-128"/>
              </a:rPr>
              <a:t>Claude Code</a:t>
            </a:r>
            <a:r>
              <a:rPr lang="ja-JP" altLang="en-US" sz="1400" b="1">
                <a:latin typeface="メイリオ" panose="020B0604030504040204" pitchFamily="50" charset="-128"/>
                <a:ea typeface="メイリオ" panose="020B0604030504040204" pitchFamily="50" charset="-128"/>
              </a:rPr>
              <a:t>：ターミナル</a:t>
            </a:r>
            <a:r>
              <a:rPr lang="ja-JP" altLang="en-US" sz="1400">
                <a:latin typeface="メイリオ" panose="020B0604030504040204" pitchFamily="50" charset="-128"/>
                <a:ea typeface="メイリオ" panose="020B0604030504040204" pitchFamily="50" charset="-128"/>
              </a:rPr>
              <a:t>（黒い画面）</a:t>
            </a:r>
            <a:r>
              <a:rPr lang="ja-JP" altLang="en-US" sz="1400" b="1">
                <a:latin typeface="メイリオ" panose="020B0604030504040204" pitchFamily="50" charset="-128"/>
                <a:ea typeface="メイリオ" panose="020B0604030504040204" pitchFamily="50" charset="-128"/>
              </a:rPr>
              <a:t>で動く</a:t>
            </a:r>
            <a:endParaRPr lang="en-US" altLang="ja-JP" sz="1400" b="1">
              <a:latin typeface="メイリオ" panose="020B0604030504040204" pitchFamily="50" charset="-128"/>
              <a:ea typeface="メイリオ" panose="020B0604030504040204" pitchFamily="50" charset="-128"/>
            </a:endParaRPr>
          </a:p>
          <a:p>
            <a:pPr>
              <a:lnSpc>
                <a:spcPct val="150000"/>
              </a:lnSpc>
            </a:pPr>
            <a:r>
              <a:rPr kumimoji="1" lang="ja-JP" altLang="en-US" sz="1400" b="1">
                <a:latin typeface="メイリオ" panose="020B0604030504040204" pitchFamily="50" charset="-128"/>
                <a:ea typeface="メイリオ" panose="020B0604030504040204" pitchFamily="50" charset="-128"/>
              </a:rPr>
              <a:t>➡</a:t>
            </a:r>
            <a:r>
              <a:rPr kumimoji="1" lang="ja-JP" altLang="en-US" sz="1050" b="1">
                <a:latin typeface="メイリオ" panose="020B0604030504040204" pitchFamily="50" charset="-128"/>
                <a:ea typeface="メイリオ" panose="020B0604030504040204" pitchFamily="50" charset="-128"/>
              </a:rPr>
              <a:t> </a:t>
            </a:r>
            <a:r>
              <a:rPr lang="en-US" altLang="ja-JP" sz="1050">
                <a:latin typeface="メイリオ" panose="020B0604030504040204" pitchFamily="50" charset="-128"/>
                <a:ea typeface="メイリオ" panose="020B0604030504040204" pitchFamily="50" charset="-128"/>
              </a:rPr>
              <a:t>(</a:t>
            </a:r>
            <a:r>
              <a:rPr lang="ja-JP" altLang="en-US" sz="1050">
                <a:latin typeface="メイリオ" panose="020B0604030504040204" pitchFamily="50" charset="-128"/>
                <a:ea typeface="メイリオ" panose="020B0604030504040204" pitchFamily="50" charset="-128"/>
              </a:rPr>
              <a:t>開発ツールだけど</a:t>
            </a:r>
            <a:r>
              <a:rPr lang="en-US" altLang="ja-JP" sz="1050">
                <a:latin typeface="メイリオ" panose="020B0604030504040204" pitchFamily="50" charset="-128"/>
                <a:ea typeface="メイリオ" panose="020B0604030504040204" pitchFamily="50" charset="-128"/>
              </a:rPr>
              <a:t>)</a:t>
            </a:r>
            <a:r>
              <a:rPr kumimoji="1" lang="en-US" altLang="ja-JP" sz="1400" b="1">
                <a:latin typeface="メイリオ" panose="020B0604030504040204" pitchFamily="50" charset="-128"/>
                <a:ea typeface="メイリオ" panose="020B0604030504040204" pitchFamily="50" charset="-128"/>
              </a:rPr>
              <a:t>PC</a:t>
            </a:r>
            <a:r>
              <a:rPr kumimoji="1" lang="ja-JP" altLang="en-US" sz="1400" b="1">
                <a:latin typeface="メイリオ" panose="020B0604030504040204" pitchFamily="50" charset="-128"/>
                <a:ea typeface="メイリオ" panose="020B0604030504040204" pitchFamily="50" charset="-128"/>
              </a:rPr>
              <a:t>自体を操作できる</a:t>
            </a:r>
            <a:r>
              <a:rPr kumimoji="1" lang="ja-JP" altLang="en-US" sz="1400">
                <a:latin typeface="メイリオ" panose="020B0604030504040204" pitchFamily="50" charset="-128"/>
                <a:ea typeface="メイリオ" panose="020B0604030504040204" pitchFamily="50" charset="-128"/>
              </a:rPr>
              <a:t>ということ</a:t>
            </a:r>
            <a:endParaRPr kumimoji="1" lang="en-US" altLang="ja-JP" sz="140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1C5EB677-2876-A69B-0321-E3AB11269551}"/>
              </a:ext>
            </a:extLst>
          </p:cNvPr>
          <p:cNvSpPr txBox="1"/>
          <p:nvPr/>
        </p:nvSpPr>
        <p:spPr>
          <a:xfrm>
            <a:off x="960983" y="2200569"/>
            <a:ext cx="4035288" cy="711733"/>
          </a:xfrm>
          <a:prstGeom prst="rect">
            <a:avLst/>
          </a:prstGeom>
          <a:noFill/>
        </p:spPr>
        <p:txBody>
          <a:bodyPr wrap="square" rtlCol="0">
            <a:spAutoFit/>
          </a:bodyPr>
          <a:lstStyle/>
          <a:p>
            <a:pPr>
              <a:lnSpc>
                <a:spcPct val="150000"/>
              </a:lnSpc>
            </a:pPr>
            <a:r>
              <a:rPr lang="en-US" altLang="ja-JP" sz="1400" b="1">
                <a:latin typeface="メイリオ" panose="020B0604030504040204" pitchFamily="50" charset="-128"/>
                <a:ea typeface="メイリオ" panose="020B0604030504040204" pitchFamily="50" charset="-128"/>
              </a:rPr>
              <a:t>Claude in Chrome</a:t>
            </a:r>
            <a:r>
              <a:rPr lang="ja-JP" altLang="en-US" sz="1400" b="1">
                <a:latin typeface="メイリオ" panose="020B0604030504040204" pitchFamily="50" charset="-128"/>
                <a:ea typeface="メイリオ" panose="020B0604030504040204" pitchFamily="50" charset="-128"/>
              </a:rPr>
              <a:t>：</a:t>
            </a:r>
            <a:r>
              <a:rPr lang="en-US" altLang="ja-JP" sz="1400" b="1">
                <a:latin typeface="メイリオ" panose="020B0604030504040204" pitchFamily="50" charset="-128"/>
                <a:ea typeface="メイリオ" panose="020B0604030504040204" pitchFamily="50" charset="-128"/>
              </a:rPr>
              <a:t>Chrome</a:t>
            </a:r>
            <a:r>
              <a:rPr lang="ja-JP" altLang="en-US" sz="1400" b="1">
                <a:latin typeface="メイリオ" panose="020B0604030504040204" pitchFamily="50" charset="-128"/>
                <a:ea typeface="メイリオ" panose="020B0604030504040204" pitchFamily="50" charset="-128"/>
              </a:rPr>
              <a:t>拡張として動く</a:t>
            </a:r>
            <a:endParaRPr lang="en-US" altLang="ja-JP" sz="1400" b="1">
              <a:latin typeface="メイリオ" panose="020B0604030504040204" pitchFamily="50" charset="-128"/>
              <a:ea typeface="メイリオ" panose="020B0604030504040204" pitchFamily="50" charset="-128"/>
            </a:endParaRPr>
          </a:p>
          <a:p>
            <a:pPr>
              <a:lnSpc>
                <a:spcPct val="150000"/>
              </a:lnSpc>
            </a:pPr>
            <a:r>
              <a:rPr kumimoji="1" lang="ja-JP" altLang="en-US" sz="1400" b="1">
                <a:latin typeface="メイリオ" panose="020B0604030504040204" pitchFamily="50" charset="-128"/>
                <a:ea typeface="メイリオ" panose="020B0604030504040204" pitchFamily="50" charset="-128"/>
              </a:rPr>
              <a:t>➡ ブラウザを操作できる</a:t>
            </a:r>
            <a:r>
              <a:rPr kumimoji="1" lang="ja-JP" altLang="en-US" sz="1400">
                <a:latin typeface="メイリオ" panose="020B0604030504040204" pitchFamily="50" charset="-128"/>
                <a:ea typeface="メイリオ" panose="020B0604030504040204" pitchFamily="50" charset="-128"/>
              </a:rPr>
              <a:t>ということ</a:t>
            </a:r>
            <a:endParaRPr kumimoji="1" lang="en-US" altLang="ja-JP" sz="1400">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9F102DBE-8503-73D0-0CAA-8D560FC96AC6}"/>
              </a:ext>
            </a:extLst>
          </p:cNvPr>
          <p:cNvSpPr/>
          <p:nvPr/>
        </p:nvSpPr>
        <p:spPr>
          <a:xfrm>
            <a:off x="185049" y="3084429"/>
            <a:ext cx="5122446"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solidFill>
                  <a:schemeClr val="tx1"/>
                </a:solidFill>
                <a:latin typeface="メイリオ" panose="020B0604030504040204" pitchFamily="50" charset="-128"/>
                <a:ea typeface="メイリオ" panose="020B0604030504040204" pitchFamily="50" charset="-128"/>
              </a:rPr>
              <a:t>RPA</a:t>
            </a:r>
            <a:r>
              <a:rPr lang="ja-JP" altLang="en-US" b="1">
                <a:solidFill>
                  <a:schemeClr val="tx1"/>
                </a:solidFill>
                <a:latin typeface="メイリオ" panose="020B0604030504040204" pitchFamily="50" charset="-128"/>
                <a:ea typeface="メイリオ" panose="020B0604030504040204" pitchFamily="50" charset="-128"/>
              </a:rPr>
              <a:t>との違い</a:t>
            </a:r>
            <a:endParaRPr kumimoji="1" lang="ja-JP" altLang="en-US" b="1">
              <a:solidFill>
                <a:schemeClr val="tx1"/>
              </a:solidFill>
              <a:latin typeface="メイリオ" panose="020B0604030504040204" pitchFamily="50" charset="-128"/>
              <a:ea typeface="メイリオ" panose="020B0604030504040204" pitchFamily="50" charset="-128"/>
            </a:endParaRPr>
          </a:p>
        </p:txBody>
      </p:sp>
      <p:graphicFrame>
        <p:nvGraphicFramePr>
          <p:cNvPr id="16" name="表 15">
            <a:extLst>
              <a:ext uri="{FF2B5EF4-FFF2-40B4-BE49-F238E27FC236}">
                <a16:creationId xmlns:a16="http://schemas.microsoft.com/office/drawing/2014/main" id="{F138339E-171F-FF11-8C24-C150708111BD}"/>
              </a:ext>
            </a:extLst>
          </p:cNvPr>
          <p:cNvGraphicFramePr>
            <a:graphicFrameLocks noGrp="1"/>
          </p:cNvGraphicFramePr>
          <p:nvPr>
            <p:extLst>
              <p:ext uri="{D42A27DB-BD31-4B8C-83A1-F6EECF244321}">
                <p14:modId xmlns:p14="http://schemas.microsoft.com/office/powerpoint/2010/main" val="2053402878"/>
              </p:ext>
            </p:extLst>
          </p:nvPr>
        </p:nvGraphicFramePr>
        <p:xfrm>
          <a:off x="185050" y="3597784"/>
          <a:ext cx="5122446" cy="3030067"/>
        </p:xfrm>
        <a:graphic>
          <a:graphicData uri="http://schemas.openxmlformats.org/drawingml/2006/table">
            <a:tbl>
              <a:tblPr firstRow="1" bandRow="1">
                <a:tableStyleId>{5C22544A-7EE6-4342-B048-85BDC9FD1C3A}</a:tableStyleId>
              </a:tblPr>
              <a:tblGrid>
                <a:gridCol w="1097098">
                  <a:extLst>
                    <a:ext uri="{9D8B030D-6E8A-4147-A177-3AD203B41FA5}">
                      <a16:colId xmlns:a16="http://schemas.microsoft.com/office/drawing/2014/main" val="1714558132"/>
                    </a:ext>
                  </a:extLst>
                </a:gridCol>
                <a:gridCol w="1699591">
                  <a:extLst>
                    <a:ext uri="{9D8B030D-6E8A-4147-A177-3AD203B41FA5}">
                      <a16:colId xmlns:a16="http://schemas.microsoft.com/office/drawing/2014/main" val="480840800"/>
                    </a:ext>
                  </a:extLst>
                </a:gridCol>
                <a:gridCol w="2325757">
                  <a:extLst>
                    <a:ext uri="{9D8B030D-6E8A-4147-A177-3AD203B41FA5}">
                      <a16:colId xmlns:a16="http://schemas.microsoft.com/office/drawing/2014/main" val="1844808726"/>
                    </a:ext>
                  </a:extLst>
                </a:gridCol>
              </a:tblGrid>
              <a:tr h="530707">
                <a:tc>
                  <a:txBody>
                    <a:bodyPr/>
                    <a:lstStyle/>
                    <a:p>
                      <a:pPr algn="ctr"/>
                      <a:r>
                        <a:rPr kumimoji="1" lang="ja-JP" altLang="en-US" sz="1400">
                          <a:latin typeface="メイリオ" panose="020B0604030504040204" pitchFamily="50" charset="-128"/>
                          <a:ea typeface="メイリオ" panose="020B0604030504040204" pitchFamily="50" charset="-128"/>
                        </a:rPr>
                        <a:t>項目</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従来の</a:t>
                      </a:r>
                      <a:r>
                        <a:rPr kumimoji="1" lang="en-US" altLang="ja-JP" sz="1400">
                          <a:latin typeface="メイリオ" panose="020B0604030504040204" pitchFamily="50" charset="-128"/>
                          <a:ea typeface="メイリオ" panose="020B0604030504040204" pitchFamily="50" charset="-128"/>
                        </a:rPr>
                        <a:t>RPA</a:t>
                      </a:r>
                      <a:endParaRPr kumimoji="1" lang="ja-JP" altLang="en-US" sz="1400">
                        <a:latin typeface="メイリオ" panose="020B0604030504040204" pitchFamily="50" charset="-128"/>
                        <a:ea typeface="メイリオ" panose="020B0604030504040204" pitchFamily="50" charset="-128"/>
                      </a:endParaRPr>
                    </a:p>
                  </a:txBody>
                  <a:tcPr anchor="ctr"/>
                </a:tc>
                <a:tc>
                  <a:txBody>
                    <a:bodyPr/>
                    <a:lstStyle/>
                    <a:p>
                      <a:pPr algn="ctr"/>
                      <a:r>
                        <a:rPr kumimoji="1" lang="en-US" altLang="ja-JP" sz="1400">
                          <a:latin typeface="メイリオ" panose="020B0604030504040204" pitchFamily="50" charset="-128"/>
                          <a:ea typeface="メイリオ" panose="020B0604030504040204" pitchFamily="50" charset="-128"/>
                        </a:rPr>
                        <a:t>Claude Code / Claude in Chrome</a:t>
                      </a:r>
                      <a:endParaRPr kumimoji="1"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708897093"/>
                  </a:ext>
                </a:extLst>
              </a:tr>
              <a:tr h="741536">
                <a:tc>
                  <a:txBody>
                    <a:bodyPr/>
                    <a:lstStyle/>
                    <a:p>
                      <a:pPr algn="ctr"/>
                      <a:r>
                        <a:rPr kumimoji="1" lang="ja-JP" altLang="en-US" sz="1400">
                          <a:latin typeface="メイリオ" panose="020B0604030504040204" pitchFamily="50" charset="-128"/>
                          <a:ea typeface="メイリオ" panose="020B0604030504040204" pitchFamily="50" charset="-128"/>
                        </a:rPr>
                        <a:t>動作環境</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画面座標・要素</a:t>
                      </a:r>
                      <a:r>
                        <a:rPr kumimoji="1" lang="en-US" altLang="ja-JP" sz="1400">
                          <a:latin typeface="メイリオ" panose="020B0604030504040204" pitchFamily="50" charset="-128"/>
                          <a:ea typeface="メイリオ" panose="020B0604030504040204" pitchFamily="50" charset="-128"/>
                        </a:rPr>
                        <a:t>ID</a:t>
                      </a:r>
                      <a:r>
                        <a:rPr kumimoji="1" lang="ja-JP" altLang="en-US" sz="1400">
                          <a:latin typeface="メイリオ" panose="020B0604030504040204" pitchFamily="50" charset="-128"/>
                          <a:ea typeface="メイリオ" panose="020B0604030504040204" pitchFamily="50" charset="-128"/>
                        </a:rPr>
                        <a:t>を記録して再生</a:t>
                      </a:r>
                    </a:p>
                  </a:txBody>
                  <a:tcPr anchor="ctr"/>
                </a:tc>
                <a:tc>
                  <a:txBody>
                    <a:bodyPr/>
                    <a:lstStyle/>
                    <a:p>
                      <a:pPr algn="ctr"/>
                      <a:r>
                        <a:rPr kumimoji="1" lang="en-US" altLang="ja-JP" sz="1400">
                          <a:latin typeface="メイリオ" panose="020B0604030504040204" pitchFamily="50" charset="-128"/>
                          <a:ea typeface="メイリオ" panose="020B0604030504040204" pitchFamily="50" charset="-128"/>
                        </a:rPr>
                        <a:t>AI</a:t>
                      </a:r>
                      <a:r>
                        <a:rPr kumimoji="1" lang="ja-JP" altLang="en-US" sz="1400">
                          <a:latin typeface="メイリオ" panose="020B0604030504040204" pitchFamily="50" charset="-128"/>
                          <a:ea typeface="メイリオ" panose="020B0604030504040204" pitchFamily="50" charset="-128"/>
                        </a:rPr>
                        <a:t>が画面を見て意味を理解して操作</a:t>
                      </a:r>
                      <a:endParaRPr kumimoji="1" lang="en-US" altLang="ja-JP" sz="1400">
                        <a:latin typeface="メイリオ" panose="020B0604030504040204" pitchFamily="50" charset="-128"/>
                        <a:ea typeface="メイリオ" panose="020B0604030504040204" pitchFamily="50" charset="-128"/>
                      </a:endParaRPr>
                    </a:p>
                    <a:p>
                      <a:pPr algn="ctr"/>
                      <a:r>
                        <a:rPr kumimoji="1" lang="ja-JP" altLang="en-US" sz="1400">
                          <a:latin typeface="メイリオ" panose="020B0604030504040204" pitchFamily="50" charset="-128"/>
                          <a:ea typeface="メイリオ" panose="020B0604030504040204" pitchFamily="50" charset="-128"/>
                        </a:rPr>
                        <a:t>➡ 画面スクショを取り勝手に確認するなど</a:t>
                      </a:r>
                    </a:p>
                  </a:txBody>
                  <a:tcPr anchor="ctr"/>
                </a:tc>
                <a:extLst>
                  <a:ext uri="{0D108BD9-81ED-4DB2-BD59-A6C34878D82A}">
                    <a16:rowId xmlns:a16="http://schemas.microsoft.com/office/drawing/2014/main" val="915160650"/>
                  </a:ext>
                </a:extLst>
              </a:tr>
              <a:tr h="436198">
                <a:tc>
                  <a:txBody>
                    <a:bodyPr/>
                    <a:lstStyle/>
                    <a:p>
                      <a:pPr algn="ctr"/>
                      <a:r>
                        <a:rPr kumimoji="1" lang="ja-JP" altLang="en-US" sz="1400">
                          <a:latin typeface="メイリオ" panose="020B0604030504040204" pitchFamily="50" charset="-128"/>
                          <a:ea typeface="メイリオ" panose="020B0604030504040204" pitchFamily="50" charset="-128"/>
                        </a:rPr>
                        <a:t>画面変更時</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止まる（シナリオ作り直し）</a:t>
                      </a:r>
                    </a:p>
                  </a:txBody>
                  <a:tcPr anchor="ctr"/>
                </a:tc>
                <a:tc>
                  <a:txBody>
                    <a:bodyPr/>
                    <a:lstStyle/>
                    <a:p>
                      <a:pPr algn="ctr"/>
                      <a:r>
                        <a:rPr kumimoji="1" lang="en-US" altLang="ja-JP" sz="1400">
                          <a:latin typeface="メイリオ" panose="020B0604030504040204" pitchFamily="50" charset="-128"/>
                          <a:ea typeface="メイリオ" panose="020B0604030504040204" pitchFamily="50" charset="-128"/>
                        </a:rPr>
                        <a:t>AI</a:t>
                      </a:r>
                      <a:r>
                        <a:rPr kumimoji="1" lang="ja-JP" altLang="en-US" sz="1400">
                          <a:latin typeface="メイリオ" panose="020B0604030504040204" pitchFamily="50" charset="-128"/>
                          <a:ea typeface="メイリオ" panose="020B0604030504040204" pitchFamily="50" charset="-128"/>
                        </a:rPr>
                        <a:t>が適応して操作を継続</a:t>
                      </a:r>
                      <a:endParaRPr kumimoji="1" lang="en-US" altLang="ja-JP"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551060320"/>
                  </a:ext>
                </a:extLst>
              </a:tr>
              <a:tr h="436198">
                <a:tc>
                  <a:txBody>
                    <a:bodyPr/>
                    <a:lstStyle/>
                    <a:p>
                      <a:pPr algn="ctr"/>
                      <a:r>
                        <a:rPr kumimoji="1" lang="ja-JP" altLang="en-US" sz="1400">
                          <a:latin typeface="メイリオ" panose="020B0604030504040204" pitchFamily="50" charset="-128"/>
                          <a:ea typeface="メイリオ" panose="020B0604030504040204" pitchFamily="50" charset="-128"/>
                        </a:rPr>
                        <a:t>例外処理</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人が対応</a:t>
                      </a:r>
                    </a:p>
                  </a:txBody>
                  <a:tcPr anchor="ctr"/>
                </a:tc>
                <a:tc>
                  <a:txBody>
                    <a:bodyPr/>
                    <a:lstStyle/>
                    <a:p>
                      <a:pPr algn="ctr"/>
                      <a:r>
                        <a:rPr kumimoji="1" lang="en-US" altLang="ja-JP" sz="1400">
                          <a:latin typeface="メイリオ" panose="020B0604030504040204" pitchFamily="50" charset="-128"/>
                          <a:ea typeface="メイリオ" panose="020B0604030504040204" pitchFamily="50" charset="-128"/>
                        </a:rPr>
                        <a:t>AI</a:t>
                      </a:r>
                      <a:r>
                        <a:rPr kumimoji="1" lang="ja-JP" altLang="en-US" sz="1400">
                          <a:latin typeface="メイリオ" panose="020B0604030504040204" pitchFamily="50" charset="-128"/>
                          <a:ea typeface="メイリオ" panose="020B0604030504040204" pitchFamily="50" charset="-128"/>
                        </a:rPr>
                        <a:t>が判断して対処、</a:t>
                      </a:r>
                      <a:endParaRPr kumimoji="1" lang="en-US" altLang="ja-JP" sz="1400">
                        <a:latin typeface="メイリオ" panose="020B0604030504040204" pitchFamily="50" charset="-128"/>
                        <a:ea typeface="メイリオ" panose="020B0604030504040204" pitchFamily="50" charset="-128"/>
                      </a:endParaRPr>
                    </a:p>
                    <a:p>
                      <a:pPr algn="ctr"/>
                      <a:r>
                        <a:rPr kumimoji="1" lang="ja-JP" altLang="en-US" sz="1400">
                          <a:latin typeface="メイリオ" panose="020B0604030504040204" pitchFamily="50" charset="-128"/>
                          <a:ea typeface="メイリオ" panose="020B0604030504040204" pitchFamily="50" charset="-128"/>
                        </a:rPr>
                        <a:t>または人に確認依頼</a:t>
                      </a:r>
                      <a:endParaRPr kumimoji="1" lang="en-US" altLang="ja-JP"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941166824"/>
                  </a:ext>
                </a:extLst>
              </a:tr>
              <a:tr h="436198">
                <a:tc>
                  <a:txBody>
                    <a:bodyPr/>
                    <a:lstStyle/>
                    <a:p>
                      <a:pPr algn="ctr"/>
                      <a:r>
                        <a:rPr kumimoji="1" lang="ja-JP" altLang="en-US" sz="1400">
                          <a:latin typeface="メイリオ" panose="020B0604030504040204" pitchFamily="50" charset="-128"/>
                          <a:ea typeface="メイリオ" panose="020B0604030504040204" pitchFamily="50" charset="-128"/>
                        </a:rPr>
                        <a:t>作成方法</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画面録画・スクリプト作成</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自然言語で指示</a:t>
                      </a:r>
                      <a:endParaRPr kumimoji="1" lang="en-US" altLang="ja-JP"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603302509"/>
                  </a:ext>
                </a:extLst>
              </a:tr>
            </a:tbl>
          </a:graphicData>
        </a:graphic>
      </p:graphicFrame>
      <p:sp>
        <p:nvSpPr>
          <p:cNvPr id="18" name="正方形/長方形 17">
            <a:extLst>
              <a:ext uri="{FF2B5EF4-FFF2-40B4-BE49-F238E27FC236}">
                <a16:creationId xmlns:a16="http://schemas.microsoft.com/office/drawing/2014/main" id="{1544AB4B-718D-64CC-A4A4-95AFEC11B529}"/>
              </a:ext>
            </a:extLst>
          </p:cNvPr>
          <p:cNvSpPr/>
          <p:nvPr/>
        </p:nvSpPr>
        <p:spPr>
          <a:xfrm>
            <a:off x="5495857" y="1008015"/>
            <a:ext cx="6511094"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solidFill>
                  <a:schemeClr val="tx1"/>
                </a:solidFill>
                <a:latin typeface="メイリオ" panose="020B0604030504040204" pitchFamily="50" charset="-128"/>
                <a:ea typeface="メイリオ" panose="020B0604030504040204" pitchFamily="50" charset="-128"/>
              </a:rPr>
              <a:t>M365 Copilot </a:t>
            </a:r>
            <a:r>
              <a:rPr lang="ja-JP" altLang="en-US" b="1">
                <a:solidFill>
                  <a:schemeClr val="tx1"/>
                </a:solidFill>
                <a:latin typeface="メイリオ" panose="020B0604030504040204" pitchFamily="50" charset="-128"/>
                <a:ea typeface="メイリオ" panose="020B0604030504040204" pitchFamily="50" charset="-128"/>
              </a:rPr>
              <a:t>との違い</a:t>
            </a:r>
            <a:endParaRPr kumimoji="1" lang="ja-JP" altLang="en-US" b="1">
              <a:solidFill>
                <a:schemeClr val="tx1"/>
              </a:solidFill>
              <a:latin typeface="メイリオ" panose="020B0604030504040204" pitchFamily="50" charset="-128"/>
              <a:ea typeface="メイリオ" panose="020B0604030504040204" pitchFamily="50" charset="-128"/>
            </a:endParaRPr>
          </a:p>
        </p:txBody>
      </p:sp>
      <p:graphicFrame>
        <p:nvGraphicFramePr>
          <p:cNvPr id="20" name="表 19">
            <a:extLst>
              <a:ext uri="{FF2B5EF4-FFF2-40B4-BE49-F238E27FC236}">
                <a16:creationId xmlns:a16="http://schemas.microsoft.com/office/drawing/2014/main" id="{DD53D0B6-C392-7C1C-06FD-1B654C3DCBE4}"/>
              </a:ext>
            </a:extLst>
          </p:cNvPr>
          <p:cNvGraphicFramePr>
            <a:graphicFrameLocks noGrp="1"/>
          </p:cNvGraphicFramePr>
          <p:nvPr>
            <p:extLst>
              <p:ext uri="{D42A27DB-BD31-4B8C-83A1-F6EECF244321}">
                <p14:modId xmlns:p14="http://schemas.microsoft.com/office/powerpoint/2010/main" val="699771185"/>
              </p:ext>
            </p:extLst>
          </p:nvPr>
        </p:nvGraphicFramePr>
        <p:xfrm>
          <a:off x="5495856" y="1510631"/>
          <a:ext cx="6511093" cy="1188720"/>
        </p:xfrm>
        <a:graphic>
          <a:graphicData uri="http://schemas.openxmlformats.org/drawingml/2006/table">
            <a:tbl>
              <a:tblPr firstRow="1" bandRow="1">
                <a:tableStyleId>{5C22544A-7EE6-4342-B048-85BDC9FD1C3A}</a:tableStyleId>
              </a:tblPr>
              <a:tblGrid>
                <a:gridCol w="1394511">
                  <a:extLst>
                    <a:ext uri="{9D8B030D-6E8A-4147-A177-3AD203B41FA5}">
                      <a16:colId xmlns:a16="http://schemas.microsoft.com/office/drawing/2014/main" val="1714558132"/>
                    </a:ext>
                  </a:extLst>
                </a:gridCol>
                <a:gridCol w="2011001">
                  <a:extLst>
                    <a:ext uri="{9D8B030D-6E8A-4147-A177-3AD203B41FA5}">
                      <a16:colId xmlns:a16="http://schemas.microsoft.com/office/drawing/2014/main" val="480840800"/>
                    </a:ext>
                  </a:extLst>
                </a:gridCol>
                <a:gridCol w="3105581">
                  <a:extLst>
                    <a:ext uri="{9D8B030D-6E8A-4147-A177-3AD203B41FA5}">
                      <a16:colId xmlns:a16="http://schemas.microsoft.com/office/drawing/2014/main" val="1844808726"/>
                    </a:ext>
                  </a:extLst>
                </a:gridCol>
              </a:tblGrid>
              <a:tr h="179327">
                <a:tc>
                  <a:txBody>
                    <a:bodyPr/>
                    <a:lstStyle/>
                    <a:p>
                      <a:pPr algn="ctr"/>
                      <a:endParaRPr kumimoji="1" lang="ja-JP" altLang="en-US" sz="1200">
                        <a:latin typeface="メイリオ" panose="020B0604030504040204" pitchFamily="50" charset="-128"/>
                        <a:ea typeface="メイリオ" panose="020B0604030504040204" pitchFamily="50" charset="-128"/>
                      </a:endParaRPr>
                    </a:p>
                  </a:txBody>
                  <a:tcPr anchor="ctr"/>
                </a:tc>
                <a:tc>
                  <a:txBody>
                    <a:bodyPr/>
                    <a:lstStyle/>
                    <a:p>
                      <a:pPr algn="ctr"/>
                      <a:r>
                        <a:rPr kumimoji="1" lang="en-US" altLang="ja-JP" sz="1200">
                          <a:latin typeface="メイリオ" panose="020B0604030504040204" pitchFamily="50" charset="-128"/>
                          <a:ea typeface="メイリオ" panose="020B0604030504040204" pitchFamily="50" charset="-128"/>
                        </a:rPr>
                        <a:t>M365 Copilot</a:t>
                      </a:r>
                      <a:endParaRPr kumimoji="1" lang="ja-JP" altLang="en-US" sz="1200">
                        <a:latin typeface="メイリオ" panose="020B0604030504040204" pitchFamily="50" charset="-128"/>
                        <a:ea typeface="メイリオ" panose="020B0604030504040204" pitchFamily="50" charset="-128"/>
                      </a:endParaRPr>
                    </a:p>
                  </a:txBody>
                  <a:tcPr anchor="ctr"/>
                </a:tc>
                <a:tc>
                  <a:txBody>
                    <a:bodyPr/>
                    <a:lstStyle/>
                    <a:p>
                      <a:pPr algn="ctr"/>
                      <a:r>
                        <a:rPr kumimoji="1" lang="en-US" altLang="ja-JP" sz="1200">
                          <a:latin typeface="メイリオ" panose="020B0604030504040204" pitchFamily="50" charset="-128"/>
                          <a:ea typeface="メイリオ" panose="020B0604030504040204" pitchFamily="50" charset="-128"/>
                        </a:rPr>
                        <a:t>Claude Code</a:t>
                      </a:r>
                      <a:endParaRPr kumimoji="1" lang="ja-JP" altLang="en-US" sz="12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708897093"/>
                  </a:ext>
                </a:extLst>
              </a:tr>
              <a:tr h="311445">
                <a:tc>
                  <a:txBody>
                    <a:bodyPr/>
                    <a:lstStyle/>
                    <a:p>
                      <a:pPr algn="ctr"/>
                      <a:r>
                        <a:rPr kumimoji="1" lang="ja-JP" altLang="en-US" sz="1200">
                          <a:latin typeface="メイリオ" panose="020B0604030504040204" pitchFamily="50" charset="-128"/>
                          <a:ea typeface="メイリオ" panose="020B0604030504040204" pitchFamily="50" charset="-128"/>
                        </a:rPr>
                        <a:t>実行環境</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各実行したアプリ内</a:t>
                      </a:r>
                      <a:endParaRPr kumimoji="1" lang="en-US" altLang="ja-JP" sz="1200">
                        <a:latin typeface="メイリオ" panose="020B0604030504040204" pitchFamily="50" charset="-128"/>
                        <a:ea typeface="メイリオ" panose="020B0604030504040204" pitchFamily="50" charset="-128"/>
                      </a:endParaRPr>
                    </a:p>
                    <a:p>
                      <a:pPr algn="ctr"/>
                      <a:r>
                        <a:rPr kumimoji="1" lang="en-US" altLang="ja-JP" sz="1200">
                          <a:latin typeface="メイリオ" panose="020B0604030504040204" pitchFamily="50" charset="-128"/>
                          <a:ea typeface="メイリオ" panose="020B0604030504040204" pitchFamily="50" charset="-128"/>
                        </a:rPr>
                        <a:t>(Word</a:t>
                      </a:r>
                      <a:r>
                        <a:rPr kumimoji="1" lang="ja-JP" altLang="en-US" sz="1200">
                          <a:latin typeface="メイリオ" panose="020B0604030504040204" pitchFamily="50" charset="-128"/>
                          <a:ea typeface="メイリオ" panose="020B0604030504040204" pitchFamily="50" charset="-128"/>
                        </a:rPr>
                        <a:t>、</a:t>
                      </a:r>
                      <a:r>
                        <a:rPr kumimoji="1" lang="en-US" altLang="ja-JP" sz="1200">
                          <a:latin typeface="メイリオ" panose="020B0604030504040204" pitchFamily="50" charset="-128"/>
                          <a:ea typeface="メイリオ" panose="020B0604030504040204" pitchFamily="50" charset="-128"/>
                        </a:rPr>
                        <a:t>Excel</a:t>
                      </a:r>
                      <a:r>
                        <a:rPr kumimoji="1" lang="ja-JP" altLang="en-US" sz="1200">
                          <a:latin typeface="メイリオ" panose="020B0604030504040204" pitchFamily="50" charset="-128"/>
                          <a:ea typeface="メイリオ" panose="020B0604030504040204" pitchFamily="50" charset="-128"/>
                        </a:rPr>
                        <a:t>等</a:t>
                      </a:r>
                      <a:r>
                        <a:rPr kumimoji="1" lang="en-US" altLang="ja-JP" sz="1200">
                          <a:latin typeface="メイリオ" panose="020B0604030504040204" pitchFamily="50" charset="-128"/>
                          <a:ea typeface="メイリオ" panose="020B0604030504040204" pitchFamily="50" charset="-128"/>
                        </a:rPr>
                        <a:t>)</a:t>
                      </a:r>
                      <a:endParaRPr kumimoji="1" lang="ja-JP" altLang="en-US" sz="1200">
                        <a:latin typeface="メイリオ" panose="020B0604030504040204" pitchFamily="50" charset="-128"/>
                        <a:ea typeface="メイリオ" panose="020B0604030504040204" pitchFamily="50" charset="-128"/>
                      </a:endParaRP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実行</a:t>
                      </a:r>
                      <a:r>
                        <a:rPr kumimoji="1" lang="en-US" altLang="ja-JP" sz="1200">
                          <a:latin typeface="メイリオ" panose="020B0604030504040204" pitchFamily="50" charset="-128"/>
                          <a:ea typeface="メイリオ" panose="020B0604030504040204" pitchFamily="50" charset="-128"/>
                        </a:rPr>
                        <a:t>PC(※1) Or </a:t>
                      </a:r>
                      <a:r>
                        <a:rPr kumimoji="1" lang="en-US" altLang="ja-JP" sz="1200">
                          <a:latin typeface="メイリオ" panose="020B0604030504040204" pitchFamily="50" charset="-128"/>
                          <a:ea typeface="メイリオ" panose="020B0604030504040204" pitchFamily="50" charset="-128"/>
                          <a:hlinkClick r:id="rId4"/>
                        </a:rPr>
                        <a:t>Web</a:t>
                      </a:r>
                      <a:r>
                        <a:rPr kumimoji="1" lang="ja-JP" altLang="en-US" sz="1200">
                          <a:latin typeface="メイリオ" panose="020B0604030504040204" pitchFamily="50" charset="-128"/>
                          <a:ea typeface="メイリオ" panose="020B0604030504040204" pitchFamily="50" charset="-128"/>
                          <a:hlinkClick r:id="rId4"/>
                        </a:rPr>
                        <a:t>アプリ上</a:t>
                      </a:r>
                      <a:endParaRPr kumimoji="1" lang="ja-JP" altLang="en-US" sz="12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915160650"/>
                  </a:ext>
                </a:extLst>
              </a:tr>
              <a:tr h="298878">
                <a:tc>
                  <a:txBody>
                    <a:bodyPr/>
                    <a:lstStyle/>
                    <a:p>
                      <a:pPr algn="ctr"/>
                      <a:r>
                        <a:rPr kumimoji="1" lang="ja-JP" altLang="en-US" sz="1200">
                          <a:latin typeface="メイリオ" panose="020B0604030504040204" pitchFamily="50" charset="-128"/>
                          <a:ea typeface="メイリオ" panose="020B0604030504040204" pitchFamily="50" charset="-128"/>
                        </a:rPr>
                        <a:t>連携範囲</a:t>
                      </a:r>
                    </a:p>
                  </a:txBody>
                  <a:tcPr anchor="ctr"/>
                </a:tc>
                <a:tc>
                  <a:txBody>
                    <a:bodyPr/>
                    <a:lstStyle/>
                    <a:p>
                      <a:pPr algn="ctr"/>
                      <a:r>
                        <a:rPr kumimoji="1" lang="en-US" altLang="ja-JP" sz="1200">
                          <a:latin typeface="メイリオ" panose="020B0604030504040204" pitchFamily="50" charset="-128"/>
                          <a:ea typeface="メイリオ" panose="020B0604030504040204" pitchFamily="50" charset="-128"/>
                        </a:rPr>
                        <a:t>Web</a:t>
                      </a:r>
                      <a:r>
                        <a:rPr kumimoji="1" lang="ja-JP" altLang="en-US" sz="1200">
                          <a:latin typeface="メイリオ" panose="020B0604030504040204" pitchFamily="50" charset="-128"/>
                          <a:ea typeface="メイリオ" panose="020B0604030504040204" pitchFamily="50" charset="-128"/>
                        </a:rPr>
                        <a:t>検索、自社テナント内</a:t>
                      </a:r>
                      <a:r>
                        <a:rPr kumimoji="1" lang="en-US" altLang="ja-JP" sz="1200">
                          <a:latin typeface="メイリオ" panose="020B0604030504040204" pitchFamily="50" charset="-128"/>
                          <a:ea typeface="メイリオ" panose="020B0604030504040204" pitchFamily="50" charset="-128"/>
                        </a:rPr>
                        <a:t>(SharePoint</a:t>
                      </a:r>
                      <a:r>
                        <a:rPr kumimoji="1" lang="ja-JP" altLang="en-US" sz="1200">
                          <a:latin typeface="メイリオ" panose="020B0604030504040204" pitchFamily="50" charset="-128"/>
                          <a:ea typeface="メイリオ" panose="020B0604030504040204" pitchFamily="50" charset="-128"/>
                        </a:rPr>
                        <a:t>等</a:t>
                      </a:r>
                      <a:r>
                        <a:rPr kumimoji="1" lang="en-US" altLang="ja-JP" sz="1200">
                          <a:latin typeface="メイリオ" panose="020B0604030504040204" pitchFamily="50" charset="-128"/>
                          <a:ea typeface="メイリオ" panose="020B0604030504040204" pitchFamily="50" charset="-128"/>
                        </a:rPr>
                        <a:t>)</a:t>
                      </a:r>
                      <a:endParaRPr kumimoji="1" lang="ja-JP" altLang="en-US" sz="1200">
                        <a:latin typeface="メイリオ" panose="020B0604030504040204" pitchFamily="50" charset="-128"/>
                        <a:ea typeface="メイリオ" panose="020B0604030504040204" pitchFamily="50" charset="-128"/>
                      </a:endParaRPr>
                    </a:p>
                  </a:txBody>
                  <a:tcPr anchor="ctr"/>
                </a:tc>
                <a:tc>
                  <a:txBody>
                    <a:bodyPr/>
                    <a:lstStyle/>
                    <a:p>
                      <a:pPr algn="ctr"/>
                      <a:r>
                        <a:rPr kumimoji="1" lang="en-US" altLang="ja-JP" sz="1200">
                          <a:latin typeface="メイリオ" panose="020B0604030504040204" pitchFamily="50" charset="-128"/>
                          <a:ea typeface="メイリオ" panose="020B0604030504040204" pitchFamily="50" charset="-128"/>
                        </a:rPr>
                        <a:t>GitHub</a:t>
                      </a:r>
                      <a:r>
                        <a:rPr kumimoji="1" lang="ja-JP" altLang="en-US" sz="1200">
                          <a:latin typeface="メイリオ" panose="020B0604030504040204" pitchFamily="50" charset="-128"/>
                          <a:ea typeface="メイリオ" panose="020B0604030504040204" pitchFamily="50" charset="-128"/>
                        </a:rPr>
                        <a:t>、</a:t>
                      </a:r>
                      <a:r>
                        <a:rPr kumimoji="1" lang="en-US" altLang="ja-JP" sz="1200">
                          <a:latin typeface="メイリオ" panose="020B0604030504040204" pitchFamily="50" charset="-128"/>
                          <a:ea typeface="メイリオ" panose="020B0604030504040204" pitchFamily="50" charset="-128"/>
                        </a:rPr>
                        <a:t>API</a:t>
                      </a:r>
                      <a:r>
                        <a:rPr kumimoji="1" lang="ja-JP" altLang="en-US" sz="1200">
                          <a:latin typeface="メイリオ" panose="020B0604030504040204" pitchFamily="50" charset="-128"/>
                          <a:ea typeface="メイリオ" panose="020B0604030504040204" pitchFamily="50" charset="-128"/>
                        </a:rPr>
                        <a:t>、</a:t>
                      </a:r>
                      <a:r>
                        <a:rPr kumimoji="1" lang="en-US" altLang="ja-JP" sz="1200">
                          <a:latin typeface="メイリオ" panose="020B0604030504040204" pitchFamily="50" charset="-128"/>
                          <a:ea typeface="メイリオ" panose="020B0604030504040204" pitchFamily="50" charset="-128"/>
                        </a:rPr>
                        <a:t>Web</a:t>
                      </a:r>
                      <a:r>
                        <a:rPr kumimoji="1" lang="ja-JP" altLang="en-US" sz="1200">
                          <a:latin typeface="メイリオ" panose="020B0604030504040204" pitchFamily="50" charset="-128"/>
                          <a:ea typeface="メイリオ" panose="020B0604030504040204" pitchFamily="50" charset="-128"/>
                        </a:rPr>
                        <a:t>等の</a:t>
                      </a:r>
                      <a:endParaRPr kumimoji="1" lang="en-US" altLang="ja-JP" sz="1200">
                        <a:latin typeface="メイリオ" panose="020B0604030504040204" pitchFamily="50" charset="-128"/>
                        <a:ea typeface="メイリオ" panose="020B0604030504040204" pitchFamily="50" charset="-128"/>
                      </a:endParaRPr>
                    </a:p>
                    <a:p>
                      <a:pPr algn="ctr"/>
                      <a:r>
                        <a:rPr kumimoji="1" lang="ja-JP" altLang="en-US" sz="1200">
                          <a:latin typeface="メイリオ" panose="020B0604030504040204" pitchFamily="50" charset="-128"/>
                          <a:ea typeface="メイリオ" panose="020B0604030504040204" pitchFamily="50" charset="-128"/>
                        </a:rPr>
                        <a:t>プログラムで実行できる範囲</a:t>
                      </a:r>
                      <a:endParaRPr kumimoji="1" lang="en-US" altLang="ja-JP" sz="12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551060320"/>
                  </a:ext>
                </a:extLst>
              </a:tr>
            </a:tbl>
          </a:graphicData>
        </a:graphic>
      </p:graphicFrame>
      <p:sp>
        <p:nvSpPr>
          <p:cNvPr id="24" name="テキスト ボックス 23">
            <a:extLst>
              <a:ext uri="{FF2B5EF4-FFF2-40B4-BE49-F238E27FC236}">
                <a16:creationId xmlns:a16="http://schemas.microsoft.com/office/drawing/2014/main" id="{428076EA-3616-DAED-B69D-2C0495BDB1EF}"/>
              </a:ext>
            </a:extLst>
          </p:cNvPr>
          <p:cNvSpPr txBox="1"/>
          <p:nvPr/>
        </p:nvSpPr>
        <p:spPr>
          <a:xfrm>
            <a:off x="5993245" y="3084429"/>
            <a:ext cx="1540667" cy="388568"/>
          </a:xfrm>
          <a:prstGeom prst="rect">
            <a:avLst/>
          </a:prstGeom>
          <a:noFill/>
        </p:spPr>
        <p:txBody>
          <a:bodyPr wrap="square" rtlCol="0">
            <a:spAutoFit/>
          </a:bodyPr>
          <a:lstStyle/>
          <a:p>
            <a:pPr algn="ctr">
              <a:lnSpc>
                <a:spcPct val="150000"/>
              </a:lnSpc>
            </a:pPr>
            <a:r>
              <a:rPr lang="en-US" altLang="ja-JP" sz="1400" b="1">
                <a:latin typeface="メイリオ" panose="020B0604030504040204" pitchFamily="50" charset="-128"/>
                <a:ea typeface="メイリオ" panose="020B0604030504040204" pitchFamily="50" charset="-128"/>
              </a:rPr>
              <a:t>M365 Copilot</a:t>
            </a:r>
            <a:endParaRPr kumimoji="1" lang="en-US" altLang="ja-JP" sz="1400">
              <a:latin typeface="メイリオ" panose="020B0604030504040204" pitchFamily="50" charset="-128"/>
              <a:ea typeface="メイリオ" panose="020B0604030504040204" pitchFamily="50" charset="-128"/>
            </a:endParaRPr>
          </a:p>
        </p:txBody>
      </p:sp>
      <p:sp>
        <p:nvSpPr>
          <p:cNvPr id="25" name="テキスト ボックス 24">
            <a:extLst>
              <a:ext uri="{FF2B5EF4-FFF2-40B4-BE49-F238E27FC236}">
                <a16:creationId xmlns:a16="http://schemas.microsoft.com/office/drawing/2014/main" id="{E48421DE-3227-2531-A86F-D2ECD881183A}"/>
              </a:ext>
            </a:extLst>
          </p:cNvPr>
          <p:cNvSpPr txBox="1"/>
          <p:nvPr/>
        </p:nvSpPr>
        <p:spPr>
          <a:xfrm>
            <a:off x="5588244" y="3893328"/>
            <a:ext cx="2350668" cy="623248"/>
          </a:xfrm>
          <a:prstGeom prst="rect">
            <a:avLst/>
          </a:prstGeom>
          <a:noFill/>
        </p:spPr>
        <p:txBody>
          <a:bodyPr wrap="square" rtlCol="0">
            <a:spAutoFit/>
          </a:bodyPr>
          <a:lstStyle/>
          <a:p>
            <a:pPr algn="ctr">
              <a:lnSpc>
                <a:spcPct val="150000"/>
              </a:lnSpc>
            </a:pPr>
            <a:r>
              <a:rPr kumimoji="1" lang="ja-JP" altLang="en-US" sz="1200">
                <a:latin typeface="メイリオ" panose="020B0604030504040204" pitchFamily="50" charset="-128"/>
                <a:ea typeface="メイリオ" panose="020B0604030504040204" pitchFamily="50" charset="-128"/>
              </a:rPr>
              <a:t>各アプリを箱として、</a:t>
            </a:r>
            <a:endParaRPr kumimoji="1" lang="en-US" altLang="ja-JP" sz="1200">
              <a:latin typeface="メイリオ" panose="020B0604030504040204" pitchFamily="50" charset="-128"/>
              <a:ea typeface="メイリオ" panose="020B0604030504040204" pitchFamily="50" charset="-128"/>
            </a:endParaRPr>
          </a:p>
          <a:p>
            <a:pPr algn="ctr">
              <a:lnSpc>
                <a:spcPct val="150000"/>
              </a:lnSpc>
            </a:pPr>
            <a:r>
              <a:rPr kumimoji="1" lang="ja-JP" altLang="en-US" sz="1200">
                <a:latin typeface="メイリオ" panose="020B0604030504040204" pitchFamily="50" charset="-128"/>
                <a:ea typeface="メイリオ" panose="020B0604030504040204" pitchFamily="50" charset="-128"/>
              </a:rPr>
              <a:t>その中で使える便利な</a:t>
            </a:r>
            <a:r>
              <a:rPr kumimoji="1" lang="en-US" altLang="ja-JP" sz="1200">
                <a:latin typeface="メイリオ" panose="020B0604030504040204" pitchFamily="50" charset="-128"/>
                <a:ea typeface="メイリオ" panose="020B0604030504040204" pitchFamily="50" charset="-128"/>
              </a:rPr>
              <a:t>AI</a:t>
            </a:r>
          </a:p>
        </p:txBody>
      </p:sp>
      <p:sp>
        <p:nvSpPr>
          <p:cNvPr id="41" name="二等辺三角形 40">
            <a:extLst>
              <a:ext uri="{FF2B5EF4-FFF2-40B4-BE49-F238E27FC236}">
                <a16:creationId xmlns:a16="http://schemas.microsoft.com/office/drawing/2014/main" id="{F1501687-E086-0EE7-2AFB-6BAB31C795FF}"/>
              </a:ext>
            </a:extLst>
          </p:cNvPr>
          <p:cNvSpPr/>
          <p:nvPr/>
        </p:nvSpPr>
        <p:spPr>
          <a:xfrm rot="5400000">
            <a:off x="7832033" y="3774059"/>
            <a:ext cx="775252" cy="238539"/>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4" name="テキスト ボックス 43">
            <a:extLst>
              <a:ext uri="{FF2B5EF4-FFF2-40B4-BE49-F238E27FC236}">
                <a16:creationId xmlns:a16="http://schemas.microsoft.com/office/drawing/2014/main" id="{64AB2BF4-EA79-786D-D4D6-C26F1AC75F19}"/>
              </a:ext>
            </a:extLst>
          </p:cNvPr>
          <p:cNvSpPr txBox="1"/>
          <p:nvPr/>
        </p:nvSpPr>
        <p:spPr>
          <a:xfrm>
            <a:off x="9477145" y="3085240"/>
            <a:ext cx="1540667" cy="388568"/>
          </a:xfrm>
          <a:prstGeom prst="rect">
            <a:avLst/>
          </a:prstGeom>
          <a:noFill/>
        </p:spPr>
        <p:txBody>
          <a:bodyPr wrap="square" rtlCol="0">
            <a:spAutoFit/>
          </a:bodyPr>
          <a:lstStyle/>
          <a:p>
            <a:pPr algn="ctr">
              <a:lnSpc>
                <a:spcPct val="150000"/>
              </a:lnSpc>
            </a:pPr>
            <a:r>
              <a:rPr lang="en-US" altLang="ja-JP" sz="1400" b="1">
                <a:latin typeface="メイリオ" panose="020B0604030504040204" pitchFamily="50" charset="-128"/>
                <a:ea typeface="メイリオ" panose="020B0604030504040204" pitchFamily="50" charset="-128"/>
              </a:rPr>
              <a:t>Claude Code</a:t>
            </a:r>
            <a:endParaRPr kumimoji="1" lang="en-US" altLang="ja-JP" sz="1400">
              <a:latin typeface="メイリオ" panose="020B0604030504040204" pitchFamily="50" charset="-128"/>
              <a:ea typeface="メイリオ" panose="020B0604030504040204" pitchFamily="50" charset="-128"/>
            </a:endParaRPr>
          </a:p>
        </p:txBody>
      </p:sp>
      <p:pic>
        <p:nvPicPr>
          <p:cNvPr id="22" name="図 21" descr="アイコン&#10;&#10;AI 生成コンテンツは誤りを含む可能性があります。">
            <a:extLst>
              <a:ext uri="{FF2B5EF4-FFF2-40B4-BE49-F238E27FC236}">
                <a16:creationId xmlns:a16="http://schemas.microsoft.com/office/drawing/2014/main" id="{30B6BEEF-853C-39B0-5F32-10B93CDB987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33780" y="3463219"/>
            <a:ext cx="431632" cy="401619"/>
          </a:xfrm>
          <a:prstGeom prst="rect">
            <a:avLst/>
          </a:prstGeom>
        </p:spPr>
      </p:pic>
      <p:pic>
        <p:nvPicPr>
          <p:cNvPr id="50" name="図 49" descr="グラフィカル ユーザー インターフェイス, アイコン&#10;&#10;AI 生成コンテンツは誤りを含む可能性があります。">
            <a:extLst>
              <a:ext uri="{FF2B5EF4-FFF2-40B4-BE49-F238E27FC236}">
                <a16:creationId xmlns:a16="http://schemas.microsoft.com/office/drawing/2014/main" id="{9EEBFD5B-6AC5-330C-E9F1-DE546DC40D1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055853" y="3397937"/>
            <a:ext cx="532184" cy="532184"/>
          </a:xfrm>
          <a:prstGeom prst="rect">
            <a:avLst/>
          </a:prstGeom>
        </p:spPr>
      </p:pic>
      <p:pic>
        <p:nvPicPr>
          <p:cNvPr id="53" name="グラフィックス 52" descr="ブラウザー ウィンドウ 枠線">
            <a:extLst>
              <a:ext uri="{FF2B5EF4-FFF2-40B4-BE49-F238E27FC236}">
                <a16:creationId xmlns:a16="http://schemas.microsoft.com/office/drawing/2014/main" id="{2E321925-B9DA-4E17-38BD-279F40B377A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972277" y="3451360"/>
            <a:ext cx="550507" cy="550507"/>
          </a:xfrm>
          <a:prstGeom prst="rect">
            <a:avLst/>
          </a:prstGeom>
        </p:spPr>
      </p:pic>
      <p:pic>
        <p:nvPicPr>
          <p:cNvPr id="55" name="グラフィックス 54" descr="紙 単色塗りつぶし">
            <a:extLst>
              <a:ext uri="{FF2B5EF4-FFF2-40B4-BE49-F238E27FC236}">
                <a16:creationId xmlns:a16="http://schemas.microsoft.com/office/drawing/2014/main" id="{B411DB0D-77EC-15F9-8515-DC4CC74E903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139029" y="3478751"/>
            <a:ext cx="477331" cy="477331"/>
          </a:xfrm>
          <a:prstGeom prst="rect">
            <a:avLst/>
          </a:prstGeom>
        </p:spPr>
      </p:pic>
      <p:pic>
        <p:nvPicPr>
          <p:cNvPr id="57" name="図 56" descr="図形&#10;&#10;AI 生成コンテンツは誤りを含む可能性があります。">
            <a:extLst>
              <a:ext uri="{FF2B5EF4-FFF2-40B4-BE49-F238E27FC236}">
                <a16:creationId xmlns:a16="http://schemas.microsoft.com/office/drawing/2014/main" id="{E91AD045-22BC-7DCF-401D-69EB6944C7CE}"/>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017812" y="3537092"/>
            <a:ext cx="388568" cy="388568"/>
          </a:xfrm>
          <a:prstGeom prst="rect">
            <a:avLst/>
          </a:prstGeom>
        </p:spPr>
      </p:pic>
      <p:sp>
        <p:nvSpPr>
          <p:cNvPr id="62" name="テキスト ボックス 61">
            <a:extLst>
              <a:ext uri="{FF2B5EF4-FFF2-40B4-BE49-F238E27FC236}">
                <a16:creationId xmlns:a16="http://schemas.microsoft.com/office/drawing/2014/main" id="{85891717-A34B-D6BC-463C-2CCADEEAC599}"/>
              </a:ext>
            </a:extLst>
          </p:cNvPr>
          <p:cNvSpPr txBox="1"/>
          <p:nvPr/>
        </p:nvSpPr>
        <p:spPr>
          <a:xfrm>
            <a:off x="8946751" y="3876108"/>
            <a:ext cx="923654" cy="325089"/>
          </a:xfrm>
          <a:prstGeom prst="rect">
            <a:avLst/>
          </a:prstGeom>
          <a:noFill/>
        </p:spPr>
        <p:txBody>
          <a:bodyPr wrap="square" rtlCol="0">
            <a:spAutoFit/>
          </a:bodyPr>
          <a:lstStyle/>
          <a:p>
            <a:pPr algn="ctr">
              <a:lnSpc>
                <a:spcPct val="150000"/>
              </a:lnSpc>
            </a:pPr>
            <a:r>
              <a:rPr kumimoji="1" lang="ja-JP" altLang="en-US" sz="1100">
                <a:latin typeface="メイリオ" panose="020B0604030504040204" pitchFamily="50" charset="-128"/>
                <a:ea typeface="メイリオ" panose="020B0604030504040204" pitchFamily="50" charset="-128"/>
              </a:rPr>
              <a:t>ファイル</a:t>
            </a:r>
            <a:endParaRPr kumimoji="1" lang="en-US" altLang="ja-JP" sz="110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049B6624-2F28-BFFC-4979-007674CCC9DD}"/>
              </a:ext>
            </a:extLst>
          </p:cNvPr>
          <p:cNvSpPr txBox="1"/>
          <p:nvPr/>
        </p:nvSpPr>
        <p:spPr>
          <a:xfrm>
            <a:off x="9785703" y="3876108"/>
            <a:ext cx="923654" cy="325089"/>
          </a:xfrm>
          <a:prstGeom prst="rect">
            <a:avLst/>
          </a:prstGeom>
          <a:noFill/>
        </p:spPr>
        <p:txBody>
          <a:bodyPr wrap="square" rtlCol="0">
            <a:spAutoFit/>
          </a:bodyPr>
          <a:lstStyle/>
          <a:p>
            <a:pPr algn="ctr">
              <a:lnSpc>
                <a:spcPct val="150000"/>
              </a:lnSpc>
            </a:pPr>
            <a:r>
              <a:rPr kumimoji="1" lang="ja-JP" altLang="en-US" sz="1100">
                <a:latin typeface="メイリオ" panose="020B0604030504040204" pitchFamily="50" charset="-128"/>
                <a:ea typeface="メイリオ" panose="020B0604030504040204" pitchFamily="50" charset="-128"/>
              </a:rPr>
              <a:t>ブラウザ</a:t>
            </a:r>
            <a:endParaRPr kumimoji="1" lang="en-US" altLang="ja-JP" sz="1100">
              <a:latin typeface="メイリオ" panose="020B0604030504040204" pitchFamily="50" charset="-128"/>
              <a:ea typeface="メイリオ" panose="020B0604030504040204" pitchFamily="50" charset="-128"/>
            </a:endParaRPr>
          </a:p>
        </p:txBody>
      </p:sp>
      <p:sp>
        <p:nvSpPr>
          <p:cNvPr id="64" name="テキスト ボックス 63">
            <a:extLst>
              <a:ext uri="{FF2B5EF4-FFF2-40B4-BE49-F238E27FC236}">
                <a16:creationId xmlns:a16="http://schemas.microsoft.com/office/drawing/2014/main" id="{F68F23EA-5709-1085-DA00-DE55597E4095}"/>
              </a:ext>
            </a:extLst>
          </p:cNvPr>
          <p:cNvSpPr txBox="1"/>
          <p:nvPr/>
        </p:nvSpPr>
        <p:spPr>
          <a:xfrm>
            <a:off x="10767193" y="3876108"/>
            <a:ext cx="923654" cy="325089"/>
          </a:xfrm>
          <a:prstGeom prst="rect">
            <a:avLst/>
          </a:prstGeom>
          <a:noFill/>
        </p:spPr>
        <p:txBody>
          <a:bodyPr wrap="square" rtlCol="0">
            <a:spAutoFit/>
          </a:bodyPr>
          <a:lstStyle/>
          <a:p>
            <a:pPr algn="ctr">
              <a:lnSpc>
                <a:spcPct val="150000"/>
              </a:lnSpc>
            </a:pPr>
            <a:r>
              <a:rPr kumimoji="1" lang="en-US" altLang="ja-JP" sz="1100">
                <a:latin typeface="メイリオ" panose="020B0604030504040204" pitchFamily="50" charset="-128"/>
                <a:ea typeface="メイリオ" panose="020B0604030504040204" pitchFamily="50" charset="-128"/>
              </a:rPr>
              <a:t>API</a:t>
            </a:r>
          </a:p>
        </p:txBody>
      </p:sp>
      <p:sp>
        <p:nvSpPr>
          <p:cNvPr id="65" name="テキスト ボックス 64">
            <a:extLst>
              <a:ext uri="{FF2B5EF4-FFF2-40B4-BE49-F238E27FC236}">
                <a16:creationId xmlns:a16="http://schemas.microsoft.com/office/drawing/2014/main" id="{0063E1D9-6580-4A06-AF58-1FEBAF12F55F}"/>
              </a:ext>
            </a:extLst>
          </p:cNvPr>
          <p:cNvSpPr txBox="1"/>
          <p:nvPr/>
        </p:nvSpPr>
        <p:spPr>
          <a:xfrm>
            <a:off x="8956983" y="4198805"/>
            <a:ext cx="2580995" cy="346249"/>
          </a:xfrm>
          <a:prstGeom prst="rect">
            <a:avLst/>
          </a:prstGeom>
          <a:noFill/>
        </p:spPr>
        <p:txBody>
          <a:bodyPr wrap="square" rtlCol="0">
            <a:spAutoFit/>
          </a:bodyPr>
          <a:lstStyle/>
          <a:p>
            <a:pPr algn="ctr">
              <a:lnSpc>
                <a:spcPct val="150000"/>
              </a:lnSpc>
            </a:pPr>
            <a:r>
              <a:rPr kumimoji="1" lang="en-US" altLang="ja-JP" sz="1200">
                <a:latin typeface="メイリオ" panose="020B0604030504040204" pitchFamily="50" charset="-128"/>
                <a:ea typeface="メイリオ" panose="020B0604030504040204" pitchFamily="50" charset="-128"/>
              </a:rPr>
              <a:t>PC</a:t>
            </a:r>
            <a:r>
              <a:rPr kumimoji="1" lang="ja-JP" altLang="en-US" sz="1200">
                <a:latin typeface="メイリオ" panose="020B0604030504040204" pitchFamily="50" charset="-128"/>
                <a:ea typeface="メイリオ" panose="020B0604030504040204" pitchFamily="50" charset="-128"/>
              </a:rPr>
              <a:t>全体を箱として操作可能</a:t>
            </a:r>
            <a:endParaRPr kumimoji="1" lang="en-US" altLang="ja-JP" sz="1200">
              <a:latin typeface="メイリオ" panose="020B0604030504040204" pitchFamily="50" charset="-128"/>
              <a:ea typeface="メイリオ" panose="020B0604030504040204" pitchFamily="50" charset="-128"/>
            </a:endParaRPr>
          </a:p>
        </p:txBody>
      </p:sp>
      <p:sp>
        <p:nvSpPr>
          <p:cNvPr id="66" name="テキスト ボックス 65">
            <a:extLst>
              <a:ext uri="{FF2B5EF4-FFF2-40B4-BE49-F238E27FC236}">
                <a16:creationId xmlns:a16="http://schemas.microsoft.com/office/drawing/2014/main" id="{6A7B16B8-6285-EBD4-5D8C-0309B3CB8B8D}"/>
              </a:ext>
            </a:extLst>
          </p:cNvPr>
          <p:cNvSpPr txBox="1"/>
          <p:nvPr/>
        </p:nvSpPr>
        <p:spPr>
          <a:xfrm>
            <a:off x="5495856" y="5783849"/>
            <a:ext cx="6511092" cy="984885"/>
          </a:xfrm>
          <a:prstGeom prst="rect">
            <a:avLst/>
          </a:prstGeom>
          <a:noFill/>
        </p:spPr>
        <p:txBody>
          <a:bodyPr wrap="square" rtlCol="0">
            <a:spAutoFit/>
          </a:bodyPr>
          <a:lstStyle/>
          <a:p>
            <a:r>
              <a:rPr lang="ja-JP" altLang="en-US" sz="1600" b="1">
                <a:latin typeface="メイリオ" panose="020B0604030504040204" pitchFamily="50" charset="-128"/>
                <a:ea typeface="メイリオ" panose="020B0604030504040204" pitchFamily="50" charset="-128"/>
              </a:rPr>
              <a:t>今までの</a:t>
            </a:r>
            <a:r>
              <a:rPr lang="en-US" altLang="ja-JP" sz="1600" b="1">
                <a:latin typeface="メイリオ" panose="020B0604030504040204" pitchFamily="50" charset="-128"/>
                <a:ea typeface="メイリオ" panose="020B0604030504040204" pitchFamily="50" charset="-128"/>
              </a:rPr>
              <a:t>BPO</a:t>
            </a:r>
            <a:r>
              <a:rPr lang="ja-JP" altLang="en-US" sz="1600" b="1">
                <a:latin typeface="メイリオ" panose="020B0604030504040204" pitchFamily="50" charset="-128"/>
                <a:ea typeface="メイリオ" panose="020B0604030504040204" pitchFamily="50" charset="-128"/>
              </a:rPr>
              <a:t>で扱っていた</a:t>
            </a:r>
            <a:r>
              <a:rPr lang="en-US" altLang="ja-JP" sz="1600" b="1">
                <a:latin typeface="メイリオ" panose="020B0604030504040204" pitchFamily="50" charset="-128"/>
                <a:ea typeface="メイリオ" panose="020B0604030504040204" pitchFamily="50" charset="-128"/>
              </a:rPr>
              <a:t>RPA</a:t>
            </a:r>
            <a:r>
              <a:rPr lang="ja-JP" altLang="en-US" sz="1600" b="1">
                <a:latin typeface="メイリオ" panose="020B0604030504040204" pitchFamily="50" charset="-128"/>
                <a:ea typeface="メイリオ" panose="020B0604030504040204" pitchFamily="50" charset="-128"/>
              </a:rPr>
              <a:t>の価値が変わる</a:t>
            </a:r>
            <a:endParaRPr lang="en-US" altLang="ja-JP" sz="1600" b="1">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a:t>
            </a:r>
            <a:r>
              <a:rPr lang="en-US" altLang="ja-JP" sz="1400">
                <a:latin typeface="メイリオ" panose="020B0604030504040204" pitchFamily="50" charset="-128"/>
                <a:ea typeface="メイリオ" panose="020B0604030504040204" pitchFamily="50" charset="-128"/>
              </a:rPr>
              <a:t>Web</a:t>
            </a:r>
            <a:r>
              <a:rPr lang="ja-JP" altLang="en-US" sz="1400">
                <a:latin typeface="メイリオ" panose="020B0604030504040204" pitchFamily="50" charset="-128"/>
                <a:ea typeface="メイリオ" panose="020B0604030504040204" pitchFamily="50" charset="-128"/>
              </a:rPr>
              <a:t>システムへの入力作業」「定型的な</a:t>
            </a:r>
            <a:r>
              <a:rPr lang="en-US" altLang="ja-JP" sz="1400">
                <a:latin typeface="メイリオ" panose="020B0604030504040204" pitchFamily="50" charset="-128"/>
                <a:ea typeface="メイリオ" panose="020B0604030504040204" pitchFamily="50" charset="-128"/>
              </a:rPr>
              <a:t>PC</a:t>
            </a:r>
            <a:r>
              <a:rPr lang="ja-JP" altLang="en-US" sz="1400">
                <a:latin typeface="メイリオ" panose="020B0604030504040204" pitchFamily="50" charset="-128"/>
                <a:ea typeface="メイリオ" panose="020B0604030504040204" pitchFamily="50" charset="-128"/>
              </a:rPr>
              <a:t>操作」を、より柔軟に自動化できる。</a:t>
            </a:r>
            <a:endParaRPr lang="en-US" altLang="ja-JP" sz="140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ja-JP" altLang="en-US" sz="1400">
                <a:latin typeface="メイリオ" panose="020B0604030504040204" pitchFamily="50" charset="-128"/>
                <a:ea typeface="メイリオ" panose="020B0604030504040204" pitchFamily="50" charset="-128"/>
              </a:rPr>
              <a:t>画面構成が変わっても止まらない。</a:t>
            </a:r>
            <a:endParaRPr kumimoji="1" lang="en-US" altLang="ja-JP" sz="1400">
              <a:latin typeface="メイリオ" panose="020B0604030504040204" pitchFamily="50" charset="-128"/>
              <a:ea typeface="メイリオ" panose="020B0604030504040204" pitchFamily="50" charset="-128"/>
            </a:endParaRPr>
          </a:p>
        </p:txBody>
      </p:sp>
      <p:sp>
        <p:nvSpPr>
          <p:cNvPr id="67" name="テキスト ボックス 66">
            <a:extLst>
              <a:ext uri="{FF2B5EF4-FFF2-40B4-BE49-F238E27FC236}">
                <a16:creationId xmlns:a16="http://schemas.microsoft.com/office/drawing/2014/main" id="{17F76B0E-1410-E30D-80E2-D4B7CA4D9ED0}"/>
              </a:ext>
            </a:extLst>
          </p:cNvPr>
          <p:cNvSpPr txBox="1"/>
          <p:nvPr/>
        </p:nvSpPr>
        <p:spPr>
          <a:xfrm>
            <a:off x="6619461" y="2679812"/>
            <a:ext cx="5551254" cy="346249"/>
          </a:xfrm>
          <a:prstGeom prst="rect">
            <a:avLst/>
          </a:prstGeom>
          <a:noFill/>
        </p:spPr>
        <p:txBody>
          <a:bodyPr wrap="square" rtlCol="0">
            <a:spAutoFit/>
          </a:bodyPr>
          <a:lstStyle/>
          <a:p>
            <a:pPr>
              <a:lnSpc>
                <a:spcPct val="150000"/>
              </a:lnSpc>
            </a:pPr>
            <a:r>
              <a:rPr kumimoji="1" lang="en-US" altLang="ja-JP" sz="1200">
                <a:latin typeface="メイリオ" panose="020B0604030504040204" pitchFamily="50" charset="-128"/>
                <a:ea typeface="メイリオ" panose="020B0604030504040204" pitchFamily="50" charset="-128"/>
              </a:rPr>
              <a:t>※1 </a:t>
            </a:r>
            <a:r>
              <a:rPr lang="ja-JP" altLang="en-US" sz="1200">
                <a:latin typeface="メイリオ" panose="020B0604030504040204" pitchFamily="50" charset="-128"/>
                <a:ea typeface="メイリオ" panose="020B0604030504040204" pitchFamily="50" charset="-128"/>
              </a:rPr>
              <a:t>実行</a:t>
            </a:r>
            <a:r>
              <a:rPr lang="en-US" altLang="ja-JP" sz="1200">
                <a:latin typeface="メイリオ" panose="020B0604030504040204" pitchFamily="50" charset="-128"/>
                <a:ea typeface="メイリオ" panose="020B0604030504040204" pitchFamily="50" charset="-128"/>
              </a:rPr>
              <a:t>PC</a:t>
            </a:r>
            <a:r>
              <a:rPr lang="ja-JP" altLang="en-US" sz="1200">
                <a:latin typeface="メイリオ" panose="020B0604030504040204" pitchFamily="50" charset="-128"/>
                <a:ea typeface="メイリオ" panose="020B0604030504040204" pitchFamily="50" charset="-128"/>
              </a:rPr>
              <a:t>版はターミナル、デスクトップアプリ、</a:t>
            </a:r>
            <a:r>
              <a:rPr lang="en-US" altLang="ja-JP" sz="1200">
                <a:latin typeface="メイリオ" panose="020B0604030504040204" pitchFamily="50" charset="-128"/>
                <a:ea typeface="メイリオ" panose="020B0604030504040204" pitchFamily="50" charset="-128"/>
              </a:rPr>
              <a:t>IDE</a:t>
            </a:r>
            <a:r>
              <a:rPr lang="ja-JP" altLang="en-US" sz="1200">
                <a:latin typeface="メイリオ" panose="020B0604030504040204" pitchFamily="50" charset="-128"/>
                <a:ea typeface="メイリオ" panose="020B0604030504040204" pitchFamily="50" charset="-128"/>
              </a:rPr>
              <a:t>拡張など複数形態あり</a:t>
            </a:r>
            <a:endParaRPr kumimoji="1" lang="en-US" altLang="ja-JP" sz="1200">
              <a:latin typeface="メイリオ" panose="020B0604030504040204" pitchFamily="50" charset="-128"/>
              <a:ea typeface="メイリオ" panose="020B0604030504040204" pitchFamily="50" charset="-128"/>
            </a:endParaRPr>
          </a:p>
        </p:txBody>
      </p:sp>
      <p:sp>
        <p:nvSpPr>
          <p:cNvPr id="68" name="矢印: 下 67">
            <a:extLst>
              <a:ext uri="{FF2B5EF4-FFF2-40B4-BE49-F238E27FC236}">
                <a16:creationId xmlns:a16="http://schemas.microsoft.com/office/drawing/2014/main" id="{E9217221-EAFD-758E-154D-97838230EB45}"/>
              </a:ext>
            </a:extLst>
          </p:cNvPr>
          <p:cNvSpPr/>
          <p:nvPr/>
        </p:nvSpPr>
        <p:spPr>
          <a:xfrm>
            <a:off x="6644308" y="4488218"/>
            <a:ext cx="238540" cy="291401"/>
          </a:xfrm>
          <a:prstGeom prst="down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テキスト ボックス 68">
            <a:extLst>
              <a:ext uri="{FF2B5EF4-FFF2-40B4-BE49-F238E27FC236}">
                <a16:creationId xmlns:a16="http://schemas.microsoft.com/office/drawing/2014/main" id="{D33F1468-3D5F-9C83-BE41-F6D084DA6D70}"/>
              </a:ext>
            </a:extLst>
          </p:cNvPr>
          <p:cNvSpPr txBox="1"/>
          <p:nvPr/>
        </p:nvSpPr>
        <p:spPr>
          <a:xfrm>
            <a:off x="5575852" y="4785777"/>
            <a:ext cx="6431096" cy="900246"/>
          </a:xfrm>
          <a:prstGeom prst="rect">
            <a:avLst/>
          </a:prstGeom>
          <a:noFill/>
        </p:spPr>
        <p:txBody>
          <a:bodyPr wrap="square" rtlCol="0">
            <a:spAutoFit/>
          </a:bodyPr>
          <a:lstStyle/>
          <a:p>
            <a:r>
              <a:rPr kumimoji="1" lang="ja-JP" altLang="en-US" sz="1050">
                <a:latin typeface="メイリオ" panose="020B0604030504040204" pitchFamily="50" charset="-128"/>
                <a:ea typeface="メイリオ" panose="020B0604030504040204" pitchFamily="50" charset="-128"/>
              </a:rPr>
              <a:t>アプリの中で使うので個人の作業効率化には有効だが、</a:t>
            </a:r>
            <a:r>
              <a:rPr kumimoji="1" lang="en-US" altLang="ja-JP" sz="1050">
                <a:latin typeface="メイリオ" panose="020B0604030504040204" pitchFamily="50" charset="-128"/>
                <a:ea typeface="メイリオ" panose="020B0604030504040204" pitchFamily="50" charset="-128"/>
              </a:rPr>
              <a:t>Microsoft</a:t>
            </a:r>
            <a:r>
              <a:rPr kumimoji="1" lang="ja-JP" altLang="en-US" sz="1050">
                <a:latin typeface="メイリオ" panose="020B0604030504040204" pitchFamily="50" charset="-128"/>
                <a:ea typeface="メイリオ" panose="020B0604030504040204" pitchFamily="50" charset="-128"/>
              </a:rPr>
              <a:t>自身が「</a:t>
            </a:r>
            <a:r>
              <a:rPr lang="en-US" altLang="ja-JP" sz="1050" b="1">
                <a:latin typeface="メイリオ" panose="020B0604030504040204" pitchFamily="50" charset="-128"/>
                <a:ea typeface="メイリオ" panose="020B0604030504040204" pitchFamily="50" charset="-128"/>
                <a:hlinkClick r:id="rId12"/>
              </a:rPr>
              <a:t>Copilot</a:t>
            </a:r>
            <a:r>
              <a:rPr lang="ja-JP" altLang="en-US" sz="1050" b="1">
                <a:latin typeface="メイリオ" panose="020B0604030504040204" pitchFamily="50" charset="-128"/>
                <a:ea typeface="メイリオ" panose="020B0604030504040204" pitchFamily="50" charset="-128"/>
                <a:hlinkClick r:id="rId12"/>
              </a:rPr>
              <a:t>だけでは組織固有のワークフロー・自動化ニーズに完全対応できない</a:t>
            </a:r>
            <a:r>
              <a:rPr lang="ja-JP" altLang="en-US" sz="1050">
                <a:latin typeface="メイリオ" panose="020B0604030504040204" pitchFamily="50" charset="-128"/>
                <a:ea typeface="メイリオ" panose="020B0604030504040204" pitchFamily="50" charset="-128"/>
              </a:rPr>
              <a:t>」と明記。</a:t>
            </a:r>
            <a:endParaRPr lang="en-US" altLang="ja-JP" sz="1050">
              <a:latin typeface="メイリオ" panose="020B0604030504040204" pitchFamily="50" charset="-128"/>
              <a:ea typeface="メイリオ" panose="020B0604030504040204" pitchFamily="50" charset="-128"/>
            </a:endParaRPr>
          </a:p>
          <a:p>
            <a:r>
              <a:rPr lang="ja-JP" altLang="en-US" sz="1050">
                <a:latin typeface="メイリオ" panose="020B0604030504040204" pitchFamily="50" charset="-128"/>
                <a:ea typeface="メイリオ" panose="020B0604030504040204" pitchFamily="50" charset="-128"/>
              </a:rPr>
              <a:t>複数システムを横断する定型業務やデータ連携など、業務フロー全体の自動化には</a:t>
            </a:r>
            <a:r>
              <a:rPr lang="en-US" altLang="ja-JP" sz="1050">
                <a:latin typeface="メイリオ" panose="020B0604030504040204" pitchFamily="50" charset="-128"/>
                <a:ea typeface="メイリオ" panose="020B0604030504040204" pitchFamily="50" charset="-128"/>
              </a:rPr>
              <a:t>AI</a:t>
            </a:r>
            <a:r>
              <a:rPr lang="ja-JP" altLang="en-US" sz="1050">
                <a:latin typeface="メイリオ" panose="020B0604030504040204" pitchFamily="50" charset="-128"/>
                <a:ea typeface="メイリオ" panose="020B0604030504040204" pitchFamily="50" charset="-128"/>
              </a:rPr>
              <a:t>エージェントが必要。</a:t>
            </a:r>
            <a:r>
              <a:rPr lang="en-US" altLang="ja-JP" sz="1050">
                <a:latin typeface="メイリオ" panose="020B0604030504040204" pitchFamily="50" charset="-128"/>
                <a:ea typeface="メイリオ" panose="020B0604030504040204" pitchFamily="50" charset="-128"/>
                <a:hlinkClick r:id="rId13"/>
              </a:rPr>
              <a:t>Anthropic</a:t>
            </a:r>
            <a:r>
              <a:rPr lang="ja-JP" altLang="en-US" sz="1050">
                <a:latin typeface="メイリオ" panose="020B0604030504040204" pitchFamily="50" charset="-128"/>
                <a:ea typeface="メイリオ" panose="020B0604030504040204" pitchFamily="50" charset="-128"/>
                <a:hlinkClick r:id="rId13"/>
              </a:rPr>
              <a:t>社内では非技術部門でもワークフロー自動化を実現</a:t>
            </a:r>
            <a:r>
              <a:rPr lang="ja-JP" altLang="en-US" sz="1050">
                <a:latin typeface="メイリオ" panose="020B0604030504040204" pitchFamily="50" charset="-128"/>
                <a:ea typeface="メイリオ" panose="020B0604030504040204" pitchFamily="50" charset="-128"/>
              </a:rPr>
              <a:t>。</a:t>
            </a:r>
            <a:endParaRPr lang="en-US" altLang="ja-JP" sz="1050">
              <a:latin typeface="メイリオ" panose="020B0604030504040204" pitchFamily="50" charset="-128"/>
              <a:ea typeface="メイリオ" panose="020B0604030504040204" pitchFamily="50" charset="-128"/>
            </a:endParaRPr>
          </a:p>
          <a:p>
            <a:r>
              <a:rPr lang="ja-JP" altLang="en-US" sz="1050" b="1">
                <a:latin typeface="メイリオ" panose="020B0604030504040204" pitchFamily="50" charset="-128"/>
                <a:ea typeface="メイリオ" panose="020B0604030504040204" pitchFamily="50" charset="-128"/>
              </a:rPr>
              <a:t>→ </a:t>
            </a:r>
            <a:r>
              <a:rPr lang="en-US" altLang="ja-JP" sz="1050" b="1">
                <a:latin typeface="メイリオ" panose="020B0604030504040204" pitchFamily="50" charset="-128"/>
                <a:ea typeface="メイリオ" panose="020B0604030504040204" pitchFamily="50" charset="-128"/>
              </a:rPr>
              <a:t>Copilot</a:t>
            </a:r>
            <a:r>
              <a:rPr lang="ja-JP" altLang="en-US" sz="1050" b="1">
                <a:latin typeface="メイリオ" panose="020B0604030504040204" pitchFamily="50" charset="-128"/>
                <a:ea typeface="メイリオ" panose="020B0604030504040204" pitchFamily="50" charset="-128"/>
              </a:rPr>
              <a:t>は「今の仕事を速くする」、エージェントは「仕事の仕組みを変える」</a:t>
            </a:r>
            <a:endParaRPr kumimoji="1" lang="en-US" altLang="ja-JP" sz="1050" b="1">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4988811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F782-F712-53F9-BCB6-7FB2B91E98DC}"/>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4C4B8077-6918-1F84-00A6-E8C0DFFBEECA}"/>
              </a:ext>
            </a:extLst>
          </p:cNvPr>
          <p:cNvSpPr txBox="1"/>
          <p:nvPr/>
        </p:nvSpPr>
        <p:spPr>
          <a:xfrm>
            <a:off x="443466" y="317212"/>
            <a:ext cx="11215133" cy="584775"/>
          </a:xfrm>
          <a:prstGeom prst="rect">
            <a:avLst/>
          </a:prstGeom>
          <a:noFill/>
        </p:spPr>
        <p:txBody>
          <a:bodyPr wrap="square" rtlCol="0">
            <a:spAutoFit/>
          </a:bodyPr>
          <a:lstStyle/>
          <a:p>
            <a:r>
              <a:rPr kumimoji="1" lang="en-US" altLang="ja-JP" sz="3200" b="1">
                <a:latin typeface="メイリオ" panose="020B0604030504040204" pitchFamily="50" charset="-128"/>
                <a:ea typeface="メイリオ" panose="020B0604030504040204" pitchFamily="50" charset="-128"/>
              </a:rPr>
              <a:t>Skills - </a:t>
            </a:r>
            <a:r>
              <a:rPr kumimoji="1" lang="ja-JP" altLang="en-US" sz="3200" b="1">
                <a:latin typeface="メイリオ" panose="020B0604030504040204" pitchFamily="50" charset="-128"/>
                <a:ea typeface="メイリオ" panose="020B0604030504040204" pitchFamily="50" charset="-128"/>
              </a:rPr>
              <a:t>業務ノウハウのパッケージ化</a:t>
            </a:r>
          </a:p>
        </p:txBody>
      </p:sp>
      <p:sp>
        <p:nvSpPr>
          <p:cNvPr id="2" name="テキスト ボックス 1">
            <a:extLst>
              <a:ext uri="{FF2B5EF4-FFF2-40B4-BE49-F238E27FC236}">
                <a16:creationId xmlns:a16="http://schemas.microsoft.com/office/drawing/2014/main" id="{63F7FBD5-2210-44D4-90FC-F12B2FBCBB61}"/>
              </a:ext>
            </a:extLst>
          </p:cNvPr>
          <p:cNvSpPr txBox="1"/>
          <p:nvPr/>
        </p:nvSpPr>
        <p:spPr>
          <a:xfrm>
            <a:off x="260898" y="901987"/>
            <a:ext cx="11670205" cy="711733"/>
          </a:xfrm>
          <a:prstGeom prst="rect">
            <a:avLst/>
          </a:prstGeom>
          <a:noFill/>
        </p:spPr>
        <p:txBody>
          <a:bodyPr wrap="square" rtlCol="0">
            <a:spAutoFit/>
          </a:bodyPr>
          <a:lstStyle/>
          <a:p>
            <a:pPr>
              <a:lnSpc>
                <a:spcPct val="150000"/>
              </a:lnSpc>
            </a:pPr>
            <a:r>
              <a:rPr kumimoji="1" lang="en-US" altLang="ja-JP" sz="1400" b="1">
                <a:latin typeface="メイリオ" panose="020B0604030504040204" pitchFamily="50" charset="-128"/>
                <a:ea typeface="メイリオ" panose="020B0604030504040204" pitchFamily="50" charset="-128"/>
              </a:rPr>
              <a:t>Skills</a:t>
            </a:r>
            <a:r>
              <a:rPr kumimoji="1" lang="ja-JP" altLang="en-US" sz="1400" b="1">
                <a:latin typeface="メイリオ" panose="020B0604030504040204" pitchFamily="50" charset="-128"/>
                <a:ea typeface="メイリオ" panose="020B0604030504040204" pitchFamily="50" charset="-128"/>
              </a:rPr>
              <a:t>とは</a:t>
            </a:r>
            <a:r>
              <a:rPr lang="ja-JP" altLang="en-US" sz="1400">
                <a:latin typeface="メイリオ" panose="020B0604030504040204" pitchFamily="50" charset="-128"/>
                <a:ea typeface="メイリオ" panose="020B0604030504040204" pitchFamily="50" charset="-128"/>
              </a:rPr>
              <a:t>：特定業務に必要な指示・テンプレート・ツール接続を「スキル」としてモジュール化する機能。</a:t>
            </a:r>
            <a:r>
              <a:rPr lang="en-US" altLang="ja-JP" sz="1400">
                <a:latin typeface="メイリオ" panose="020B0604030504040204" pitchFamily="50" charset="-128"/>
                <a:ea typeface="メイリオ" panose="020B0604030504040204" pitchFamily="50" charset="-128"/>
              </a:rPr>
              <a:t>Claude</a:t>
            </a:r>
            <a:r>
              <a:rPr lang="ja-JP" altLang="en-US" sz="1400">
                <a:latin typeface="メイリオ" panose="020B0604030504040204" pitchFamily="50" charset="-128"/>
                <a:ea typeface="メイリオ" panose="020B0604030504040204" pitchFamily="50" charset="-128"/>
              </a:rPr>
              <a:t>内に「</a:t>
            </a:r>
            <a:r>
              <a:rPr lang="en-US" altLang="ja-JP" sz="1400">
                <a:latin typeface="メイリオ" panose="020B0604030504040204" pitchFamily="50" charset="-128"/>
                <a:ea typeface="メイリオ" panose="020B0604030504040204" pitchFamily="50" charset="-128"/>
              </a:rPr>
              <a:t>Skill</a:t>
            </a:r>
            <a:r>
              <a:rPr lang="ja-JP" altLang="en-US" sz="1400">
                <a:latin typeface="メイリオ" panose="020B0604030504040204" pitchFamily="50" charset="-128"/>
                <a:ea typeface="メイリオ" panose="020B0604030504040204" pitchFamily="50" charset="-128"/>
              </a:rPr>
              <a:t>を作る</a:t>
            </a:r>
            <a:r>
              <a:rPr lang="en-US" altLang="ja-JP" sz="1400">
                <a:latin typeface="メイリオ" panose="020B0604030504040204" pitchFamily="50" charset="-128"/>
                <a:ea typeface="メイリオ" panose="020B0604030504040204" pitchFamily="50" charset="-128"/>
              </a:rPr>
              <a:t>Skill</a:t>
            </a:r>
            <a:r>
              <a:rPr lang="ja-JP" altLang="en-US" sz="1400">
                <a:latin typeface="メイリオ" panose="020B0604030504040204" pitchFamily="50" charset="-128"/>
                <a:ea typeface="メイリオ" panose="020B0604030504040204" pitchFamily="50" charset="-128"/>
              </a:rPr>
              <a:t>」があるため、会話するだけでスキルを作成可能。</a:t>
            </a:r>
            <a:r>
              <a:rPr lang="en-US" altLang="ja-JP" sz="1400">
                <a:latin typeface="メイリオ" panose="020B0604030504040204" pitchFamily="50" charset="-128"/>
                <a:ea typeface="メイリオ" panose="020B0604030504040204" pitchFamily="50" charset="-128"/>
              </a:rPr>
              <a:t>Claude</a:t>
            </a:r>
            <a:r>
              <a:rPr lang="ja-JP" altLang="en-US" sz="1400">
                <a:latin typeface="メイリオ" panose="020B0604030504040204" pitchFamily="50" charset="-128"/>
                <a:ea typeface="メイリオ" panose="020B0604030504040204" pitchFamily="50" charset="-128"/>
              </a:rPr>
              <a:t>と</a:t>
            </a:r>
            <a:r>
              <a:rPr lang="en-US" altLang="ja-JP" sz="1400">
                <a:latin typeface="メイリオ" panose="020B0604030504040204" pitchFamily="50" charset="-128"/>
                <a:ea typeface="メイリオ" panose="020B0604030504040204" pitchFamily="50" charset="-128"/>
              </a:rPr>
              <a:t>Claude Code</a:t>
            </a:r>
            <a:r>
              <a:rPr lang="ja-JP" altLang="en-US" sz="1400">
                <a:latin typeface="メイリオ" panose="020B0604030504040204" pitchFamily="50" charset="-128"/>
                <a:ea typeface="メイリオ" panose="020B0604030504040204" pitchFamily="50" charset="-128"/>
              </a:rPr>
              <a:t>のどちらでも利用可能。</a:t>
            </a:r>
          </a:p>
        </p:txBody>
      </p:sp>
      <p:sp>
        <p:nvSpPr>
          <p:cNvPr id="3" name="正方形/長方形 2">
            <a:extLst>
              <a:ext uri="{FF2B5EF4-FFF2-40B4-BE49-F238E27FC236}">
                <a16:creationId xmlns:a16="http://schemas.microsoft.com/office/drawing/2014/main" id="{73F0BAD2-E942-B780-B994-B332EBB7F34D}"/>
              </a:ext>
            </a:extLst>
          </p:cNvPr>
          <p:cNvSpPr/>
          <p:nvPr/>
        </p:nvSpPr>
        <p:spPr>
          <a:xfrm>
            <a:off x="85659" y="1685140"/>
            <a:ext cx="5221837"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solidFill>
                  <a:schemeClr val="tx1"/>
                </a:solidFill>
                <a:latin typeface="メイリオ" panose="020B0604030504040204" pitchFamily="50" charset="-128"/>
                <a:ea typeface="メイリオ" panose="020B0604030504040204" pitchFamily="50" charset="-128"/>
              </a:rPr>
              <a:t>RPA</a:t>
            </a:r>
            <a:r>
              <a:rPr lang="ja-JP" altLang="en-US" b="1">
                <a:solidFill>
                  <a:schemeClr val="tx1"/>
                </a:solidFill>
                <a:latin typeface="メイリオ" panose="020B0604030504040204" pitchFamily="50" charset="-128"/>
                <a:ea typeface="メイリオ" panose="020B0604030504040204" pitchFamily="50" charset="-128"/>
              </a:rPr>
              <a:t>との比較</a:t>
            </a:r>
            <a:endParaRPr kumimoji="1" lang="ja-JP" altLang="en-US" b="1">
              <a:solidFill>
                <a:schemeClr val="tx1"/>
              </a:solidFill>
              <a:latin typeface="メイリオ" panose="020B0604030504040204" pitchFamily="50" charset="-128"/>
              <a:ea typeface="メイリオ" panose="020B0604030504040204" pitchFamily="50" charset="-128"/>
            </a:endParaRPr>
          </a:p>
        </p:txBody>
      </p:sp>
      <p:graphicFrame>
        <p:nvGraphicFramePr>
          <p:cNvPr id="5" name="表 4">
            <a:extLst>
              <a:ext uri="{FF2B5EF4-FFF2-40B4-BE49-F238E27FC236}">
                <a16:creationId xmlns:a16="http://schemas.microsoft.com/office/drawing/2014/main" id="{C77D86F8-5836-6ADF-12F3-6454C145321E}"/>
              </a:ext>
            </a:extLst>
          </p:cNvPr>
          <p:cNvGraphicFramePr>
            <a:graphicFrameLocks noGrp="1"/>
          </p:cNvGraphicFramePr>
          <p:nvPr>
            <p:extLst>
              <p:ext uri="{D42A27DB-BD31-4B8C-83A1-F6EECF244321}">
                <p14:modId xmlns:p14="http://schemas.microsoft.com/office/powerpoint/2010/main" val="3256160584"/>
              </p:ext>
            </p:extLst>
          </p:nvPr>
        </p:nvGraphicFramePr>
        <p:xfrm>
          <a:off x="85659" y="2925493"/>
          <a:ext cx="5221837" cy="3200400"/>
        </p:xfrm>
        <a:graphic>
          <a:graphicData uri="http://schemas.openxmlformats.org/drawingml/2006/table">
            <a:tbl>
              <a:tblPr firstRow="1" bandRow="1">
                <a:tableStyleId>{5C22544A-7EE6-4342-B048-85BDC9FD1C3A}</a:tableStyleId>
              </a:tblPr>
              <a:tblGrid>
                <a:gridCol w="1310892">
                  <a:extLst>
                    <a:ext uri="{9D8B030D-6E8A-4147-A177-3AD203B41FA5}">
                      <a16:colId xmlns:a16="http://schemas.microsoft.com/office/drawing/2014/main" val="1714558132"/>
                    </a:ext>
                  </a:extLst>
                </a:gridCol>
                <a:gridCol w="1515614">
                  <a:extLst>
                    <a:ext uri="{9D8B030D-6E8A-4147-A177-3AD203B41FA5}">
                      <a16:colId xmlns:a16="http://schemas.microsoft.com/office/drawing/2014/main" val="480840800"/>
                    </a:ext>
                  </a:extLst>
                </a:gridCol>
                <a:gridCol w="2395331">
                  <a:extLst>
                    <a:ext uri="{9D8B030D-6E8A-4147-A177-3AD203B41FA5}">
                      <a16:colId xmlns:a16="http://schemas.microsoft.com/office/drawing/2014/main" val="1844808726"/>
                    </a:ext>
                  </a:extLst>
                </a:gridCol>
              </a:tblGrid>
              <a:tr h="192201">
                <a:tc>
                  <a:txBody>
                    <a:bodyPr/>
                    <a:lstStyle/>
                    <a:p>
                      <a:pPr algn="ctr"/>
                      <a:r>
                        <a:rPr kumimoji="1" lang="ja-JP" altLang="en-US" sz="1400">
                          <a:latin typeface="メイリオ" panose="020B0604030504040204" pitchFamily="50" charset="-128"/>
                          <a:ea typeface="メイリオ" panose="020B0604030504040204" pitchFamily="50" charset="-128"/>
                        </a:rPr>
                        <a:t>項目</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従来の</a:t>
                      </a:r>
                      <a:r>
                        <a:rPr kumimoji="1" lang="en-US" altLang="ja-JP" sz="1400">
                          <a:latin typeface="メイリオ" panose="020B0604030504040204" pitchFamily="50" charset="-128"/>
                          <a:ea typeface="メイリオ" panose="020B0604030504040204" pitchFamily="50" charset="-128"/>
                        </a:rPr>
                        <a:t>RPA</a:t>
                      </a:r>
                      <a:endParaRPr kumimoji="1" lang="ja-JP" altLang="en-US" sz="1400">
                        <a:latin typeface="メイリオ" panose="020B0604030504040204" pitchFamily="50" charset="-128"/>
                        <a:ea typeface="メイリオ" panose="020B0604030504040204" pitchFamily="50" charset="-128"/>
                      </a:endParaRPr>
                    </a:p>
                  </a:txBody>
                  <a:tcPr anchor="ctr"/>
                </a:tc>
                <a:tc>
                  <a:txBody>
                    <a:bodyPr/>
                    <a:lstStyle/>
                    <a:p>
                      <a:pPr algn="ctr"/>
                      <a:r>
                        <a:rPr kumimoji="1" lang="en-US" altLang="ja-JP" sz="1400">
                          <a:latin typeface="メイリオ" panose="020B0604030504040204" pitchFamily="50" charset="-128"/>
                          <a:ea typeface="メイリオ" panose="020B0604030504040204" pitchFamily="50" charset="-128"/>
                        </a:rPr>
                        <a:t>AI</a:t>
                      </a:r>
                      <a:r>
                        <a:rPr kumimoji="1" lang="ja-JP" altLang="en-US" sz="1400">
                          <a:latin typeface="メイリオ" panose="020B0604030504040204" pitchFamily="50" charset="-128"/>
                          <a:ea typeface="メイリオ" panose="020B0604030504040204" pitchFamily="50" charset="-128"/>
                        </a:rPr>
                        <a:t>エージェント </a:t>
                      </a:r>
                      <a:r>
                        <a:rPr kumimoji="1" lang="en-US" altLang="ja-JP" sz="1400">
                          <a:latin typeface="メイリオ" panose="020B0604030504040204" pitchFamily="50" charset="-128"/>
                          <a:ea typeface="メイリオ" panose="020B0604030504040204" pitchFamily="50" charset="-128"/>
                        </a:rPr>
                        <a:t>+ Skills</a:t>
                      </a:r>
                      <a:endParaRPr kumimoji="1"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708897093"/>
                  </a:ext>
                </a:extLst>
              </a:tr>
              <a:tr h="268556">
                <a:tc>
                  <a:txBody>
                    <a:bodyPr/>
                    <a:lstStyle/>
                    <a:p>
                      <a:pPr>
                        <a:buNone/>
                      </a:pPr>
                      <a:r>
                        <a:rPr lang="ja-JP" altLang="en-US" sz="1400">
                          <a:latin typeface="メイリオ" panose="020B0604030504040204" pitchFamily="50" charset="-128"/>
                          <a:ea typeface="メイリオ" panose="020B0604030504040204" pitchFamily="50" charset="-128"/>
                        </a:rPr>
                        <a:t>作り方</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rPr>
                        <a:t>画面操作を録画</a:t>
                      </a:r>
                    </a:p>
                  </a:txBody>
                  <a:tcPr anchor="ctr"/>
                </a:tc>
                <a:tc>
                  <a:txBody>
                    <a:bodyPr/>
                    <a:lstStyle/>
                    <a:p>
                      <a:pPr>
                        <a:buNone/>
                      </a:pPr>
                      <a:r>
                        <a:rPr lang="ja-JP" altLang="en-US" sz="1400" b="1">
                          <a:latin typeface="メイリオ" panose="020B0604030504040204" pitchFamily="50" charset="-128"/>
                          <a:ea typeface="メイリオ" panose="020B0604030504040204" pitchFamily="50" charset="-128"/>
                        </a:rPr>
                        <a:t>会話で業務を説明するだけ</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915160650"/>
                  </a:ext>
                </a:extLst>
              </a:tr>
              <a:tr h="157974">
                <a:tc>
                  <a:txBody>
                    <a:bodyPr/>
                    <a:lstStyle/>
                    <a:p>
                      <a:pPr>
                        <a:buNone/>
                      </a:pPr>
                      <a:r>
                        <a:rPr lang="ja-JP" altLang="en-US" sz="1400">
                          <a:latin typeface="メイリオ" panose="020B0604030504040204" pitchFamily="50" charset="-128"/>
                          <a:ea typeface="メイリオ" panose="020B0604030504040204" pitchFamily="50" charset="-128"/>
                        </a:rPr>
                        <a:t>動作原理</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rPr>
                        <a:t>録画を再生</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rPr>
                        <a:t>目的を理解して自分で判断・実行</a:t>
                      </a:r>
                    </a:p>
                  </a:txBody>
                  <a:tcPr anchor="ctr"/>
                </a:tc>
                <a:extLst>
                  <a:ext uri="{0D108BD9-81ED-4DB2-BD59-A6C34878D82A}">
                    <a16:rowId xmlns:a16="http://schemas.microsoft.com/office/drawing/2014/main" val="1551060320"/>
                  </a:ext>
                </a:extLst>
              </a:tr>
              <a:tr h="152400">
                <a:tc>
                  <a:txBody>
                    <a:bodyPr/>
                    <a:lstStyle/>
                    <a:p>
                      <a:pPr>
                        <a:buNone/>
                      </a:pPr>
                      <a:r>
                        <a:rPr lang="ja-JP" altLang="en-US" sz="1400">
                          <a:latin typeface="メイリオ" panose="020B0604030504040204" pitchFamily="50" charset="-128"/>
                          <a:ea typeface="メイリオ" panose="020B0604030504040204" pitchFamily="50" charset="-128"/>
                        </a:rPr>
                        <a:t>例外処理</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rPr>
                        <a:t>止まる（人が対応）</a:t>
                      </a:r>
                    </a:p>
                  </a:txBody>
                  <a:tcPr anchor="ctr"/>
                </a:tc>
                <a:tc>
                  <a:txBody>
                    <a:bodyPr/>
                    <a:lstStyle/>
                    <a:p>
                      <a:pPr>
                        <a:buNone/>
                      </a:pPr>
                      <a:r>
                        <a:rPr lang="en-US" altLang="ja-JP" sz="1400">
                          <a:latin typeface="メイリオ" panose="020B0604030504040204" pitchFamily="50" charset="-128"/>
                          <a:ea typeface="メイリオ" panose="020B0604030504040204" pitchFamily="50" charset="-128"/>
                        </a:rPr>
                        <a:t>AI</a:t>
                      </a:r>
                      <a:r>
                        <a:rPr lang="ja-JP" altLang="en-US" sz="1400">
                          <a:latin typeface="メイリオ" panose="020B0604030504040204" pitchFamily="50" charset="-128"/>
                          <a:ea typeface="メイリオ" panose="020B0604030504040204" pitchFamily="50" charset="-128"/>
                        </a:rPr>
                        <a:t>が判断して対処、または人に確認</a:t>
                      </a:r>
                    </a:p>
                  </a:txBody>
                  <a:tcPr anchor="ctr"/>
                </a:tc>
                <a:extLst>
                  <a:ext uri="{0D108BD9-81ED-4DB2-BD59-A6C34878D82A}">
                    <a16:rowId xmlns:a16="http://schemas.microsoft.com/office/drawing/2014/main" val="2941166824"/>
                  </a:ext>
                </a:extLst>
              </a:tr>
              <a:tr h="152400">
                <a:tc>
                  <a:txBody>
                    <a:bodyPr/>
                    <a:lstStyle/>
                    <a:p>
                      <a:pPr>
                        <a:buNone/>
                      </a:pPr>
                      <a:r>
                        <a:rPr lang="ja-JP" altLang="en-US" sz="1400">
                          <a:latin typeface="メイリオ" panose="020B0604030504040204" pitchFamily="50" charset="-128"/>
                          <a:ea typeface="メイリオ" panose="020B0604030504040204" pitchFamily="50" charset="-128"/>
                        </a:rPr>
                        <a:t>業務変更時</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rPr>
                        <a:t>シナリオ作り直し</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rPr>
                        <a:t>スキルを更新するだけ</a:t>
                      </a:r>
                    </a:p>
                  </a:txBody>
                  <a:tcPr anchor="ctr"/>
                </a:tc>
                <a:extLst>
                  <a:ext uri="{0D108BD9-81ED-4DB2-BD59-A6C34878D82A}">
                    <a16:rowId xmlns:a16="http://schemas.microsoft.com/office/drawing/2014/main" val="2768557745"/>
                  </a:ext>
                </a:extLst>
              </a:tr>
              <a:tr h="152400">
                <a:tc>
                  <a:txBody>
                    <a:bodyPr/>
                    <a:lstStyle/>
                    <a:p>
                      <a:pPr>
                        <a:buNone/>
                      </a:pPr>
                      <a:r>
                        <a:rPr lang="ja-JP" altLang="en-US" sz="1400">
                          <a:latin typeface="メイリオ" panose="020B0604030504040204" pitchFamily="50" charset="-128"/>
                          <a:ea typeface="メイリオ" panose="020B0604030504040204" pitchFamily="50" charset="-128"/>
                        </a:rPr>
                        <a:t>引き継ぎ</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rPr>
                        <a:t>シナリオファイル＋マニュアル</a:t>
                      </a:r>
                    </a:p>
                  </a:txBody>
                  <a:tcPr anchor="ctr"/>
                </a:tc>
                <a:tc>
                  <a:txBody>
                    <a:bodyPr/>
                    <a:lstStyle/>
                    <a:p>
                      <a:pPr>
                        <a:buNone/>
                      </a:pPr>
                      <a:r>
                        <a:rPr lang="ja-JP" altLang="en-US" sz="1400" b="1">
                          <a:latin typeface="メイリオ" panose="020B0604030504040204" pitchFamily="50" charset="-128"/>
                          <a:ea typeface="メイリオ" panose="020B0604030504040204" pitchFamily="50" charset="-128"/>
                        </a:rPr>
                        <a:t>フォルダを渡すだけ</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603302509"/>
                  </a:ext>
                </a:extLst>
              </a:tr>
              <a:tr h="152400">
                <a:tc>
                  <a:txBody>
                    <a:bodyPr/>
                    <a:lstStyle/>
                    <a:p>
                      <a:pPr>
                        <a:buNone/>
                      </a:pPr>
                      <a:r>
                        <a:rPr lang="ja-JP" altLang="en-US" sz="1400">
                          <a:latin typeface="メイリオ" panose="020B0604030504040204" pitchFamily="50" charset="-128"/>
                          <a:ea typeface="メイリオ" panose="020B0604030504040204" pitchFamily="50" charset="-128"/>
                        </a:rPr>
                        <a:t>ノウハウ継承</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rPr>
                        <a:t>できない</a:t>
                      </a:r>
                    </a:p>
                  </a:txBody>
                  <a:tcPr anchor="ctr"/>
                </a:tc>
                <a:tc>
                  <a:txBody>
                    <a:bodyPr/>
                    <a:lstStyle/>
                    <a:p>
                      <a:pPr>
                        <a:buNone/>
                      </a:pPr>
                      <a:r>
                        <a:rPr lang="ja-JP" altLang="en-US" sz="1400" b="1">
                          <a:latin typeface="メイリオ" panose="020B0604030504040204" pitchFamily="50" charset="-128"/>
                          <a:ea typeface="メイリオ" panose="020B0604030504040204" pitchFamily="50" charset="-128"/>
                        </a:rPr>
                        <a:t>ベテランの暗黙知をパッケージ化</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976654656"/>
                  </a:ext>
                </a:extLst>
              </a:tr>
            </a:tbl>
          </a:graphicData>
        </a:graphic>
      </p:graphicFrame>
      <p:sp>
        <p:nvSpPr>
          <p:cNvPr id="10" name="テキスト ボックス 9">
            <a:extLst>
              <a:ext uri="{FF2B5EF4-FFF2-40B4-BE49-F238E27FC236}">
                <a16:creationId xmlns:a16="http://schemas.microsoft.com/office/drawing/2014/main" id="{F772D140-D7A7-BFD8-ADC9-E902395ACAD4}"/>
              </a:ext>
            </a:extLst>
          </p:cNvPr>
          <p:cNvSpPr txBox="1"/>
          <p:nvPr/>
        </p:nvSpPr>
        <p:spPr>
          <a:xfrm>
            <a:off x="85659" y="2142340"/>
            <a:ext cx="5321228" cy="1034899"/>
          </a:xfrm>
          <a:prstGeom prst="rect">
            <a:avLst/>
          </a:prstGeom>
          <a:noFill/>
        </p:spPr>
        <p:txBody>
          <a:bodyPr wrap="square" rtlCol="0">
            <a:spAutoFit/>
          </a:bodyPr>
          <a:lstStyle/>
          <a:p>
            <a:pPr>
              <a:lnSpc>
                <a:spcPct val="150000"/>
              </a:lnSpc>
            </a:pPr>
            <a:r>
              <a:rPr kumimoji="1" lang="en-US" altLang="ja-JP" sz="1400" b="1">
                <a:latin typeface="メイリオ" panose="020B0604030504040204" pitchFamily="50" charset="-128"/>
                <a:ea typeface="メイリオ" panose="020B0604030504040204" pitchFamily="50" charset="-128"/>
              </a:rPr>
              <a:t>Skills</a:t>
            </a:r>
            <a:r>
              <a:rPr kumimoji="1" lang="ja-JP" altLang="en-US" sz="1400" b="1">
                <a:latin typeface="メイリオ" panose="020B0604030504040204" pitchFamily="50" charset="-128"/>
                <a:ea typeface="メイリオ" panose="020B0604030504040204" pitchFamily="50" charset="-128"/>
              </a:rPr>
              <a:t>は部品。エージェントが必要に応じて呼び出して利用可能。</a:t>
            </a:r>
            <a:endParaRPr kumimoji="1" lang="en-US" altLang="ja-JP" sz="1400" b="1">
              <a:latin typeface="メイリオ" panose="020B0604030504040204" pitchFamily="50" charset="-128"/>
              <a:ea typeface="メイリオ" panose="020B0604030504040204" pitchFamily="50" charset="-128"/>
            </a:endParaRPr>
          </a:p>
          <a:p>
            <a:pPr>
              <a:lnSpc>
                <a:spcPct val="150000"/>
              </a:lnSpc>
            </a:pPr>
            <a:r>
              <a:rPr lang="ja-JP" altLang="en-US" sz="1400" b="1">
                <a:latin typeface="メイリオ" panose="020B0604030504040204" pitchFamily="50" charset="-128"/>
                <a:ea typeface="メイリオ" panose="020B0604030504040204" pitchFamily="50" charset="-128"/>
              </a:rPr>
              <a:t>頻繁に行う作業は</a:t>
            </a:r>
            <a:r>
              <a:rPr lang="en-US" altLang="ja-JP" sz="1400" b="1">
                <a:latin typeface="メイリオ" panose="020B0604030504040204" pitchFamily="50" charset="-128"/>
                <a:ea typeface="メイリオ" panose="020B0604030504040204" pitchFamily="50" charset="-128"/>
              </a:rPr>
              <a:t>Skill</a:t>
            </a:r>
            <a:r>
              <a:rPr lang="ja-JP" altLang="en-US" sz="1400" b="1">
                <a:latin typeface="メイリオ" panose="020B0604030504040204" pitchFamily="50" charset="-128"/>
                <a:ea typeface="メイリオ" panose="020B0604030504040204" pitchFamily="50" charset="-128"/>
              </a:rPr>
              <a:t>化しておくことで品質を担保できる。</a:t>
            </a:r>
            <a:endParaRPr kumimoji="1" lang="en-US" altLang="ja-JP" sz="1400" b="1">
              <a:latin typeface="メイリオ" panose="020B0604030504040204" pitchFamily="50" charset="-128"/>
              <a:ea typeface="メイリオ" panose="020B0604030504040204" pitchFamily="50" charset="-128"/>
            </a:endParaRPr>
          </a:p>
          <a:p>
            <a:pPr>
              <a:lnSpc>
                <a:spcPct val="150000"/>
              </a:lnSpc>
            </a:pPr>
            <a:endParaRPr lang="ja-JP" altLang="en-US" sz="1400">
              <a:latin typeface="メイリオ" panose="020B0604030504040204" pitchFamily="50" charset="-128"/>
              <a:ea typeface="メイリオ" panose="020B0604030504040204" pitchFamily="50" charset="-128"/>
            </a:endParaRPr>
          </a:p>
        </p:txBody>
      </p:sp>
      <p:sp>
        <p:nvSpPr>
          <p:cNvPr id="11" name="テキスト ボックス 10">
            <a:extLst>
              <a:ext uri="{FF2B5EF4-FFF2-40B4-BE49-F238E27FC236}">
                <a16:creationId xmlns:a16="http://schemas.microsoft.com/office/drawing/2014/main" id="{45BCE894-66E6-464E-3869-F88F44511450}"/>
              </a:ext>
            </a:extLst>
          </p:cNvPr>
          <p:cNvSpPr txBox="1"/>
          <p:nvPr/>
        </p:nvSpPr>
        <p:spPr>
          <a:xfrm>
            <a:off x="85659" y="6125893"/>
            <a:ext cx="5221837" cy="623248"/>
          </a:xfrm>
          <a:prstGeom prst="rect">
            <a:avLst/>
          </a:prstGeom>
          <a:noFill/>
        </p:spPr>
        <p:txBody>
          <a:bodyPr wrap="square" rtlCol="0">
            <a:spAutoFit/>
          </a:bodyPr>
          <a:lstStyle/>
          <a:p>
            <a:pPr>
              <a:lnSpc>
                <a:spcPct val="150000"/>
              </a:lnSpc>
            </a:pPr>
            <a:r>
              <a:rPr kumimoji="1" lang="en-US" altLang="ja-JP" sz="1200" b="1">
                <a:latin typeface="メイリオ" panose="020B0604030504040204" pitchFamily="50" charset="-128"/>
                <a:ea typeface="メイリオ" panose="020B0604030504040204" pitchFamily="50" charset="-128"/>
              </a:rPr>
              <a:t>RPA</a:t>
            </a:r>
            <a:r>
              <a:rPr kumimoji="1" lang="ja-JP" altLang="en-US" sz="1200" b="1">
                <a:latin typeface="メイリオ" panose="020B0604030504040204" pitchFamily="50" charset="-128"/>
                <a:ea typeface="メイリオ" panose="020B0604030504040204" pitchFamily="50" charset="-128"/>
              </a:rPr>
              <a:t>が「マニュアル通りにしか動けないパート従業員」なら、</a:t>
            </a:r>
            <a:endParaRPr kumimoji="1" lang="en-US" altLang="ja-JP" sz="1200" b="1">
              <a:latin typeface="メイリオ" panose="020B0604030504040204" pitchFamily="50" charset="-128"/>
              <a:ea typeface="メイリオ" panose="020B0604030504040204" pitchFamily="50" charset="-128"/>
            </a:endParaRPr>
          </a:p>
          <a:p>
            <a:pPr>
              <a:lnSpc>
                <a:spcPct val="150000"/>
              </a:lnSpc>
            </a:pPr>
            <a:r>
              <a:rPr lang="en-US" altLang="ja-JP" sz="1200" b="1">
                <a:latin typeface="メイリオ" panose="020B0604030504040204" pitchFamily="50" charset="-128"/>
                <a:ea typeface="メイリオ" panose="020B0604030504040204" pitchFamily="50" charset="-128"/>
              </a:rPr>
              <a:t>Skills</a:t>
            </a:r>
            <a:r>
              <a:rPr lang="ja-JP" altLang="en-US" sz="1200" b="1">
                <a:latin typeface="メイリオ" panose="020B0604030504040204" pitchFamily="50" charset="-128"/>
                <a:ea typeface="メイリオ" panose="020B0604030504040204" pitchFamily="50" charset="-128"/>
              </a:rPr>
              <a:t>は「業務マニュアルを渡したら自分で考えて動ける正社員」</a:t>
            </a:r>
            <a:endParaRPr lang="ja-JP" altLang="en-US" sz="12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86CB0CF2-20ED-46BE-CCD5-B134C1AB4E73}"/>
              </a:ext>
            </a:extLst>
          </p:cNvPr>
          <p:cNvSpPr/>
          <p:nvPr/>
        </p:nvSpPr>
        <p:spPr>
          <a:xfrm>
            <a:off x="5495859" y="1685140"/>
            <a:ext cx="6610482"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solidFill>
                  <a:schemeClr val="tx1"/>
                </a:solidFill>
                <a:latin typeface="メイリオ" panose="020B0604030504040204" pitchFamily="50" charset="-128"/>
                <a:ea typeface="メイリオ" panose="020B0604030504040204" pitchFamily="50" charset="-128"/>
              </a:rPr>
              <a:t>Skills</a:t>
            </a:r>
            <a:r>
              <a:rPr lang="ja-JP" altLang="en-US" b="1">
                <a:solidFill>
                  <a:schemeClr val="tx1"/>
                </a:solidFill>
                <a:latin typeface="メイリオ" panose="020B0604030504040204" pitchFamily="50" charset="-128"/>
                <a:ea typeface="メイリオ" panose="020B0604030504040204" pitchFamily="50" charset="-128"/>
              </a:rPr>
              <a:t>の</a:t>
            </a:r>
            <a:r>
              <a:rPr lang="en-US" altLang="ja-JP" b="1">
                <a:solidFill>
                  <a:schemeClr val="tx1"/>
                </a:solidFill>
                <a:latin typeface="メイリオ" panose="020B0604030504040204" pitchFamily="50" charset="-128"/>
                <a:ea typeface="メイリオ" panose="020B0604030504040204" pitchFamily="50" charset="-128"/>
              </a:rPr>
              <a:t>3</a:t>
            </a:r>
            <a:r>
              <a:rPr lang="ja-JP" altLang="en-US" b="1">
                <a:solidFill>
                  <a:schemeClr val="tx1"/>
                </a:solidFill>
                <a:latin typeface="メイリオ" panose="020B0604030504040204" pitchFamily="50" charset="-128"/>
                <a:ea typeface="メイリオ" panose="020B0604030504040204" pitchFamily="50" charset="-128"/>
              </a:rPr>
              <a:t>つの革新性</a:t>
            </a:r>
            <a:endParaRPr kumimoji="1" lang="ja-JP" altLang="en-US" b="1">
              <a:solidFill>
                <a:schemeClr val="tx1"/>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FAD93C74-FE32-B621-D415-7DAFA1685F46}"/>
              </a:ext>
            </a:extLst>
          </p:cNvPr>
          <p:cNvSpPr txBox="1"/>
          <p:nvPr/>
        </p:nvSpPr>
        <p:spPr>
          <a:xfrm>
            <a:off x="5495859" y="2213760"/>
            <a:ext cx="6610482" cy="900246"/>
          </a:xfrm>
          <a:prstGeom prst="rect">
            <a:avLst/>
          </a:prstGeom>
          <a:noFill/>
        </p:spPr>
        <p:txBody>
          <a:bodyPr wrap="square" rtlCol="0">
            <a:spAutoFit/>
          </a:bodyPr>
          <a:lstStyle/>
          <a:p>
            <a:pPr marL="342900" indent="-342900">
              <a:lnSpc>
                <a:spcPct val="150000"/>
              </a:lnSpc>
              <a:buFont typeface="+mj-lt"/>
              <a:buAutoNum type="arabicPeriod"/>
            </a:pPr>
            <a:r>
              <a:rPr lang="ja-JP" altLang="en-US" sz="1200">
                <a:latin typeface="メイリオ" panose="020B0604030504040204" pitchFamily="50" charset="-128"/>
                <a:ea typeface="メイリオ" panose="020B0604030504040204" pitchFamily="50" charset="-128"/>
              </a:rPr>
              <a:t>ポータビリティ：業務引継ぎは「フォルダを渡すだけ」で完了</a:t>
            </a:r>
            <a:endParaRPr lang="en-US" altLang="ja-JP" sz="1200">
              <a:latin typeface="メイリオ" panose="020B0604030504040204" pitchFamily="50" charset="-128"/>
              <a:ea typeface="メイリオ" panose="020B0604030504040204" pitchFamily="50" charset="-128"/>
            </a:endParaRPr>
          </a:p>
          <a:p>
            <a:pPr marL="342900" indent="-342900">
              <a:lnSpc>
                <a:spcPct val="150000"/>
              </a:lnSpc>
              <a:buFont typeface="+mj-lt"/>
              <a:buAutoNum type="arabicPeriod"/>
            </a:pPr>
            <a:r>
              <a:rPr lang="ja-JP" altLang="en-US" sz="1200">
                <a:latin typeface="メイリオ" panose="020B0604030504040204" pitchFamily="50" charset="-128"/>
                <a:ea typeface="メイリオ" panose="020B0604030504040204" pitchFamily="50" charset="-128"/>
              </a:rPr>
              <a:t>ノウハウ継承：ベテランの暗黙知を</a:t>
            </a:r>
            <a:r>
              <a:rPr lang="en-US" altLang="ja-JP" sz="1200">
                <a:latin typeface="メイリオ" panose="020B0604030504040204" pitchFamily="50" charset="-128"/>
                <a:ea typeface="メイリオ" panose="020B0604030504040204" pitchFamily="50" charset="-128"/>
              </a:rPr>
              <a:t>AI</a:t>
            </a:r>
            <a:r>
              <a:rPr lang="ja-JP" altLang="en-US" sz="1200">
                <a:latin typeface="メイリオ" panose="020B0604030504040204" pitchFamily="50" charset="-128"/>
                <a:ea typeface="メイリオ" panose="020B0604030504040204" pitchFamily="50" charset="-128"/>
              </a:rPr>
              <a:t>に学習させ、新人でも同等パフォーマンス</a:t>
            </a:r>
            <a:endParaRPr lang="en-US" altLang="ja-JP" sz="1200">
              <a:latin typeface="メイリオ" panose="020B0604030504040204" pitchFamily="50" charset="-128"/>
              <a:ea typeface="メイリオ" panose="020B0604030504040204" pitchFamily="50" charset="-128"/>
            </a:endParaRPr>
          </a:p>
          <a:p>
            <a:pPr marL="342900" indent="-342900">
              <a:lnSpc>
                <a:spcPct val="150000"/>
              </a:lnSpc>
              <a:buFont typeface="+mj-lt"/>
              <a:buAutoNum type="arabicPeriod"/>
            </a:pPr>
            <a:r>
              <a:rPr lang="ja-JP" altLang="en-US" sz="1200">
                <a:latin typeface="メイリオ" panose="020B0604030504040204" pitchFamily="50" charset="-128"/>
                <a:ea typeface="メイリオ" panose="020B0604030504040204" pitchFamily="50" charset="-128"/>
              </a:rPr>
              <a:t>会話で作成可能：プログラミング不要、業務のやり方を</a:t>
            </a:r>
            <a:r>
              <a:rPr lang="en-US" altLang="ja-JP" sz="1200">
                <a:latin typeface="メイリオ" panose="020B0604030504040204" pitchFamily="50" charset="-128"/>
                <a:ea typeface="メイリオ" panose="020B0604030504040204" pitchFamily="50" charset="-128"/>
              </a:rPr>
              <a:t>AI</a:t>
            </a:r>
            <a:r>
              <a:rPr lang="ja-JP" altLang="en-US" sz="1200">
                <a:latin typeface="メイリオ" panose="020B0604030504040204" pitchFamily="50" charset="-128"/>
                <a:ea typeface="メイリオ" panose="020B0604030504040204" pitchFamily="50" charset="-128"/>
              </a:rPr>
              <a:t>と会話するだけでスキル化</a:t>
            </a:r>
          </a:p>
        </p:txBody>
      </p:sp>
      <p:sp>
        <p:nvSpPr>
          <p:cNvPr id="14" name="正方形/長方形 13">
            <a:extLst>
              <a:ext uri="{FF2B5EF4-FFF2-40B4-BE49-F238E27FC236}">
                <a16:creationId xmlns:a16="http://schemas.microsoft.com/office/drawing/2014/main" id="{EA6D808A-3012-ADE1-3315-08824A87B85F}"/>
              </a:ext>
            </a:extLst>
          </p:cNvPr>
          <p:cNvSpPr/>
          <p:nvPr/>
        </p:nvSpPr>
        <p:spPr>
          <a:xfrm>
            <a:off x="5495859" y="3159189"/>
            <a:ext cx="6610482"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a:solidFill>
                  <a:schemeClr val="tx1"/>
                </a:solidFill>
                <a:latin typeface="メイリオ" panose="020B0604030504040204" pitchFamily="50" charset="-128"/>
                <a:ea typeface="メイリオ" panose="020B0604030504040204" pitchFamily="50" charset="-128"/>
              </a:rPr>
              <a:t>活用事例</a:t>
            </a:r>
            <a:endParaRPr kumimoji="1" lang="ja-JP" altLang="en-US" b="1">
              <a:solidFill>
                <a:schemeClr val="tx1"/>
              </a:solidFill>
              <a:latin typeface="メイリオ" panose="020B0604030504040204" pitchFamily="50" charset="-128"/>
              <a:ea typeface="メイリオ" panose="020B0604030504040204" pitchFamily="50" charset="-128"/>
            </a:endParaRPr>
          </a:p>
        </p:txBody>
      </p:sp>
      <p:graphicFrame>
        <p:nvGraphicFramePr>
          <p:cNvPr id="15" name="表 14">
            <a:extLst>
              <a:ext uri="{FF2B5EF4-FFF2-40B4-BE49-F238E27FC236}">
                <a16:creationId xmlns:a16="http://schemas.microsoft.com/office/drawing/2014/main" id="{DE0B346F-5EF0-4B86-1AA2-6432E9CD2C94}"/>
              </a:ext>
            </a:extLst>
          </p:cNvPr>
          <p:cNvGraphicFramePr>
            <a:graphicFrameLocks noGrp="1"/>
          </p:cNvGraphicFramePr>
          <p:nvPr>
            <p:extLst>
              <p:ext uri="{D42A27DB-BD31-4B8C-83A1-F6EECF244321}">
                <p14:modId xmlns:p14="http://schemas.microsoft.com/office/powerpoint/2010/main" val="4238333516"/>
              </p:ext>
            </p:extLst>
          </p:nvPr>
        </p:nvGraphicFramePr>
        <p:xfrm>
          <a:off x="5495859" y="3661572"/>
          <a:ext cx="6610482" cy="1737360"/>
        </p:xfrm>
        <a:graphic>
          <a:graphicData uri="http://schemas.openxmlformats.org/drawingml/2006/table">
            <a:tbl>
              <a:tblPr firstRow="1" bandRow="1">
                <a:tableStyleId>{5C22544A-7EE6-4342-B048-85BDC9FD1C3A}</a:tableStyleId>
              </a:tblPr>
              <a:tblGrid>
                <a:gridCol w="2266602">
                  <a:extLst>
                    <a:ext uri="{9D8B030D-6E8A-4147-A177-3AD203B41FA5}">
                      <a16:colId xmlns:a16="http://schemas.microsoft.com/office/drawing/2014/main" val="2318932400"/>
                    </a:ext>
                  </a:extLst>
                </a:gridCol>
                <a:gridCol w="4343880">
                  <a:extLst>
                    <a:ext uri="{9D8B030D-6E8A-4147-A177-3AD203B41FA5}">
                      <a16:colId xmlns:a16="http://schemas.microsoft.com/office/drawing/2014/main" val="3640577625"/>
                    </a:ext>
                  </a:extLst>
                </a:gridCol>
              </a:tblGrid>
              <a:tr h="192201">
                <a:tc>
                  <a:txBody>
                    <a:bodyPr/>
                    <a:lstStyle/>
                    <a:p>
                      <a:pPr algn="ctr"/>
                      <a:r>
                        <a:rPr kumimoji="1" lang="ja-JP" altLang="en-US" sz="1400">
                          <a:latin typeface="メイリオ" panose="020B0604030504040204" pitchFamily="50" charset="-128"/>
                          <a:ea typeface="メイリオ" panose="020B0604030504040204" pitchFamily="50" charset="-128"/>
                        </a:rPr>
                        <a:t>企業・領域</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活用内容</a:t>
                      </a:r>
                    </a:p>
                  </a:txBody>
                  <a:tcPr anchor="ctr"/>
                </a:tc>
                <a:extLst>
                  <a:ext uri="{0D108BD9-81ED-4DB2-BD59-A6C34878D82A}">
                    <a16:rowId xmlns:a16="http://schemas.microsoft.com/office/drawing/2014/main" val="2596534210"/>
                  </a:ext>
                </a:extLst>
              </a:tr>
              <a:tr h="268556">
                <a:tc>
                  <a:txBody>
                    <a:bodyPr/>
                    <a:lstStyle/>
                    <a:p>
                      <a:pPr>
                        <a:buNone/>
                      </a:pPr>
                      <a:r>
                        <a:rPr lang="ja-JP" altLang="en-US" sz="1400">
                          <a:latin typeface="メイリオ" panose="020B0604030504040204" pitchFamily="50" charset="-128"/>
                          <a:ea typeface="メイリオ" panose="020B0604030504040204" pitchFamily="50" charset="-128"/>
                        </a:rPr>
                        <a:t>自治体（北海道）</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hlinkClick r:id="rId2"/>
                        </a:rPr>
                        <a:t>水道トラブル対応の暗黙知を</a:t>
                      </a:r>
                      <a:r>
                        <a:rPr lang="en-US" altLang="ja-JP" sz="1400">
                          <a:latin typeface="メイリオ" panose="020B0604030504040204" pitchFamily="50" charset="-128"/>
                          <a:ea typeface="メイリオ" panose="020B0604030504040204" pitchFamily="50" charset="-128"/>
                          <a:hlinkClick r:id="rId2"/>
                        </a:rPr>
                        <a:t>AI</a:t>
                      </a:r>
                      <a:r>
                        <a:rPr lang="ja-JP" altLang="en-US" sz="1400">
                          <a:latin typeface="メイリオ" panose="020B0604030504040204" pitchFamily="50" charset="-128"/>
                          <a:ea typeface="メイリオ" panose="020B0604030504040204" pitchFamily="50" charset="-128"/>
                          <a:hlinkClick r:id="rId2"/>
                        </a:rPr>
                        <a:t>化 → 新人でも熟練と同等の対応</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4270260975"/>
                  </a:ext>
                </a:extLst>
              </a:tr>
              <a:tr h="157974">
                <a:tc>
                  <a:txBody>
                    <a:bodyPr/>
                    <a:lstStyle/>
                    <a:p>
                      <a:pPr>
                        <a:buNone/>
                      </a:pPr>
                      <a:r>
                        <a:rPr lang="ja-JP" altLang="en-US" sz="1400">
                          <a:latin typeface="メイリオ" panose="020B0604030504040204" pitchFamily="50" charset="-128"/>
                          <a:ea typeface="メイリオ" panose="020B0604030504040204" pitchFamily="50" charset="-128"/>
                        </a:rPr>
                        <a:t>営業会社</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hlinkClick r:id="rId2"/>
                        </a:rPr>
                        <a:t>トップセールスのノウハウ継承</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912966937"/>
                  </a:ext>
                </a:extLst>
              </a:tr>
              <a:tr h="152400">
                <a:tc>
                  <a:txBody>
                    <a:bodyPr/>
                    <a:lstStyle/>
                    <a:p>
                      <a:pPr>
                        <a:buNone/>
                      </a:pPr>
                      <a:r>
                        <a:rPr lang="ja-JP" altLang="en-US" sz="1400">
                          <a:latin typeface="メイリオ" panose="020B0604030504040204" pitchFamily="50" charset="-128"/>
                          <a:ea typeface="メイリオ" panose="020B0604030504040204" pitchFamily="50" charset="-128"/>
                        </a:rPr>
                        <a:t>経理（エクスプラザ）</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hlinkClick r:id="rId3"/>
                        </a:rPr>
                        <a:t>領収書→仕訳</a:t>
                      </a:r>
                      <a:r>
                        <a:rPr lang="en-US" altLang="ja-JP" sz="1400">
                          <a:latin typeface="メイリオ" panose="020B0604030504040204" pitchFamily="50" charset="-128"/>
                          <a:ea typeface="メイリオ" panose="020B0604030504040204" pitchFamily="50" charset="-128"/>
                          <a:hlinkClick r:id="rId3"/>
                        </a:rPr>
                        <a:t>CSV</a:t>
                      </a:r>
                      <a:r>
                        <a:rPr lang="ja-JP" altLang="en-US" sz="1400">
                          <a:latin typeface="メイリオ" panose="020B0604030504040204" pitchFamily="50" charset="-128"/>
                          <a:ea typeface="メイリオ" panose="020B0604030504040204" pitchFamily="50" charset="-128"/>
                          <a:hlinkClick r:id="rId3"/>
                        </a:rPr>
                        <a:t>作成</a:t>
                      </a:r>
                      <a:r>
                        <a:rPr lang="en-US" altLang="ja-JP" sz="1400">
                          <a:latin typeface="メイリオ" panose="020B0604030504040204" pitchFamily="50" charset="-128"/>
                          <a:ea typeface="メイリオ" panose="020B0604030504040204" pitchFamily="50" charset="-128"/>
                          <a:hlinkClick r:id="rId3"/>
                        </a:rPr>
                        <a:t>Skill</a:t>
                      </a:r>
                      <a:r>
                        <a:rPr lang="ja-JP" altLang="en-US" sz="1400">
                          <a:latin typeface="メイリオ" panose="020B0604030504040204" pitchFamily="50" charset="-128"/>
                          <a:ea typeface="メイリオ" panose="020B0604030504040204" pitchFamily="50" charset="-128"/>
                          <a:hlinkClick r:id="rId3"/>
                        </a:rPr>
                        <a:t>化</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691984798"/>
                  </a:ext>
                </a:extLst>
              </a:tr>
              <a:tr h="152400">
                <a:tc>
                  <a:txBody>
                    <a:bodyPr/>
                    <a:lstStyle/>
                    <a:p>
                      <a:pPr>
                        <a:buNone/>
                      </a:pPr>
                      <a:r>
                        <a:rPr lang="ja-JP" altLang="en-US" sz="1400">
                          <a:latin typeface="メイリオ" panose="020B0604030504040204" pitchFamily="50" charset="-128"/>
                          <a:ea typeface="メイリオ" panose="020B0604030504040204" pitchFamily="50" charset="-128"/>
                        </a:rPr>
                        <a:t>マーケター（ドコドア）</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hlinkClick r:id="rId4"/>
                        </a:rPr>
                        <a:t>週次</a:t>
                      </a:r>
                      <a:r>
                        <a:rPr lang="en-US" altLang="ja-JP" sz="1400">
                          <a:latin typeface="メイリオ" panose="020B0604030504040204" pitchFamily="50" charset="-128"/>
                          <a:ea typeface="メイリオ" panose="020B0604030504040204" pitchFamily="50" charset="-128"/>
                          <a:hlinkClick r:id="rId4"/>
                        </a:rPr>
                        <a:t>ROAS</a:t>
                      </a:r>
                      <a:r>
                        <a:rPr lang="ja-JP" altLang="en-US" sz="1400">
                          <a:latin typeface="メイリオ" panose="020B0604030504040204" pitchFamily="50" charset="-128"/>
                          <a:ea typeface="メイリオ" panose="020B0604030504040204" pitchFamily="50" charset="-128"/>
                          <a:hlinkClick r:id="rId4"/>
                        </a:rPr>
                        <a:t>・</a:t>
                      </a:r>
                      <a:r>
                        <a:rPr lang="en-US" altLang="ja-JP" sz="1400">
                          <a:latin typeface="メイリオ" panose="020B0604030504040204" pitchFamily="50" charset="-128"/>
                          <a:ea typeface="メイリオ" panose="020B0604030504040204" pitchFamily="50" charset="-128"/>
                          <a:hlinkClick r:id="rId4"/>
                        </a:rPr>
                        <a:t>KPI</a:t>
                      </a:r>
                      <a:r>
                        <a:rPr lang="ja-JP" altLang="en-US" sz="1400">
                          <a:latin typeface="メイリオ" panose="020B0604030504040204" pitchFamily="50" charset="-128"/>
                          <a:ea typeface="メイリオ" panose="020B0604030504040204" pitchFamily="50" charset="-128"/>
                          <a:hlinkClick r:id="rId4"/>
                        </a:rPr>
                        <a:t>レポート自動化</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3967063229"/>
                  </a:ext>
                </a:extLst>
              </a:tr>
            </a:tbl>
          </a:graphicData>
        </a:graphic>
      </p:graphicFrame>
      <p:sp>
        <p:nvSpPr>
          <p:cNvPr id="16" name="テキスト ボックス 15">
            <a:extLst>
              <a:ext uri="{FF2B5EF4-FFF2-40B4-BE49-F238E27FC236}">
                <a16:creationId xmlns:a16="http://schemas.microsoft.com/office/drawing/2014/main" id="{9950F895-2669-6C6F-1A92-E31A802931A8}"/>
              </a:ext>
            </a:extLst>
          </p:cNvPr>
          <p:cNvSpPr txBox="1"/>
          <p:nvPr/>
        </p:nvSpPr>
        <p:spPr>
          <a:xfrm>
            <a:off x="5495856" y="5525729"/>
            <a:ext cx="6511092" cy="1354217"/>
          </a:xfrm>
          <a:prstGeom prst="rect">
            <a:avLst/>
          </a:prstGeom>
          <a:noFill/>
        </p:spPr>
        <p:txBody>
          <a:bodyPr wrap="square" rtlCol="0">
            <a:spAutoFit/>
          </a:bodyPr>
          <a:lstStyle/>
          <a:p>
            <a:r>
              <a:rPr lang="en-US" altLang="ja-JP" b="1">
                <a:latin typeface="メイリオ" panose="020B0604030504040204" pitchFamily="50" charset="-128"/>
                <a:ea typeface="メイリオ" panose="020B0604030504040204" pitchFamily="50" charset="-128"/>
              </a:rPr>
              <a:t>BPO</a:t>
            </a:r>
            <a:r>
              <a:rPr lang="ja-JP" altLang="en-US" b="1">
                <a:latin typeface="メイリオ" panose="020B0604030504040204" pitchFamily="50" charset="-128"/>
                <a:ea typeface="メイリオ" panose="020B0604030504040204" pitchFamily="50" charset="-128"/>
              </a:rPr>
              <a:t>業務視点ではどう変化する？</a:t>
            </a:r>
            <a:endParaRPr lang="en-US" altLang="ja-JP" b="1">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ja-JP" altLang="en-US" sz="1600">
                <a:latin typeface="メイリオ" panose="020B0604030504040204" pitchFamily="50" charset="-128"/>
                <a:ea typeface="メイリオ" panose="020B0604030504040204" pitchFamily="50" charset="-128"/>
              </a:rPr>
              <a:t>属人化した業務知識の継承</a:t>
            </a:r>
            <a:endParaRPr kumimoji="1" lang="en-US" altLang="ja-JP" sz="160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lang="ja-JP" altLang="en-US" sz="1600">
                <a:latin typeface="メイリオ" panose="020B0604030504040204" pitchFamily="50" charset="-128"/>
                <a:ea typeface="メイリオ" panose="020B0604030504040204" pitchFamily="50" charset="-128"/>
              </a:rPr>
              <a:t>引継ぎコストの削減</a:t>
            </a:r>
            <a:endParaRPr lang="en-US" altLang="ja-JP" sz="160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ja-JP" altLang="en-US" sz="1600">
                <a:latin typeface="メイリオ" panose="020B0604030504040204" pitchFamily="50" charset="-128"/>
                <a:ea typeface="メイリオ" panose="020B0604030504040204" pitchFamily="50" charset="-128"/>
              </a:rPr>
              <a:t>クライアント提案の差別化（「</a:t>
            </a:r>
            <a:r>
              <a:rPr kumimoji="1" lang="en-US" altLang="ja-JP" sz="1600">
                <a:latin typeface="メイリオ" panose="020B0604030504040204" pitchFamily="50" charset="-128"/>
                <a:ea typeface="メイリオ" panose="020B0604030504040204" pitchFamily="50" charset="-128"/>
              </a:rPr>
              <a:t>Skills</a:t>
            </a:r>
            <a:r>
              <a:rPr lang="ja-JP" altLang="en-US" sz="1600">
                <a:latin typeface="メイリオ" panose="020B0604030504040204" pitchFamily="50" charset="-128"/>
                <a:ea typeface="メイリオ" panose="020B0604030504040204" pitchFamily="50" charset="-128"/>
              </a:rPr>
              <a:t>化した業務改善</a:t>
            </a:r>
            <a:r>
              <a:rPr kumimoji="1" lang="ja-JP" altLang="en-US" sz="1600">
                <a:latin typeface="メイリオ" panose="020B0604030504040204" pitchFamily="50" charset="-128"/>
                <a:ea typeface="メイリオ" panose="020B0604030504040204" pitchFamily="50" charset="-128"/>
              </a:rPr>
              <a:t>」を提案に組み込める）</a:t>
            </a:r>
            <a:endParaRPr kumimoji="1" lang="en-US" altLang="ja-JP" sz="16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9010459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BE63E-48DE-46BD-A0F1-F75A4883DB6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87793A3-C588-FC3F-3786-1CE1CBFDAC4A}"/>
              </a:ext>
            </a:extLst>
          </p:cNvPr>
          <p:cNvSpPr txBox="1"/>
          <p:nvPr/>
        </p:nvSpPr>
        <p:spPr>
          <a:xfrm>
            <a:off x="443466" y="317212"/>
            <a:ext cx="11215133" cy="584775"/>
          </a:xfrm>
          <a:prstGeom prst="rect">
            <a:avLst/>
          </a:prstGeom>
          <a:noFill/>
        </p:spPr>
        <p:txBody>
          <a:bodyPr wrap="square" rtlCol="0">
            <a:spAutoFit/>
          </a:bodyPr>
          <a:lstStyle/>
          <a:p>
            <a:r>
              <a:rPr kumimoji="1" lang="ja-JP" altLang="en-US" sz="3200" b="1">
                <a:latin typeface="メイリオ" panose="020B0604030504040204" pitchFamily="50" charset="-128"/>
                <a:ea typeface="メイリオ" panose="020B0604030504040204" pitchFamily="50" charset="-128"/>
              </a:rPr>
              <a:t>非エンジニアも使い始めている理由 ➡ ただし環境が必要</a:t>
            </a:r>
          </a:p>
        </p:txBody>
      </p:sp>
      <p:sp>
        <p:nvSpPr>
          <p:cNvPr id="6" name="正方形/長方形 5">
            <a:extLst>
              <a:ext uri="{FF2B5EF4-FFF2-40B4-BE49-F238E27FC236}">
                <a16:creationId xmlns:a16="http://schemas.microsoft.com/office/drawing/2014/main" id="{C503231F-9BC4-C3FF-FA45-B0D34E7AF822}"/>
              </a:ext>
            </a:extLst>
          </p:cNvPr>
          <p:cNvSpPr/>
          <p:nvPr/>
        </p:nvSpPr>
        <p:spPr>
          <a:xfrm>
            <a:off x="185048" y="1008015"/>
            <a:ext cx="5679039"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solidFill>
                  <a:schemeClr val="tx1"/>
                </a:solidFill>
                <a:latin typeface="メイリオ" panose="020B0604030504040204" pitchFamily="50" charset="-128"/>
                <a:ea typeface="メイリオ" panose="020B0604030504040204" pitchFamily="50" charset="-128"/>
              </a:rPr>
              <a:t>Claude</a:t>
            </a:r>
            <a:r>
              <a:rPr lang="ja-JP" altLang="en-US" b="1">
                <a:solidFill>
                  <a:schemeClr val="tx1"/>
                </a:solidFill>
                <a:latin typeface="メイリオ" panose="020B0604030504040204" pitchFamily="50" charset="-128"/>
                <a:ea typeface="メイリオ" panose="020B0604030504040204" pitchFamily="50" charset="-128"/>
              </a:rPr>
              <a:t>で広がる可能性</a:t>
            </a:r>
            <a:endParaRPr kumimoji="1" lang="ja-JP" altLang="en-US" b="1">
              <a:solidFill>
                <a:schemeClr val="tx1"/>
              </a:solidFill>
              <a:latin typeface="メイリオ" panose="020B0604030504040204" pitchFamily="50" charset="-128"/>
              <a:ea typeface="メイリオ" panose="020B0604030504040204" pitchFamily="50" charset="-128"/>
            </a:endParaRPr>
          </a:p>
        </p:txBody>
      </p:sp>
      <p:graphicFrame>
        <p:nvGraphicFramePr>
          <p:cNvPr id="7" name="表 6">
            <a:extLst>
              <a:ext uri="{FF2B5EF4-FFF2-40B4-BE49-F238E27FC236}">
                <a16:creationId xmlns:a16="http://schemas.microsoft.com/office/drawing/2014/main" id="{CC8069A0-210A-4A9E-74B2-C2D5EC2950B7}"/>
              </a:ext>
            </a:extLst>
          </p:cNvPr>
          <p:cNvGraphicFramePr>
            <a:graphicFrameLocks noGrp="1"/>
          </p:cNvGraphicFramePr>
          <p:nvPr>
            <p:extLst>
              <p:ext uri="{D42A27DB-BD31-4B8C-83A1-F6EECF244321}">
                <p14:modId xmlns:p14="http://schemas.microsoft.com/office/powerpoint/2010/main" val="2896879498"/>
              </p:ext>
            </p:extLst>
          </p:nvPr>
        </p:nvGraphicFramePr>
        <p:xfrm>
          <a:off x="172076" y="1571243"/>
          <a:ext cx="5692011" cy="2199640"/>
        </p:xfrm>
        <a:graphic>
          <a:graphicData uri="http://schemas.openxmlformats.org/drawingml/2006/table">
            <a:tbl>
              <a:tblPr firstRow="1" bandRow="1">
                <a:tableStyleId>{5C22544A-7EE6-4342-B048-85BDC9FD1C3A}</a:tableStyleId>
              </a:tblPr>
              <a:tblGrid>
                <a:gridCol w="951046">
                  <a:extLst>
                    <a:ext uri="{9D8B030D-6E8A-4147-A177-3AD203B41FA5}">
                      <a16:colId xmlns:a16="http://schemas.microsoft.com/office/drawing/2014/main" val="1166856973"/>
                    </a:ext>
                  </a:extLst>
                </a:gridCol>
                <a:gridCol w="208280">
                  <a:extLst>
                    <a:ext uri="{9D8B030D-6E8A-4147-A177-3AD203B41FA5}">
                      <a16:colId xmlns:a16="http://schemas.microsoft.com/office/drawing/2014/main" val="2895650728"/>
                    </a:ext>
                  </a:extLst>
                </a:gridCol>
                <a:gridCol w="1389660">
                  <a:extLst>
                    <a:ext uri="{9D8B030D-6E8A-4147-A177-3AD203B41FA5}">
                      <a16:colId xmlns:a16="http://schemas.microsoft.com/office/drawing/2014/main" val="2168024439"/>
                    </a:ext>
                  </a:extLst>
                </a:gridCol>
                <a:gridCol w="208280">
                  <a:extLst>
                    <a:ext uri="{9D8B030D-6E8A-4147-A177-3AD203B41FA5}">
                      <a16:colId xmlns:a16="http://schemas.microsoft.com/office/drawing/2014/main" val="476826760"/>
                    </a:ext>
                  </a:extLst>
                </a:gridCol>
                <a:gridCol w="2934745">
                  <a:extLst>
                    <a:ext uri="{9D8B030D-6E8A-4147-A177-3AD203B41FA5}">
                      <a16:colId xmlns:a16="http://schemas.microsoft.com/office/drawing/2014/main" val="2778055396"/>
                    </a:ext>
                  </a:extLst>
                </a:gridCol>
              </a:tblGrid>
              <a:tr h="370840">
                <a:tc>
                  <a:txBody>
                    <a:bodyPr/>
                    <a:lstStyle/>
                    <a:p>
                      <a:pPr algn="ctr"/>
                      <a:r>
                        <a:rPr kumimoji="1" lang="ja-JP" altLang="en-US" sz="1200">
                          <a:latin typeface="メイリオ" panose="020B0604030504040204" pitchFamily="50" charset="-128"/>
                          <a:ea typeface="メイリオ" panose="020B0604030504040204" pitchFamily="50" charset="-128"/>
                        </a:rPr>
                        <a:t>できること</a:t>
                      </a:r>
                      <a:endParaRPr kumimoji="1" lang="en-US" altLang="ja-JP" sz="1200">
                        <a:latin typeface="メイリオ" panose="020B0604030504040204" pitchFamily="50" charset="-128"/>
                        <a:ea typeface="メイリオ" panose="020B0604030504040204" pitchFamily="50" charset="-128"/>
                      </a:endParaRPr>
                    </a:p>
                  </a:txBody>
                  <a:tcPr anchor="ctr"/>
                </a:tc>
                <a:tc>
                  <a:txBody>
                    <a:bodyPr/>
                    <a:lstStyle/>
                    <a:p>
                      <a:pPr algn="ctr"/>
                      <a:endParaRPr kumimoji="1" lang="ja-JP" altLang="en-US" sz="1200">
                        <a:latin typeface="メイリオ" panose="020B0604030504040204" pitchFamily="50" charset="-128"/>
                        <a:ea typeface="メイリオ" panose="020B0604030504040204" pitchFamily="50" charset="-128"/>
                      </a:endParaRPr>
                    </a:p>
                  </a:txBody>
                  <a:tcPr anchor="ctr">
                    <a:solidFill>
                      <a:schemeClr val="bg1"/>
                    </a:solidFill>
                  </a:tcPr>
                </a:tc>
                <a:tc>
                  <a:txBody>
                    <a:bodyPr/>
                    <a:lstStyle/>
                    <a:p>
                      <a:pPr algn="ctr"/>
                      <a:r>
                        <a:rPr kumimoji="1" lang="ja-JP" altLang="en-US" sz="1200">
                          <a:latin typeface="メイリオ" panose="020B0604030504040204" pitchFamily="50" charset="-128"/>
                          <a:ea typeface="メイリオ" panose="020B0604030504040204" pitchFamily="50" charset="-128"/>
                        </a:rPr>
                        <a:t>ということは</a:t>
                      </a:r>
                    </a:p>
                  </a:txBody>
                  <a:tcPr anchor="ctr"/>
                </a:tc>
                <a:tc>
                  <a:txBody>
                    <a:bodyPr/>
                    <a:lstStyle/>
                    <a:p>
                      <a:pPr algn="ctr"/>
                      <a:endParaRPr kumimoji="1" lang="ja-JP" altLang="en-US" sz="1200">
                        <a:latin typeface="メイリオ" panose="020B0604030504040204" pitchFamily="50" charset="-128"/>
                        <a:ea typeface="メイリオ" panose="020B0604030504040204" pitchFamily="50" charset="-128"/>
                      </a:endParaRPr>
                    </a:p>
                  </a:txBody>
                  <a:tcPr anchor="ctr">
                    <a:solidFill>
                      <a:schemeClr val="bg1"/>
                    </a:solidFill>
                  </a:tcPr>
                </a:tc>
                <a:tc>
                  <a:txBody>
                    <a:bodyPr/>
                    <a:lstStyle/>
                    <a:p>
                      <a:pPr algn="ctr"/>
                      <a:r>
                        <a:rPr kumimoji="1" lang="ja-JP" altLang="en-US" sz="1200">
                          <a:latin typeface="メイリオ" panose="020B0604030504040204" pitchFamily="50" charset="-128"/>
                          <a:ea typeface="メイリオ" panose="020B0604030504040204" pitchFamily="50" charset="-128"/>
                        </a:rPr>
                        <a:t>さらに言うと</a:t>
                      </a:r>
                    </a:p>
                  </a:txBody>
                  <a:tcPr anchor="ctr"/>
                </a:tc>
                <a:extLst>
                  <a:ext uri="{0D108BD9-81ED-4DB2-BD59-A6C34878D82A}">
                    <a16:rowId xmlns:a16="http://schemas.microsoft.com/office/drawing/2014/main" val="2454523292"/>
                  </a:ext>
                </a:extLst>
              </a:tr>
              <a:tr h="370840">
                <a:tc>
                  <a:txBody>
                    <a:bodyPr/>
                    <a:lstStyle/>
                    <a:p>
                      <a:r>
                        <a:rPr kumimoji="1" lang="ja-JP" altLang="en-US" sz="1200">
                          <a:latin typeface="メイリオ" panose="020B0604030504040204" pitchFamily="50" charset="-128"/>
                          <a:ea typeface="メイリオ" panose="020B0604030504040204" pitchFamily="50" charset="-128"/>
                        </a:rPr>
                        <a:t>ターミナルで動く</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a:t>
                      </a:r>
                    </a:p>
                  </a:txBody>
                  <a:tcPr anchor="ctr">
                    <a:solidFill>
                      <a:schemeClr val="bg1"/>
                    </a:solidFill>
                  </a:tcPr>
                </a:tc>
                <a:tc>
                  <a:txBody>
                    <a:bodyPr/>
                    <a:lstStyle/>
                    <a:p>
                      <a:r>
                        <a:rPr kumimoji="1" lang="en-US" altLang="ja-JP" sz="1200">
                          <a:latin typeface="メイリオ" panose="020B0604030504040204" pitchFamily="50" charset="-128"/>
                          <a:ea typeface="メイリオ" panose="020B0604030504040204" pitchFamily="50" charset="-128"/>
                        </a:rPr>
                        <a:t>PC</a:t>
                      </a:r>
                      <a:r>
                        <a:rPr kumimoji="1" lang="ja-JP" altLang="en-US" sz="1200">
                          <a:latin typeface="メイリオ" panose="020B0604030504040204" pitchFamily="50" charset="-128"/>
                          <a:ea typeface="メイリオ" panose="020B0604030504040204" pitchFamily="50" charset="-128"/>
                        </a:rPr>
                        <a:t>操作ができる</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a:t>
                      </a:r>
                    </a:p>
                  </a:txBody>
                  <a:tcPr anchor="ctr">
                    <a:solidFill>
                      <a:schemeClr val="bg1"/>
                    </a:solidFill>
                  </a:tcPr>
                </a:tc>
                <a:tc>
                  <a:txBody>
                    <a:bodyPr/>
                    <a:lstStyle/>
                    <a:p>
                      <a:r>
                        <a:rPr lang="ja-JP" altLang="en-US" sz="1200">
                          <a:latin typeface="メイリオ" panose="020B0604030504040204" pitchFamily="50" charset="-128"/>
                          <a:ea typeface="メイリオ" panose="020B0604030504040204" pitchFamily="50" charset="-128"/>
                        </a:rPr>
                        <a:t>ファイル一括リネーム、フォルダ整理、請求書</a:t>
                      </a:r>
                      <a:r>
                        <a:rPr lang="en-US" altLang="ja-JP" sz="1200">
                          <a:latin typeface="メイリオ" panose="020B0604030504040204" pitchFamily="50" charset="-128"/>
                          <a:ea typeface="メイリオ" panose="020B0604030504040204" pitchFamily="50" charset="-128"/>
                        </a:rPr>
                        <a:t>PDF</a:t>
                      </a:r>
                      <a:r>
                        <a:rPr lang="ja-JP" altLang="en-US" sz="1200">
                          <a:latin typeface="メイリオ" panose="020B0604030504040204" pitchFamily="50" charset="-128"/>
                          <a:ea typeface="メイリオ" panose="020B0604030504040204" pitchFamily="50" charset="-128"/>
                        </a:rPr>
                        <a:t>一括生成など</a:t>
                      </a:r>
                      <a:endParaRPr kumimoji="1" lang="ja-JP" altLang="en-US" sz="12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806381128"/>
                  </a:ext>
                </a:extLst>
              </a:tr>
              <a:tr h="370840">
                <a:tc>
                  <a:txBody>
                    <a:bodyPr/>
                    <a:lstStyle/>
                    <a:p>
                      <a:r>
                        <a:rPr kumimoji="1" lang="en-US" altLang="ja-JP" sz="1200">
                          <a:latin typeface="メイリオ" panose="020B0604030504040204" pitchFamily="50" charset="-128"/>
                          <a:ea typeface="メイリオ" panose="020B0604030504040204" pitchFamily="50" charset="-128"/>
                        </a:rPr>
                        <a:t>Python</a:t>
                      </a:r>
                      <a:r>
                        <a:rPr kumimoji="1" lang="ja-JP" altLang="en-US" sz="1200">
                          <a:latin typeface="メイリオ" panose="020B0604030504040204" pitchFamily="50" charset="-128"/>
                          <a:ea typeface="メイリオ" panose="020B0604030504040204" pitchFamily="50" charset="-128"/>
                        </a:rPr>
                        <a:t>を実行できる</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a:t>
                      </a:r>
                    </a:p>
                  </a:txBody>
                  <a:tcPr anchor="ctr">
                    <a:solidFill>
                      <a:schemeClr val="bg1"/>
                    </a:solidFill>
                  </a:tcPr>
                </a:tc>
                <a:tc>
                  <a:txBody>
                    <a:bodyPr/>
                    <a:lstStyle/>
                    <a:p>
                      <a:r>
                        <a:rPr kumimoji="1" lang="en-US" altLang="ja-JP" sz="1200">
                          <a:latin typeface="メイリオ" panose="020B0604030504040204" pitchFamily="50" charset="-128"/>
                          <a:ea typeface="メイリオ" panose="020B0604030504040204" pitchFamily="50" charset="-128"/>
                        </a:rPr>
                        <a:t>Python</a:t>
                      </a:r>
                      <a:r>
                        <a:rPr kumimoji="1" lang="ja-JP" altLang="en-US" sz="1200">
                          <a:latin typeface="メイリオ" panose="020B0604030504040204" pitchFamily="50" charset="-128"/>
                          <a:ea typeface="メイリオ" panose="020B0604030504040204" pitchFamily="50" charset="-128"/>
                        </a:rPr>
                        <a:t>のライブラリが使える</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a:t>
                      </a:r>
                    </a:p>
                  </a:txBody>
                  <a:tcPr anchor="ctr">
                    <a:solidFill>
                      <a:schemeClr val="bg1"/>
                    </a:solidFill>
                  </a:tcPr>
                </a:tc>
                <a:tc>
                  <a:txBody>
                    <a:bodyPr/>
                    <a:lstStyle/>
                    <a:p>
                      <a:r>
                        <a:rPr lang="ja-JP" altLang="en-US" sz="1200">
                          <a:latin typeface="メイリオ" panose="020B0604030504040204" pitchFamily="50" charset="-128"/>
                          <a:ea typeface="メイリオ" panose="020B0604030504040204" pitchFamily="50" charset="-128"/>
                          <a:hlinkClick r:id="rId2"/>
                        </a:rPr>
                        <a:t>動画編集</a:t>
                      </a:r>
                      <a:r>
                        <a:rPr lang="ja-JP" altLang="en-US" sz="1200">
                          <a:latin typeface="メイリオ" panose="020B0604030504040204" pitchFamily="50" charset="-128"/>
                          <a:ea typeface="メイリオ" panose="020B0604030504040204" pitchFamily="50" charset="-128"/>
                        </a:rPr>
                        <a:t>、画像の一括加工、音声文字起こし、</a:t>
                      </a:r>
                      <a:r>
                        <a:rPr lang="ja-JP" altLang="en-US" sz="1200">
                          <a:latin typeface="メイリオ" panose="020B0604030504040204" pitchFamily="50" charset="-128"/>
                          <a:ea typeface="メイリオ" panose="020B0604030504040204" pitchFamily="50" charset="-128"/>
                          <a:hlinkClick r:id="rId3"/>
                        </a:rPr>
                        <a:t>資料作成</a:t>
                      </a:r>
                      <a:r>
                        <a:rPr kumimoji="1" lang="ja-JP" altLang="en-US" sz="1200">
                          <a:latin typeface="メイリオ" panose="020B0604030504040204" pitchFamily="50" charset="-128"/>
                          <a:ea typeface="メイリオ" panose="020B0604030504040204" pitchFamily="50" charset="-128"/>
                        </a:rPr>
                        <a:t>など</a:t>
                      </a:r>
                    </a:p>
                  </a:txBody>
                  <a:tcPr anchor="ctr"/>
                </a:tc>
                <a:extLst>
                  <a:ext uri="{0D108BD9-81ED-4DB2-BD59-A6C34878D82A}">
                    <a16:rowId xmlns:a16="http://schemas.microsoft.com/office/drawing/2014/main" val="3645702937"/>
                  </a:ext>
                </a:extLst>
              </a:tr>
              <a:tr h="370840">
                <a:tc>
                  <a:txBody>
                    <a:bodyPr/>
                    <a:lstStyle/>
                    <a:p>
                      <a:r>
                        <a:rPr kumimoji="1" lang="en-US" altLang="ja-JP" sz="1200">
                          <a:latin typeface="メイリオ" panose="020B0604030504040204" pitchFamily="50" charset="-128"/>
                          <a:ea typeface="メイリオ" panose="020B0604030504040204" pitchFamily="50" charset="-128"/>
                        </a:rPr>
                        <a:t>Chrome</a:t>
                      </a:r>
                      <a:r>
                        <a:rPr kumimoji="1" lang="ja-JP" altLang="en-US" sz="1200">
                          <a:latin typeface="メイリオ" panose="020B0604030504040204" pitchFamily="50" charset="-128"/>
                          <a:ea typeface="メイリオ" panose="020B0604030504040204" pitchFamily="50" charset="-128"/>
                        </a:rPr>
                        <a:t>拡張が入る</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a:t>
                      </a:r>
                    </a:p>
                  </a:txBody>
                  <a:tcPr anchor="ctr">
                    <a:solidFill>
                      <a:schemeClr val="bg1"/>
                    </a:solidFill>
                  </a:tcPr>
                </a:tc>
                <a:tc>
                  <a:txBody>
                    <a:bodyPr/>
                    <a:lstStyle/>
                    <a:p>
                      <a:r>
                        <a:rPr kumimoji="1" lang="ja-JP" altLang="en-US" sz="1200">
                          <a:latin typeface="メイリオ" panose="020B0604030504040204" pitchFamily="50" charset="-128"/>
                          <a:ea typeface="メイリオ" panose="020B0604030504040204" pitchFamily="50" charset="-128"/>
                        </a:rPr>
                        <a:t>ブラウザ操作できる</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a:t>
                      </a:r>
                    </a:p>
                  </a:txBody>
                  <a:tcPr anchor="ctr">
                    <a:solidFill>
                      <a:schemeClr val="bg1"/>
                    </a:solidFill>
                  </a:tcPr>
                </a:tc>
                <a:tc>
                  <a:txBody>
                    <a:bodyPr/>
                    <a:lstStyle/>
                    <a:p>
                      <a:r>
                        <a:rPr kumimoji="1" lang="en-US" altLang="ja-JP" sz="1200">
                          <a:latin typeface="メイリオ" panose="020B0604030504040204" pitchFamily="50" charset="-128"/>
                          <a:ea typeface="メイリオ" panose="020B0604030504040204" pitchFamily="50" charset="-128"/>
                          <a:hlinkClick r:id="rId4"/>
                        </a:rPr>
                        <a:t>Web</a:t>
                      </a:r>
                      <a:r>
                        <a:rPr kumimoji="1" lang="ja-JP" altLang="en-US" sz="1200">
                          <a:latin typeface="メイリオ" panose="020B0604030504040204" pitchFamily="50" charset="-128"/>
                          <a:ea typeface="メイリオ" panose="020B0604030504040204" pitchFamily="50" charset="-128"/>
                          <a:hlinkClick r:id="rId4"/>
                        </a:rPr>
                        <a:t>システム入力、情報収集など</a:t>
                      </a:r>
                      <a:endParaRPr kumimoji="1" lang="ja-JP" altLang="en-US" sz="12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3373128756"/>
                  </a:ext>
                </a:extLst>
              </a:tr>
              <a:tr h="370840">
                <a:tc>
                  <a:txBody>
                    <a:bodyPr/>
                    <a:lstStyle/>
                    <a:p>
                      <a:r>
                        <a:rPr kumimoji="1" lang="en-US" altLang="ja-JP" sz="1200">
                          <a:latin typeface="メイリオ" panose="020B0604030504040204" pitchFamily="50" charset="-128"/>
                          <a:ea typeface="メイリオ" panose="020B0604030504040204" pitchFamily="50" charset="-128"/>
                        </a:rPr>
                        <a:t>MCP</a:t>
                      </a:r>
                      <a:r>
                        <a:rPr kumimoji="1" lang="ja-JP" altLang="en-US" sz="1200">
                          <a:latin typeface="メイリオ" panose="020B0604030504040204" pitchFamily="50" charset="-128"/>
                          <a:ea typeface="メイリオ" panose="020B0604030504040204" pitchFamily="50" charset="-128"/>
                        </a:rPr>
                        <a:t>で外部連携</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a:t>
                      </a:r>
                    </a:p>
                  </a:txBody>
                  <a:tcPr anchor="ctr">
                    <a:solidFill>
                      <a:schemeClr val="bg1"/>
                    </a:solidFill>
                  </a:tcPr>
                </a:tc>
                <a:tc>
                  <a:txBody>
                    <a:bodyPr/>
                    <a:lstStyle/>
                    <a:p>
                      <a:r>
                        <a:rPr kumimoji="1" lang="ja-JP" altLang="en-US" sz="1200">
                          <a:latin typeface="メイリオ" panose="020B0604030504040204" pitchFamily="50" charset="-128"/>
                          <a:ea typeface="メイリオ" panose="020B0604030504040204" pitchFamily="50" charset="-128"/>
                        </a:rPr>
                        <a:t>業務</a:t>
                      </a:r>
                      <a:r>
                        <a:rPr kumimoji="1" lang="en-US" altLang="ja-JP" sz="1200">
                          <a:latin typeface="メイリオ" panose="020B0604030504040204" pitchFamily="50" charset="-128"/>
                          <a:ea typeface="メイリオ" panose="020B0604030504040204" pitchFamily="50" charset="-128"/>
                        </a:rPr>
                        <a:t>SaaS</a:t>
                      </a:r>
                      <a:r>
                        <a:rPr kumimoji="1" lang="ja-JP" altLang="en-US" sz="1200">
                          <a:latin typeface="メイリオ" panose="020B0604030504040204" pitchFamily="50" charset="-128"/>
                          <a:ea typeface="メイリオ" panose="020B0604030504040204" pitchFamily="50" charset="-128"/>
                        </a:rPr>
                        <a:t>と繋がる</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a:t>
                      </a:r>
                    </a:p>
                  </a:txBody>
                  <a:tcPr anchor="ctr">
                    <a:solidFill>
                      <a:schemeClr val="bg1"/>
                    </a:solidFill>
                  </a:tcPr>
                </a:tc>
                <a:tc>
                  <a:txBody>
                    <a:bodyPr/>
                    <a:lstStyle/>
                    <a:p>
                      <a:r>
                        <a:rPr lang="en-US" altLang="ja-JP" sz="1200">
                          <a:latin typeface="メイリオ" panose="020B0604030504040204" pitchFamily="50" charset="-128"/>
                          <a:ea typeface="メイリオ" panose="020B0604030504040204" pitchFamily="50" charset="-128"/>
                        </a:rPr>
                        <a:t>freee</a:t>
                      </a:r>
                      <a:r>
                        <a:rPr lang="ja-JP" altLang="en-US" sz="1200">
                          <a:latin typeface="メイリオ" panose="020B0604030504040204" pitchFamily="50" charset="-128"/>
                          <a:ea typeface="メイリオ" panose="020B0604030504040204" pitchFamily="50" charset="-128"/>
                        </a:rPr>
                        <a:t>会計で仕訳作成、</a:t>
                      </a:r>
                      <a:r>
                        <a:rPr lang="en-US" altLang="ja-JP" sz="1200">
                          <a:latin typeface="メイリオ" panose="020B0604030504040204" pitchFamily="50" charset="-128"/>
                          <a:ea typeface="メイリオ" panose="020B0604030504040204" pitchFamily="50" charset="-128"/>
                        </a:rPr>
                        <a:t>kintone</a:t>
                      </a:r>
                      <a:r>
                        <a:rPr lang="ja-JP" altLang="en-US" sz="1200">
                          <a:latin typeface="メイリオ" panose="020B0604030504040204" pitchFamily="50" charset="-128"/>
                          <a:ea typeface="メイリオ" panose="020B0604030504040204" pitchFamily="50" charset="-128"/>
                        </a:rPr>
                        <a:t>でデータ操作、</a:t>
                      </a:r>
                      <a:r>
                        <a:rPr lang="en-US" altLang="ja-JP" sz="1200">
                          <a:latin typeface="メイリオ" panose="020B0604030504040204" pitchFamily="50" charset="-128"/>
                          <a:ea typeface="メイリオ" panose="020B0604030504040204" pitchFamily="50" charset="-128"/>
                        </a:rPr>
                        <a:t>Salesforce</a:t>
                      </a:r>
                      <a:r>
                        <a:rPr lang="ja-JP" altLang="en-US" sz="1200">
                          <a:latin typeface="メイリオ" panose="020B0604030504040204" pitchFamily="50" charset="-128"/>
                          <a:ea typeface="メイリオ" panose="020B0604030504040204" pitchFamily="50" charset="-128"/>
                        </a:rPr>
                        <a:t>で顧客管理など</a:t>
                      </a:r>
                      <a:endParaRPr kumimoji="1" lang="ja-JP" altLang="en-US" sz="12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3767664732"/>
                  </a:ext>
                </a:extLst>
              </a:tr>
            </a:tbl>
          </a:graphicData>
        </a:graphic>
      </p:graphicFrame>
      <p:sp>
        <p:nvSpPr>
          <p:cNvPr id="2" name="正方形/長方形 1">
            <a:extLst>
              <a:ext uri="{FF2B5EF4-FFF2-40B4-BE49-F238E27FC236}">
                <a16:creationId xmlns:a16="http://schemas.microsoft.com/office/drawing/2014/main" id="{38AF5F06-959D-9E91-2370-6731F21C3BFC}"/>
              </a:ext>
            </a:extLst>
          </p:cNvPr>
          <p:cNvSpPr/>
          <p:nvPr/>
        </p:nvSpPr>
        <p:spPr>
          <a:xfrm>
            <a:off x="6327913" y="1008015"/>
            <a:ext cx="5679039"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a:solidFill>
                  <a:schemeClr val="tx1"/>
                </a:solidFill>
                <a:latin typeface="メイリオ" panose="020B0604030504040204" pitchFamily="50" charset="-128"/>
                <a:ea typeface="メイリオ" panose="020B0604030504040204" pitchFamily="50" charset="-128"/>
              </a:rPr>
              <a:t>「～ということは」の裏側</a:t>
            </a:r>
            <a:endParaRPr kumimoji="1" lang="ja-JP" altLang="en-US" b="1">
              <a:solidFill>
                <a:schemeClr val="tx1"/>
              </a:solidFill>
              <a:latin typeface="メイリオ" panose="020B0604030504040204" pitchFamily="50" charset="-128"/>
              <a:ea typeface="メイリオ" panose="020B0604030504040204" pitchFamily="50" charset="-128"/>
            </a:endParaRPr>
          </a:p>
        </p:txBody>
      </p:sp>
      <p:graphicFrame>
        <p:nvGraphicFramePr>
          <p:cNvPr id="3" name="表 2">
            <a:extLst>
              <a:ext uri="{FF2B5EF4-FFF2-40B4-BE49-F238E27FC236}">
                <a16:creationId xmlns:a16="http://schemas.microsoft.com/office/drawing/2014/main" id="{A27170B4-7BF2-AB1D-3113-009043979AFD}"/>
              </a:ext>
            </a:extLst>
          </p:cNvPr>
          <p:cNvGraphicFramePr>
            <a:graphicFrameLocks noGrp="1"/>
          </p:cNvGraphicFramePr>
          <p:nvPr>
            <p:extLst>
              <p:ext uri="{D42A27DB-BD31-4B8C-83A1-F6EECF244321}">
                <p14:modId xmlns:p14="http://schemas.microsoft.com/office/powerpoint/2010/main" val="1092922063"/>
              </p:ext>
            </p:extLst>
          </p:nvPr>
        </p:nvGraphicFramePr>
        <p:xfrm>
          <a:off x="6327911" y="1606726"/>
          <a:ext cx="5679038" cy="1749610"/>
        </p:xfrm>
        <a:graphic>
          <a:graphicData uri="http://schemas.openxmlformats.org/drawingml/2006/table">
            <a:tbl>
              <a:tblPr firstRow="1" bandRow="1">
                <a:tableStyleId>{5C22544A-7EE6-4342-B048-85BDC9FD1C3A}</a:tableStyleId>
              </a:tblPr>
              <a:tblGrid>
                <a:gridCol w="1802296">
                  <a:extLst>
                    <a:ext uri="{9D8B030D-6E8A-4147-A177-3AD203B41FA5}">
                      <a16:colId xmlns:a16="http://schemas.microsoft.com/office/drawing/2014/main" val="1166856973"/>
                    </a:ext>
                  </a:extLst>
                </a:gridCol>
                <a:gridCol w="1789043">
                  <a:extLst>
                    <a:ext uri="{9D8B030D-6E8A-4147-A177-3AD203B41FA5}">
                      <a16:colId xmlns:a16="http://schemas.microsoft.com/office/drawing/2014/main" val="2168024439"/>
                    </a:ext>
                  </a:extLst>
                </a:gridCol>
                <a:gridCol w="2087699">
                  <a:extLst>
                    <a:ext uri="{9D8B030D-6E8A-4147-A177-3AD203B41FA5}">
                      <a16:colId xmlns:a16="http://schemas.microsoft.com/office/drawing/2014/main" val="2778055396"/>
                    </a:ext>
                  </a:extLst>
                </a:gridCol>
              </a:tblGrid>
              <a:tr h="530410">
                <a:tc>
                  <a:txBody>
                    <a:bodyPr/>
                    <a:lstStyle/>
                    <a:p>
                      <a:pPr algn="ctr"/>
                      <a:r>
                        <a:rPr kumimoji="1" lang="ja-JP" altLang="en-US" sz="1400">
                          <a:latin typeface="メイリオ" panose="020B0604030504040204" pitchFamily="50" charset="-128"/>
                          <a:ea typeface="メイリオ" panose="020B0604030504040204" pitchFamily="50" charset="-128"/>
                        </a:rPr>
                        <a:t>できること</a:t>
                      </a:r>
                      <a:endParaRPr kumimoji="1" lang="en-US" altLang="ja-JP" sz="1400">
                        <a:latin typeface="メイリオ" panose="020B0604030504040204" pitchFamily="50" charset="-128"/>
                        <a:ea typeface="メイリオ" panose="020B0604030504040204" pitchFamily="50" charset="-128"/>
                      </a:endParaRP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必要な環境</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企業のよくある</a:t>
                      </a:r>
                      <a:endParaRPr kumimoji="1" lang="en-US" altLang="ja-JP" sz="1400">
                        <a:latin typeface="メイリオ" panose="020B0604030504040204" pitchFamily="50" charset="-128"/>
                        <a:ea typeface="メイリオ" panose="020B0604030504040204" pitchFamily="50" charset="-128"/>
                      </a:endParaRPr>
                    </a:p>
                    <a:p>
                      <a:pPr algn="ctr"/>
                      <a:r>
                        <a:rPr kumimoji="1" lang="ja-JP" altLang="en-US" sz="1400">
                          <a:latin typeface="メイリオ" panose="020B0604030504040204" pitchFamily="50" charset="-128"/>
                          <a:ea typeface="メイリオ" panose="020B0604030504040204" pitchFamily="50" charset="-128"/>
                        </a:rPr>
                        <a:t>セキュリティルール</a:t>
                      </a:r>
                    </a:p>
                  </a:txBody>
                  <a:tcPr anchor="ctr">
                    <a:solidFill>
                      <a:schemeClr val="accent2">
                        <a:lumMod val="75000"/>
                      </a:schemeClr>
                    </a:solidFill>
                  </a:tcPr>
                </a:tc>
                <a:extLst>
                  <a:ext uri="{0D108BD9-81ED-4DB2-BD59-A6C34878D82A}">
                    <a16:rowId xmlns:a16="http://schemas.microsoft.com/office/drawing/2014/main" val="2454523292"/>
                  </a:ext>
                </a:extLst>
              </a:tr>
              <a:tr h="0">
                <a:tc>
                  <a:txBody>
                    <a:bodyPr/>
                    <a:lstStyle/>
                    <a:p>
                      <a:r>
                        <a:rPr kumimoji="1" lang="en-US" altLang="ja-JP" sz="1400">
                          <a:latin typeface="メイリオ" panose="020B0604030504040204" pitchFamily="50" charset="-128"/>
                          <a:ea typeface="メイリオ" panose="020B0604030504040204" pitchFamily="50" charset="-128"/>
                        </a:rPr>
                        <a:t>Python</a:t>
                      </a:r>
                      <a:r>
                        <a:rPr kumimoji="1" lang="ja-JP" altLang="en-US" sz="1400">
                          <a:latin typeface="メイリオ" panose="020B0604030504040204" pitchFamily="50" charset="-128"/>
                          <a:ea typeface="メイリオ" panose="020B0604030504040204" pitchFamily="50" charset="-128"/>
                        </a:rPr>
                        <a:t>が書ける</a:t>
                      </a:r>
                    </a:p>
                  </a:txBody>
                  <a:tcPr anchor="ctr"/>
                </a:tc>
                <a:tc>
                  <a:txBody>
                    <a:bodyPr/>
                    <a:lstStyle/>
                    <a:p>
                      <a:r>
                        <a:rPr kumimoji="1" lang="en-US" altLang="ja-JP" sz="1400">
                          <a:latin typeface="メイリオ" panose="020B0604030504040204" pitchFamily="50" charset="-128"/>
                          <a:ea typeface="メイリオ" panose="020B0604030504040204" pitchFamily="50" charset="-128"/>
                        </a:rPr>
                        <a:t>Python</a:t>
                      </a:r>
                      <a:r>
                        <a:rPr kumimoji="1" lang="ja-JP" altLang="en-US" sz="1400">
                          <a:latin typeface="メイリオ" panose="020B0604030504040204" pitchFamily="50" charset="-128"/>
                          <a:ea typeface="メイリオ" panose="020B0604030504040204" pitchFamily="50" charset="-128"/>
                        </a:rPr>
                        <a:t>実行環境</a:t>
                      </a:r>
                    </a:p>
                  </a:txBody>
                  <a:tcPr anchor="ctr"/>
                </a:tc>
                <a:tc>
                  <a:txBody>
                    <a:bodyPr/>
                    <a:lstStyle/>
                    <a:p>
                      <a:r>
                        <a:rPr kumimoji="1" lang="ja-JP" altLang="en-US" sz="1400">
                          <a:latin typeface="メイリオ" panose="020B0604030504040204" pitchFamily="50" charset="-128"/>
                          <a:ea typeface="メイリオ" panose="020B0604030504040204" pitchFamily="50" charset="-128"/>
                        </a:rPr>
                        <a:t>開発ツール禁止</a:t>
                      </a:r>
                    </a:p>
                  </a:txBody>
                  <a:tcPr anchor="ctr">
                    <a:solidFill>
                      <a:schemeClr val="accent2">
                        <a:lumMod val="20000"/>
                        <a:lumOff val="80000"/>
                      </a:schemeClr>
                    </a:solidFill>
                  </a:tcPr>
                </a:tc>
                <a:extLst>
                  <a:ext uri="{0D108BD9-81ED-4DB2-BD59-A6C34878D82A}">
                    <a16:rowId xmlns:a16="http://schemas.microsoft.com/office/drawing/2014/main" val="806381128"/>
                  </a:ext>
                </a:extLst>
              </a:tr>
              <a:tr h="0">
                <a:tc>
                  <a:txBody>
                    <a:bodyPr/>
                    <a:lstStyle/>
                    <a:p>
                      <a:r>
                        <a:rPr kumimoji="1" lang="ja-JP" altLang="en-US" sz="1400">
                          <a:latin typeface="メイリオ" panose="020B0604030504040204" pitchFamily="50" charset="-128"/>
                          <a:ea typeface="メイリオ" panose="020B0604030504040204" pitchFamily="50" charset="-128"/>
                        </a:rPr>
                        <a:t>ライブラリが使える</a:t>
                      </a:r>
                    </a:p>
                  </a:txBody>
                  <a:tcPr anchor="ctr"/>
                </a:tc>
                <a:tc>
                  <a:txBody>
                    <a:bodyPr/>
                    <a:lstStyle/>
                    <a:p>
                      <a:r>
                        <a:rPr kumimoji="1" lang="en-US" altLang="ja-JP" sz="1400">
                          <a:latin typeface="メイリオ" panose="020B0604030504040204" pitchFamily="50" charset="-128"/>
                          <a:ea typeface="メイリオ" panose="020B0604030504040204" pitchFamily="50" charset="-128"/>
                        </a:rPr>
                        <a:t>pip install</a:t>
                      </a:r>
                      <a:endParaRPr kumimoji="1" lang="ja-JP" altLang="en-US" sz="1400">
                        <a:latin typeface="メイリオ" panose="020B0604030504040204" pitchFamily="50" charset="-128"/>
                        <a:ea typeface="メイリオ" panose="020B0604030504040204" pitchFamily="50" charset="-128"/>
                      </a:endParaRPr>
                    </a:p>
                  </a:txBody>
                  <a:tcPr anchor="ctr"/>
                </a:tc>
                <a:tc>
                  <a:txBody>
                    <a:bodyPr/>
                    <a:lstStyle/>
                    <a:p>
                      <a:r>
                        <a:rPr kumimoji="1" lang="ja-JP" altLang="en-US" sz="1400">
                          <a:latin typeface="メイリオ" panose="020B0604030504040204" pitchFamily="50" charset="-128"/>
                          <a:ea typeface="メイリオ" panose="020B0604030504040204" pitchFamily="50" charset="-128"/>
                        </a:rPr>
                        <a:t>未承認ソフト禁止</a:t>
                      </a:r>
                    </a:p>
                  </a:txBody>
                  <a:tcPr anchor="ctr">
                    <a:solidFill>
                      <a:schemeClr val="accent2">
                        <a:lumMod val="40000"/>
                        <a:lumOff val="60000"/>
                      </a:schemeClr>
                    </a:solidFill>
                  </a:tcPr>
                </a:tc>
                <a:extLst>
                  <a:ext uri="{0D108BD9-81ED-4DB2-BD59-A6C34878D82A}">
                    <a16:rowId xmlns:a16="http://schemas.microsoft.com/office/drawing/2014/main" val="3645702937"/>
                  </a:ext>
                </a:extLst>
              </a:tr>
              <a:tr h="0">
                <a:tc>
                  <a:txBody>
                    <a:bodyPr/>
                    <a:lstStyle/>
                    <a:p>
                      <a:r>
                        <a:rPr kumimoji="1" lang="en-US" altLang="ja-JP" sz="1400">
                          <a:latin typeface="メイリオ" panose="020B0604030504040204" pitchFamily="50" charset="-128"/>
                          <a:ea typeface="メイリオ" panose="020B0604030504040204" pitchFamily="50" charset="-128"/>
                        </a:rPr>
                        <a:t>MCP</a:t>
                      </a:r>
                      <a:r>
                        <a:rPr kumimoji="1" lang="ja-JP" altLang="en-US" sz="1400">
                          <a:latin typeface="メイリオ" panose="020B0604030504040204" pitchFamily="50" charset="-128"/>
                          <a:ea typeface="メイリオ" panose="020B0604030504040204" pitchFamily="50" charset="-128"/>
                        </a:rPr>
                        <a:t>連携できる</a:t>
                      </a:r>
                    </a:p>
                  </a:txBody>
                  <a:tcPr anchor="ctr"/>
                </a:tc>
                <a:tc>
                  <a:txBody>
                    <a:bodyPr/>
                    <a:lstStyle/>
                    <a:p>
                      <a:r>
                        <a:rPr kumimoji="1" lang="en-US" altLang="ja-JP" sz="1400">
                          <a:latin typeface="メイリオ" panose="020B0604030504040204" pitchFamily="50" charset="-128"/>
                          <a:ea typeface="メイリオ" panose="020B0604030504040204" pitchFamily="50" charset="-128"/>
                        </a:rPr>
                        <a:t>npm install</a:t>
                      </a:r>
                      <a:endParaRPr kumimoji="1" lang="ja-JP" altLang="en-US" sz="1400">
                        <a:latin typeface="メイリオ" panose="020B0604030504040204" pitchFamily="50" charset="-128"/>
                        <a:ea typeface="メイリオ" panose="020B0604030504040204" pitchFamily="50" charset="-128"/>
                      </a:endParaRPr>
                    </a:p>
                  </a:txBody>
                  <a:tcPr anchor="ctr"/>
                </a:tc>
                <a:tc>
                  <a:txBody>
                    <a:bodyPr/>
                    <a:lstStyle/>
                    <a:p>
                      <a:r>
                        <a:rPr kumimoji="1" lang="ja-JP" altLang="en-US" sz="1400">
                          <a:latin typeface="メイリオ" panose="020B0604030504040204" pitchFamily="50" charset="-128"/>
                          <a:ea typeface="メイリオ" panose="020B0604030504040204" pitchFamily="50" charset="-128"/>
                        </a:rPr>
                        <a:t>未承認ソフト禁止</a:t>
                      </a:r>
                    </a:p>
                  </a:txBody>
                  <a:tcPr anchor="ctr">
                    <a:solidFill>
                      <a:schemeClr val="accent2">
                        <a:lumMod val="20000"/>
                        <a:lumOff val="80000"/>
                      </a:schemeClr>
                    </a:solidFill>
                  </a:tcPr>
                </a:tc>
                <a:extLst>
                  <a:ext uri="{0D108BD9-81ED-4DB2-BD59-A6C34878D82A}">
                    <a16:rowId xmlns:a16="http://schemas.microsoft.com/office/drawing/2014/main" val="3373128756"/>
                  </a:ext>
                </a:extLst>
              </a:tr>
              <a:tr h="0">
                <a:tc>
                  <a:txBody>
                    <a:bodyPr/>
                    <a:lstStyle/>
                    <a:p>
                      <a:r>
                        <a:rPr kumimoji="1" lang="ja-JP" altLang="en-US" sz="1400">
                          <a:latin typeface="メイリオ" panose="020B0604030504040204" pitchFamily="50" charset="-128"/>
                          <a:ea typeface="メイリオ" panose="020B0604030504040204" pitchFamily="50" charset="-128"/>
                        </a:rPr>
                        <a:t>ファイル操作</a:t>
                      </a:r>
                    </a:p>
                  </a:txBody>
                  <a:tcPr anchor="ctr"/>
                </a:tc>
                <a:tc>
                  <a:txBody>
                    <a:bodyPr/>
                    <a:lstStyle/>
                    <a:p>
                      <a:r>
                        <a:rPr kumimoji="1" lang="ja-JP" altLang="en-US" sz="1400">
                          <a:latin typeface="メイリオ" panose="020B0604030504040204" pitchFamily="50" charset="-128"/>
                          <a:ea typeface="メイリオ" panose="020B0604030504040204" pitchFamily="50" charset="-128"/>
                        </a:rPr>
                        <a:t>ローカル権限</a:t>
                      </a:r>
                    </a:p>
                  </a:txBody>
                  <a:tcPr anchor="ctr"/>
                </a:tc>
                <a:tc>
                  <a:txBody>
                    <a:bodyPr/>
                    <a:lstStyle/>
                    <a:p>
                      <a:r>
                        <a:rPr kumimoji="1" lang="ja-JP" altLang="en-US" sz="1400">
                          <a:latin typeface="メイリオ" panose="020B0604030504040204" pitchFamily="50" charset="-128"/>
                          <a:ea typeface="メイリオ" panose="020B0604030504040204" pitchFamily="50" charset="-128"/>
                        </a:rPr>
                        <a:t>アクセス制限</a:t>
                      </a:r>
                    </a:p>
                  </a:txBody>
                  <a:tcPr anchor="ctr">
                    <a:solidFill>
                      <a:schemeClr val="accent2">
                        <a:lumMod val="40000"/>
                        <a:lumOff val="60000"/>
                      </a:schemeClr>
                    </a:solidFill>
                  </a:tcPr>
                </a:tc>
                <a:extLst>
                  <a:ext uri="{0D108BD9-81ED-4DB2-BD59-A6C34878D82A}">
                    <a16:rowId xmlns:a16="http://schemas.microsoft.com/office/drawing/2014/main" val="3767664732"/>
                  </a:ext>
                </a:extLst>
              </a:tr>
            </a:tbl>
          </a:graphicData>
        </a:graphic>
      </p:graphicFrame>
      <p:sp>
        <p:nvSpPr>
          <p:cNvPr id="11" name="正方形/長方形 10">
            <a:extLst>
              <a:ext uri="{FF2B5EF4-FFF2-40B4-BE49-F238E27FC236}">
                <a16:creationId xmlns:a16="http://schemas.microsoft.com/office/drawing/2014/main" id="{5CEAA898-BC26-F2A1-254D-1FE7CDBBFBD8}"/>
              </a:ext>
            </a:extLst>
          </p:cNvPr>
          <p:cNvSpPr/>
          <p:nvPr/>
        </p:nvSpPr>
        <p:spPr>
          <a:xfrm>
            <a:off x="6327912" y="3903282"/>
            <a:ext cx="5679038" cy="449719"/>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solidFill>
                  <a:schemeClr val="bg1"/>
                </a:solidFill>
                <a:latin typeface="メイリオ" panose="020B0604030504040204" pitchFamily="50" charset="-128"/>
                <a:ea typeface="メイリオ" panose="020B0604030504040204" pitchFamily="50" charset="-128"/>
              </a:rPr>
              <a:t>Claude Code</a:t>
            </a:r>
            <a:r>
              <a:rPr lang="ja-JP" altLang="en-US" b="1">
                <a:solidFill>
                  <a:schemeClr val="bg1"/>
                </a:solidFill>
                <a:latin typeface="メイリオ" panose="020B0604030504040204" pitchFamily="50" charset="-128"/>
                <a:ea typeface="メイリオ" panose="020B0604030504040204" pitchFamily="50" charset="-128"/>
              </a:rPr>
              <a:t>「だけ」を使えるようにしても</a:t>
            </a:r>
            <a:endParaRPr kumimoji="1" lang="ja-JP" altLang="en-US" b="1">
              <a:solidFill>
                <a:schemeClr val="bg1"/>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E77A5E95-0E55-26FF-E146-E5F2E7DADE3D}"/>
              </a:ext>
            </a:extLst>
          </p:cNvPr>
          <p:cNvSpPr txBox="1"/>
          <p:nvPr/>
        </p:nvSpPr>
        <p:spPr>
          <a:xfrm>
            <a:off x="6327911" y="4386870"/>
            <a:ext cx="5679038" cy="2192908"/>
          </a:xfrm>
          <a:prstGeom prst="rect">
            <a:avLst/>
          </a:prstGeom>
          <a:noFill/>
        </p:spPr>
        <p:txBody>
          <a:bodyPr wrap="square" rtlCol="0">
            <a:spAutoFit/>
          </a:bodyPr>
          <a:lstStyle/>
          <a:p>
            <a:pPr>
              <a:lnSpc>
                <a:spcPct val="200000"/>
              </a:lnSpc>
            </a:pPr>
            <a:r>
              <a:rPr lang="ja-JP" altLang="en-US" sz="1400">
                <a:latin typeface="メイリオ" panose="020B0604030504040204" pitchFamily="50" charset="-128"/>
                <a:ea typeface="メイリオ" panose="020B0604030504040204" pitchFamily="50" charset="-128"/>
              </a:rPr>
              <a:t>他のセキュリティルールを解決せずに</a:t>
            </a:r>
            <a:r>
              <a:rPr lang="en-US" altLang="ja-JP" sz="1400">
                <a:latin typeface="メイリオ" panose="020B0604030504040204" pitchFamily="50" charset="-128"/>
                <a:ea typeface="メイリオ" panose="020B0604030504040204" pitchFamily="50" charset="-128"/>
              </a:rPr>
              <a:t>Claude Code</a:t>
            </a:r>
            <a:r>
              <a:rPr lang="ja-JP" altLang="en-US" sz="1400">
                <a:latin typeface="メイリオ" panose="020B0604030504040204" pitchFamily="50" charset="-128"/>
                <a:ea typeface="メイリオ" panose="020B0604030504040204" pitchFamily="50" charset="-128"/>
              </a:rPr>
              <a:t>だけを導入しても「ただのチャット</a:t>
            </a:r>
            <a:r>
              <a:rPr lang="en-US" altLang="ja-JP" sz="1400">
                <a:latin typeface="メイリオ" panose="020B0604030504040204" pitchFamily="50" charset="-128"/>
                <a:ea typeface="メイリオ" panose="020B0604030504040204" pitchFamily="50" charset="-128"/>
              </a:rPr>
              <a:t>AI</a:t>
            </a:r>
            <a:r>
              <a:rPr lang="ja-JP" altLang="en-US" sz="1400">
                <a:latin typeface="メイリオ" panose="020B0604030504040204" pitchFamily="50" charset="-128"/>
                <a:ea typeface="メイリオ" panose="020B0604030504040204" pitchFamily="50" charset="-128"/>
              </a:rPr>
              <a:t>」程度の価値に制限される。</a:t>
            </a:r>
            <a:endParaRPr lang="en-US" altLang="ja-JP" sz="1400">
              <a:latin typeface="メイリオ" panose="020B0604030504040204" pitchFamily="50" charset="-128"/>
              <a:ea typeface="メイリオ" panose="020B0604030504040204" pitchFamily="50" charset="-128"/>
            </a:endParaRPr>
          </a:p>
          <a:p>
            <a:pPr>
              <a:lnSpc>
                <a:spcPct val="200000"/>
              </a:lnSpc>
            </a:pPr>
            <a:r>
              <a:rPr lang="ja-JP" altLang="en-US" sz="1400">
                <a:latin typeface="メイリオ" panose="020B0604030504040204" pitchFamily="50" charset="-128"/>
                <a:ea typeface="メイリオ" panose="020B0604030504040204" pitchFamily="50" charset="-128"/>
              </a:rPr>
              <a:t>スクリプト実行も外部連携もできず、前頁までの例を実行する可能性が閉じる。</a:t>
            </a:r>
            <a:endParaRPr lang="en-US" altLang="ja-JP" sz="1400">
              <a:latin typeface="メイリオ" panose="020B0604030504040204" pitchFamily="50" charset="-128"/>
              <a:ea typeface="メイリオ" panose="020B0604030504040204" pitchFamily="50" charset="-128"/>
            </a:endParaRPr>
          </a:p>
          <a:p>
            <a:pPr>
              <a:lnSpc>
                <a:spcPct val="200000"/>
              </a:lnSpc>
            </a:pPr>
            <a:r>
              <a:rPr lang="ja-JP" altLang="en-US" sz="1400">
                <a:latin typeface="メイリオ" panose="020B0604030504040204" pitchFamily="50" charset="-128"/>
                <a:ea typeface="メイリオ" panose="020B0604030504040204" pitchFamily="50" charset="-128"/>
              </a:rPr>
              <a:t>ルールを確認して「試せる環境を作る」ことが大事になる。</a:t>
            </a:r>
          </a:p>
        </p:txBody>
      </p:sp>
      <p:sp>
        <p:nvSpPr>
          <p:cNvPr id="15" name="二等辺三角形 14">
            <a:extLst>
              <a:ext uri="{FF2B5EF4-FFF2-40B4-BE49-F238E27FC236}">
                <a16:creationId xmlns:a16="http://schemas.microsoft.com/office/drawing/2014/main" id="{2D74A0F6-774F-CBE9-0322-852E6AB13850}"/>
              </a:ext>
            </a:extLst>
          </p:cNvPr>
          <p:cNvSpPr/>
          <p:nvPr/>
        </p:nvSpPr>
        <p:spPr>
          <a:xfrm rot="10800000">
            <a:off x="8647001" y="3543613"/>
            <a:ext cx="1040860" cy="218660"/>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226F918C-2B6C-0166-AA78-3A6E2F5C1517}"/>
              </a:ext>
            </a:extLst>
          </p:cNvPr>
          <p:cNvSpPr/>
          <p:nvPr/>
        </p:nvSpPr>
        <p:spPr>
          <a:xfrm>
            <a:off x="185048" y="3950121"/>
            <a:ext cx="5679039" cy="527229"/>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a:latin typeface="メイリオ" panose="020B0604030504040204" pitchFamily="50" charset="-128"/>
                <a:ea typeface="メイリオ" panose="020B0604030504040204" pitchFamily="50" charset="-128"/>
              </a:rPr>
              <a:t>テック企業・スタートアップなどの</a:t>
            </a:r>
          </a:p>
          <a:p>
            <a:pPr algn="ctr"/>
            <a:r>
              <a:rPr lang="ja-JP" altLang="en-US" sz="1400" b="1">
                <a:solidFill>
                  <a:schemeClr val="bg1"/>
                </a:solidFill>
                <a:latin typeface="メイリオ" panose="020B0604030504040204" pitchFamily="50" charset="-128"/>
                <a:ea typeface="メイリオ" panose="020B0604030504040204" pitchFamily="50" charset="-128"/>
              </a:rPr>
              <a:t>フットワークの軽い企業は既に利用している</a:t>
            </a:r>
            <a:endParaRPr kumimoji="1" lang="ja-JP" altLang="en-US" sz="1400" b="1">
              <a:solidFill>
                <a:schemeClr val="bg1"/>
              </a:solidFill>
              <a:latin typeface="メイリオ" panose="020B0604030504040204" pitchFamily="50" charset="-128"/>
              <a:ea typeface="メイリオ" panose="020B0604030504040204" pitchFamily="50" charset="-128"/>
            </a:endParaRPr>
          </a:p>
        </p:txBody>
      </p:sp>
      <p:graphicFrame>
        <p:nvGraphicFramePr>
          <p:cNvPr id="17" name="表 16">
            <a:extLst>
              <a:ext uri="{FF2B5EF4-FFF2-40B4-BE49-F238E27FC236}">
                <a16:creationId xmlns:a16="http://schemas.microsoft.com/office/drawing/2014/main" id="{90F2E913-1465-06ED-F33D-D53F948C6ACC}"/>
              </a:ext>
            </a:extLst>
          </p:cNvPr>
          <p:cNvGraphicFramePr>
            <a:graphicFrameLocks noGrp="1"/>
          </p:cNvGraphicFramePr>
          <p:nvPr>
            <p:extLst>
              <p:ext uri="{D42A27DB-BD31-4B8C-83A1-F6EECF244321}">
                <p14:modId xmlns:p14="http://schemas.microsoft.com/office/powerpoint/2010/main" val="1568237393"/>
              </p:ext>
            </p:extLst>
          </p:nvPr>
        </p:nvGraphicFramePr>
        <p:xfrm>
          <a:off x="185048" y="4583378"/>
          <a:ext cx="5679038" cy="1681229"/>
        </p:xfrm>
        <a:graphic>
          <a:graphicData uri="http://schemas.openxmlformats.org/drawingml/2006/table">
            <a:tbl>
              <a:tblPr firstRow="1" bandRow="1">
                <a:tableStyleId>{5C22544A-7EE6-4342-B048-85BDC9FD1C3A}</a:tableStyleId>
              </a:tblPr>
              <a:tblGrid>
                <a:gridCol w="1763022">
                  <a:extLst>
                    <a:ext uri="{9D8B030D-6E8A-4147-A177-3AD203B41FA5}">
                      <a16:colId xmlns:a16="http://schemas.microsoft.com/office/drawing/2014/main" val="3037731002"/>
                    </a:ext>
                  </a:extLst>
                </a:gridCol>
                <a:gridCol w="3916016">
                  <a:extLst>
                    <a:ext uri="{9D8B030D-6E8A-4147-A177-3AD203B41FA5}">
                      <a16:colId xmlns:a16="http://schemas.microsoft.com/office/drawing/2014/main" val="1864579049"/>
                    </a:ext>
                  </a:extLst>
                </a:gridCol>
              </a:tblGrid>
              <a:tr h="406749">
                <a:tc>
                  <a:txBody>
                    <a:bodyPr/>
                    <a:lstStyle/>
                    <a:p>
                      <a:pPr algn="ctr">
                        <a:buNone/>
                      </a:pPr>
                      <a:r>
                        <a:rPr lang="ja-JP" altLang="en-US" sz="1400">
                          <a:latin typeface="メイリオ" panose="020B0604030504040204" pitchFamily="50" charset="-128"/>
                          <a:ea typeface="メイリオ" panose="020B0604030504040204" pitchFamily="50" charset="-128"/>
                        </a:rPr>
                        <a:t>企業</a:t>
                      </a:r>
                    </a:p>
                  </a:txBody>
                  <a:tcPr anchor="ctr"/>
                </a:tc>
                <a:tc>
                  <a:txBody>
                    <a:bodyPr/>
                    <a:lstStyle/>
                    <a:p>
                      <a:pPr algn="ctr">
                        <a:buNone/>
                      </a:pPr>
                      <a:r>
                        <a:rPr lang="ja-JP" altLang="en-US" sz="1400">
                          <a:latin typeface="メイリオ" panose="020B0604030504040204" pitchFamily="50" charset="-128"/>
                          <a:ea typeface="メイリオ" panose="020B0604030504040204" pitchFamily="50" charset="-128"/>
                        </a:rPr>
                        <a:t>内容</a:t>
                      </a:r>
                    </a:p>
                  </a:txBody>
                  <a:tcPr anchor="ctr"/>
                </a:tc>
                <a:extLst>
                  <a:ext uri="{0D108BD9-81ED-4DB2-BD59-A6C34878D82A}">
                    <a16:rowId xmlns:a16="http://schemas.microsoft.com/office/drawing/2014/main" val="3677036342"/>
                  </a:ext>
                </a:extLst>
              </a:tr>
              <a:tr h="406749">
                <a:tc>
                  <a:txBody>
                    <a:bodyPr/>
                    <a:lstStyle/>
                    <a:p>
                      <a:pPr>
                        <a:buNone/>
                      </a:pPr>
                      <a:r>
                        <a:rPr lang="ja-JP" altLang="en-US" sz="1400">
                          <a:latin typeface="メイリオ" panose="020B0604030504040204" pitchFamily="50" charset="-128"/>
                          <a:ea typeface="メイリオ" panose="020B0604030504040204" pitchFamily="50" charset="-128"/>
                        </a:rPr>
                        <a:t>楽天</a:t>
                      </a:r>
                    </a:p>
                  </a:txBody>
                  <a:tcPr anchor="ctr"/>
                </a:tc>
                <a:tc>
                  <a:txBody>
                    <a:bodyPr/>
                    <a:lstStyle/>
                    <a:p>
                      <a:pPr>
                        <a:buNone/>
                      </a:pPr>
                      <a:r>
                        <a:rPr lang="ja-JP" altLang="en-US" sz="1400">
                          <a:latin typeface="メイリオ" panose="020B0604030504040204" pitchFamily="50" charset="-128"/>
                          <a:ea typeface="メイリオ" panose="020B0604030504040204" pitchFamily="50" charset="-128"/>
                          <a:hlinkClick r:id="rId5"/>
                        </a:rPr>
                        <a:t>開発期間</a:t>
                      </a:r>
                      <a:r>
                        <a:rPr lang="en-US" altLang="ja-JP" sz="1400">
                          <a:latin typeface="メイリオ" panose="020B0604030504040204" pitchFamily="50" charset="-128"/>
                          <a:ea typeface="メイリオ" panose="020B0604030504040204" pitchFamily="50" charset="-128"/>
                          <a:hlinkClick r:id="rId5"/>
                        </a:rPr>
                        <a:t>79%</a:t>
                      </a:r>
                      <a:r>
                        <a:rPr lang="ja-JP" altLang="en-US" sz="1400">
                          <a:latin typeface="メイリオ" panose="020B0604030504040204" pitchFamily="50" charset="-128"/>
                          <a:ea typeface="メイリオ" panose="020B0604030504040204" pitchFamily="50" charset="-128"/>
                          <a:hlinkClick r:id="rId5"/>
                        </a:rPr>
                        <a:t>短縮</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406549550"/>
                  </a:ext>
                </a:extLst>
              </a:tr>
              <a:tr h="4609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400">
                          <a:latin typeface="メイリオ" panose="020B0604030504040204" pitchFamily="50" charset="-128"/>
                          <a:ea typeface="メイリオ" panose="020B0604030504040204" pitchFamily="50" charset="-128"/>
                        </a:rPr>
                        <a:t>READYFOR</a:t>
                      </a:r>
                      <a:endParaRPr lang="ja-JP" altLang="en-US" sz="1400">
                        <a:latin typeface="メイリオ" panose="020B0604030504040204" pitchFamily="50" charset="-128"/>
                        <a:ea typeface="メイリオ" panose="020B0604030504040204" pitchFamily="50" charset="-128"/>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400">
                          <a:latin typeface="メイリオ" panose="020B0604030504040204" pitchFamily="50" charset="-128"/>
                          <a:ea typeface="メイリオ" panose="020B0604030504040204" pitchFamily="50" charset="-128"/>
                          <a:hlinkClick r:id="rId6"/>
                        </a:rPr>
                        <a:t>83%</a:t>
                      </a:r>
                      <a:r>
                        <a:rPr lang="ja-JP" altLang="en-US" sz="1400">
                          <a:latin typeface="メイリオ" panose="020B0604030504040204" pitchFamily="50" charset="-128"/>
                          <a:ea typeface="メイリオ" panose="020B0604030504040204" pitchFamily="50" charset="-128"/>
                          <a:hlinkClick r:id="rId6"/>
                        </a:rPr>
                        <a:t>が生産性向上実感</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442126384"/>
                  </a:ext>
                </a:extLst>
              </a:tr>
              <a:tr h="4067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400">
                          <a:latin typeface="メイリオ" panose="020B0604030504040204" pitchFamily="50" charset="-128"/>
                          <a:ea typeface="メイリオ" panose="020B0604030504040204" pitchFamily="50" charset="-128"/>
                        </a:rPr>
                        <a:t>GMO</a:t>
                      </a:r>
                      <a:r>
                        <a:rPr lang="ja-JP" altLang="en-US" sz="1400">
                          <a:latin typeface="メイリオ" panose="020B0604030504040204" pitchFamily="50" charset="-128"/>
                          <a:ea typeface="メイリオ" panose="020B0604030504040204" pitchFamily="50" charset="-128"/>
                        </a:rPr>
                        <a:t>デザインワン</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400">
                          <a:latin typeface="メイリオ" panose="020B0604030504040204" pitchFamily="50" charset="-128"/>
                          <a:ea typeface="メイリオ" panose="020B0604030504040204" pitchFamily="50" charset="-128"/>
                          <a:hlinkClick r:id="rId7"/>
                        </a:rPr>
                        <a:t>全エンジニア導入（効率</a:t>
                      </a:r>
                      <a:r>
                        <a:rPr lang="en-US" altLang="ja-JP" sz="1400">
                          <a:latin typeface="メイリオ" panose="020B0604030504040204" pitchFamily="50" charset="-128"/>
                          <a:ea typeface="メイリオ" panose="020B0604030504040204" pitchFamily="50" charset="-128"/>
                          <a:hlinkClick r:id="rId7"/>
                        </a:rPr>
                        <a:t>50%</a:t>
                      </a:r>
                      <a:r>
                        <a:rPr lang="ja-JP" altLang="en-US" sz="1400">
                          <a:latin typeface="メイリオ" panose="020B0604030504040204" pitchFamily="50" charset="-128"/>
                          <a:ea typeface="メイリオ" panose="020B0604030504040204" pitchFamily="50" charset="-128"/>
                          <a:hlinkClick r:id="rId7"/>
                        </a:rPr>
                        <a:t>向上目指す）</a:t>
                      </a:r>
                      <a:endParaRPr lang="ja-JP" altLang="en-US" sz="14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1380712108"/>
                  </a:ext>
                </a:extLst>
              </a:tr>
            </a:tbl>
          </a:graphicData>
        </a:graphic>
      </p:graphicFrame>
      <p:sp>
        <p:nvSpPr>
          <p:cNvPr id="18" name="二等辺三角形 17">
            <a:extLst>
              <a:ext uri="{FF2B5EF4-FFF2-40B4-BE49-F238E27FC236}">
                <a16:creationId xmlns:a16="http://schemas.microsoft.com/office/drawing/2014/main" id="{BD70DA43-B865-34AC-29F0-B404E876AB95}"/>
              </a:ext>
            </a:extLst>
          </p:cNvPr>
          <p:cNvSpPr/>
          <p:nvPr/>
        </p:nvSpPr>
        <p:spPr>
          <a:xfrm rot="5400000">
            <a:off x="5575569" y="2561733"/>
            <a:ext cx="1040860" cy="218660"/>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矢印: 右 15">
            <a:extLst>
              <a:ext uri="{FF2B5EF4-FFF2-40B4-BE49-F238E27FC236}">
                <a16:creationId xmlns:a16="http://schemas.microsoft.com/office/drawing/2014/main" id="{8990D795-895E-3D30-5F11-D331FCD991F4}"/>
              </a:ext>
            </a:extLst>
          </p:cNvPr>
          <p:cNvSpPr/>
          <p:nvPr/>
        </p:nvSpPr>
        <p:spPr>
          <a:xfrm>
            <a:off x="185048" y="6264607"/>
            <a:ext cx="5679038" cy="593392"/>
          </a:xfrm>
          <a:prstGeom prst="rightArrow">
            <a:avLst>
              <a:gd name="adj1" fmla="val 50000"/>
              <a:gd name="adj2" fmla="val 59714"/>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a:latin typeface="メイリオ" panose="020B0604030504040204" pitchFamily="50" charset="-128"/>
                <a:ea typeface="メイリオ" panose="020B0604030504040204" pitchFamily="50" charset="-128"/>
              </a:rPr>
              <a:t>➡ この生産性の差は時間が経つほど更に広がる</a:t>
            </a:r>
          </a:p>
        </p:txBody>
      </p:sp>
    </p:spTree>
    <p:extLst>
      <p:ext uri="{BB962C8B-B14F-4D97-AF65-F5344CB8AC3E}">
        <p14:creationId xmlns:p14="http://schemas.microsoft.com/office/powerpoint/2010/main" val="40119407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80A0B-ADEE-5342-2E09-8D18577603A2}"/>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EDF1249-4ABB-A939-009F-9E739CAE8ED7}"/>
              </a:ext>
            </a:extLst>
          </p:cNvPr>
          <p:cNvSpPr txBox="1"/>
          <p:nvPr/>
        </p:nvSpPr>
        <p:spPr>
          <a:xfrm>
            <a:off x="443466" y="317212"/>
            <a:ext cx="11215133" cy="584775"/>
          </a:xfrm>
          <a:prstGeom prst="rect">
            <a:avLst/>
          </a:prstGeom>
          <a:noFill/>
        </p:spPr>
        <p:txBody>
          <a:bodyPr wrap="square" rtlCol="0">
            <a:spAutoFit/>
          </a:bodyPr>
          <a:lstStyle/>
          <a:p>
            <a:r>
              <a:rPr lang="en-US" altLang="ja-JP" sz="3200" b="1">
                <a:latin typeface="メイリオ" panose="020B0604030504040204" pitchFamily="50" charset="-128"/>
                <a:ea typeface="メイリオ" panose="020B0604030504040204" pitchFamily="50" charset="-128"/>
              </a:rPr>
              <a:t>BPO</a:t>
            </a:r>
            <a:r>
              <a:rPr lang="ja-JP" altLang="en-US" sz="3200" b="1">
                <a:latin typeface="メイリオ" panose="020B0604030504040204" pitchFamily="50" charset="-128"/>
                <a:ea typeface="メイリオ" panose="020B0604030504040204" pitchFamily="50" charset="-128"/>
              </a:rPr>
              <a:t>市場に上位レイヤーが降りてくる</a:t>
            </a:r>
            <a:endParaRPr kumimoji="1" lang="ja-JP" altLang="en-US" sz="3200" b="1">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C0F86B2D-21A9-CEB3-D403-69B171721435}"/>
              </a:ext>
            </a:extLst>
          </p:cNvPr>
          <p:cNvSpPr/>
          <p:nvPr/>
        </p:nvSpPr>
        <p:spPr>
          <a:xfrm>
            <a:off x="370095" y="901988"/>
            <a:ext cx="5420623" cy="340403"/>
          </a:xfrm>
          <a:prstGeom prst="rect">
            <a:avLst/>
          </a:prstGeom>
          <a:solidFill>
            <a:srgbClr val="002060"/>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a:latin typeface="メイリオ" panose="020B0604030504040204" pitchFamily="50" charset="-128"/>
                <a:ea typeface="メイリオ" panose="020B0604030504040204" pitchFamily="50" charset="-128"/>
              </a:rPr>
              <a:t>アクセンチュアの動き</a:t>
            </a:r>
            <a:endParaRPr kumimoji="1" lang="ja-JP" altLang="en-US" sz="1400" b="1">
              <a:solidFill>
                <a:schemeClr val="bg1"/>
              </a:solidFill>
              <a:latin typeface="メイリオ" panose="020B0604030504040204" pitchFamily="50" charset="-128"/>
              <a:ea typeface="メイリオ" panose="020B0604030504040204" pitchFamily="50" charset="-128"/>
            </a:endParaRPr>
          </a:p>
        </p:txBody>
      </p:sp>
      <p:graphicFrame>
        <p:nvGraphicFramePr>
          <p:cNvPr id="14" name="表 13">
            <a:extLst>
              <a:ext uri="{FF2B5EF4-FFF2-40B4-BE49-F238E27FC236}">
                <a16:creationId xmlns:a16="http://schemas.microsoft.com/office/drawing/2014/main" id="{44778E8B-23B9-15AC-76FC-FA2358088063}"/>
              </a:ext>
            </a:extLst>
          </p:cNvPr>
          <p:cNvGraphicFramePr>
            <a:graphicFrameLocks noGrp="1"/>
          </p:cNvGraphicFramePr>
          <p:nvPr>
            <p:extLst>
              <p:ext uri="{D42A27DB-BD31-4B8C-83A1-F6EECF244321}">
                <p14:modId xmlns:p14="http://schemas.microsoft.com/office/powerpoint/2010/main" val="1306993687"/>
              </p:ext>
            </p:extLst>
          </p:nvPr>
        </p:nvGraphicFramePr>
        <p:xfrm>
          <a:off x="370094" y="1253795"/>
          <a:ext cx="5420624" cy="2301240"/>
        </p:xfrm>
        <a:graphic>
          <a:graphicData uri="http://schemas.openxmlformats.org/drawingml/2006/table">
            <a:tbl>
              <a:tblPr firstRow="1" bandRow="1">
                <a:tableStyleId>{5C22544A-7EE6-4342-B048-85BDC9FD1C3A}</a:tableStyleId>
              </a:tblPr>
              <a:tblGrid>
                <a:gridCol w="1782901">
                  <a:extLst>
                    <a:ext uri="{9D8B030D-6E8A-4147-A177-3AD203B41FA5}">
                      <a16:colId xmlns:a16="http://schemas.microsoft.com/office/drawing/2014/main" val="2611708119"/>
                    </a:ext>
                  </a:extLst>
                </a:gridCol>
                <a:gridCol w="1749287">
                  <a:extLst>
                    <a:ext uri="{9D8B030D-6E8A-4147-A177-3AD203B41FA5}">
                      <a16:colId xmlns:a16="http://schemas.microsoft.com/office/drawing/2014/main" val="3939045994"/>
                    </a:ext>
                  </a:extLst>
                </a:gridCol>
                <a:gridCol w="1888436">
                  <a:extLst>
                    <a:ext uri="{9D8B030D-6E8A-4147-A177-3AD203B41FA5}">
                      <a16:colId xmlns:a16="http://schemas.microsoft.com/office/drawing/2014/main" val="2614363451"/>
                    </a:ext>
                  </a:extLst>
                </a:gridCol>
              </a:tblGrid>
              <a:tr h="370840">
                <a:tc>
                  <a:txBody>
                    <a:bodyPr/>
                    <a:lstStyle/>
                    <a:p>
                      <a:pPr algn="ctr"/>
                      <a:r>
                        <a:rPr kumimoji="1" lang="ja-JP" altLang="en-US" sz="1400">
                          <a:latin typeface="メイリオ" panose="020B0604030504040204" pitchFamily="50" charset="-128"/>
                          <a:ea typeface="メイリオ" panose="020B0604030504040204" pitchFamily="50" charset="-128"/>
                        </a:rPr>
                        <a:t>指標</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グローバル</a:t>
                      </a:r>
                    </a:p>
                  </a:txBody>
                  <a:tcPr anchor="ctr"/>
                </a:tc>
                <a:tc>
                  <a:txBody>
                    <a:bodyPr/>
                    <a:lstStyle/>
                    <a:p>
                      <a:pPr algn="ctr"/>
                      <a:r>
                        <a:rPr kumimoji="1" lang="ja-JP" altLang="en-US" sz="1400">
                          <a:latin typeface="メイリオ" panose="020B0604030504040204" pitchFamily="50" charset="-128"/>
                          <a:ea typeface="メイリオ" panose="020B0604030504040204" pitchFamily="50" charset="-128"/>
                        </a:rPr>
                        <a:t>日本国内</a:t>
                      </a:r>
                    </a:p>
                  </a:txBody>
                  <a:tcPr anchor="ctr"/>
                </a:tc>
                <a:extLst>
                  <a:ext uri="{0D108BD9-81ED-4DB2-BD59-A6C34878D82A}">
                    <a16:rowId xmlns:a16="http://schemas.microsoft.com/office/drawing/2014/main" val="1237221228"/>
                  </a:ext>
                </a:extLst>
              </a:tr>
              <a:tr h="370840">
                <a:tc>
                  <a:txBody>
                    <a:bodyPr/>
                    <a:lstStyle/>
                    <a:p>
                      <a:pPr algn="ctr"/>
                      <a:r>
                        <a:rPr kumimoji="1" lang="ja-JP" altLang="en-US" sz="1200">
                          <a:latin typeface="メイリオ" panose="020B0604030504040204" pitchFamily="50" charset="-128"/>
                          <a:ea typeface="メイリオ" panose="020B0604030504040204" pitchFamily="50" charset="-128"/>
                        </a:rPr>
                        <a:t>全社売上</a:t>
                      </a:r>
                    </a:p>
                  </a:txBody>
                  <a:tcPr anchor="ctr"/>
                </a:tc>
                <a:tc>
                  <a:txBody>
                    <a:bodyPr/>
                    <a:lstStyle/>
                    <a:p>
                      <a:pPr algn="ctr"/>
                      <a:r>
                        <a:rPr kumimoji="1" lang="en-US" altLang="ja-JP" sz="1200">
                          <a:latin typeface="メイリオ" panose="020B0604030504040204" pitchFamily="50" charset="-128"/>
                          <a:ea typeface="メイリオ" panose="020B0604030504040204" pitchFamily="50" charset="-128"/>
                        </a:rPr>
                        <a:t>697</a:t>
                      </a:r>
                      <a:r>
                        <a:rPr kumimoji="1" lang="ja-JP" altLang="en-US" sz="1200">
                          <a:latin typeface="メイリオ" panose="020B0604030504040204" pitchFamily="50" charset="-128"/>
                          <a:ea typeface="メイリオ" panose="020B0604030504040204" pitchFamily="50" charset="-128"/>
                        </a:rPr>
                        <a:t>億ドル</a:t>
                      </a:r>
                      <a:r>
                        <a:rPr kumimoji="1" lang="en-US" altLang="ja-JP" sz="1200">
                          <a:latin typeface="メイリオ" panose="020B0604030504040204" pitchFamily="50" charset="-128"/>
                          <a:ea typeface="メイリオ" panose="020B0604030504040204" pitchFamily="50" charset="-128"/>
                        </a:rPr>
                        <a:t>(</a:t>
                      </a:r>
                      <a:r>
                        <a:rPr kumimoji="1" lang="ja-JP" altLang="en-US" sz="1200">
                          <a:latin typeface="メイリオ" panose="020B0604030504040204" pitchFamily="50" charset="-128"/>
                          <a:ea typeface="メイリオ" panose="020B0604030504040204" pitchFamily="50" charset="-128"/>
                        </a:rPr>
                        <a:t>約</a:t>
                      </a:r>
                      <a:r>
                        <a:rPr kumimoji="1" lang="en-US" altLang="ja-JP" sz="1200">
                          <a:latin typeface="メイリオ" panose="020B0604030504040204" pitchFamily="50" charset="-128"/>
                          <a:ea typeface="メイリオ" panose="020B0604030504040204" pitchFamily="50" charset="-128"/>
                        </a:rPr>
                        <a:t>10</a:t>
                      </a:r>
                      <a:r>
                        <a:rPr kumimoji="1" lang="ja-JP" altLang="en-US" sz="1200">
                          <a:latin typeface="メイリオ" panose="020B0604030504040204" pitchFamily="50" charset="-128"/>
                          <a:ea typeface="メイリオ" panose="020B0604030504040204" pitchFamily="50" charset="-128"/>
                        </a:rPr>
                        <a:t>兆円</a:t>
                      </a:r>
                      <a:r>
                        <a:rPr kumimoji="1" lang="en-US" altLang="ja-JP" sz="1200">
                          <a:latin typeface="メイリオ" panose="020B0604030504040204" pitchFamily="50" charset="-128"/>
                          <a:ea typeface="メイリオ" panose="020B0604030504040204" pitchFamily="50" charset="-128"/>
                        </a:rPr>
                        <a:t>)</a:t>
                      </a:r>
                      <a:endParaRPr kumimoji="1" lang="ja-JP" altLang="en-US" sz="1200">
                        <a:latin typeface="メイリオ" panose="020B0604030504040204" pitchFamily="50" charset="-128"/>
                        <a:ea typeface="メイリオ" panose="020B0604030504040204" pitchFamily="50" charset="-128"/>
                      </a:endParaRPr>
                    </a:p>
                  </a:txBody>
                  <a:tcPr anchor="ctr"/>
                </a:tc>
                <a:tc>
                  <a:txBody>
                    <a:bodyPr/>
                    <a:lstStyle/>
                    <a:p>
                      <a:pPr algn="ctr"/>
                      <a:r>
                        <a:rPr kumimoji="1" lang="en-US" altLang="ja-JP" sz="1200">
                          <a:latin typeface="メイリオ" panose="020B0604030504040204" pitchFamily="50" charset="-128"/>
                          <a:ea typeface="メイリオ" panose="020B0604030504040204" pitchFamily="50" charset="-128"/>
                        </a:rPr>
                        <a:t>7,175</a:t>
                      </a:r>
                      <a:r>
                        <a:rPr kumimoji="1" lang="ja-JP" altLang="en-US" sz="1200">
                          <a:latin typeface="メイリオ" panose="020B0604030504040204" pitchFamily="50" charset="-128"/>
                          <a:ea typeface="メイリオ" panose="020B0604030504040204" pitchFamily="50" charset="-128"/>
                        </a:rPr>
                        <a:t>億円</a:t>
                      </a:r>
                      <a:r>
                        <a:rPr kumimoji="1" lang="en-US" altLang="ja-JP" sz="1050">
                          <a:latin typeface="メイリオ" panose="020B0604030504040204" pitchFamily="50" charset="-128"/>
                          <a:ea typeface="メイリオ" panose="020B0604030504040204" pitchFamily="50" charset="-128"/>
                        </a:rPr>
                        <a:t>(2024</a:t>
                      </a:r>
                      <a:r>
                        <a:rPr kumimoji="1" lang="ja-JP" altLang="en-US" sz="1050">
                          <a:latin typeface="メイリオ" panose="020B0604030504040204" pitchFamily="50" charset="-128"/>
                          <a:ea typeface="メイリオ" panose="020B0604030504040204" pitchFamily="50" charset="-128"/>
                        </a:rPr>
                        <a:t>年</a:t>
                      </a:r>
                      <a:r>
                        <a:rPr kumimoji="1" lang="en-US" altLang="ja-JP" sz="1050">
                          <a:latin typeface="メイリオ" panose="020B0604030504040204" pitchFamily="50" charset="-128"/>
                          <a:ea typeface="メイリオ" panose="020B0604030504040204" pitchFamily="50" charset="-128"/>
                        </a:rPr>
                        <a:t>8</a:t>
                      </a:r>
                      <a:r>
                        <a:rPr kumimoji="1" lang="ja-JP" altLang="en-US" sz="1050">
                          <a:latin typeface="メイリオ" panose="020B0604030504040204" pitchFamily="50" charset="-128"/>
                          <a:ea typeface="メイリオ" panose="020B0604030504040204" pitchFamily="50" charset="-128"/>
                        </a:rPr>
                        <a:t>月期</a:t>
                      </a:r>
                      <a:r>
                        <a:rPr kumimoji="1" lang="en-US" altLang="ja-JP" sz="1050">
                          <a:latin typeface="メイリオ" panose="020B0604030504040204" pitchFamily="50" charset="-128"/>
                          <a:ea typeface="メイリオ" panose="020B0604030504040204" pitchFamily="50" charset="-128"/>
                        </a:rPr>
                        <a:t>)</a:t>
                      </a:r>
                      <a:endParaRPr kumimoji="1" lang="ja-JP" altLang="en-US" sz="12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2566563899"/>
                  </a:ext>
                </a:extLst>
              </a:tr>
              <a:tr h="370840">
                <a:tc>
                  <a:txBody>
                    <a:bodyPr/>
                    <a:lstStyle/>
                    <a:p>
                      <a:pPr algn="ctr"/>
                      <a:r>
                        <a:rPr kumimoji="1" lang="ja-JP" altLang="en-US" sz="1200">
                          <a:latin typeface="メイリオ" panose="020B0604030504040204" pitchFamily="50" charset="-128"/>
                          <a:ea typeface="メイリオ" panose="020B0604030504040204" pitchFamily="50" charset="-128"/>
                        </a:rPr>
                        <a:t>マネージドサービス</a:t>
                      </a:r>
                      <a:br>
                        <a:rPr kumimoji="1" lang="en-US" altLang="ja-JP" sz="1200">
                          <a:latin typeface="メイリオ" panose="020B0604030504040204" pitchFamily="50" charset="-128"/>
                          <a:ea typeface="メイリオ" panose="020B0604030504040204" pitchFamily="50" charset="-128"/>
                        </a:rPr>
                      </a:br>
                      <a:r>
                        <a:rPr kumimoji="1" lang="en-US" altLang="ja-JP" sz="1200">
                          <a:latin typeface="メイリオ" panose="020B0604030504040204" pitchFamily="50" charset="-128"/>
                          <a:ea typeface="メイリオ" panose="020B0604030504040204" pitchFamily="50" charset="-128"/>
                        </a:rPr>
                        <a:t>(IT</a:t>
                      </a:r>
                      <a:r>
                        <a:rPr kumimoji="1" lang="ja-JP" altLang="en-US" sz="1200">
                          <a:latin typeface="メイリオ" panose="020B0604030504040204" pitchFamily="50" charset="-128"/>
                          <a:ea typeface="メイリオ" panose="020B0604030504040204" pitchFamily="50" charset="-128"/>
                        </a:rPr>
                        <a:t>運用 </a:t>
                      </a:r>
                      <a:r>
                        <a:rPr kumimoji="1" lang="en-US" altLang="ja-JP" sz="1200">
                          <a:latin typeface="メイリオ" panose="020B0604030504040204" pitchFamily="50" charset="-128"/>
                          <a:ea typeface="メイリオ" panose="020B0604030504040204" pitchFamily="50" charset="-128"/>
                        </a:rPr>
                        <a:t>+ BPO)</a:t>
                      </a:r>
                      <a:endParaRPr kumimoji="1" lang="ja-JP" altLang="en-US" sz="1200">
                        <a:latin typeface="メイリオ" panose="020B0604030504040204" pitchFamily="50" charset="-128"/>
                        <a:ea typeface="メイリオ" panose="020B0604030504040204" pitchFamily="50" charset="-128"/>
                      </a:endParaRP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約</a:t>
                      </a:r>
                      <a:r>
                        <a:rPr kumimoji="1" lang="en-US" altLang="ja-JP" sz="1200">
                          <a:latin typeface="メイリオ" panose="020B0604030504040204" pitchFamily="50" charset="-128"/>
                          <a:ea typeface="メイリオ" panose="020B0604030504040204" pitchFamily="50" charset="-128"/>
                        </a:rPr>
                        <a:t>49</a:t>
                      </a:r>
                      <a:r>
                        <a:rPr kumimoji="1" lang="ja-JP" altLang="en-US" sz="1200">
                          <a:latin typeface="メイリオ" panose="020B0604030504040204" pitchFamily="50" charset="-128"/>
                          <a:ea typeface="メイリオ" panose="020B0604030504040204" pitchFamily="50" charset="-128"/>
                        </a:rPr>
                        <a:t>％</a:t>
                      </a:r>
                      <a:r>
                        <a:rPr kumimoji="1" lang="en-US" altLang="ja-JP" sz="1200">
                          <a:latin typeface="メイリオ" panose="020B0604030504040204" pitchFamily="50" charset="-128"/>
                          <a:ea typeface="メイリオ" panose="020B0604030504040204" pitchFamily="50" charset="-128"/>
                        </a:rPr>
                        <a:t>(</a:t>
                      </a:r>
                      <a:r>
                        <a:rPr kumimoji="1" lang="ja-JP" altLang="en-US" sz="1200">
                          <a:latin typeface="メイリオ" panose="020B0604030504040204" pitchFamily="50" charset="-128"/>
                          <a:ea typeface="メイリオ" panose="020B0604030504040204" pitchFamily="50" charset="-128"/>
                        </a:rPr>
                        <a:t>約</a:t>
                      </a:r>
                      <a:r>
                        <a:rPr kumimoji="1" lang="en-US" altLang="ja-JP" sz="1200">
                          <a:latin typeface="メイリオ" panose="020B0604030504040204" pitchFamily="50" charset="-128"/>
                          <a:ea typeface="メイリオ" panose="020B0604030504040204" pitchFamily="50" charset="-128"/>
                        </a:rPr>
                        <a:t>5</a:t>
                      </a:r>
                      <a:r>
                        <a:rPr kumimoji="1" lang="ja-JP" altLang="en-US" sz="1200">
                          <a:latin typeface="メイリオ" panose="020B0604030504040204" pitchFamily="50" charset="-128"/>
                          <a:ea typeface="メイリオ" panose="020B0604030504040204" pitchFamily="50" charset="-128"/>
                        </a:rPr>
                        <a:t>兆円</a:t>
                      </a:r>
                      <a:r>
                        <a:rPr kumimoji="1" lang="en-US" altLang="ja-JP" sz="1200">
                          <a:latin typeface="メイリオ" panose="020B0604030504040204" pitchFamily="50" charset="-128"/>
                          <a:ea typeface="メイリオ" panose="020B0604030504040204" pitchFamily="50" charset="-128"/>
                        </a:rPr>
                        <a:t>)</a:t>
                      </a:r>
                      <a:endParaRPr kumimoji="1" lang="ja-JP" altLang="en-US" sz="1200">
                        <a:latin typeface="メイリオ" panose="020B0604030504040204" pitchFamily="50" charset="-128"/>
                        <a:ea typeface="メイリオ" panose="020B0604030504040204" pitchFamily="50" charset="-128"/>
                      </a:endParaRP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推定約</a:t>
                      </a:r>
                      <a:r>
                        <a:rPr kumimoji="1" lang="en-US" altLang="ja-JP" sz="1200">
                          <a:latin typeface="メイリオ" panose="020B0604030504040204" pitchFamily="50" charset="-128"/>
                          <a:ea typeface="メイリオ" panose="020B0604030504040204" pitchFamily="50" charset="-128"/>
                        </a:rPr>
                        <a:t>3,500</a:t>
                      </a:r>
                      <a:r>
                        <a:rPr kumimoji="1" lang="ja-JP" altLang="en-US" sz="1200">
                          <a:latin typeface="メイリオ" panose="020B0604030504040204" pitchFamily="50" charset="-128"/>
                          <a:ea typeface="メイリオ" panose="020B0604030504040204" pitchFamily="50" charset="-128"/>
                        </a:rPr>
                        <a:t>億円</a:t>
                      </a:r>
                    </a:p>
                  </a:txBody>
                  <a:tcPr anchor="ctr"/>
                </a:tc>
                <a:extLst>
                  <a:ext uri="{0D108BD9-81ED-4DB2-BD59-A6C34878D82A}">
                    <a16:rowId xmlns:a16="http://schemas.microsoft.com/office/drawing/2014/main" val="4065324594"/>
                  </a:ext>
                </a:extLst>
              </a:tr>
              <a:tr h="259080">
                <a:tc>
                  <a:txBody>
                    <a:bodyPr/>
                    <a:lstStyle/>
                    <a:p>
                      <a:pPr algn="ctr"/>
                      <a:r>
                        <a:rPr kumimoji="1" lang="ja-JP" altLang="en-US" sz="1200">
                          <a:latin typeface="メイリオ" panose="020B0604030504040204" pitchFamily="50" charset="-128"/>
                          <a:ea typeface="メイリオ" panose="020B0604030504040204" pitchFamily="50" charset="-128"/>
                        </a:rPr>
                        <a:t>うちオペレーションズ</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約</a:t>
                      </a:r>
                      <a:r>
                        <a:rPr kumimoji="1" lang="en-US" altLang="ja-JP" sz="1200">
                          <a:latin typeface="メイリオ" panose="020B0604030504040204" pitchFamily="50" charset="-128"/>
                          <a:ea typeface="メイリオ" panose="020B0604030504040204" pitchFamily="50" charset="-128"/>
                        </a:rPr>
                        <a:t>14%(</a:t>
                      </a:r>
                      <a:r>
                        <a:rPr kumimoji="1" lang="ja-JP" altLang="en-US" sz="1200">
                          <a:latin typeface="メイリオ" panose="020B0604030504040204" pitchFamily="50" charset="-128"/>
                          <a:ea typeface="メイリオ" panose="020B0604030504040204" pitchFamily="50" charset="-128"/>
                        </a:rPr>
                        <a:t>約</a:t>
                      </a:r>
                      <a:r>
                        <a:rPr kumimoji="1" lang="en-US" altLang="ja-JP" sz="1200">
                          <a:latin typeface="メイリオ" panose="020B0604030504040204" pitchFamily="50" charset="-128"/>
                          <a:ea typeface="メイリオ" panose="020B0604030504040204" pitchFamily="50" charset="-128"/>
                        </a:rPr>
                        <a:t>1.5</a:t>
                      </a:r>
                      <a:r>
                        <a:rPr kumimoji="1" lang="ja-JP" altLang="en-US" sz="1200">
                          <a:latin typeface="メイリオ" panose="020B0604030504040204" pitchFamily="50" charset="-128"/>
                          <a:ea typeface="メイリオ" panose="020B0604030504040204" pitchFamily="50" charset="-128"/>
                        </a:rPr>
                        <a:t>兆円</a:t>
                      </a:r>
                      <a:r>
                        <a:rPr kumimoji="1" lang="en-US" altLang="ja-JP" sz="1200">
                          <a:latin typeface="メイリオ" panose="020B0604030504040204" pitchFamily="50" charset="-128"/>
                          <a:ea typeface="メイリオ" panose="020B0604030504040204" pitchFamily="50" charset="-128"/>
                        </a:rPr>
                        <a:t>)</a:t>
                      </a:r>
                      <a:endParaRPr kumimoji="1" lang="ja-JP" altLang="en-US" sz="1200">
                        <a:latin typeface="メイリオ" panose="020B0604030504040204" pitchFamily="50" charset="-128"/>
                        <a:ea typeface="メイリオ" panose="020B0604030504040204" pitchFamily="50" charset="-128"/>
                      </a:endParaRP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推定約</a:t>
                      </a:r>
                      <a:r>
                        <a:rPr kumimoji="1" lang="en-US" altLang="ja-JP" sz="1200">
                          <a:latin typeface="メイリオ" panose="020B0604030504040204" pitchFamily="50" charset="-128"/>
                          <a:ea typeface="メイリオ" panose="020B0604030504040204" pitchFamily="50" charset="-128"/>
                        </a:rPr>
                        <a:t>1,000</a:t>
                      </a:r>
                      <a:r>
                        <a:rPr kumimoji="1" lang="ja-JP" altLang="en-US" sz="1200">
                          <a:latin typeface="メイリオ" panose="020B0604030504040204" pitchFamily="50" charset="-128"/>
                          <a:ea typeface="メイリオ" panose="020B0604030504040204" pitchFamily="50" charset="-128"/>
                        </a:rPr>
                        <a:t>億円</a:t>
                      </a:r>
                    </a:p>
                  </a:txBody>
                  <a:tcPr anchor="ctr"/>
                </a:tc>
                <a:extLst>
                  <a:ext uri="{0D108BD9-81ED-4DB2-BD59-A6C34878D82A}">
                    <a16:rowId xmlns:a16="http://schemas.microsoft.com/office/drawing/2014/main" val="3043037330"/>
                  </a:ext>
                </a:extLst>
              </a:tr>
              <a:tr h="259080">
                <a:tc>
                  <a:txBody>
                    <a:bodyPr/>
                    <a:lstStyle/>
                    <a:p>
                      <a:pPr algn="ctr"/>
                      <a:r>
                        <a:rPr kumimoji="1" lang="ja-JP" altLang="en-US" sz="1200">
                          <a:latin typeface="メイリオ" panose="020B0604030504040204" pitchFamily="50" charset="-128"/>
                          <a:ea typeface="メイリオ" panose="020B0604030504040204" pitchFamily="50" charset="-128"/>
                        </a:rPr>
                        <a:t>市場シェア</a:t>
                      </a: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世界</a:t>
                      </a:r>
                      <a:r>
                        <a:rPr kumimoji="1" lang="en-US" altLang="ja-JP" sz="1200">
                          <a:latin typeface="メイリオ" panose="020B0604030504040204" pitchFamily="50" charset="-128"/>
                          <a:ea typeface="メイリオ" panose="020B0604030504040204" pitchFamily="50" charset="-128"/>
                        </a:rPr>
                        <a:t>1</a:t>
                      </a:r>
                      <a:r>
                        <a:rPr kumimoji="1" lang="ja-JP" altLang="en-US" sz="1200">
                          <a:latin typeface="メイリオ" panose="020B0604030504040204" pitchFamily="50" charset="-128"/>
                          <a:ea typeface="メイリオ" panose="020B0604030504040204" pitchFamily="50" charset="-128"/>
                        </a:rPr>
                        <a:t>位</a:t>
                      </a:r>
                      <a:r>
                        <a:rPr kumimoji="1" lang="en-US" altLang="ja-JP" sz="1200">
                          <a:latin typeface="メイリオ" panose="020B0604030504040204" pitchFamily="50" charset="-128"/>
                          <a:ea typeface="メイリオ" panose="020B0604030504040204" pitchFamily="50" charset="-128"/>
                        </a:rPr>
                        <a:t>(10.24%)</a:t>
                      </a:r>
                      <a:endParaRPr kumimoji="1" lang="ja-JP" altLang="en-US" sz="1200">
                        <a:latin typeface="メイリオ" panose="020B0604030504040204" pitchFamily="50" charset="-128"/>
                        <a:ea typeface="メイリオ" panose="020B0604030504040204" pitchFamily="50" charset="-128"/>
                      </a:endParaRPr>
                    </a:p>
                  </a:txBody>
                  <a:tcPr anchor="ctr"/>
                </a:tc>
                <a:tc>
                  <a:txBody>
                    <a:bodyPr/>
                    <a:lstStyle/>
                    <a:p>
                      <a:pPr algn="ctr"/>
                      <a:r>
                        <a:rPr kumimoji="1" lang="ja-JP" altLang="en-US" sz="1200">
                          <a:latin typeface="メイリオ" panose="020B0604030504040204" pitchFamily="50" charset="-128"/>
                          <a:ea typeface="メイリオ" panose="020B0604030504040204" pitchFamily="50" charset="-128"/>
                        </a:rPr>
                        <a:t>国別売上</a:t>
                      </a:r>
                      <a:r>
                        <a:rPr kumimoji="1" lang="en-US" altLang="ja-JP" sz="1200">
                          <a:latin typeface="メイリオ" panose="020B0604030504040204" pitchFamily="50" charset="-128"/>
                          <a:ea typeface="メイリオ" panose="020B0604030504040204" pitchFamily="50" charset="-128"/>
                        </a:rPr>
                        <a:t>2</a:t>
                      </a:r>
                      <a:r>
                        <a:rPr kumimoji="1" lang="ja-JP" altLang="en-US" sz="1200">
                          <a:latin typeface="メイリオ" panose="020B0604030504040204" pitchFamily="50" charset="-128"/>
                          <a:ea typeface="メイリオ" panose="020B0604030504040204" pitchFamily="50" charset="-128"/>
                        </a:rPr>
                        <a:t>位</a:t>
                      </a:r>
                      <a:endParaRPr kumimoji="1" lang="en-US" altLang="ja-JP" sz="1200">
                        <a:latin typeface="メイリオ" panose="020B0604030504040204" pitchFamily="50" charset="-128"/>
                        <a:ea typeface="メイリオ" panose="020B0604030504040204" pitchFamily="50" charset="-128"/>
                      </a:endParaRPr>
                    </a:p>
                    <a:p>
                      <a:pPr algn="ctr"/>
                      <a:r>
                        <a:rPr kumimoji="1" lang="en-US" altLang="ja-JP" sz="1200">
                          <a:latin typeface="メイリオ" panose="020B0604030504040204" pitchFamily="50" charset="-128"/>
                          <a:ea typeface="メイリオ" panose="020B0604030504040204" pitchFamily="50" charset="-128"/>
                        </a:rPr>
                        <a:t>(</a:t>
                      </a:r>
                      <a:r>
                        <a:rPr kumimoji="1" lang="ja-JP" altLang="en-US" sz="1200">
                          <a:latin typeface="メイリオ" panose="020B0604030504040204" pitchFamily="50" charset="-128"/>
                          <a:ea typeface="メイリオ" panose="020B0604030504040204" pitchFamily="50" charset="-128"/>
                        </a:rPr>
                        <a:t>米国に次ぐ</a:t>
                      </a:r>
                      <a:r>
                        <a:rPr kumimoji="1" lang="en-US" altLang="ja-JP" sz="1200">
                          <a:latin typeface="メイリオ" panose="020B0604030504040204" pitchFamily="50" charset="-128"/>
                          <a:ea typeface="メイリオ" panose="020B0604030504040204" pitchFamily="50" charset="-128"/>
                        </a:rPr>
                        <a:t>)</a:t>
                      </a:r>
                      <a:endParaRPr kumimoji="1" lang="ja-JP" altLang="en-US" sz="1200">
                        <a:latin typeface="メイリオ" panose="020B0604030504040204" pitchFamily="50" charset="-128"/>
                        <a:ea typeface="メイリオ" panose="020B0604030504040204" pitchFamily="50" charset="-128"/>
                      </a:endParaRPr>
                    </a:p>
                  </a:txBody>
                  <a:tcPr anchor="ctr"/>
                </a:tc>
                <a:extLst>
                  <a:ext uri="{0D108BD9-81ED-4DB2-BD59-A6C34878D82A}">
                    <a16:rowId xmlns:a16="http://schemas.microsoft.com/office/drawing/2014/main" val="333260440"/>
                  </a:ext>
                </a:extLst>
              </a:tr>
              <a:tr h="370840">
                <a:tc>
                  <a:txBody>
                    <a:bodyPr/>
                    <a:lstStyle/>
                    <a:p>
                      <a:pPr algn="ctr"/>
                      <a:r>
                        <a:rPr kumimoji="1" lang="en-US" altLang="ja-JP" sz="1200">
                          <a:latin typeface="メイリオ" panose="020B0604030504040204" pitchFamily="50" charset="-128"/>
                          <a:ea typeface="メイリオ" panose="020B0604030504040204" pitchFamily="50" charset="-128"/>
                        </a:rPr>
                        <a:t>BPO</a:t>
                      </a:r>
                      <a:r>
                        <a:rPr kumimoji="1" lang="ja-JP" altLang="en-US" sz="1200">
                          <a:latin typeface="メイリオ" panose="020B0604030504040204" pitchFamily="50" charset="-128"/>
                          <a:ea typeface="メイリオ" panose="020B0604030504040204" pitchFamily="50" charset="-128"/>
                        </a:rPr>
                        <a:t>従事者</a:t>
                      </a:r>
                    </a:p>
                  </a:txBody>
                  <a:tcPr anchor="ctr"/>
                </a:tc>
                <a:tc>
                  <a:txBody>
                    <a:bodyPr/>
                    <a:lstStyle/>
                    <a:p>
                      <a:pPr algn="ctr"/>
                      <a:r>
                        <a:rPr kumimoji="1" lang="en-US" altLang="ja-JP" sz="1200">
                          <a:latin typeface="メイリオ" panose="020B0604030504040204" pitchFamily="50" charset="-128"/>
                          <a:ea typeface="メイリオ" panose="020B0604030504040204" pitchFamily="50" charset="-128"/>
                        </a:rPr>
                        <a:t>21.9</a:t>
                      </a:r>
                      <a:r>
                        <a:rPr kumimoji="1" lang="ja-JP" altLang="en-US" sz="1200">
                          <a:latin typeface="メイリオ" panose="020B0604030504040204" pitchFamily="50" charset="-128"/>
                          <a:ea typeface="メイリオ" panose="020B0604030504040204" pitchFamily="50" charset="-128"/>
                        </a:rPr>
                        <a:t>万人</a:t>
                      </a:r>
                    </a:p>
                  </a:txBody>
                  <a:tcPr anchor="ctr"/>
                </a:tc>
                <a:tc>
                  <a:txBody>
                    <a:bodyPr/>
                    <a:lstStyle/>
                    <a:p>
                      <a:pPr algn="ctr"/>
                      <a:r>
                        <a:rPr kumimoji="1" lang="en-US" altLang="ja-JP" sz="1200">
                          <a:latin typeface="メイリオ" panose="020B0604030504040204" pitchFamily="50" charset="-128"/>
                          <a:ea typeface="メイリオ" panose="020B0604030504040204" pitchFamily="50" charset="-128"/>
                        </a:rPr>
                        <a:t>2.3</a:t>
                      </a:r>
                      <a:r>
                        <a:rPr kumimoji="1" lang="ja-JP" altLang="en-US" sz="1200">
                          <a:latin typeface="メイリオ" panose="020B0604030504040204" pitchFamily="50" charset="-128"/>
                          <a:ea typeface="メイリオ" panose="020B0604030504040204" pitchFamily="50" charset="-128"/>
                        </a:rPr>
                        <a:t>万人</a:t>
                      </a:r>
                    </a:p>
                  </a:txBody>
                  <a:tcPr anchor="ctr"/>
                </a:tc>
                <a:extLst>
                  <a:ext uri="{0D108BD9-81ED-4DB2-BD59-A6C34878D82A}">
                    <a16:rowId xmlns:a16="http://schemas.microsoft.com/office/drawing/2014/main" val="562444929"/>
                  </a:ext>
                </a:extLst>
              </a:tr>
            </a:tbl>
          </a:graphicData>
        </a:graphic>
      </p:graphicFrame>
      <p:sp>
        <p:nvSpPr>
          <p:cNvPr id="19" name="テキスト ボックス 18">
            <a:extLst>
              <a:ext uri="{FF2B5EF4-FFF2-40B4-BE49-F238E27FC236}">
                <a16:creationId xmlns:a16="http://schemas.microsoft.com/office/drawing/2014/main" id="{41B5D906-D697-6942-07E0-90AAF0A47B1E}"/>
              </a:ext>
            </a:extLst>
          </p:cNvPr>
          <p:cNvSpPr txBox="1"/>
          <p:nvPr/>
        </p:nvSpPr>
        <p:spPr>
          <a:xfrm>
            <a:off x="370095" y="3566439"/>
            <a:ext cx="5616092" cy="623248"/>
          </a:xfrm>
          <a:prstGeom prst="rect">
            <a:avLst/>
          </a:prstGeom>
          <a:noFill/>
        </p:spPr>
        <p:txBody>
          <a:bodyPr wrap="square" rtlCol="0">
            <a:spAutoFit/>
          </a:bodyPr>
          <a:lstStyle/>
          <a:p>
            <a:pPr>
              <a:lnSpc>
                <a:spcPct val="150000"/>
              </a:lnSpc>
            </a:pPr>
            <a:r>
              <a:rPr lang="ja-JP" altLang="en-US" sz="1200" b="1">
                <a:latin typeface="メイリオ" panose="020B0604030504040204" pitchFamily="50" charset="-128"/>
                <a:ea typeface="メイリオ" panose="020B0604030504040204" pitchFamily="50" charset="-128"/>
              </a:rPr>
              <a:t>➡ マネージドサービス推定約</a:t>
            </a:r>
            <a:r>
              <a:rPr lang="en-US" altLang="ja-JP" sz="1200" b="1">
                <a:latin typeface="メイリオ" panose="020B0604030504040204" pitchFamily="50" charset="-128"/>
                <a:ea typeface="メイリオ" panose="020B0604030504040204" pitchFamily="50" charset="-128"/>
              </a:rPr>
              <a:t>3,500</a:t>
            </a:r>
            <a:r>
              <a:rPr lang="ja-JP" altLang="en-US" sz="1200" b="1">
                <a:latin typeface="メイリオ" panose="020B0604030504040204" pitchFamily="50" charset="-128"/>
                <a:ea typeface="メイリオ" panose="020B0604030504040204" pitchFamily="50" charset="-128"/>
              </a:rPr>
              <a:t>億円は</a:t>
            </a:r>
            <a:r>
              <a:rPr lang="ja-JP" altLang="en-US" sz="1200" b="1">
                <a:latin typeface="メイリオ" panose="020B0604030504040204" pitchFamily="50" charset="-128"/>
                <a:ea typeface="メイリオ" panose="020B0604030504040204" pitchFamily="50" charset="-128"/>
                <a:hlinkClick r:id="rId2"/>
              </a:rPr>
              <a:t>トランスコスモス</a:t>
            </a:r>
            <a:r>
              <a:rPr lang="en-US" altLang="ja-JP" sz="1200" b="1">
                <a:latin typeface="メイリオ" panose="020B0604030504040204" pitchFamily="50" charset="-128"/>
                <a:ea typeface="メイリオ" panose="020B0604030504040204" pitchFamily="50" charset="-128"/>
                <a:hlinkClick r:id="rId2"/>
              </a:rPr>
              <a:t>(2025</a:t>
            </a:r>
            <a:r>
              <a:rPr lang="ja-JP" altLang="en-US" sz="1200" b="1">
                <a:latin typeface="メイリオ" panose="020B0604030504040204" pitchFamily="50" charset="-128"/>
                <a:ea typeface="メイリオ" panose="020B0604030504040204" pitchFamily="50" charset="-128"/>
                <a:hlinkClick r:id="rId2"/>
              </a:rPr>
              <a:t>年</a:t>
            </a:r>
            <a:r>
              <a:rPr lang="en-US" altLang="ja-JP" sz="1200" b="1">
                <a:latin typeface="メイリオ" panose="020B0604030504040204" pitchFamily="50" charset="-128"/>
                <a:ea typeface="メイリオ" panose="020B0604030504040204" pitchFamily="50" charset="-128"/>
                <a:hlinkClick r:id="rId2"/>
              </a:rPr>
              <a:t>3</a:t>
            </a:r>
            <a:r>
              <a:rPr lang="ja-JP" altLang="en-US" sz="1200" b="1">
                <a:latin typeface="メイリオ" panose="020B0604030504040204" pitchFamily="50" charset="-128"/>
                <a:ea typeface="メイリオ" panose="020B0604030504040204" pitchFamily="50" charset="-128"/>
                <a:hlinkClick r:id="rId2"/>
              </a:rPr>
              <a:t>月期</a:t>
            </a:r>
            <a:r>
              <a:rPr lang="en-US" altLang="ja-JP" sz="1200" b="1">
                <a:latin typeface="メイリオ" panose="020B0604030504040204" pitchFamily="50" charset="-128"/>
                <a:ea typeface="メイリオ" panose="020B0604030504040204" pitchFamily="50" charset="-128"/>
                <a:hlinkClick r:id="rId2"/>
              </a:rPr>
              <a:t>)</a:t>
            </a:r>
            <a:r>
              <a:rPr lang="ja-JP" altLang="en-US" sz="1200" b="1">
                <a:latin typeface="メイリオ" panose="020B0604030504040204" pitchFamily="50" charset="-128"/>
                <a:ea typeface="メイリオ" panose="020B0604030504040204" pitchFamily="50" charset="-128"/>
                <a:hlinkClick r:id="rId2"/>
              </a:rPr>
              <a:t>連結売上</a:t>
            </a:r>
            <a:r>
              <a:rPr lang="en-US" altLang="ja-JP" sz="1200" b="1">
                <a:latin typeface="メイリオ" panose="020B0604030504040204" pitchFamily="50" charset="-128"/>
                <a:ea typeface="メイリオ" panose="020B0604030504040204" pitchFamily="50" charset="-128"/>
                <a:hlinkClick r:id="rId2"/>
              </a:rPr>
              <a:t>(</a:t>
            </a:r>
            <a:r>
              <a:rPr lang="ja-JP" altLang="en-US" sz="1200" b="1">
                <a:latin typeface="メイリオ" panose="020B0604030504040204" pitchFamily="50" charset="-128"/>
                <a:ea typeface="メイリオ" panose="020B0604030504040204" pitchFamily="50" charset="-128"/>
                <a:hlinkClick r:id="rId2"/>
              </a:rPr>
              <a:t>約</a:t>
            </a:r>
            <a:r>
              <a:rPr lang="en-US" altLang="ja-JP" sz="1200" b="1">
                <a:latin typeface="メイリオ" panose="020B0604030504040204" pitchFamily="50" charset="-128"/>
                <a:ea typeface="メイリオ" panose="020B0604030504040204" pitchFamily="50" charset="-128"/>
                <a:hlinkClick r:id="rId2"/>
              </a:rPr>
              <a:t>3,758</a:t>
            </a:r>
            <a:r>
              <a:rPr lang="ja-JP" altLang="en-US" sz="1200" b="1">
                <a:latin typeface="メイリオ" panose="020B0604030504040204" pitchFamily="50" charset="-128"/>
                <a:ea typeface="メイリオ" panose="020B0604030504040204" pitchFamily="50" charset="-128"/>
                <a:hlinkClick r:id="rId2"/>
              </a:rPr>
              <a:t>億円</a:t>
            </a:r>
            <a:r>
              <a:rPr lang="en-US" altLang="ja-JP" sz="1200" b="1">
                <a:latin typeface="メイリオ" panose="020B0604030504040204" pitchFamily="50" charset="-128"/>
                <a:ea typeface="メイリオ" panose="020B0604030504040204" pitchFamily="50" charset="-128"/>
                <a:hlinkClick r:id="rId2"/>
              </a:rPr>
              <a:t>)</a:t>
            </a:r>
            <a:r>
              <a:rPr lang="ja-JP" altLang="en-US" sz="1200" b="1">
                <a:latin typeface="メイリオ" panose="020B0604030504040204" pitchFamily="50" charset="-128"/>
                <a:ea typeface="メイリオ" panose="020B0604030504040204" pitchFamily="50" charset="-128"/>
              </a:rPr>
              <a:t>と同規模　</a:t>
            </a:r>
            <a:r>
              <a:rPr kumimoji="1" lang="en-US" altLang="ja-JP" sz="1000">
                <a:latin typeface="メイリオ" panose="020B0604030504040204" pitchFamily="50" charset="-128"/>
                <a:ea typeface="メイリオ" panose="020B0604030504040204" pitchFamily="50" charset="-128"/>
              </a:rPr>
              <a:t>※</a:t>
            </a:r>
            <a:r>
              <a:rPr kumimoji="1" lang="ja-JP" altLang="en-US" sz="1000">
                <a:latin typeface="メイリオ" panose="020B0604030504040204" pitchFamily="50" charset="-128"/>
                <a:ea typeface="メイリオ" panose="020B0604030504040204" pitchFamily="50" charset="-128"/>
              </a:rPr>
              <a:t>事業構成は異なる（</a:t>
            </a:r>
            <a:r>
              <a:rPr kumimoji="1" lang="en-US" altLang="ja-JP" sz="1000">
                <a:latin typeface="メイリオ" panose="020B0604030504040204" pitchFamily="50" charset="-128"/>
                <a:ea typeface="メイリオ" panose="020B0604030504040204" pitchFamily="50" charset="-128"/>
              </a:rPr>
              <a:t>CX 7</a:t>
            </a:r>
            <a:r>
              <a:rPr kumimoji="1" lang="ja-JP" altLang="en-US" sz="1000">
                <a:latin typeface="メイリオ" panose="020B0604030504040204" pitchFamily="50" charset="-128"/>
                <a:ea typeface="メイリオ" panose="020B0604030504040204" pitchFamily="50" charset="-128"/>
              </a:rPr>
              <a:t>割：</a:t>
            </a:r>
            <a:r>
              <a:rPr kumimoji="1" lang="en-US" altLang="ja-JP" sz="1000">
                <a:latin typeface="メイリオ" panose="020B0604030504040204" pitchFamily="50" charset="-128"/>
                <a:ea typeface="メイリオ" panose="020B0604030504040204" pitchFamily="50" charset="-128"/>
              </a:rPr>
              <a:t>BPO 3</a:t>
            </a:r>
            <a:r>
              <a:rPr kumimoji="1" lang="ja-JP" altLang="en-US" sz="1000">
                <a:latin typeface="メイリオ" panose="020B0604030504040204" pitchFamily="50" charset="-128"/>
                <a:ea typeface="メイリオ" panose="020B0604030504040204" pitchFamily="50" charset="-128"/>
              </a:rPr>
              <a:t>割）</a:t>
            </a:r>
            <a:endParaRPr kumimoji="1" lang="en-US" altLang="ja-JP" sz="120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33414942-2D23-06A3-0217-2F30C5D69DC9}"/>
              </a:ext>
            </a:extLst>
          </p:cNvPr>
          <p:cNvSpPr txBox="1"/>
          <p:nvPr/>
        </p:nvSpPr>
        <p:spPr>
          <a:xfrm>
            <a:off x="267388" y="4466523"/>
            <a:ext cx="5718796" cy="1953420"/>
          </a:xfrm>
          <a:prstGeom prst="rect">
            <a:avLst/>
          </a:prstGeom>
          <a:noFill/>
        </p:spPr>
        <p:txBody>
          <a:bodyPr wrap="square" rtlCol="0">
            <a:spAutoFit/>
          </a:bodyPr>
          <a:lstStyle/>
          <a:p>
            <a:pPr>
              <a:lnSpc>
                <a:spcPct val="150000"/>
              </a:lnSpc>
            </a:pPr>
            <a:r>
              <a:rPr lang="ja-JP" altLang="en-US" sz="1400" b="1">
                <a:latin typeface="メイリオ" panose="020B0604030504040204" pitchFamily="50" charset="-128"/>
                <a:ea typeface="メイリオ" panose="020B0604030504040204" pitchFamily="50" charset="-128"/>
              </a:rPr>
              <a:t>アクセンチュアの</a:t>
            </a:r>
            <a:r>
              <a:rPr lang="en-US" altLang="ja-JP" sz="1400" b="1">
                <a:latin typeface="メイリオ" panose="020B0604030504040204" pitchFamily="50" charset="-128"/>
                <a:ea typeface="メイリオ" panose="020B0604030504040204" pitchFamily="50" charset="-128"/>
              </a:rPr>
              <a:t>AI</a:t>
            </a:r>
            <a:r>
              <a:rPr lang="ja-JP" altLang="en-US" sz="1400" b="1">
                <a:latin typeface="メイリオ" panose="020B0604030504040204" pitchFamily="50" charset="-128"/>
                <a:ea typeface="メイリオ" panose="020B0604030504040204" pitchFamily="50" charset="-128"/>
              </a:rPr>
              <a:t>戦略：</a:t>
            </a:r>
            <a:endParaRPr lang="en-US" altLang="ja-JP" sz="1400" b="1">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en-US" altLang="ja-JP" sz="1200">
                <a:latin typeface="メイリオ" panose="020B0604030504040204" pitchFamily="50" charset="-128"/>
                <a:ea typeface="メイリオ" panose="020B0604030504040204" pitchFamily="50" charset="-128"/>
                <a:hlinkClick r:id="rId3"/>
              </a:rPr>
              <a:t>50</a:t>
            </a:r>
            <a:r>
              <a:rPr lang="ja-JP" altLang="en-US" sz="1200">
                <a:latin typeface="メイリオ" panose="020B0604030504040204" pitchFamily="50" charset="-128"/>
                <a:ea typeface="メイリオ" panose="020B0604030504040204" pitchFamily="50" charset="-128"/>
                <a:hlinkClick r:id="rId3"/>
              </a:rPr>
              <a:t>万人に</a:t>
            </a:r>
            <a:r>
              <a:rPr lang="en-US" altLang="ja-JP" sz="1200">
                <a:latin typeface="メイリオ" panose="020B0604030504040204" pitchFamily="50" charset="-128"/>
                <a:ea typeface="メイリオ" panose="020B0604030504040204" pitchFamily="50" charset="-128"/>
                <a:hlinkClick r:id="rId3"/>
              </a:rPr>
              <a:t>AI</a:t>
            </a:r>
            <a:r>
              <a:rPr lang="ja-JP" altLang="en-US" sz="1200">
                <a:latin typeface="メイリオ" panose="020B0604030504040204" pitchFamily="50" charset="-128"/>
                <a:ea typeface="メイリオ" panose="020B0604030504040204" pitchFamily="50" charset="-128"/>
                <a:hlinkClick r:id="rId3"/>
              </a:rPr>
              <a:t>研修実施（</a:t>
            </a:r>
            <a:r>
              <a:rPr lang="en-US" altLang="ja-JP" sz="1200">
                <a:latin typeface="メイリオ" panose="020B0604030504040204" pitchFamily="50" charset="-128"/>
                <a:ea typeface="メイリオ" panose="020B0604030504040204" pitchFamily="50" charset="-128"/>
                <a:hlinkClick r:id="rId3"/>
              </a:rPr>
              <a:t>2025</a:t>
            </a:r>
            <a:r>
              <a:rPr lang="ja-JP" altLang="en-US" sz="1200">
                <a:latin typeface="メイリオ" panose="020B0604030504040204" pitchFamily="50" charset="-128"/>
                <a:ea typeface="メイリオ" panose="020B0604030504040204" pitchFamily="50" charset="-128"/>
                <a:hlinkClick r:id="rId3"/>
              </a:rPr>
              <a:t>年</a:t>
            </a:r>
            <a:r>
              <a:rPr lang="en-US" altLang="ja-JP" sz="1200">
                <a:latin typeface="メイリオ" panose="020B0604030504040204" pitchFamily="50" charset="-128"/>
                <a:ea typeface="メイリオ" panose="020B0604030504040204" pitchFamily="50" charset="-128"/>
                <a:hlinkClick r:id="rId3"/>
              </a:rPr>
              <a:t>6</a:t>
            </a:r>
            <a:r>
              <a:rPr lang="ja-JP" altLang="en-US" sz="1200">
                <a:latin typeface="メイリオ" panose="020B0604030504040204" pitchFamily="50" charset="-128"/>
                <a:ea typeface="メイリオ" panose="020B0604030504040204" pitchFamily="50" charset="-128"/>
                <a:hlinkClick r:id="rId3"/>
              </a:rPr>
              <a:t>月） </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hlinkClick r:id="rId4"/>
              </a:rPr>
              <a:t>「数年内に</a:t>
            </a:r>
            <a:r>
              <a:rPr lang="en-US" altLang="ja-JP" sz="1200">
                <a:latin typeface="メイリオ" panose="020B0604030504040204" pitchFamily="50" charset="-128"/>
                <a:ea typeface="メイリオ" panose="020B0604030504040204" pitchFamily="50" charset="-128"/>
                <a:hlinkClick r:id="rId4"/>
              </a:rPr>
              <a:t>AI</a:t>
            </a:r>
            <a:r>
              <a:rPr lang="ja-JP" altLang="en-US" sz="1200">
                <a:latin typeface="メイリオ" panose="020B0604030504040204" pitchFamily="50" charset="-128"/>
                <a:ea typeface="メイリオ" panose="020B0604030504040204" pitchFamily="50" charset="-128"/>
                <a:hlinkClick r:id="rId4"/>
              </a:rPr>
              <a:t>・データ関連を売上の</a:t>
            </a:r>
            <a:r>
              <a:rPr lang="en-US" altLang="ja-JP" sz="1200">
                <a:latin typeface="メイリオ" panose="020B0604030504040204" pitchFamily="50" charset="-128"/>
                <a:ea typeface="メイリオ" panose="020B0604030504040204" pitchFamily="50" charset="-128"/>
                <a:hlinkClick r:id="rId4"/>
              </a:rPr>
              <a:t>8</a:t>
            </a:r>
            <a:r>
              <a:rPr lang="ja-JP" altLang="en-US" sz="1200">
                <a:latin typeface="メイリオ" panose="020B0604030504040204" pitchFamily="50" charset="-128"/>
                <a:ea typeface="メイリオ" panose="020B0604030504040204" pitchFamily="50" charset="-128"/>
                <a:hlinkClick r:id="rId4"/>
              </a:rPr>
              <a:t>割へ」（江川社長発言）（</a:t>
            </a:r>
            <a:r>
              <a:rPr lang="en-US" altLang="ja-JP" sz="1200">
                <a:latin typeface="メイリオ" panose="020B0604030504040204" pitchFamily="50" charset="-128"/>
                <a:ea typeface="メイリオ" panose="020B0604030504040204" pitchFamily="50" charset="-128"/>
                <a:hlinkClick r:id="rId4"/>
              </a:rPr>
              <a:t>2025</a:t>
            </a:r>
            <a:r>
              <a:rPr lang="ja-JP" altLang="en-US" sz="1200">
                <a:latin typeface="メイリオ" panose="020B0604030504040204" pitchFamily="50" charset="-128"/>
                <a:ea typeface="メイリオ" panose="020B0604030504040204" pitchFamily="50" charset="-128"/>
                <a:hlinkClick r:id="rId4"/>
              </a:rPr>
              <a:t>年</a:t>
            </a:r>
            <a:r>
              <a:rPr lang="en-US" altLang="ja-JP" sz="1200">
                <a:latin typeface="メイリオ" panose="020B0604030504040204" pitchFamily="50" charset="-128"/>
                <a:ea typeface="メイリオ" panose="020B0604030504040204" pitchFamily="50" charset="-128"/>
                <a:hlinkClick r:id="rId4"/>
              </a:rPr>
              <a:t>9</a:t>
            </a:r>
            <a:r>
              <a:rPr lang="ja-JP" altLang="en-US" sz="1200">
                <a:latin typeface="メイリオ" panose="020B0604030504040204" pitchFamily="50" charset="-128"/>
                <a:ea typeface="メイリオ" panose="020B0604030504040204" pitchFamily="50" charset="-128"/>
                <a:hlinkClick r:id="rId4"/>
              </a:rPr>
              <a:t>月）</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en-US" altLang="ja-JP" sz="1200" b="1">
                <a:latin typeface="メイリオ" panose="020B0604030504040204" pitchFamily="50" charset="-128"/>
                <a:ea typeface="メイリオ" panose="020B0604030504040204" pitchFamily="50" charset="-128"/>
                <a:hlinkClick r:id="rId4"/>
              </a:rPr>
              <a:t>Anthropic</a:t>
            </a:r>
            <a:r>
              <a:rPr lang="ja-JP" altLang="en-US" sz="1200" b="1">
                <a:latin typeface="メイリオ" panose="020B0604030504040204" pitchFamily="50" charset="-128"/>
                <a:ea typeface="メイリオ" panose="020B0604030504040204" pitchFamily="50" charset="-128"/>
                <a:hlinkClick r:id="rId4"/>
              </a:rPr>
              <a:t>提携（</a:t>
            </a:r>
            <a:r>
              <a:rPr lang="en-US" altLang="ja-JP" sz="1200" b="1">
                <a:latin typeface="メイリオ" panose="020B0604030504040204" pitchFamily="50" charset="-128"/>
                <a:ea typeface="メイリオ" panose="020B0604030504040204" pitchFamily="50" charset="-128"/>
                <a:hlinkClick r:id="rId4"/>
              </a:rPr>
              <a:t>Claude</a:t>
            </a:r>
            <a:r>
              <a:rPr lang="ja-JP" altLang="en-US" sz="1200" b="1">
                <a:latin typeface="メイリオ" panose="020B0604030504040204" pitchFamily="50" charset="-128"/>
                <a:ea typeface="メイリオ" panose="020B0604030504040204" pitchFamily="50" charset="-128"/>
                <a:hlinkClick r:id="rId4"/>
              </a:rPr>
              <a:t>専門家</a:t>
            </a:r>
            <a:r>
              <a:rPr lang="en-US" altLang="ja-JP" sz="1200" b="1">
                <a:latin typeface="メイリオ" panose="020B0604030504040204" pitchFamily="50" charset="-128"/>
                <a:ea typeface="メイリオ" panose="020B0604030504040204" pitchFamily="50" charset="-128"/>
                <a:hlinkClick r:id="rId4"/>
              </a:rPr>
              <a:t>3</a:t>
            </a:r>
            <a:r>
              <a:rPr lang="ja-JP" altLang="en-US" sz="1200" b="1">
                <a:latin typeface="メイリオ" panose="020B0604030504040204" pitchFamily="50" charset="-128"/>
                <a:ea typeface="メイリオ" panose="020B0604030504040204" pitchFamily="50" charset="-128"/>
                <a:hlinkClick r:id="rId4"/>
              </a:rPr>
              <a:t>万人育成）（</a:t>
            </a:r>
            <a:r>
              <a:rPr lang="en-US" altLang="ja-JP" sz="1200" b="1">
                <a:latin typeface="メイリオ" panose="020B0604030504040204" pitchFamily="50" charset="-128"/>
                <a:ea typeface="メイリオ" panose="020B0604030504040204" pitchFamily="50" charset="-128"/>
                <a:hlinkClick r:id="rId4"/>
              </a:rPr>
              <a:t>2025</a:t>
            </a:r>
            <a:r>
              <a:rPr lang="ja-JP" altLang="en-US" sz="1200" b="1">
                <a:latin typeface="メイリオ" panose="020B0604030504040204" pitchFamily="50" charset="-128"/>
                <a:ea typeface="メイリオ" panose="020B0604030504040204" pitchFamily="50" charset="-128"/>
                <a:hlinkClick r:id="rId4"/>
              </a:rPr>
              <a:t>年</a:t>
            </a:r>
            <a:r>
              <a:rPr lang="en-US" altLang="ja-JP" sz="1200" b="1">
                <a:latin typeface="メイリオ" panose="020B0604030504040204" pitchFamily="50" charset="-128"/>
                <a:ea typeface="メイリオ" panose="020B0604030504040204" pitchFamily="50" charset="-128"/>
                <a:hlinkClick r:id="rId4"/>
              </a:rPr>
              <a:t>12</a:t>
            </a:r>
            <a:r>
              <a:rPr lang="ja-JP" altLang="en-US" sz="1200" b="1">
                <a:latin typeface="メイリオ" panose="020B0604030504040204" pitchFamily="50" charset="-128"/>
                <a:ea typeface="メイリオ" panose="020B0604030504040204" pitchFamily="50" charset="-128"/>
                <a:hlinkClick r:id="rId4"/>
              </a:rPr>
              <a:t>月）</a:t>
            </a:r>
            <a:endParaRPr lang="en-US" altLang="ja-JP" sz="1200" b="1">
              <a:latin typeface="メイリオ" panose="020B0604030504040204" pitchFamily="50" charset="-128"/>
              <a:ea typeface="メイリオ" panose="020B0604030504040204" pitchFamily="50" charset="-128"/>
            </a:endParaRPr>
          </a:p>
          <a:p>
            <a:pPr marL="628650" lvl="1" indent="-171450">
              <a:lnSpc>
                <a:spcPct val="150000"/>
              </a:lnSpc>
              <a:buFont typeface="Arial" panose="020B0604020202020204" pitchFamily="34" charset="0"/>
              <a:buChar char="•"/>
            </a:pPr>
            <a:r>
              <a:rPr lang="en-US" altLang="ja-JP" sz="1050" b="1">
                <a:latin typeface="メイリオ" panose="020B0604030504040204" pitchFamily="50" charset="-128"/>
                <a:ea typeface="メイリオ" panose="020B0604030504040204" pitchFamily="50" charset="-128"/>
              </a:rPr>
              <a:t>Claude Code</a:t>
            </a:r>
            <a:r>
              <a:rPr lang="ja-JP" altLang="en-US" sz="1050" b="1">
                <a:latin typeface="メイリオ" panose="020B0604030504040204" pitchFamily="50" charset="-128"/>
                <a:ea typeface="メイリオ" panose="020B0604030504040204" pitchFamily="50" charset="-128"/>
              </a:rPr>
              <a:t>のプレミアパートナーに</a:t>
            </a:r>
            <a:endParaRPr lang="en-US" altLang="ja-JP" sz="1050" b="1">
              <a:latin typeface="メイリオ" panose="020B0604030504040204" pitchFamily="50" charset="-128"/>
              <a:ea typeface="メイリオ" panose="020B0604030504040204" pitchFamily="50" charset="-128"/>
            </a:endParaRPr>
          </a:p>
          <a:p>
            <a:pPr marL="628650" lvl="1" indent="-171450">
              <a:lnSpc>
                <a:spcPct val="150000"/>
              </a:lnSpc>
              <a:buFont typeface="Arial" panose="020B0604020202020204" pitchFamily="34" charset="0"/>
              <a:buChar char="•"/>
            </a:pPr>
            <a:r>
              <a:rPr lang="en-US" altLang="ja-JP" sz="1050">
                <a:latin typeface="メイリオ" panose="020B0604030504040204" pitchFamily="50" charset="-128"/>
                <a:ea typeface="メイリオ" panose="020B0604030504040204" pitchFamily="50" charset="-128"/>
              </a:rPr>
              <a:t>CIO</a:t>
            </a:r>
            <a:r>
              <a:rPr lang="ja-JP" altLang="en-US" sz="1050">
                <a:latin typeface="メイリオ" panose="020B0604030504040204" pitchFamily="50" charset="-128"/>
                <a:ea typeface="メイリオ" panose="020B0604030504040204" pitchFamily="50" charset="-128"/>
              </a:rPr>
              <a:t>向け共同ソリューション</a:t>
            </a:r>
            <a:endParaRPr lang="en-US" altLang="ja-JP" sz="1050">
              <a:latin typeface="メイリオ" panose="020B0604030504040204" pitchFamily="50" charset="-128"/>
              <a:ea typeface="メイリオ" panose="020B0604030504040204" pitchFamily="50" charset="-128"/>
            </a:endParaRPr>
          </a:p>
          <a:p>
            <a:pPr marL="628650" lvl="1" indent="-171450">
              <a:lnSpc>
                <a:spcPct val="150000"/>
              </a:lnSpc>
              <a:buFont typeface="Arial" panose="020B0604020202020204" pitchFamily="34" charset="0"/>
              <a:buChar char="•"/>
            </a:pPr>
            <a:r>
              <a:rPr lang="ja-JP" altLang="en-US" sz="1050">
                <a:latin typeface="メイリオ" panose="020B0604030504040204" pitchFamily="50" charset="-128"/>
                <a:ea typeface="メイリオ" panose="020B0604030504040204" pitchFamily="50" charset="-128"/>
              </a:rPr>
              <a:t>規制産業向けソリューションを共同開発（金融、ヘルスケア、公共など）</a:t>
            </a:r>
            <a:endParaRPr lang="en-US" altLang="ja-JP" sz="1050">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7F4FA10A-30B9-0EF8-3D44-64AE506D6A02}"/>
              </a:ext>
            </a:extLst>
          </p:cNvPr>
          <p:cNvSpPr/>
          <p:nvPr/>
        </p:nvSpPr>
        <p:spPr>
          <a:xfrm>
            <a:off x="5986186" y="900750"/>
            <a:ext cx="5857457" cy="340403"/>
          </a:xfrm>
          <a:prstGeom prst="rect">
            <a:avLst/>
          </a:prstGeom>
          <a:solidFill>
            <a:srgbClr val="002060"/>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a:latin typeface="メイリオ" panose="020B0604030504040204" pitchFamily="50" charset="-128"/>
                <a:ea typeface="メイリオ" panose="020B0604030504040204" pitchFamily="50" charset="-128"/>
              </a:rPr>
              <a:t>なぜ上位レイヤーが</a:t>
            </a:r>
            <a:r>
              <a:rPr lang="en-US" altLang="ja-JP" sz="1400" b="1">
                <a:latin typeface="メイリオ" panose="020B0604030504040204" pitchFamily="50" charset="-128"/>
                <a:ea typeface="メイリオ" panose="020B0604030504040204" pitchFamily="50" charset="-128"/>
              </a:rPr>
              <a:t>BPO</a:t>
            </a:r>
            <a:r>
              <a:rPr lang="ja-JP" altLang="en-US" sz="1400" b="1">
                <a:latin typeface="メイリオ" panose="020B0604030504040204" pitchFamily="50" charset="-128"/>
                <a:ea typeface="メイリオ" panose="020B0604030504040204" pitchFamily="50" charset="-128"/>
              </a:rPr>
              <a:t>市場に来るのか</a:t>
            </a:r>
            <a:endParaRPr kumimoji="1" lang="ja-JP" altLang="en-US" sz="1400" b="1">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6CE313A9-525C-D09B-F9CB-356549B146B9}"/>
              </a:ext>
            </a:extLst>
          </p:cNvPr>
          <p:cNvSpPr/>
          <p:nvPr/>
        </p:nvSpPr>
        <p:spPr>
          <a:xfrm>
            <a:off x="5986187" y="1315323"/>
            <a:ext cx="2527850" cy="340403"/>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メイリオ" panose="020B0604030504040204" pitchFamily="50" charset="-128"/>
                <a:ea typeface="メイリオ" panose="020B0604030504040204" pitchFamily="50" charset="-128"/>
              </a:rPr>
              <a:t>従来</a:t>
            </a:r>
          </a:p>
        </p:txBody>
      </p:sp>
      <p:sp>
        <p:nvSpPr>
          <p:cNvPr id="23" name="正方形/長方形 22">
            <a:extLst>
              <a:ext uri="{FF2B5EF4-FFF2-40B4-BE49-F238E27FC236}">
                <a16:creationId xmlns:a16="http://schemas.microsoft.com/office/drawing/2014/main" id="{C4F21C9F-00B0-3933-110A-47CA17584583}"/>
              </a:ext>
            </a:extLst>
          </p:cNvPr>
          <p:cNvSpPr/>
          <p:nvPr/>
        </p:nvSpPr>
        <p:spPr>
          <a:xfrm>
            <a:off x="5986187" y="1655726"/>
            <a:ext cx="2527850" cy="1296196"/>
          </a:xfrm>
          <a:prstGeom prst="rect">
            <a:avLst/>
          </a:prstGeom>
          <a:no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DB69CF5B-EA71-1D27-85B4-472880383B75}"/>
              </a:ext>
            </a:extLst>
          </p:cNvPr>
          <p:cNvSpPr txBox="1"/>
          <p:nvPr/>
        </p:nvSpPr>
        <p:spPr>
          <a:xfrm>
            <a:off x="5986187" y="1715201"/>
            <a:ext cx="2527851" cy="1177245"/>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「人を大量に回す」ビジネス → 参入障壁高い</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コンサル</a:t>
            </a:r>
            <a:r>
              <a:rPr lang="en-US" altLang="ja-JP" sz="1200">
                <a:latin typeface="メイリオ" panose="020B0604030504040204" pitchFamily="50" charset="-128"/>
                <a:ea typeface="メイリオ" panose="020B0604030504040204" pitchFamily="50" charset="-128"/>
              </a:rPr>
              <a:t>/SIer</a:t>
            </a:r>
            <a:r>
              <a:rPr lang="ja-JP" altLang="en-US" sz="1200">
                <a:latin typeface="メイリオ" panose="020B0604030504040204" pitchFamily="50" charset="-128"/>
                <a:ea typeface="メイリオ" panose="020B0604030504040204" pitchFamily="50" charset="-128"/>
              </a:rPr>
              <a:t>にとって「利益率が低い」領域</a:t>
            </a:r>
            <a:endParaRPr kumimoji="1" lang="en-US" altLang="ja-JP" sz="1200">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94E1EB04-E533-41DE-6AEB-2ED2FFDF4FF8}"/>
              </a:ext>
            </a:extLst>
          </p:cNvPr>
          <p:cNvSpPr/>
          <p:nvPr/>
        </p:nvSpPr>
        <p:spPr>
          <a:xfrm>
            <a:off x="9077254" y="1315323"/>
            <a:ext cx="2766391"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a:latin typeface="メイリオ" panose="020B0604030504040204" pitchFamily="50" charset="-128"/>
                <a:ea typeface="メイリオ" panose="020B0604030504040204" pitchFamily="50" charset="-128"/>
              </a:rPr>
              <a:t>AI</a:t>
            </a:r>
            <a:r>
              <a:rPr kumimoji="1" lang="ja-JP" altLang="en-US">
                <a:latin typeface="メイリオ" panose="020B0604030504040204" pitchFamily="50" charset="-128"/>
                <a:ea typeface="メイリオ" panose="020B0604030504040204" pitchFamily="50" charset="-128"/>
              </a:rPr>
              <a:t>時代</a:t>
            </a:r>
          </a:p>
        </p:txBody>
      </p:sp>
      <p:sp>
        <p:nvSpPr>
          <p:cNvPr id="26" name="正方形/長方形 25">
            <a:extLst>
              <a:ext uri="{FF2B5EF4-FFF2-40B4-BE49-F238E27FC236}">
                <a16:creationId xmlns:a16="http://schemas.microsoft.com/office/drawing/2014/main" id="{4E7CD3BA-1060-1D4E-745A-3440FD667B2D}"/>
              </a:ext>
            </a:extLst>
          </p:cNvPr>
          <p:cNvSpPr/>
          <p:nvPr/>
        </p:nvSpPr>
        <p:spPr>
          <a:xfrm>
            <a:off x="9077254" y="1655726"/>
            <a:ext cx="2766391" cy="1296196"/>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709C3B86-D269-17A5-531C-D23AEA27CB25}"/>
              </a:ext>
            </a:extLst>
          </p:cNvPr>
          <p:cNvSpPr txBox="1"/>
          <p:nvPr/>
        </p:nvSpPr>
        <p:spPr>
          <a:xfrm>
            <a:off x="9077253" y="1715201"/>
            <a:ext cx="2766392" cy="1177245"/>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少人数・高利益率で運用可能に</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継続収益（ストック型）が取れる</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戦略→実行→運用まで一気通貫で囲い込める</a:t>
            </a:r>
            <a:endParaRPr kumimoji="1" lang="en-US" altLang="ja-JP" sz="1200">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C135E682-E384-B2EB-3CCC-5B90127A0CF8}"/>
              </a:ext>
            </a:extLst>
          </p:cNvPr>
          <p:cNvSpPr txBox="1"/>
          <p:nvPr/>
        </p:nvSpPr>
        <p:spPr>
          <a:xfrm>
            <a:off x="5986186" y="2979937"/>
            <a:ext cx="5857457" cy="346249"/>
          </a:xfrm>
          <a:prstGeom prst="rect">
            <a:avLst/>
          </a:prstGeom>
          <a:noFill/>
        </p:spPr>
        <p:txBody>
          <a:bodyPr wrap="square" rtlCol="0">
            <a:spAutoFit/>
          </a:bodyPr>
          <a:lstStyle/>
          <a:p>
            <a:pPr>
              <a:lnSpc>
                <a:spcPct val="150000"/>
              </a:lnSpc>
            </a:pPr>
            <a:r>
              <a:rPr lang="ja-JP" altLang="en-US" sz="1200" b="1">
                <a:latin typeface="メイリオ" panose="020B0604030504040204" pitchFamily="50" charset="-128"/>
                <a:ea typeface="メイリオ" panose="020B0604030504040204" pitchFamily="50" charset="-128"/>
              </a:rPr>
              <a:t>➡ </a:t>
            </a:r>
            <a:r>
              <a:rPr lang="en-US" altLang="ja-JP" sz="1200" b="1">
                <a:latin typeface="メイリオ" panose="020B0604030504040204" pitchFamily="50" charset="-128"/>
                <a:ea typeface="メイリオ" panose="020B0604030504040204" pitchFamily="50" charset="-128"/>
              </a:rPr>
              <a:t>AI</a:t>
            </a:r>
            <a:r>
              <a:rPr lang="ja-JP" altLang="en-US" sz="1200" b="1">
                <a:latin typeface="メイリオ" panose="020B0604030504040204" pitchFamily="50" charset="-128"/>
                <a:ea typeface="メイリオ" panose="020B0604030504040204" pitchFamily="50" charset="-128"/>
              </a:rPr>
              <a:t>が</a:t>
            </a:r>
            <a:r>
              <a:rPr lang="en-US" altLang="ja-JP" sz="1200" b="1">
                <a:latin typeface="メイリオ" panose="020B0604030504040204" pitchFamily="50" charset="-128"/>
                <a:ea typeface="メイリオ" panose="020B0604030504040204" pitchFamily="50" charset="-128"/>
              </a:rPr>
              <a:t>BPO</a:t>
            </a:r>
            <a:r>
              <a:rPr lang="ja-JP" altLang="en-US" sz="1200" b="1">
                <a:latin typeface="メイリオ" panose="020B0604030504040204" pitchFamily="50" charset="-128"/>
                <a:ea typeface="メイリオ" panose="020B0604030504040204" pitchFamily="50" charset="-128"/>
              </a:rPr>
              <a:t>の収益構造を変えた ＝ 上位レイヤーにとって「参入すべき市場」に</a:t>
            </a:r>
            <a:endParaRPr kumimoji="1" lang="en-US" altLang="ja-JP" sz="1200">
              <a:latin typeface="メイリオ" panose="020B0604030504040204" pitchFamily="50" charset="-128"/>
              <a:ea typeface="メイリオ" panose="020B0604030504040204" pitchFamily="50" charset="-128"/>
            </a:endParaRPr>
          </a:p>
        </p:txBody>
      </p:sp>
      <p:sp>
        <p:nvSpPr>
          <p:cNvPr id="31" name="二等辺三角形 30">
            <a:extLst>
              <a:ext uri="{FF2B5EF4-FFF2-40B4-BE49-F238E27FC236}">
                <a16:creationId xmlns:a16="http://schemas.microsoft.com/office/drawing/2014/main" id="{D9E7CEC8-070E-F375-A04F-3F66578D4E35}"/>
              </a:ext>
            </a:extLst>
          </p:cNvPr>
          <p:cNvSpPr/>
          <p:nvPr/>
        </p:nvSpPr>
        <p:spPr>
          <a:xfrm rot="5400000">
            <a:off x="8321597" y="2024292"/>
            <a:ext cx="1040860" cy="218660"/>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正方形/長方形 32">
            <a:extLst>
              <a:ext uri="{FF2B5EF4-FFF2-40B4-BE49-F238E27FC236}">
                <a16:creationId xmlns:a16="http://schemas.microsoft.com/office/drawing/2014/main" id="{E3A7F712-79B7-D329-057F-32C5664951D5}"/>
              </a:ext>
            </a:extLst>
          </p:cNvPr>
          <p:cNvSpPr/>
          <p:nvPr/>
        </p:nvSpPr>
        <p:spPr>
          <a:xfrm>
            <a:off x="5986186" y="3413677"/>
            <a:ext cx="5857456" cy="340403"/>
          </a:xfrm>
          <a:prstGeom prst="rect">
            <a:avLst/>
          </a:prstGeom>
          <a:solidFill>
            <a:srgbClr val="002060"/>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メイリオ" panose="020B0604030504040204" pitchFamily="50" charset="-128"/>
                <a:ea typeface="メイリオ" panose="020B0604030504040204" pitchFamily="50" charset="-128"/>
              </a:rPr>
              <a:t>AI</a:t>
            </a:r>
            <a:r>
              <a:rPr lang="ja-JP" altLang="en-US" sz="1400" b="1">
                <a:latin typeface="メイリオ" panose="020B0604030504040204" pitchFamily="50" charset="-128"/>
                <a:ea typeface="メイリオ" panose="020B0604030504040204" pitchFamily="50" charset="-128"/>
              </a:rPr>
              <a:t>時代の</a:t>
            </a:r>
            <a:r>
              <a:rPr lang="en-US" altLang="ja-JP" sz="1400" b="1">
                <a:latin typeface="メイリオ" panose="020B0604030504040204" pitchFamily="50" charset="-128"/>
                <a:ea typeface="メイリオ" panose="020B0604030504040204" pitchFamily="50" charset="-128"/>
              </a:rPr>
              <a:t>BPO</a:t>
            </a:r>
            <a:r>
              <a:rPr lang="ja-JP" altLang="en-US" sz="1400" b="1">
                <a:latin typeface="メイリオ" panose="020B0604030504040204" pitchFamily="50" charset="-128"/>
                <a:ea typeface="メイリオ" panose="020B0604030504040204" pitchFamily="50" charset="-128"/>
              </a:rPr>
              <a:t>市場の競争環境</a:t>
            </a:r>
            <a:endParaRPr kumimoji="1" lang="ja-JP" altLang="en-US" sz="1400" b="1">
              <a:solidFill>
                <a:schemeClr val="bg1"/>
              </a:solidFill>
              <a:latin typeface="メイリオ" panose="020B0604030504040204" pitchFamily="50" charset="-128"/>
              <a:ea typeface="メイリオ" panose="020B0604030504040204" pitchFamily="50" charset="-128"/>
            </a:endParaRPr>
          </a:p>
        </p:txBody>
      </p:sp>
      <p:sp>
        <p:nvSpPr>
          <p:cNvPr id="35" name="矢印: 左右 34">
            <a:extLst>
              <a:ext uri="{FF2B5EF4-FFF2-40B4-BE49-F238E27FC236}">
                <a16:creationId xmlns:a16="http://schemas.microsoft.com/office/drawing/2014/main" id="{381F4762-A4AC-BB41-756E-21CC896797D3}"/>
              </a:ext>
            </a:extLst>
          </p:cNvPr>
          <p:cNvSpPr/>
          <p:nvPr/>
        </p:nvSpPr>
        <p:spPr>
          <a:xfrm>
            <a:off x="5986186" y="3782254"/>
            <a:ext cx="2667000" cy="623248"/>
          </a:xfrm>
          <a:prstGeom prst="lef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a:latin typeface="メイリオ" panose="020B0604030504040204" pitchFamily="50" charset="-128"/>
                <a:ea typeface="メイリオ" panose="020B0604030504040204" pitchFamily="50" charset="-128"/>
              </a:rPr>
              <a:t>横の競争</a:t>
            </a:r>
          </a:p>
        </p:txBody>
      </p:sp>
      <p:sp>
        <p:nvSpPr>
          <p:cNvPr id="36" name="テキスト ボックス 35">
            <a:extLst>
              <a:ext uri="{FF2B5EF4-FFF2-40B4-BE49-F238E27FC236}">
                <a16:creationId xmlns:a16="http://schemas.microsoft.com/office/drawing/2014/main" id="{9DA8DB12-61BA-EF2A-1B81-9F9CBEFEDD0E}"/>
              </a:ext>
            </a:extLst>
          </p:cNvPr>
          <p:cNvSpPr txBox="1"/>
          <p:nvPr/>
        </p:nvSpPr>
        <p:spPr>
          <a:xfrm>
            <a:off x="5888451" y="4426504"/>
            <a:ext cx="2862470" cy="830997"/>
          </a:xfrm>
          <a:prstGeom prst="rect">
            <a:avLst/>
          </a:prstGeom>
          <a:noFill/>
        </p:spPr>
        <p:txBody>
          <a:bodyPr wrap="square" rtlCol="0">
            <a:spAutoFit/>
          </a:bodyPr>
          <a:lstStyle/>
          <a:p>
            <a:r>
              <a:rPr lang="en-US" altLang="ja-JP" sz="1200">
                <a:latin typeface="メイリオ" panose="020B0604030504040204" pitchFamily="50" charset="-128"/>
                <a:ea typeface="メイリオ" panose="020B0604030504040204" pitchFamily="50" charset="-128"/>
              </a:rPr>
              <a:t>BPO</a:t>
            </a:r>
            <a:r>
              <a:rPr lang="ja-JP" altLang="en-US" sz="1200">
                <a:latin typeface="メイリオ" panose="020B0604030504040204" pitchFamily="50" charset="-128"/>
                <a:ea typeface="メイリオ" panose="020B0604030504040204" pitchFamily="50" charset="-128"/>
              </a:rPr>
              <a:t>同業も生成</a:t>
            </a:r>
            <a:r>
              <a:rPr lang="en-US" altLang="ja-JP" sz="1200">
                <a:latin typeface="メイリオ" panose="020B0604030504040204" pitchFamily="50" charset="-128"/>
                <a:ea typeface="メイリオ" panose="020B0604030504040204" pitchFamily="50" charset="-128"/>
              </a:rPr>
              <a:t>AI</a:t>
            </a:r>
            <a:r>
              <a:rPr lang="ja-JP" altLang="en-US" sz="1200">
                <a:latin typeface="メイリオ" panose="020B0604030504040204" pitchFamily="50" charset="-128"/>
                <a:ea typeface="メイリオ" panose="020B0604030504040204" pitchFamily="50" charset="-128"/>
              </a:rPr>
              <a:t>活用推進中（コールセンター領域の自動化が急速に進行）</a:t>
            </a:r>
            <a:endParaRPr lang="en-US" altLang="ja-JP" sz="120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ja-JP" altLang="en-US" sz="1200">
                <a:latin typeface="メイリオ" panose="020B0604030504040204" pitchFamily="50" charset="-128"/>
                <a:ea typeface="メイリオ" panose="020B0604030504040204" pitchFamily="50" charset="-128"/>
                <a:hlinkClick r:id="rId5"/>
              </a:rPr>
              <a:t>トランス・コスモス</a:t>
            </a:r>
            <a:endParaRPr kumimoji="1" lang="en-US" altLang="ja-JP" sz="120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hlinkClick r:id="rId6"/>
              </a:rPr>
              <a:t>ベルシステム</a:t>
            </a:r>
            <a:r>
              <a:rPr lang="en-US" altLang="ja-JP" sz="1200">
                <a:latin typeface="メイリオ" panose="020B0604030504040204" pitchFamily="50" charset="-128"/>
                <a:ea typeface="メイリオ" panose="020B0604030504040204" pitchFamily="50" charset="-128"/>
                <a:hlinkClick r:id="rId6"/>
              </a:rPr>
              <a:t>24</a:t>
            </a:r>
            <a:endParaRPr kumimoji="1" lang="en-US" altLang="ja-JP" sz="1200">
              <a:latin typeface="メイリオ" panose="020B0604030504040204" pitchFamily="50" charset="-128"/>
              <a:ea typeface="メイリオ" panose="020B0604030504040204" pitchFamily="50" charset="-128"/>
            </a:endParaRPr>
          </a:p>
        </p:txBody>
      </p:sp>
      <p:sp>
        <p:nvSpPr>
          <p:cNvPr id="37" name="矢印: 下 36">
            <a:extLst>
              <a:ext uri="{FF2B5EF4-FFF2-40B4-BE49-F238E27FC236}">
                <a16:creationId xmlns:a16="http://schemas.microsoft.com/office/drawing/2014/main" id="{C95E3954-6ACB-DEF8-EC21-82D042CBEDC9}"/>
              </a:ext>
            </a:extLst>
          </p:cNvPr>
          <p:cNvSpPr/>
          <p:nvPr/>
        </p:nvSpPr>
        <p:spPr>
          <a:xfrm>
            <a:off x="8951357" y="3806758"/>
            <a:ext cx="755377" cy="1425211"/>
          </a:xfrm>
          <a:prstGeom prst="down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a:latin typeface="メイリオ" panose="020B0604030504040204" pitchFamily="50" charset="-128"/>
                <a:ea typeface="メイリオ" panose="020B0604030504040204" pitchFamily="50" charset="-128"/>
              </a:rPr>
              <a:t>上からの参入</a:t>
            </a:r>
          </a:p>
        </p:txBody>
      </p:sp>
      <p:sp>
        <p:nvSpPr>
          <p:cNvPr id="38" name="テキスト ボックス 37">
            <a:extLst>
              <a:ext uri="{FF2B5EF4-FFF2-40B4-BE49-F238E27FC236}">
                <a16:creationId xmlns:a16="http://schemas.microsoft.com/office/drawing/2014/main" id="{5A0B3C18-4329-A3D1-E2A7-186FF7EC5FD9}"/>
              </a:ext>
            </a:extLst>
          </p:cNvPr>
          <p:cNvSpPr txBox="1"/>
          <p:nvPr/>
        </p:nvSpPr>
        <p:spPr>
          <a:xfrm>
            <a:off x="9664149" y="3881749"/>
            <a:ext cx="2527851" cy="1177245"/>
          </a:xfrm>
          <a:prstGeom prst="rect">
            <a:avLst/>
          </a:prstGeom>
          <a:noFill/>
        </p:spPr>
        <p:txBody>
          <a:bodyPr wrap="square" rtlCol="0">
            <a:spAutoFit/>
          </a:bodyPr>
          <a:lstStyle/>
          <a:p>
            <a:pPr>
              <a:lnSpc>
                <a:spcPct val="150000"/>
              </a:lnSpc>
            </a:pPr>
            <a:r>
              <a:rPr lang="ja-JP" altLang="en-US" sz="1200">
                <a:latin typeface="メイリオ" panose="020B0604030504040204" pitchFamily="50" charset="-128"/>
                <a:ea typeface="メイリオ" panose="020B0604030504040204" pitchFamily="50" charset="-128"/>
              </a:rPr>
              <a:t>コンサル</a:t>
            </a:r>
            <a:r>
              <a:rPr lang="en-US" altLang="ja-JP" sz="1200">
                <a:latin typeface="メイリオ" panose="020B0604030504040204" pitchFamily="50" charset="-128"/>
                <a:ea typeface="メイリオ" panose="020B0604030504040204" pitchFamily="50" charset="-128"/>
              </a:rPr>
              <a:t>/SIer</a:t>
            </a:r>
            <a:r>
              <a:rPr lang="ja-JP" altLang="en-US" sz="1200">
                <a:latin typeface="メイリオ" panose="020B0604030504040204" pitchFamily="50" charset="-128"/>
                <a:ea typeface="メイリオ" panose="020B0604030504040204" pitchFamily="50" charset="-128"/>
              </a:rPr>
              <a:t>が</a:t>
            </a:r>
            <a:r>
              <a:rPr lang="en-US" altLang="ja-JP" sz="1200">
                <a:latin typeface="メイリオ" panose="020B0604030504040204" pitchFamily="50" charset="-128"/>
                <a:ea typeface="メイリオ" panose="020B0604030504040204" pitchFamily="50" charset="-128"/>
              </a:rPr>
              <a:t>AI</a:t>
            </a:r>
            <a:r>
              <a:rPr lang="ja-JP" altLang="en-US" sz="1200">
                <a:latin typeface="メイリオ" panose="020B0604030504040204" pitchFamily="50" charset="-128"/>
                <a:ea typeface="メイリオ" panose="020B0604030504040204" pitchFamily="50" charset="-128"/>
              </a:rPr>
              <a:t>武装して</a:t>
            </a:r>
            <a:r>
              <a:rPr lang="en-US" altLang="ja-JP" sz="1200">
                <a:latin typeface="メイリオ" panose="020B0604030504040204" pitchFamily="50" charset="-128"/>
                <a:ea typeface="メイリオ" panose="020B0604030504040204" pitchFamily="50" charset="-128"/>
              </a:rPr>
              <a:t>BPO</a:t>
            </a:r>
            <a:r>
              <a:rPr lang="ja-JP" altLang="en-US" sz="1200">
                <a:latin typeface="メイリオ" panose="020B0604030504040204" pitchFamily="50" charset="-128"/>
                <a:ea typeface="メイリオ" panose="020B0604030504040204" pitchFamily="50" charset="-128"/>
              </a:rPr>
              <a:t>市場に本格参入（</a:t>
            </a:r>
            <a:r>
              <a:rPr lang="en-US" altLang="ja-JP" sz="1200">
                <a:latin typeface="メイリオ" panose="020B0604030504040204" pitchFamily="50" charset="-128"/>
                <a:ea typeface="メイリオ" panose="020B0604030504040204" pitchFamily="50" charset="-128"/>
                <a:hlinkClick r:id="rId7"/>
              </a:rPr>
              <a:t>NTT</a:t>
            </a:r>
            <a:r>
              <a:rPr lang="ja-JP" altLang="en-US" sz="1200">
                <a:latin typeface="メイリオ" panose="020B0604030504040204" pitchFamily="50" charset="-128"/>
                <a:ea typeface="メイリオ" panose="020B0604030504040204" pitchFamily="50" charset="-128"/>
                <a:hlinkClick r:id="rId7"/>
              </a:rPr>
              <a:t>データも「コンサルから</a:t>
            </a:r>
            <a:r>
              <a:rPr lang="en-US" altLang="ja-JP" sz="1200">
                <a:latin typeface="メイリオ" panose="020B0604030504040204" pitchFamily="50" charset="-128"/>
                <a:ea typeface="メイリオ" panose="020B0604030504040204" pitchFamily="50" charset="-128"/>
                <a:hlinkClick r:id="rId7"/>
              </a:rPr>
              <a:t>BPO</a:t>
            </a:r>
            <a:r>
              <a:rPr lang="ja-JP" altLang="en-US" sz="1200">
                <a:latin typeface="メイリオ" panose="020B0604030504040204" pitchFamily="50" charset="-128"/>
                <a:ea typeface="メイリオ" panose="020B0604030504040204" pitchFamily="50" charset="-128"/>
                <a:hlinkClick r:id="rId7"/>
              </a:rPr>
              <a:t>までフルスタック提供」を明言</a:t>
            </a:r>
            <a:r>
              <a:rPr lang="ja-JP" altLang="en-US" sz="1200">
                <a:latin typeface="メイリオ" panose="020B0604030504040204" pitchFamily="50" charset="-128"/>
                <a:ea typeface="メイリオ" panose="020B0604030504040204" pitchFamily="50" charset="-128"/>
              </a:rPr>
              <a:t>）</a:t>
            </a:r>
            <a:endParaRPr kumimoji="1" lang="en-US" altLang="ja-JP" sz="1200">
              <a:latin typeface="メイリオ" panose="020B0604030504040204" pitchFamily="50" charset="-128"/>
              <a:ea typeface="メイリオ" panose="020B0604030504040204" pitchFamily="50" charset="-128"/>
            </a:endParaRPr>
          </a:p>
        </p:txBody>
      </p:sp>
      <p:grpSp>
        <p:nvGrpSpPr>
          <p:cNvPr id="43" name="グループ化 42">
            <a:extLst>
              <a:ext uri="{FF2B5EF4-FFF2-40B4-BE49-F238E27FC236}">
                <a16:creationId xmlns:a16="http://schemas.microsoft.com/office/drawing/2014/main" id="{831CB74D-6F12-713A-764D-A49FCD49A07A}"/>
              </a:ext>
            </a:extLst>
          </p:cNvPr>
          <p:cNvGrpSpPr/>
          <p:nvPr/>
        </p:nvGrpSpPr>
        <p:grpSpPr>
          <a:xfrm>
            <a:off x="5986186" y="5267265"/>
            <a:ext cx="5857456" cy="966937"/>
            <a:chOff x="5801139" y="5501027"/>
            <a:chExt cx="5857456" cy="966937"/>
          </a:xfrm>
        </p:grpSpPr>
        <p:sp>
          <p:nvSpPr>
            <p:cNvPr id="39" name="正方形/長方形 38">
              <a:extLst>
                <a:ext uri="{FF2B5EF4-FFF2-40B4-BE49-F238E27FC236}">
                  <a16:creationId xmlns:a16="http://schemas.microsoft.com/office/drawing/2014/main" id="{C68FD3EA-F9C7-0B09-2E5E-08BBC43FD142}"/>
                </a:ext>
              </a:extLst>
            </p:cNvPr>
            <p:cNvSpPr/>
            <p:nvPr/>
          </p:nvSpPr>
          <p:spPr>
            <a:xfrm>
              <a:off x="5801140" y="5501027"/>
              <a:ext cx="1275521" cy="958768"/>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a:latin typeface="メイリオ" panose="020B0604030504040204" pitchFamily="50" charset="-128"/>
                  <a:ea typeface="メイリオ" panose="020B0604030504040204" pitchFamily="50" charset="-128"/>
                </a:rPr>
                <a:t>アクセンチュア</a:t>
              </a:r>
              <a:endParaRPr kumimoji="1" lang="en-US" altLang="ja-JP" sz="1200" b="1">
                <a:latin typeface="メイリオ" panose="020B0604030504040204" pitchFamily="50" charset="-128"/>
                <a:ea typeface="メイリオ" panose="020B0604030504040204" pitchFamily="50" charset="-128"/>
              </a:endParaRPr>
            </a:p>
            <a:p>
              <a:pPr algn="ctr"/>
              <a:r>
                <a:rPr kumimoji="1" lang="ja-JP" altLang="en-US" sz="1200" b="1">
                  <a:latin typeface="メイリオ" panose="020B0604030504040204" pitchFamily="50" charset="-128"/>
                  <a:ea typeface="メイリオ" panose="020B0604030504040204" pitchFamily="50" charset="-128"/>
                </a:rPr>
                <a:t>の強み</a:t>
              </a:r>
            </a:p>
          </p:txBody>
        </p:sp>
        <p:sp>
          <p:nvSpPr>
            <p:cNvPr id="41" name="正方形/長方形 40">
              <a:extLst>
                <a:ext uri="{FF2B5EF4-FFF2-40B4-BE49-F238E27FC236}">
                  <a16:creationId xmlns:a16="http://schemas.microsoft.com/office/drawing/2014/main" id="{000115DD-43C8-CC22-0D31-B724D4BB4660}"/>
                </a:ext>
              </a:extLst>
            </p:cNvPr>
            <p:cNvSpPr/>
            <p:nvPr/>
          </p:nvSpPr>
          <p:spPr>
            <a:xfrm>
              <a:off x="5801139" y="5509196"/>
              <a:ext cx="5857456" cy="958768"/>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2" name="テキスト ボックス 41">
              <a:extLst>
                <a:ext uri="{FF2B5EF4-FFF2-40B4-BE49-F238E27FC236}">
                  <a16:creationId xmlns:a16="http://schemas.microsoft.com/office/drawing/2014/main" id="{EFAA538B-45F1-2191-2665-59BF4583D64A}"/>
                </a:ext>
              </a:extLst>
            </p:cNvPr>
            <p:cNvSpPr txBox="1"/>
            <p:nvPr/>
          </p:nvSpPr>
          <p:spPr>
            <a:xfrm>
              <a:off x="7166114" y="5534270"/>
              <a:ext cx="3955768" cy="900246"/>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戦略策定→実行→</a:t>
              </a:r>
              <a:r>
                <a:rPr lang="en-US" altLang="ja-JP" sz="1200">
                  <a:latin typeface="メイリオ" panose="020B0604030504040204" pitchFamily="50" charset="-128"/>
                  <a:ea typeface="メイリオ" panose="020B0604030504040204" pitchFamily="50" charset="-128"/>
                </a:rPr>
                <a:t>IT</a:t>
              </a:r>
              <a:r>
                <a:rPr lang="ja-JP" altLang="en-US" sz="1200">
                  <a:latin typeface="メイリオ" panose="020B0604030504040204" pitchFamily="50" charset="-128"/>
                  <a:ea typeface="メイリオ" panose="020B0604030504040204" pitchFamily="50" charset="-128"/>
                </a:rPr>
                <a:t>運用→</a:t>
              </a:r>
              <a:r>
                <a:rPr lang="en-US" altLang="ja-JP" sz="1200">
                  <a:latin typeface="メイリオ" panose="020B0604030504040204" pitchFamily="50" charset="-128"/>
                  <a:ea typeface="メイリオ" panose="020B0604030504040204" pitchFamily="50" charset="-128"/>
                </a:rPr>
                <a:t>BPO</a:t>
              </a:r>
              <a:r>
                <a:rPr lang="ja-JP" altLang="en-US" sz="1200">
                  <a:latin typeface="メイリオ" panose="020B0604030504040204" pitchFamily="50" charset="-128"/>
                  <a:ea typeface="メイリオ" panose="020B0604030504040204" pitchFamily="50" charset="-128"/>
                </a:rPr>
                <a:t>まで一気通貫</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経営層との関係性を既に保有</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en-US" altLang="ja-JP" sz="1200">
                  <a:latin typeface="メイリオ" panose="020B0604030504040204" pitchFamily="50" charset="-128"/>
                  <a:ea typeface="メイリオ" panose="020B0604030504040204" pitchFamily="50" charset="-128"/>
                </a:rPr>
                <a:t>IT</a:t>
              </a:r>
              <a:r>
                <a:rPr lang="ja-JP" altLang="en-US" sz="1200">
                  <a:latin typeface="メイリオ" panose="020B0604030504040204" pitchFamily="50" charset="-128"/>
                  <a:ea typeface="メイリオ" panose="020B0604030504040204" pitchFamily="50" charset="-128"/>
                </a:rPr>
                <a:t>運用の顧客基盤から</a:t>
              </a:r>
              <a:r>
                <a:rPr lang="en-US" altLang="ja-JP" sz="1200">
                  <a:latin typeface="メイリオ" panose="020B0604030504040204" pitchFamily="50" charset="-128"/>
                  <a:ea typeface="メイリオ" panose="020B0604030504040204" pitchFamily="50" charset="-128"/>
                </a:rPr>
                <a:t>BPO</a:t>
              </a:r>
              <a:r>
                <a:rPr lang="ja-JP" altLang="en-US" sz="1200">
                  <a:latin typeface="メイリオ" panose="020B0604030504040204" pitchFamily="50" charset="-128"/>
                  <a:ea typeface="メイリオ" panose="020B0604030504040204" pitchFamily="50" charset="-128"/>
                </a:rPr>
                <a:t>領域へ展開可能</a:t>
              </a:r>
              <a:endParaRPr kumimoji="1" lang="en-US" altLang="ja-JP" sz="1200">
                <a:latin typeface="メイリオ" panose="020B0604030504040204" pitchFamily="50" charset="-128"/>
                <a:ea typeface="メイリオ" panose="020B0604030504040204" pitchFamily="50" charset="-128"/>
              </a:endParaRPr>
            </a:p>
          </p:txBody>
        </p:sp>
      </p:grpSp>
      <p:sp>
        <p:nvSpPr>
          <p:cNvPr id="44" name="テキスト ボックス 43">
            <a:extLst>
              <a:ext uri="{FF2B5EF4-FFF2-40B4-BE49-F238E27FC236}">
                <a16:creationId xmlns:a16="http://schemas.microsoft.com/office/drawing/2014/main" id="{ECF8D856-8905-3E03-8727-1CA77A4DEA5B}"/>
              </a:ext>
            </a:extLst>
          </p:cNvPr>
          <p:cNvSpPr txBox="1"/>
          <p:nvPr/>
        </p:nvSpPr>
        <p:spPr>
          <a:xfrm>
            <a:off x="5986185" y="6259276"/>
            <a:ext cx="5857457" cy="584775"/>
          </a:xfrm>
          <a:prstGeom prst="rect">
            <a:avLst/>
          </a:prstGeom>
          <a:noFill/>
        </p:spPr>
        <p:txBody>
          <a:bodyPr wrap="square" rtlCol="0">
            <a:spAutoFit/>
          </a:bodyPr>
          <a:lstStyle/>
          <a:p>
            <a:pPr algn="ctr"/>
            <a:r>
              <a:rPr lang="ja-JP" altLang="en-US" sz="1600" b="1">
                <a:latin typeface="メイリオ" panose="020B0604030504040204" pitchFamily="50" charset="-128"/>
                <a:ea typeface="メイリオ" panose="020B0604030504040204" pitchFamily="50" charset="-128"/>
              </a:rPr>
              <a:t>➡ </a:t>
            </a:r>
            <a:r>
              <a:rPr lang="ja-JP" altLang="en-US" sz="1600" b="1"/>
              <a:t>既存</a:t>
            </a:r>
            <a:r>
              <a:rPr lang="en-US" altLang="ja-JP" sz="1600" b="1"/>
              <a:t>BPO</a:t>
            </a:r>
            <a:r>
              <a:rPr lang="ja-JP" altLang="en-US" sz="1600" b="1"/>
              <a:t>企業との競争に加え、上位レイヤーも参入</a:t>
            </a:r>
            <a:endParaRPr lang="en-US" altLang="ja-JP" sz="1600" b="1"/>
          </a:p>
          <a:p>
            <a:pPr algn="ctr"/>
            <a:r>
              <a:rPr lang="ja-JP" altLang="en-US" sz="1600" b="1"/>
              <a:t>→ 「動かない」という選択肢が最もリスクが高い</a:t>
            </a:r>
            <a:endParaRPr kumimoji="1" lang="en-US" altLang="ja-JP" sz="1600">
              <a:latin typeface="メイリオ" panose="020B0604030504040204" pitchFamily="50" charset="-128"/>
              <a:ea typeface="メイリオ" panose="020B0604030504040204" pitchFamily="50" charset="-128"/>
            </a:endParaRPr>
          </a:p>
        </p:txBody>
      </p:sp>
      <p:pic>
        <p:nvPicPr>
          <p:cNvPr id="8" name="図 7" descr="黒い背景に白い文字がある&#10;&#10;AI 生成コンテンツは誤りを含む可能性があります。">
            <a:extLst>
              <a:ext uri="{FF2B5EF4-FFF2-40B4-BE49-F238E27FC236}">
                <a16:creationId xmlns:a16="http://schemas.microsoft.com/office/drawing/2014/main" id="{5120D4A8-926B-7057-0355-795B899A7CF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479102" y="181067"/>
            <a:ext cx="2082229" cy="548754"/>
          </a:xfrm>
          <a:prstGeom prst="rect">
            <a:avLst/>
          </a:prstGeom>
        </p:spPr>
      </p:pic>
    </p:spTree>
    <p:extLst>
      <p:ext uri="{BB962C8B-B14F-4D97-AF65-F5344CB8AC3E}">
        <p14:creationId xmlns:p14="http://schemas.microsoft.com/office/powerpoint/2010/main" val="1570433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15891E-883A-E973-8F19-3EE5A2BBEF71}"/>
            </a:ext>
          </a:extLst>
        </p:cNvPr>
        <p:cNvGrpSpPr/>
        <p:nvPr/>
      </p:nvGrpSpPr>
      <p:grpSpPr>
        <a:xfrm>
          <a:off x="0" y="0"/>
          <a:ext cx="0" cy="0"/>
          <a:chOff x="0" y="0"/>
          <a:chExt cx="0" cy="0"/>
        </a:xfrm>
      </p:grpSpPr>
    </p:spTree>
    <p:extLst>
      <p:ext uri="{BB962C8B-B14F-4D97-AF65-F5344CB8AC3E}">
        <p14:creationId xmlns:p14="http://schemas.microsoft.com/office/powerpoint/2010/main" val="36296117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15DD-C3F2-509E-73FC-D51D0FE18CE6}"/>
            </a:ext>
          </a:extLst>
        </p:cNvPr>
        <p:cNvGrpSpPr/>
        <p:nvPr/>
      </p:nvGrpSpPr>
      <p:grpSpPr>
        <a:xfrm>
          <a:off x="0" y="0"/>
          <a:ext cx="0" cy="0"/>
          <a:chOff x="0" y="0"/>
          <a:chExt cx="0" cy="0"/>
        </a:xfrm>
      </p:grpSpPr>
      <p:sp>
        <p:nvSpPr>
          <p:cNvPr id="31" name="正方形/長方形 30">
            <a:extLst>
              <a:ext uri="{FF2B5EF4-FFF2-40B4-BE49-F238E27FC236}">
                <a16:creationId xmlns:a16="http://schemas.microsoft.com/office/drawing/2014/main" id="{622C9CC9-63CD-523B-5D4F-D2504639D99A}"/>
              </a:ext>
            </a:extLst>
          </p:cNvPr>
          <p:cNvSpPr/>
          <p:nvPr/>
        </p:nvSpPr>
        <p:spPr>
          <a:xfrm>
            <a:off x="2166251" y="4277238"/>
            <a:ext cx="1732909" cy="234234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a:extLst>
              <a:ext uri="{FF2B5EF4-FFF2-40B4-BE49-F238E27FC236}">
                <a16:creationId xmlns:a16="http://schemas.microsoft.com/office/drawing/2014/main" id="{4270E02C-2641-5591-D5F7-2E284B23014B}"/>
              </a:ext>
            </a:extLst>
          </p:cNvPr>
          <p:cNvSpPr/>
          <p:nvPr/>
        </p:nvSpPr>
        <p:spPr>
          <a:xfrm>
            <a:off x="281300" y="4277238"/>
            <a:ext cx="1732909" cy="234234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D5306D65-994D-1FB0-5C86-9BC458D0E9FE}"/>
              </a:ext>
            </a:extLst>
          </p:cNvPr>
          <p:cNvSpPr txBox="1"/>
          <p:nvPr/>
        </p:nvSpPr>
        <p:spPr>
          <a:xfrm>
            <a:off x="443466" y="317212"/>
            <a:ext cx="11215133" cy="584775"/>
          </a:xfrm>
          <a:prstGeom prst="rect">
            <a:avLst/>
          </a:prstGeom>
          <a:noFill/>
        </p:spPr>
        <p:txBody>
          <a:bodyPr wrap="square" rtlCol="0">
            <a:spAutoFit/>
          </a:bodyPr>
          <a:lstStyle/>
          <a:p>
            <a:r>
              <a:rPr lang="en-US" altLang="ja-JP" sz="3200" b="1">
                <a:latin typeface="メイリオ" panose="020B0604030504040204" pitchFamily="50" charset="-128"/>
                <a:ea typeface="メイリオ" panose="020B0604030504040204" pitchFamily="50" charset="-128"/>
              </a:rPr>
              <a:t>1. </a:t>
            </a:r>
            <a:r>
              <a:rPr lang="en-US" altLang="ja-JP" sz="3200" b="1">
                <a:latin typeface="メイリオ" panose="020B0604030504040204" pitchFamily="50" charset="-128"/>
                <a:ea typeface="メイリオ" panose="020B0604030504040204" pitchFamily="50" charset="-128"/>
                <a:hlinkClick r:id="rId3"/>
              </a:rPr>
              <a:t>OpenClaw</a:t>
            </a:r>
            <a:r>
              <a:rPr lang="ja-JP" altLang="en-US" sz="3200" b="1">
                <a:latin typeface="メイリオ" panose="020B0604030504040204" pitchFamily="50" charset="-128"/>
                <a:ea typeface="メイリオ" panose="020B0604030504040204" pitchFamily="50" charset="-128"/>
                <a:hlinkClick r:id="rId3"/>
              </a:rPr>
              <a:t>とは何か</a:t>
            </a:r>
            <a:endParaRPr kumimoji="1" lang="ja-JP" altLang="en-US" sz="3200" b="1">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66C2D553-1674-CF48-48CD-83D7F41DDC1E}"/>
              </a:ext>
            </a:extLst>
          </p:cNvPr>
          <p:cNvSpPr txBox="1"/>
          <p:nvPr/>
        </p:nvSpPr>
        <p:spPr>
          <a:xfrm>
            <a:off x="185049" y="2532834"/>
            <a:ext cx="3816523" cy="1034899"/>
          </a:xfrm>
          <a:prstGeom prst="rect">
            <a:avLst/>
          </a:prstGeom>
          <a:noFill/>
        </p:spPr>
        <p:txBody>
          <a:bodyPr wrap="square" rtlCol="0" anchor="ctr">
            <a:spAutoFit/>
          </a:bodyPr>
          <a:lstStyle/>
          <a:p>
            <a:pPr marL="285750" indent="-285750">
              <a:lnSpc>
                <a:spcPct val="150000"/>
              </a:lnSpc>
              <a:buFont typeface="Arial" panose="020B0604020202020204" pitchFamily="34" charset="0"/>
              <a:buChar char="•"/>
            </a:pPr>
            <a:r>
              <a:rPr lang="ja-JP" altLang="en-US" sz="1400" b="1">
                <a:latin typeface="メイリオ" panose="020B0604030504040204" pitchFamily="50" charset="-128"/>
                <a:ea typeface="メイリオ" panose="020B0604030504040204" pitchFamily="50" charset="-128"/>
              </a:rPr>
              <a:t>オープンソースの自律型</a:t>
            </a:r>
            <a:r>
              <a:rPr lang="en-US" altLang="ja-JP" sz="1400" b="1">
                <a:latin typeface="メイリオ" panose="020B0604030504040204" pitchFamily="50" charset="-128"/>
                <a:ea typeface="メイリオ" panose="020B0604030504040204" pitchFamily="50" charset="-128"/>
              </a:rPr>
              <a:t>AI</a:t>
            </a:r>
            <a:r>
              <a:rPr lang="ja-JP" altLang="en-US" sz="1400" b="1">
                <a:latin typeface="メイリオ" panose="020B0604030504040204" pitchFamily="50" charset="-128"/>
                <a:ea typeface="メイリオ" panose="020B0604030504040204" pitchFamily="50" charset="-128"/>
              </a:rPr>
              <a:t>エージェント</a:t>
            </a:r>
            <a:endParaRPr lang="en-US" altLang="ja-JP" sz="1400" b="1">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kumimoji="1" lang="en-US" altLang="ja-JP" sz="1400" b="1">
                <a:latin typeface="メイリオ" panose="020B0604030504040204" pitchFamily="50" charset="-128"/>
                <a:ea typeface="メイリオ" panose="020B0604030504040204" pitchFamily="50" charset="-128"/>
              </a:rPr>
              <a:t>LLM</a:t>
            </a:r>
            <a:r>
              <a:rPr kumimoji="1" lang="ja-JP" altLang="en-US" sz="1400" b="1">
                <a:latin typeface="メイリオ" panose="020B0604030504040204" pitchFamily="50" charset="-128"/>
                <a:ea typeface="メイリオ" panose="020B0604030504040204" pitchFamily="50" charset="-128"/>
              </a:rPr>
              <a:t>に自分の</a:t>
            </a:r>
            <a:r>
              <a:rPr kumimoji="1" lang="en-US" altLang="ja-JP" sz="1400" b="1">
                <a:latin typeface="メイリオ" panose="020B0604030504040204" pitchFamily="50" charset="-128"/>
                <a:ea typeface="メイリオ" panose="020B0604030504040204" pitchFamily="50" charset="-128"/>
              </a:rPr>
              <a:t>PC</a:t>
            </a:r>
            <a:r>
              <a:rPr kumimoji="1" lang="ja-JP" altLang="en-US" sz="1400" b="1">
                <a:latin typeface="メイリオ" panose="020B0604030504040204" pitchFamily="50" charset="-128"/>
                <a:ea typeface="メイリオ" panose="020B0604030504040204" pitchFamily="50" charset="-128"/>
              </a:rPr>
              <a:t>の権限を渡して自動操縦させる仕組み</a:t>
            </a:r>
            <a:endParaRPr kumimoji="1" lang="en-US" altLang="ja-JP" sz="1400">
              <a:latin typeface="メイリオ" panose="020B0604030504040204" pitchFamily="50" charset="-128"/>
              <a:ea typeface="メイリオ" panose="020B0604030504040204" pitchFamily="50" charset="-128"/>
            </a:endParaRPr>
          </a:p>
        </p:txBody>
      </p:sp>
      <p:sp>
        <p:nvSpPr>
          <p:cNvPr id="2" name="正方形/長方形 1">
            <a:extLst>
              <a:ext uri="{FF2B5EF4-FFF2-40B4-BE49-F238E27FC236}">
                <a16:creationId xmlns:a16="http://schemas.microsoft.com/office/drawing/2014/main" id="{8750085F-0792-92A8-8173-201BC92F05CF}"/>
              </a:ext>
            </a:extLst>
          </p:cNvPr>
          <p:cNvSpPr/>
          <p:nvPr/>
        </p:nvSpPr>
        <p:spPr>
          <a:xfrm>
            <a:off x="185049" y="1995076"/>
            <a:ext cx="3816523" cy="45720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solidFill>
                  <a:schemeClr val="tx1"/>
                </a:solidFill>
                <a:latin typeface="メイリオ" panose="020B0604030504040204" pitchFamily="50" charset="-128"/>
                <a:ea typeface="メイリオ" panose="020B0604030504040204" pitchFamily="50" charset="-128"/>
              </a:rPr>
              <a:t>OpenClaw</a:t>
            </a:r>
            <a:r>
              <a:rPr lang="ja-JP" altLang="en-US" b="1">
                <a:solidFill>
                  <a:schemeClr val="tx1"/>
                </a:solidFill>
                <a:latin typeface="メイリオ" panose="020B0604030504040204" pitchFamily="50" charset="-128"/>
                <a:ea typeface="メイリオ" panose="020B0604030504040204" pitchFamily="50" charset="-128"/>
              </a:rPr>
              <a:t>の定義</a:t>
            </a:r>
            <a:endParaRPr kumimoji="1" lang="ja-JP" altLang="en-US" b="1">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2A086A69-30DE-CE30-B561-F090C923DF94}"/>
              </a:ext>
            </a:extLst>
          </p:cNvPr>
          <p:cNvSpPr/>
          <p:nvPr/>
        </p:nvSpPr>
        <p:spPr>
          <a:xfrm>
            <a:off x="4373907" y="1995076"/>
            <a:ext cx="7633044" cy="45720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a:solidFill>
                  <a:schemeClr val="tx1"/>
                </a:solidFill>
                <a:latin typeface="メイリオ" panose="020B0604030504040204" pitchFamily="50" charset="-128"/>
                <a:ea typeface="メイリオ" panose="020B0604030504040204" pitchFamily="50" charset="-128"/>
              </a:rPr>
              <a:t>市場の影響とブーム</a:t>
            </a:r>
            <a:endParaRPr kumimoji="1" lang="ja-JP" altLang="en-US" b="1">
              <a:solidFill>
                <a:schemeClr val="tx1"/>
              </a:solidFill>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802BBA0E-BF4C-434A-9572-703275593202}"/>
              </a:ext>
            </a:extLst>
          </p:cNvPr>
          <p:cNvSpPr txBox="1"/>
          <p:nvPr/>
        </p:nvSpPr>
        <p:spPr>
          <a:xfrm>
            <a:off x="354254" y="901987"/>
            <a:ext cx="11483492" cy="1034899"/>
          </a:xfrm>
          <a:prstGeom prst="rect">
            <a:avLst/>
          </a:prstGeom>
          <a:noFill/>
        </p:spPr>
        <p:txBody>
          <a:bodyPr wrap="square" rtlCol="0">
            <a:spAutoFit/>
          </a:bodyPr>
          <a:lstStyle/>
          <a:p>
            <a:pPr>
              <a:lnSpc>
                <a:spcPct val="150000"/>
              </a:lnSpc>
            </a:pPr>
            <a:r>
              <a:rPr kumimoji="1" lang="en-US" altLang="ja-JP" sz="1400" b="1">
                <a:latin typeface="メイリオ" panose="020B0604030504040204" pitchFamily="50" charset="-128"/>
                <a:ea typeface="メイリオ" panose="020B0604030504040204" pitchFamily="50" charset="-128"/>
              </a:rPr>
              <a:t>OpenClaw</a:t>
            </a:r>
            <a:r>
              <a:rPr kumimoji="1" lang="ja-JP" altLang="en-US" sz="1400">
                <a:latin typeface="メイリオ" panose="020B0604030504040204" pitchFamily="50" charset="-128"/>
                <a:ea typeface="メイリオ" panose="020B0604030504040204" pitchFamily="50" charset="-128"/>
              </a:rPr>
              <a:t>（旧</a:t>
            </a:r>
            <a:r>
              <a:rPr kumimoji="1" lang="en-US" altLang="ja-JP" sz="1400">
                <a:latin typeface="メイリオ" panose="020B0604030504040204" pitchFamily="50" charset="-128"/>
                <a:ea typeface="メイリオ" panose="020B0604030504040204" pitchFamily="50" charset="-128"/>
              </a:rPr>
              <a:t>Clawdbot / </a:t>
            </a:r>
            <a:r>
              <a:rPr kumimoji="1" lang="ja-JP" altLang="en-US" sz="1400">
                <a:latin typeface="メイリオ" panose="020B0604030504040204" pitchFamily="50" charset="-128"/>
                <a:ea typeface="メイリオ" panose="020B0604030504040204" pitchFamily="50" charset="-128"/>
              </a:rPr>
              <a:t>旧</a:t>
            </a:r>
            <a:r>
              <a:rPr kumimoji="1" lang="en-US" altLang="ja-JP" sz="1400">
                <a:latin typeface="メイリオ" panose="020B0604030504040204" pitchFamily="50" charset="-128"/>
                <a:ea typeface="メイリオ" panose="020B0604030504040204" pitchFamily="50" charset="-128"/>
              </a:rPr>
              <a:t>Moltbot</a:t>
            </a:r>
            <a:r>
              <a:rPr kumimoji="1" lang="ja-JP" altLang="en-US" sz="1400">
                <a:latin typeface="メイリオ" panose="020B0604030504040204" pitchFamily="50" charset="-128"/>
                <a:ea typeface="メイリオ" panose="020B0604030504040204" pitchFamily="50" charset="-128"/>
              </a:rPr>
              <a:t>）：１月下旬ごろから話題になり始めた</a:t>
            </a:r>
            <a:r>
              <a:rPr kumimoji="1" lang="en-US" altLang="ja-JP" sz="1400">
                <a:latin typeface="メイリオ" panose="020B0604030504040204" pitchFamily="50" charset="-128"/>
                <a:ea typeface="メイリオ" panose="020B0604030504040204" pitchFamily="50" charset="-128"/>
              </a:rPr>
              <a:t>AI</a:t>
            </a:r>
            <a:r>
              <a:rPr kumimoji="1" lang="ja-JP" altLang="en-US" sz="1400">
                <a:latin typeface="メイリオ" panose="020B0604030504040204" pitchFamily="50" charset="-128"/>
                <a:ea typeface="メイリオ" panose="020B0604030504040204" pitchFamily="50" charset="-128"/>
              </a:rPr>
              <a:t>アシスタント。また、「</a:t>
            </a:r>
            <a:r>
              <a:rPr kumimoji="1" lang="en-US" altLang="ja-JP" sz="1400">
                <a:latin typeface="メイリオ" panose="020B0604030504040204" pitchFamily="50" charset="-128"/>
                <a:ea typeface="メイリオ" panose="020B0604030504040204" pitchFamily="50" charset="-128"/>
              </a:rPr>
              <a:t>Moltbook</a:t>
            </a:r>
            <a:r>
              <a:rPr kumimoji="1" lang="ja-JP" altLang="en-US" sz="1400">
                <a:latin typeface="メイリオ" panose="020B0604030504040204" pitchFamily="50" charset="-128"/>
                <a:ea typeface="メイリオ" panose="020B0604030504040204" pitchFamily="50" charset="-128"/>
              </a:rPr>
              <a:t>」という</a:t>
            </a:r>
            <a:r>
              <a:rPr kumimoji="1" lang="en-US" altLang="ja-JP" sz="1400">
                <a:latin typeface="メイリオ" panose="020B0604030504040204" pitchFamily="50" charset="-128"/>
                <a:ea typeface="メイリオ" panose="020B0604030504040204" pitchFamily="50" charset="-128"/>
              </a:rPr>
              <a:t>AI</a:t>
            </a:r>
            <a:r>
              <a:rPr kumimoji="1" lang="ja-JP" altLang="en-US" sz="1400">
                <a:latin typeface="メイリオ" panose="020B0604030504040204" pitchFamily="50" charset="-128"/>
                <a:ea typeface="メイリオ" panose="020B0604030504040204" pitchFamily="50" charset="-128"/>
              </a:rPr>
              <a:t>エージェント専用の</a:t>
            </a:r>
            <a:r>
              <a:rPr kumimoji="1" lang="en-US" altLang="ja-JP" sz="1400">
                <a:latin typeface="メイリオ" panose="020B0604030504040204" pitchFamily="50" charset="-128"/>
                <a:ea typeface="メイリオ" panose="020B0604030504040204" pitchFamily="50" charset="-128"/>
              </a:rPr>
              <a:t>Reddit</a:t>
            </a:r>
            <a:r>
              <a:rPr kumimoji="1" lang="ja-JP" altLang="en-US" sz="1400">
                <a:latin typeface="メイリオ" panose="020B0604030504040204" pitchFamily="50" charset="-128"/>
                <a:ea typeface="メイリオ" panose="020B0604030504040204" pitchFamily="50" charset="-128"/>
              </a:rPr>
              <a:t>（海外の掲示板サイト）風の</a:t>
            </a:r>
            <a:r>
              <a:rPr kumimoji="1" lang="en-US" altLang="ja-JP" sz="1400">
                <a:latin typeface="メイリオ" panose="020B0604030504040204" pitchFamily="50" charset="-128"/>
                <a:ea typeface="メイリオ" panose="020B0604030504040204" pitchFamily="50" charset="-128"/>
              </a:rPr>
              <a:t>SNS</a:t>
            </a:r>
            <a:r>
              <a:rPr kumimoji="1" lang="ja-JP" altLang="en-US" sz="1400">
                <a:latin typeface="メイリオ" panose="020B0604030504040204" pitchFamily="50" charset="-128"/>
                <a:ea typeface="メイリオ" panose="020B0604030504040204" pitchFamily="50" charset="-128"/>
              </a:rPr>
              <a:t>で、人間は投稿できず「観察のみ」という設計のサービスも話題となった。</a:t>
            </a:r>
            <a:endParaRPr kumimoji="1" lang="en-US" altLang="ja-JP" sz="1400">
              <a:latin typeface="メイリオ" panose="020B0604030504040204" pitchFamily="50" charset="-128"/>
              <a:ea typeface="メイリオ" panose="020B0604030504040204" pitchFamily="50" charset="-128"/>
            </a:endParaRPr>
          </a:p>
          <a:p>
            <a:pPr>
              <a:lnSpc>
                <a:spcPct val="150000"/>
              </a:lnSpc>
            </a:pPr>
            <a:r>
              <a:rPr lang="ja-JP" altLang="en-US" sz="1400">
                <a:latin typeface="メイリオ" panose="020B0604030504040204" pitchFamily="50" charset="-128"/>
                <a:ea typeface="メイリオ" panose="020B0604030504040204" pitchFamily="50" charset="-128"/>
                <a:hlinkClick r:id="rId4"/>
              </a:rPr>
              <a:t>開発者が</a:t>
            </a:r>
            <a:r>
              <a:rPr lang="en-US" altLang="ja-JP" sz="1400">
                <a:latin typeface="メイリオ" panose="020B0604030504040204" pitchFamily="50" charset="-128"/>
                <a:ea typeface="メイリオ" panose="020B0604030504040204" pitchFamily="50" charset="-128"/>
                <a:hlinkClick r:id="rId4"/>
              </a:rPr>
              <a:t>2</a:t>
            </a:r>
            <a:r>
              <a:rPr lang="ja-JP" altLang="en-US" sz="1400">
                <a:latin typeface="メイリオ" panose="020B0604030504040204" pitchFamily="50" charset="-128"/>
                <a:ea typeface="メイリオ" panose="020B0604030504040204" pitchFamily="50" charset="-128"/>
                <a:hlinkClick r:id="rId4"/>
              </a:rPr>
              <a:t>月中旬に</a:t>
            </a:r>
            <a:r>
              <a:rPr lang="en-US" altLang="ja-JP" sz="1400">
                <a:latin typeface="メイリオ" panose="020B0604030504040204" pitchFamily="50" charset="-128"/>
                <a:ea typeface="メイリオ" panose="020B0604030504040204" pitchFamily="50" charset="-128"/>
                <a:hlinkClick r:id="rId4"/>
              </a:rPr>
              <a:t>OpenAI</a:t>
            </a:r>
            <a:r>
              <a:rPr lang="ja-JP" altLang="en-US" sz="1400">
                <a:latin typeface="メイリオ" panose="020B0604030504040204" pitchFamily="50" charset="-128"/>
                <a:ea typeface="メイリオ" panose="020B0604030504040204" pitchFamily="50" charset="-128"/>
                <a:hlinkClick r:id="rId4"/>
              </a:rPr>
              <a:t>に参加すると発表し、</a:t>
            </a:r>
            <a:r>
              <a:rPr lang="en-US" altLang="ja-JP" sz="1400">
                <a:latin typeface="メイリオ" panose="020B0604030504040204" pitchFamily="50" charset="-128"/>
                <a:ea typeface="メイリオ" panose="020B0604030504040204" pitchFamily="50" charset="-128"/>
                <a:hlinkClick r:id="rId4"/>
              </a:rPr>
              <a:t>OpenClaw</a:t>
            </a:r>
            <a:r>
              <a:rPr lang="ja-JP" altLang="en-US" sz="1400">
                <a:latin typeface="メイリオ" panose="020B0604030504040204" pitchFamily="50" charset="-128"/>
                <a:ea typeface="メイリオ" panose="020B0604030504040204" pitchFamily="50" charset="-128"/>
                <a:hlinkClick r:id="rId4"/>
              </a:rPr>
              <a:t>は引き続きオープンソースとして、</a:t>
            </a:r>
            <a:r>
              <a:rPr lang="en-US" altLang="ja-JP" sz="1400">
                <a:latin typeface="メイリオ" panose="020B0604030504040204" pitchFamily="50" charset="-128"/>
                <a:ea typeface="メイリオ" panose="020B0604030504040204" pitchFamily="50" charset="-128"/>
                <a:hlinkClick r:id="rId4"/>
              </a:rPr>
              <a:t>OpenAI</a:t>
            </a:r>
            <a:r>
              <a:rPr lang="ja-JP" altLang="en-US" sz="1400">
                <a:latin typeface="メイリオ" panose="020B0604030504040204" pitchFamily="50" charset="-128"/>
                <a:ea typeface="メイリオ" panose="020B0604030504040204" pitchFamily="50" charset="-128"/>
                <a:hlinkClick r:id="rId4"/>
              </a:rPr>
              <a:t>のプロダクトの中核になるとのこと。</a:t>
            </a:r>
            <a:endParaRPr kumimoji="1" lang="en-US" altLang="ja-JP" sz="1400">
              <a:latin typeface="メイリオ" panose="020B0604030504040204" pitchFamily="50" charset="-128"/>
              <a:ea typeface="メイリオ" panose="020B0604030504040204" pitchFamily="50" charset="-128"/>
            </a:endParaRPr>
          </a:p>
        </p:txBody>
      </p:sp>
      <p:grpSp>
        <p:nvGrpSpPr>
          <p:cNvPr id="13" name="グループ化 12">
            <a:extLst>
              <a:ext uri="{FF2B5EF4-FFF2-40B4-BE49-F238E27FC236}">
                <a16:creationId xmlns:a16="http://schemas.microsoft.com/office/drawing/2014/main" id="{5C714A4B-ED2B-136D-0093-49A2EDA18DC3}"/>
              </a:ext>
            </a:extLst>
          </p:cNvPr>
          <p:cNvGrpSpPr/>
          <p:nvPr/>
        </p:nvGrpSpPr>
        <p:grpSpPr>
          <a:xfrm>
            <a:off x="8305237" y="170207"/>
            <a:ext cx="3353361" cy="725098"/>
            <a:chOff x="4140743" y="2092499"/>
            <a:chExt cx="4158431" cy="899179"/>
          </a:xfrm>
        </p:grpSpPr>
        <p:sp>
          <p:nvSpPr>
            <p:cNvPr id="12" name="正方形/長方形 11">
              <a:extLst>
                <a:ext uri="{FF2B5EF4-FFF2-40B4-BE49-F238E27FC236}">
                  <a16:creationId xmlns:a16="http://schemas.microsoft.com/office/drawing/2014/main" id="{40BB1BAA-23D4-896B-F5BF-BF4A733731FB}"/>
                </a:ext>
              </a:extLst>
            </p:cNvPr>
            <p:cNvSpPr/>
            <p:nvPr/>
          </p:nvSpPr>
          <p:spPr>
            <a:xfrm>
              <a:off x="4140743" y="2092499"/>
              <a:ext cx="4158431" cy="899179"/>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 name="図 9">
              <a:extLst>
                <a:ext uri="{FF2B5EF4-FFF2-40B4-BE49-F238E27FC236}">
                  <a16:creationId xmlns:a16="http://schemas.microsoft.com/office/drawing/2014/main" id="{4D5F04F2-7794-9F82-819E-D24D03538E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276219" y="2143006"/>
              <a:ext cx="3887478" cy="798164"/>
            </a:xfrm>
            <a:prstGeom prst="rect">
              <a:avLst/>
            </a:prstGeom>
          </p:spPr>
        </p:pic>
      </p:grpSp>
      <p:sp>
        <p:nvSpPr>
          <p:cNvPr id="14" name="正方形/長方形 13">
            <a:extLst>
              <a:ext uri="{FF2B5EF4-FFF2-40B4-BE49-F238E27FC236}">
                <a16:creationId xmlns:a16="http://schemas.microsoft.com/office/drawing/2014/main" id="{54E0347B-31C1-7E7C-1465-6E2BEE1614E3}"/>
              </a:ext>
            </a:extLst>
          </p:cNvPr>
          <p:cNvSpPr/>
          <p:nvPr/>
        </p:nvSpPr>
        <p:spPr>
          <a:xfrm>
            <a:off x="185049" y="3737134"/>
            <a:ext cx="3816523" cy="45720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a:solidFill>
                  <a:schemeClr val="tx1"/>
                </a:solidFill>
                <a:latin typeface="メイリオ" panose="020B0604030504040204" pitchFamily="50" charset="-128"/>
                <a:ea typeface="メイリオ" panose="020B0604030504040204" pitchFamily="50" charset="-128"/>
              </a:rPr>
              <a:t>従来ツール </a:t>
            </a:r>
            <a:r>
              <a:rPr lang="en-US" altLang="ja-JP" b="1">
                <a:solidFill>
                  <a:schemeClr val="tx1"/>
                </a:solidFill>
                <a:latin typeface="メイリオ" panose="020B0604030504040204" pitchFamily="50" charset="-128"/>
                <a:ea typeface="メイリオ" panose="020B0604030504040204" pitchFamily="50" charset="-128"/>
              </a:rPr>
              <a:t>vs OpenClaw</a:t>
            </a:r>
            <a:endParaRPr kumimoji="1" lang="ja-JP" altLang="en-US" b="1">
              <a:solidFill>
                <a:schemeClr val="tx1"/>
              </a:solidFill>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81C991D8-9152-FD48-5302-2A30E8191A73}"/>
              </a:ext>
            </a:extLst>
          </p:cNvPr>
          <p:cNvSpPr txBox="1"/>
          <p:nvPr/>
        </p:nvSpPr>
        <p:spPr>
          <a:xfrm>
            <a:off x="362175" y="4927945"/>
            <a:ext cx="1571157" cy="1177245"/>
          </a:xfrm>
          <a:prstGeom prst="rect">
            <a:avLst/>
          </a:prstGeom>
          <a:noFill/>
        </p:spPr>
        <p:txBody>
          <a:bodyPr wrap="square" rtlCol="0" anchor="ctr">
            <a:spAutoFit/>
          </a:bodyPr>
          <a:lstStyle/>
          <a:p>
            <a:pPr algn="ctr">
              <a:lnSpc>
                <a:spcPct val="150000"/>
              </a:lnSpc>
            </a:pPr>
            <a:r>
              <a:rPr lang="en-US" altLang="ja-JP" sz="1200" b="1">
                <a:latin typeface="メイリオ" panose="020B0604030504040204" pitchFamily="50" charset="-128"/>
                <a:ea typeface="メイリオ" panose="020B0604030504040204" pitchFamily="50" charset="-128"/>
              </a:rPr>
              <a:t>Claude Code / Codex</a:t>
            </a:r>
            <a:r>
              <a:rPr lang="ja-JP" altLang="en-US" sz="1200" b="1">
                <a:latin typeface="メイリオ" panose="020B0604030504040204" pitchFamily="50" charset="-128"/>
                <a:ea typeface="メイリオ" panose="020B0604030504040204" pitchFamily="50" charset="-128"/>
              </a:rPr>
              <a:t>など：</a:t>
            </a:r>
            <a:endParaRPr lang="en-US" altLang="ja-JP" sz="1200" b="1">
              <a:latin typeface="メイリオ" panose="020B0604030504040204" pitchFamily="50" charset="-128"/>
              <a:ea typeface="メイリオ" panose="020B0604030504040204" pitchFamily="50" charset="-128"/>
            </a:endParaRPr>
          </a:p>
          <a:p>
            <a:pPr algn="ctr">
              <a:lnSpc>
                <a:spcPct val="150000"/>
              </a:lnSpc>
            </a:pPr>
            <a:r>
              <a:rPr lang="ja-JP" altLang="en-US" sz="1200" b="1">
                <a:latin typeface="メイリオ" panose="020B0604030504040204" pitchFamily="50" charset="-128"/>
                <a:ea typeface="メイリオ" panose="020B0604030504040204" pitchFamily="50" charset="-128"/>
              </a:rPr>
              <a:t>ユーザーが起動して</a:t>
            </a:r>
            <a:endParaRPr lang="en-US" altLang="ja-JP" sz="1200" b="1">
              <a:latin typeface="メイリオ" panose="020B0604030504040204" pitchFamily="50" charset="-128"/>
              <a:ea typeface="メイリオ" panose="020B0604030504040204" pitchFamily="50" charset="-128"/>
            </a:endParaRPr>
          </a:p>
          <a:p>
            <a:pPr algn="ctr">
              <a:lnSpc>
                <a:spcPct val="150000"/>
              </a:lnSpc>
            </a:pPr>
            <a:r>
              <a:rPr kumimoji="1" lang="ja-JP" altLang="en-US" sz="1200" b="1">
                <a:latin typeface="メイリオ" panose="020B0604030504040204" pitchFamily="50" charset="-128"/>
                <a:ea typeface="メイリオ" panose="020B0604030504040204" pitchFamily="50" charset="-128"/>
              </a:rPr>
              <a:t>対話するツール</a:t>
            </a:r>
            <a:endParaRPr kumimoji="1" lang="en-US" altLang="ja-JP" sz="120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F6E011A8-3C3D-863B-5821-396C320A52E7}"/>
              </a:ext>
            </a:extLst>
          </p:cNvPr>
          <p:cNvSpPr txBox="1"/>
          <p:nvPr/>
        </p:nvSpPr>
        <p:spPr>
          <a:xfrm>
            <a:off x="2247127" y="4868441"/>
            <a:ext cx="1571157" cy="900246"/>
          </a:xfrm>
          <a:prstGeom prst="rect">
            <a:avLst/>
          </a:prstGeom>
          <a:noFill/>
        </p:spPr>
        <p:txBody>
          <a:bodyPr wrap="square" rtlCol="0" anchor="ctr">
            <a:spAutoFit/>
          </a:bodyPr>
          <a:lstStyle/>
          <a:p>
            <a:pPr algn="ctr">
              <a:lnSpc>
                <a:spcPct val="150000"/>
              </a:lnSpc>
            </a:pPr>
            <a:r>
              <a:rPr lang="en-US" altLang="ja-JP" sz="1200" b="1">
                <a:latin typeface="メイリオ" panose="020B0604030504040204" pitchFamily="50" charset="-128"/>
                <a:ea typeface="メイリオ" panose="020B0604030504040204" pitchFamily="50" charset="-128"/>
              </a:rPr>
              <a:t>OpenClaw</a:t>
            </a:r>
            <a:r>
              <a:rPr lang="ja-JP" altLang="en-US" sz="1200" b="1">
                <a:latin typeface="メイリオ" panose="020B0604030504040204" pitchFamily="50" charset="-128"/>
                <a:ea typeface="メイリオ" panose="020B0604030504040204" pitchFamily="50" charset="-128"/>
              </a:rPr>
              <a:t>：</a:t>
            </a:r>
            <a:endParaRPr lang="en-US" altLang="ja-JP" sz="1200" b="1">
              <a:latin typeface="メイリオ" panose="020B0604030504040204" pitchFamily="50" charset="-128"/>
              <a:ea typeface="メイリオ" panose="020B0604030504040204" pitchFamily="50" charset="-128"/>
            </a:endParaRPr>
          </a:p>
          <a:p>
            <a:pPr algn="ctr">
              <a:lnSpc>
                <a:spcPct val="150000"/>
              </a:lnSpc>
            </a:pPr>
            <a:r>
              <a:rPr kumimoji="1" lang="ja-JP" altLang="en-US" sz="1200" b="1">
                <a:latin typeface="メイリオ" panose="020B0604030504040204" pitchFamily="50" charset="-128"/>
                <a:ea typeface="メイリオ" panose="020B0604030504040204" pitchFamily="50" charset="-128"/>
              </a:rPr>
              <a:t>エージェントが常駐して自分から動く</a:t>
            </a:r>
            <a:endParaRPr kumimoji="1" lang="en-US" altLang="ja-JP" sz="1200">
              <a:latin typeface="メイリオ" panose="020B0604030504040204" pitchFamily="50" charset="-128"/>
              <a:ea typeface="メイリオ" panose="020B0604030504040204" pitchFamily="50" charset="-128"/>
            </a:endParaRPr>
          </a:p>
        </p:txBody>
      </p:sp>
      <p:pic>
        <p:nvPicPr>
          <p:cNvPr id="21" name="図 20">
            <a:extLst>
              <a:ext uri="{FF2B5EF4-FFF2-40B4-BE49-F238E27FC236}">
                <a16:creationId xmlns:a16="http://schemas.microsoft.com/office/drawing/2014/main" id="{E9A6E7BE-0AA1-5328-6471-F0AAB91D717C}"/>
              </a:ext>
            </a:extLst>
          </p:cNvPr>
          <p:cNvPicPr>
            <a:picLocks noChangeAspect="1"/>
          </p:cNvPicPr>
          <p:nvPr/>
        </p:nvPicPr>
        <p:blipFill>
          <a:blip r:embed="rId6"/>
          <a:stretch>
            <a:fillRect/>
          </a:stretch>
        </p:blipFill>
        <p:spPr>
          <a:xfrm>
            <a:off x="2650153" y="4319517"/>
            <a:ext cx="765105" cy="577371"/>
          </a:xfrm>
          <a:prstGeom prst="rect">
            <a:avLst/>
          </a:prstGeom>
        </p:spPr>
      </p:pic>
      <p:pic>
        <p:nvPicPr>
          <p:cNvPr id="23" name="図 22">
            <a:extLst>
              <a:ext uri="{FF2B5EF4-FFF2-40B4-BE49-F238E27FC236}">
                <a16:creationId xmlns:a16="http://schemas.microsoft.com/office/drawing/2014/main" id="{0EF22DC6-ACCD-A1E6-6FEA-20BA0578B09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2643" y="4340567"/>
            <a:ext cx="864822" cy="486462"/>
          </a:xfrm>
          <a:prstGeom prst="rect">
            <a:avLst/>
          </a:prstGeom>
        </p:spPr>
      </p:pic>
      <p:pic>
        <p:nvPicPr>
          <p:cNvPr id="25" name="図 24">
            <a:extLst>
              <a:ext uri="{FF2B5EF4-FFF2-40B4-BE49-F238E27FC236}">
                <a16:creationId xmlns:a16="http://schemas.microsoft.com/office/drawing/2014/main" id="{B3879B52-AA5F-DB7F-5CC7-EFB58AD72DE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43053" y="4406540"/>
            <a:ext cx="375172" cy="375172"/>
          </a:xfrm>
          <a:prstGeom prst="rect">
            <a:avLst/>
          </a:prstGeom>
        </p:spPr>
      </p:pic>
      <p:sp>
        <p:nvSpPr>
          <p:cNvPr id="26" name="二等辺三角形 25">
            <a:extLst>
              <a:ext uri="{FF2B5EF4-FFF2-40B4-BE49-F238E27FC236}">
                <a16:creationId xmlns:a16="http://schemas.microsoft.com/office/drawing/2014/main" id="{F5584888-0C13-52DA-BB45-E6D6B536CF24}"/>
              </a:ext>
            </a:extLst>
          </p:cNvPr>
          <p:cNvSpPr/>
          <p:nvPr/>
        </p:nvSpPr>
        <p:spPr>
          <a:xfrm rot="10800000">
            <a:off x="2650153" y="5781855"/>
            <a:ext cx="765104" cy="214473"/>
          </a:xfrm>
          <a:prstGeom prst="triangl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91CD9176-726B-89BB-77D7-7D841AB820D3}"/>
              </a:ext>
            </a:extLst>
          </p:cNvPr>
          <p:cNvSpPr txBox="1"/>
          <p:nvPr/>
        </p:nvSpPr>
        <p:spPr>
          <a:xfrm>
            <a:off x="2247127" y="5996329"/>
            <a:ext cx="1571157" cy="623248"/>
          </a:xfrm>
          <a:prstGeom prst="rect">
            <a:avLst/>
          </a:prstGeom>
          <a:noFill/>
        </p:spPr>
        <p:txBody>
          <a:bodyPr wrap="square" rtlCol="0" anchor="ctr">
            <a:spAutoFit/>
          </a:bodyPr>
          <a:lstStyle/>
          <a:p>
            <a:pPr algn="ctr">
              <a:lnSpc>
                <a:spcPct val="150000"/>
              </a:lnSpc>
            </a:pPr>
            <a:r>
              <a:rPr kumimoji="1" lang="ja-JP" altLang="en-US" sz="1200" b="1">
                <a:latin typeface="メイリオ" panose="020B0604030504040204" pitchFamily="50" charset="-128"/>
                <a:ea typeface="メイリオ" panose="020B0604030504040204" pitchFamily="50" charset="-128"/>
              </a:rPr>
              <a:t>常駐型・一段上の</a:t>
            </a:r>
            <a:endParaRPr kumimoji="1" lang="en-US" altLang="ja-JP" sz="1200" b="1">
              <a:latin typeface="メイリオ" panose="020B0604030504040204" pitchFamily="50" charset="-128"/>
              <a:ea typeface="メイリオ" panose="020B0604030504040204" pitchFamily="50" charset="-128"/>
            </a:endParaRPr>
          </a:p>
          <a:p>
            <a:pPr algn="ctr">
              <a:lnSpc>
                <a:spcPct val="150000"/>
              </a:lnSpc>
            </a:pPr>
            <a:r>
              <a:rPr kumimoji="1" lang="ja-JP" altLang="en-US" sz="1200" b="1">
                <a:latin typeface="メイリオ" panose="020B0604030504040204" pitchFamily="50" charset="-128"/>
                <a:ea typeface="メイリオ" panose="020B0604030504040204" pitchFamily="50" charset="-128"/>
              </a:rPr>
              <a:t>レイヤー</a:t>
            </a:r>
            <a:endParaRPr kumimoji="1" lang="en-US" altLang="ja-JP" sz="1200" b="1">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92D61A21-E713-C0C1-4E39-C0E272DF3E18}"/>
              </a:ext>
            </a:extLst>
          </p:cNvPr>
          <p:cNvSpPr txBox="1"/>
          <p:nvPr/>
        </p:nvSpPr>
        <p:spPr>
          <a:xfrm>
            <a:off x="4420650" y="2633901"/>
            <a:ext cx="2931354" cy="2973891"/>
          </a:xfrm>
          <a:prstGeom prst="rect">
            <a:avLst/>
          </a:prstGeom>
          <a:noFill/>
        </p:spPr>
        <p:txBody>
          <a:bodyPr wrap="square" rtlCol="0">
            <a:spAutoFit/>
          </a:bodyPr>
          <a:lstStyle/>
          <a:p>
            <a:pPr>
              <a:lnSpc>
                <a:spcPct val="150000"/>
              </a:lnSpc>
            </a:pPr>
            <a:r>
              <a:rPr kumimoji="1" lang="ja-JP" altLang="en-US" sz="1400" b="1">
                <a:latin typeface="メイリオ" panose="020B0604030504040204" pitchFamily="50" charset="-128"/>
                <a:ea typeface="メイリオ" panose="020B0604030504040204" pitchFamily="50" charset="-128"/>
              </a:rPr>
              <a:t>常時稼働させるための環境として、一部のユーザーが</a:t>
            </a:r>
            <a:r>
              <a:rPr kumimoji="1" lang="en-US" altLang="ja-JP" sz="1400" b="1">
                <a:latin typeface="メイリオ" panose="020B0604030504040204" pitchFamily="50" charset="-128"/>
                <a:ea typeface="メイリオ" panose="020B0604030504040204" pitchFamily="50" charset="-128"/>
              </a:rPr>
              <a:t>Mac mini</a:t>
            </a:r>
            <a:r>
              <a:rPr kumimoji="1" lang="ja-JP" altLang="en-US" sz="1400" b="1">
                <a:latin typeface="メイリオ" panose="020B0604030504040204" pitchFamily="50" charset="-128"/>
                <a:ea typeface="メイリオ" panose="020B0604030504040204" pitchFamily="50" charset="-128"/>
              </a:rPr>
              <a:t>を複数購入し、世界的に品薄となる。</a:t>
            </a:r>
            <a:endParaRPr kumimoji="1" lang="en-US" altLang="ja-JP" sz="1400" b="1">
              <a:latin typeface="メイリオ" panose="020B0604030504040204" pitchFamily="50" charset="-128"/>
              <a:ea typeface="メイリオ" panose="020B0604030504040204" pitchFamily="50" charset="-128"/>
            </a:endParaRPr>
          </a:p>
          <a:p>
            <a:pPr>
              <a:lnSpc>
                <a:spcPct val="150000"/>
              </a:lnSpc>
            </a:pPr>
            <a:r>
              <a:rPr kumimoji="1" lang="ja-JP" altLang="en-US" sz="1400">
                <a:latin typeface="メイリオ" panose="020B0604030504040204" pitchFamily="50" charset="-128"/>
                <a:ea typeface="メイリオ" panose="020B0604030504040204" pitchFamily="50" charset="-128"/>
              </a:rPr>
              <a:t>→ </a:t>
            </a:r>
            <a:r>
              <a:rPr kumimoji="1" lang="en-US" altLang="ja-JP" sz="1400">
                <a:latin typeface="メイリオ" panose="020B0604030504040204" pitchFamily="50" charset="-128"/>
                <a:ea typeface="メイリオ" panose="020B0604030504040204" pitchFamily="50" charset="-128"/>
              </a:rPr>
              <a:t>Mac mini</a:t>
            </a:r>
            <a:r>
              <a:rPr kumimoji="1" lang="ja-JP" altLang="en-US" sz="1400">
                <a:latin typeface="メイリオ" panose="020B0604030504040204" pitchFamily="50" charset="-128"/>
                <a:ea typeface="メイリオ" panose="020B0604030504040204" pitchFamily="50" charset="-128"/>
              </a:rPr>
              <a:t>じゃなくても動くが、</a:t>
            </a:r>
            <a:endParaRPr kumimoji="1" lang="en-US" altLang="ja-JP" sz="1400">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メインの</a:t>
            </a:r>
            <a:r>
              <a:rPr lang="en-US" altLang="ja-JP" sz="1400">
                <a:latin typeface="メイリオ" panose="020B0604030504040204" pitchFamily="50" charset="-128"/>
                <a:ea typeface="メイリオ" panose="020B0604030504040204" pitchFamily="50" charset="-128"/>
              </a:rPr>
              <a:t>PC</a:t>
            </a:r>
            <a:r>
              <a:rPr lang="ja-JP" altLang="en-US" sz="1400">
                <a:latin typeface="メイリオ" panose="020B0604030504040204" pitchFamily="50" charset="-128"/>
                <a:ea typeface="メイリオ" panose="020B0604030504040204" pitchFamily="50" charset="-128"/>
              </a:rPr>
              <a:t>だとセキュリティ上入れたくない</a:t>
            </a:r>
            <a:endParaRPr lang="en-US" altLang="ja-JP" sz="1400">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kumimoji="1" lang="ja-JP" altLang="en-US" sz="1400">
                <a:latin typeface="メイリオ" panose="020B0604030504040204" pitchFamily="50" charset="-128"/>
                <a:ea typeface="メイリオ" panose="020B0604030504040204" pitchFamily="50" charset="-128"/>
              </a:rPr>
              <a:t>ローカル</a:t>
            </a:r>
            <a:r>
              <a:rPr kumimoji="1" lang="en-US" altLang="ja-JP" sz="1400">
                <a:latin typeface="メイリオ" panose="020B0604030504040204" pitchFamily="50" charset="-128"/>
                <a:ea typeface="メイリオ" panose="020B0604030504040204" pitchFamily="50" charset="-128"/>
              </a:rPr>
              <a:t>LLM</a:t>
            </a:r>
            <a:r>
              <a:rPr kumimoji="1" lang="ja-JP" altLang="en-US" sz="1400">
                <a:latin typeface="メイリオ" panose="020B0604030504040204" pitchFamily="50" charset="-128"/>
                <a:ea typeface="メイリオ" panose="020B0604030504040204" pitchFamily="50" charset="-128"/>
              </a:rPr>
              <a:t>を利用したいためある程度のスペックがある</a:t>
            </a:r>
            <a:r>
              <a:rPr kumimoji="1" lang="en-US" altLang="ja-JP" sz="1400">
                <a:latin typeface="メイリオ" panose="020B0604030504040204" pitchFamily="50" charset="-128"/>
                <a:ea typeface="メイリオ" panose="020B0604030504040204" pitchFamily="50" charset="-128"/>
              </a:rPr>
              <a:t>PC</a:t>
            </a:r>
            <a:r>
              <a:rPr kumimoji="1" lang="ja-JP" altLang="en-US" sz="1400">
                <a:latin typeface="メイリオ" panose="020B0604030504040204" pitchFamily="50" charset="-128"/>
                <a:ea typeface="メイリオ" panose="020B0604030504040204" pitchFamily="50" charset="-128"/>
              </a:rPr>
              <a:t>を利用したい等の需要あり。</a:t>
            </a:r>
            <a:endParaRPr kumimoji="1" lang="en-US" altLang="ja-JP" sz="1400">
              <a:latin typeface="メイリオ" panose="020B0604030504040204" pitchFamily="50" charset="-128"/>
              <a:ea typeface="メイリオ" panose="020B0604030504040204" pitchFamily="50" charset="-128"/>
            </a:endParaRPr>
          </a:p>
        </p:txBody>
      </p:sp>
      <p:pic>
        <p:nvPicPr>
          <p:cNvPr id="35" name="図 34">
            <a:hlinkClick r:id="rId9"/>
            <a:extLst>
              <a:ext uri="{FF2B5EF4-FFF2-40B4-BE49-F238E27FC236}">
                <a16:creationId xmlns:a16="http://schemas.microsoft.com/office/drawing/2014/main" id="{9F351DE9-E676-ABA5-7FBB-9F0059A4BBF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668670" y="2633901"/>
            <a:ext cx="4161155" cy="3120866"/>
          </a:xfrm>
          <a:prstGeom prst="rect">
            <a:avLst/>
          </a:prstGeom>
          <a:ln>
            <a:noFill/>
          </a:ln>
          <a:effectLst>
            <a:outerShdw blurRad="190500" algn="tl" rotWithShape="0">
              <a:srgbClr val="000000">
                <a:alpha val="70000"/>
              </a:srgbClr>
            </a:outerShdw>
          </a:effectLst>
        </p:spPr>
      </p:pic>
      <p:sp>
        <p:nvSpPr>
          <p:cNvPr id="37" name="テキスト ボックス 36">
            <a:extLst>
              <a:ext uri="{FF2B5EF4-FFF2-40B4-BE49-F238E27FC236}">
                <a16:creationId xmlns:a16="http://schemas.microsoft.com/office/drawing/2014/main" id="{0170E085-7A8B-5943-9ABA-9A99C2FC7880}"/>
              </a:ext>
            </a:extLst>
          </p:cNvPr>
          <p:cNvSpPr txBox="1"/>
          <p:nvPr/>
        </p:nvSpPr>
        <p:spPr>
          <a:xfrm>
            <a:off x="4438138" y="6046343"/>
            <a:ext cx="7399608" cy="523220"/>
          </a:xfrm>
          <a:prstGeom prst="rect">
            <a:avLst/>
          </a:prstGeom>
          <a:noFill/>
        </p:spPr>
        <p:txBody>
          <a:bodyPr wrap="square">
            <a:spAutoFit/>
          </a:bodyPr>
          <a:lstStyle/>
          <a:p>
            <a:r>
              <a:rPr lang="ja-JP" altLang="en-US" sz="1400">
                <a:latin typeface="メイリオ" panose="020B0604030504040204" pitchFamily="50" charset="-128"/>
                <a:ea typeface="メイリオ" panose="020B0604030504040204" pitchFamily="50" charset="-128"/>
              </a:rPr>
              <a:t>参考：</a:t>
            </a:r>
            <a:r>
              <a:rPr lang="ja-JP" altLang="en-US" sz="1400">
                <a:latin typeface="メイリオ" panose="020B0604030504040204" pitchFamily="50" charset="-128"/>
                <a:ea typeface="メイリオ" panose="020B0604030504040204" pitchFamily="50" charset="-128"/>
                <a:hlinkClick r:id="rId11"/>
              </a:rPr>
              <a:t>パーソナル</a:t>
            </a:r>
            <a:r>
              <a:rPr lang="en-US" altLang="ja-JP" sz="1400">
                <a:latin typeface="メイリオ" panose="020B0604030504040204" pitchFamily="50" charset="-128"/>
                <a:ea typeface="メイリオ" panose="020B0604030504040204" pitchFamily="50" charset="-128"/>
                <a:hlinkClick r:id="rId11"/>
              </a:rPr>
              <a:t>AI</a:t>
            </a:r>
            <a:r>
              <a:rPr lang="ja-JP" altLang="en-US" sz="1400">
                <a:latin typeface="メイリオ" panose="020B0604030504040204" pitchFamily="50" charset="-128"/>
                <a:ea typeface="メイリオ" panose="020B0604030504040204" pitchFamily="50" charset="-128"/>
                <a:hlinkClick r:id="rId11"/>
              </a:rPr>
              <a:t>エージェントを作れる</a:t>
            </a:r>
            <a:r>
              <a:rPr lang="en-US" altLang="ja-JP" sz="1400">
                <a:latin typeface="メイリオ" panose="020B0604030504040204" pitchFamily="50" charset="-128"/>
                <a:ea typeface="メイリオ" panose="020B0604030504040204" pitchFamily="50" charset="-128"/>
                <a:hlinkClick r:id="rId11"/>
              </a:rPr>
              <a:t>OpenClaw</a:t>
            </a:r>
            <a:r>
              <a:rPr lang="ja-JP" altLang="en-US" sz="1400">
                <a:latin typeface="メイリオ" panose="020B0604030504040204" pitchFamily="50" charset="-128"/>
                <a:ea typeface="メイリオ" panose="020B0604030504040204" pitchFamily="50" charset="-128"/>
                <a:hlinkClick r:id="rId11"/>
              </a:rPr>
              <a:t>（旧</a:t>
            </a:r>
            <a:r>
              <a:rPr lang="en-US" altLang="ja-JP" sz="1400">
                <a:latin typeface="メイリオ" panose="020B0604030504040204" pitchFamily="50" charset="-128"/>
                <a:ea typeface="メイリオ" panose="020B0604030504040204" pitchFamily="50" charset="-128"/>
                <a:hlinkClick r:id="rId11"/>
              </a:rPr>
              <a:t>Clawdbot</a:t>
            </a:r>
            <a:r>
              <a:rPr lang="ja-JP" altLang="en-US" sz="1400">
                <a:latin typeface="メイリオ" panose="020B0604030504040204" pitchFamily="50" charset="-128"/>
                <a:ea typeface="メイリオ" panose="020B0604030504040204" pitchFamily="50" charset="-128"/>
                <a:hlinkClick r:id="rId11"/>
              </a:rPr>
              <a:t>）の人気拡大で、</a:t>
            </a:r>
            <a:r>
              <a:rPr lang="en-US" altLang="ja-JP" sz="1400">
                <a:latin typeface="メイリオ" panose="020B0604030504040204" pitchFamily="50" charset="-128"/>
                <a:ea typeface="メイリオ" panose="020B0604030504040204" pitchFamily="50" charset="-128"/>
                <a:hlinkClick r:id="rId11"/>
              </a:rPr>
              <a:t>Mac</a:t>
            </a:r>
            <a:r>
              <a:rPr lang="ja-JP" altLang="en-US" sz="1400">
                <a:latin typeface="メイリオ" panose="020B0604030504040204" pitchFamily="50" charset="-128"/>
                <a:ea typeface="メイリオ" panose="020B0604030504040204" pitchFamily="50" charset="-128"/>
                <a:hlinkClick r:id="rId11"/>
              </a:rPr>
              <a:t>が品薄に？ </a:t>
            </a:r>
            <a:r>
              <a:rPr lang="en-US" altLang="ja-JP" sz="1400">
                <a:latin typeface="メイリオ" panose="020B0604030504040204" pitchFamily="50" charset="-128"/>
                <a:ea typeface="メイリオ" panose="020B0604030504040204" pitchFamily="50" charset="-128"/>
                <a:hlinkClick r:id="rId11"/>
              </a:rPr>
              <a:t>| </a:t>
            </a:r>
            <a:r>
              <a:rPr lang="ja-JP" altLang="en-US" sz="1400">
                <a:latin typeface="メイリオ" panose="020B0604030504040204" pitchFamily="50" charset="-128"/>
                <a:ea typeface="メイリオ" panose="020B0604030504040204" pitchFamily="50" charset="-128"/>
                <a:hlinkClick r:id="rId11"/>
              </a:rPr>
              <a:t>テクノエッジ </a:t>
            </a:r>
            <a:r>
              <a:rPr lang="en-US" altLang="ja-JP" sz="1400">
                <a:latin typeface="メイリオ" panose="020B0604030504040204" pitchFamily="50" charset="-128"/>
                <a:ea typeface="メイリオ" panose="020B0604030504040204" pitchFamily="50" charset="-128"/>
                <a:hlinkClick r:id="rId11"/>
              </a:rPr>
              <a:t>TechnoEdge</a:t>
            </a:r>
            <a:endParaRPr lang="ja-JP" altLang="en-US" sz="14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248287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EE8326-9BD6-ADCE-0D40-2FD8E7FDC19D}"/>
            </a:ext>
          </a:extLst>
        </p:cNvPr>
        <p:cNvGrpSpPr/>
        <p:nvPr/>
      </p:nvGrpSpPr>
      <p:grpSpPr>
        <a:xfrm>
          <a:off x="0" y="0"/>
          <a:ext cx="0" cy="0"/>
          <a:chOff x="0" y="0"/>
          <a:chExt cx="0" cy="0"/>
        </a:xfrm>
      </p:grpSpPr>
      <p:sp>
        <p:nvSpPr>
          <p:cNvPr id="19" name="正方形/長方形 18">
            <a:extLst>
              <a:ext uri="{FF2B5EF4-FFF2-40B4-BE49-F238E27FC236}">
                <a16:creationId xmlns:a16="http://schemas.microsoft.com/office/drawing/2014/main" id="{0D6F1FEC-BDD2-0E49-DC7D-DB88D03D002E}"/>
              </a:ext>
            </a:extLst>
          </p:cNvPr>
          <p:cNvSpPr/>
          <p:nvPr/>
        </p:nvSpPr>
        <p:spPr>
          <a:xfrm>
            <a:off x="6643132" y="2100402"/>
            <a:ext cx="5308793" cy="3207094"/>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ACC96415-74CC-BD23-06AA-3669744B0936}"/>
              </a:ext>
            </a:extLst>
          </p:cNvPr>
          <p:cNvSpPr/>
          <p:nvPr/>
        </p:nvSpPr>
        <p:spPr>
          <a:xfrm>
            <a:off x="240075" y="2105851"/>
            <a:ext cx="6133500" cy="4721086"/>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BB0AD979-3409-5BEE-6A27-3DADC058B778}"/>
              </a:ext>
            </a:extLst>
          </p:cNvPr>
          <p:cNvSpPr txBox="1"/>
          <p:nvPr/>
        </p:nvSpPr>
        <p:spPr>
          <a:xfrm>
            <a:off x="443466" y="317212"/>
            <a:ext cx="11215133" cy="584775"/>
          </a:xfrm>
          <a:prstGeom prst="rect">
            <a:avLst/>
          </a:prstGeom>
          <a:noFill/>
        </p:spPr>
        <p:txBody>
          <a:bodyPr wrap="square" rtlCol="0">
            <a:spAutoFit/>
          </a:bodyPr>
          <a:lstStyle/>
          <a:p>
            <a:r>
              <a:rPr lang="en-US" altLang="ja-JP" sz="3200" b="1">
                <a:latin typeface="メイリオ" panose="020B0604030504040204" pitchFamily="50" charset="-128"/>
                <a:ea typeface="メイリオ" panose="020B0604030504040204" pitchFamily="50" charset="-128"/>
              </a:rPr>
              <a:t>2.Agent Skills </a:t>
            </a:r>
            <a:r>
              <a:rPr lang="en-US" altLang="ja-JP" sz="2800" b="1">
                <a:latin typeface="メイリオ" panose="020B0604030504040204" pitchFamily="50" charset="-128"/>
                <a:ea typeface="メイリオ" panose="020B0604030504040204" pitchFamily="50" charset="-128"/>
              </a:rPr>
              <a:t>– OpenClaw</a:t>
            </a:r>
            <a:r>
              <a:rPr lang="ja-JP" altLang="en-US" sz="2800" b="1">
                <a:latin typeface="メイリオ" panose="020B0604030504040204" pitchFamily="50" charset="-128"/>
                <a:ea typeface="メイリオ" panose="020B0604030504040204" pitchFamily="50" charset="-128"/>
              </a:rPr>
              <a:t>はなぜ「途中で止まらない」のか</a:t>
            </a:r>
            <a:endParaRPr kumimoji="1" lang="ja-JP" altLang="en-US" sz="3200" b="1">
              <a:latin typeface="メイリオ" panose="020B0604030504040204" pitchFamily="50" charset="-128"/>
              <a:ea typeface="メイリオ" panose="020B0604030504040204" pitchFamily="50" charset="-128"/>
            </a:endParaRPr>
          </a:p>
        </p:txBody>
      </p:sp>
      <p:sp>
        <p:nvSpPr>
          <p:cNvPr id="2" name="テキスト ボックス 1">
            <a:extLst>
              <a:ext uri="{FF2B5EF4-FFF2-40B4-BE49-F238E27FC236}">
                <a16:creationId xmlns:a16="http://schemas.microsoft.com/office/drawing/2014/main" id="{922A4142-C9C7-E5B6-171E-404E141835DB}"/>
              </a:ext>
            </a:extLst>
          </p:cNvPr>
          <p:cNvSpPr txBox="1"/>
          <p:nvPr/>
        </p:nvSpPr>
        <p:spPr>
          <a:xfrm>
            <a:off x="354254" y="901987"/>
            <a:ext cx="11483492" cy="1034899"/>
          </a:xfrm>
          <a:prstGeom prst="rect">
            <a:avLst/>
          </a:prstGeom>
          <a:noFill/>
        </p:spPr>
        <p:txBody>
          <a:bodyPr wrap="square" rtlCol="0">
            <a:spAutoFit/>
          </a:bodyPr>
          <a:lstStyle/>
          <a:p>
            <a:pPr>
              <a:lnSpc>
                <a:spcPct val="150000"/>
              </a:lnSpc>
            </a:pPr>
            <a:r>
              <a:rPr kumimoji="1" lang="en-US" altLang="ja-JP" sz="1400">
                <a:latin typeface="メイリオ" panose="020B0604030504040204" pitchFamily="50" charset="-128"/>
                <a:ea typeface="メイリオ" panose="020B0604030504040204" pitchFamily="50" charset="-128"/>
              </a:rPr>
              <a:t>CHASSU</a:t>
            </a:r>
            <a:r>
              <a:rPr kumimoji="1" lang="ja-JP" altLang="en-US" sz="1400">
                <a:latin typeface="メイリオ" panose="020B0604030504040204" pitchFamily="50" charset="-128"/>
                <a:ea typeface="メイリオ" panose="020B0604030504040204" pitchFamily="50" charset="-128"/>
              </a:rPr>
              <a:t>も</a:t>
            </a:r>
            <a:r>
              <a:rPr kumimoji="1" lang="en-US" altLang="ja-JP" sz="1400">
                <a:latin typeface="メイリオ" panose="020B0604030504040204" pitchFamily="50" charset="-128"/>
                <a:ea typeface="メイリオ" panose="020B0604030504040204" pitchFamily="50" charset="-128"/>
              </a:rPr>
              <a:t>Copilot</a:t>
            </a:r>
            <a:r>
              <a:rPr kumimoji="1" lang="ja-JP" altLang="en-US" sz="1400">
                <a:latin typeface="メイリオ" panose="020B0604030504040204" pitchFamily="50" charset="-128"/>
                <a:ea typeface="メイリオ" panose="020B0604030504040204" pitchFamily="50" charset="-128"/>
              </a:rPr>
              <a:t>も</a:t>
            </a:r>
            <a:r>
              <a:rPr kumimoji="1" lang="en-US" altLang="ja-JP" sz="1400">
                <a:latin typeface="メイリオ" panose="020B0604030504040204" pitchFamily="50" charset="-128"/>
                <a:ea typeface="メイリオ" panose="020B0604030504040204" pitchFamily="50" charset="-128"/>
              </a:rPr>
              <a:t>ChatGPT</a:t>
            </a:r>
            <a:r>
              <a:rPr kumimoji="1" lang="ja-JP" altLang="en-US" sz="1400">
                <a:latin typeface="メイリオ" panose="020B0604030504040204" pitchFamily="50" charset="-128"/>
                <a:ea typeface="メイリオ" panose="020B0604030504040204" pitchFamily="50" charset="-128"/>
              </a:rPr>
              <a:t>も</a:t>
            </a:r>
            <a:r>
              <a:rPr kumimoji="1" lang="en-US" altLang="ja-JP" sz="1400">
                <a:latin typeface="メイリオ" panose="020B0604030504040204" pitchFamily="50" charset="-128"/>
                <a:ea typeface="メイリオ" panose="020B0604030504040204" pitchFamily="50" charset="-128"/>
              </a:rPr>
              <a:t>Gemini</a:t>
            </a:r>
            <a:r>
              <a:rPr kumimoji="1" lang="ja-JP" altLang="en-US" sz="1400">
                <a:latin typeface="メイリオ" panose="020B0604030504040204" pitchFamily="50" charset="-128"/>
                <a:ea typeface="メイリオ" panose="020B0604030504040204" pitchFamily="50" charset="-128"/>
              </a:rPr>
              <a:t>も、基本は１回の会話毎に「毎回別人」です。</a:t>
            </a:r>
            <a:endParaRPr kumimoji="1" lang="en-US" altLang="ja-JP" sz="1400">
              <a:latin typeface="メイリオ" panose="020B0604030504040204" pitchFamily="50" charset="-128"/>
              <a:ea typeface="メイリオ" panose="020B0604030504040204" pitchFamily="50" charset="-128"/>
            </a:endParaRPr>
          </a:p>
          <a:p>
            <a:pPr>
              <a:lnSpc>
                <a:spcPct val="150000"/>
              </a:lnSpc>
            </a:pPr>
            <a:r>
              <a:rPr lang="ja-JP" altLang="en-US" sz="1400" b="1">
                <a:latin typeface="メイリオ" panose="020B0604030504040204" pitchFamily="50" charset="-128"/>
                <a:ea typeface="メイリオ" panose="020B0604030504040204" pitchFamily="50" charset="-128"/>
              </a:rPr>
              <a:t>解決策は毎回日記（記憶）を書き残して、次回に「司令塔」がその日記を含めた引継書を読みます。</a:t>
            </a:r>
            <a:endParaRPr lang="en-US" altLang="ja-JP" sz="1400" b="1">
              <a:latin typeface="メイリオ" panose="020B0604030504040204" pitchFamily="50" charset="-128"/>
              <a:ea typeface="メイリオ" panose="020B0604030504040204" pitchFamily="50" charset="-128"/>
            </a:endParaRPr>
          </a:p>
          <a:p>
            <a:pPr>
              <a:lnSpc>
                <a:spcPct val="150000"/>
              </a:lnSpc>
            </a:pPr>
            <a:r>
              <a:rPr kumimoji="1" lang="ja-JP" altLang="en-US" sz="1400">
                <a:latin typeface="メイリオ" panose="020B0604030504040204" pitchFamily="50" charset="-128"/>
                <a:ea typeface="メイリオ" panose="020B0604030504040204" pitchFamily="50" charset="-128"/>
              </a:rPr>
              <a:t>また、記憶しておける文字量も限りがあるので</a:t>
            </a:r>
            <a:r>
              <a:rPr lang="ja-JP" altLang="en-US" sz="1400">
                <a:latin typeface="メイリオ" panose="020B0604030504040204" pitchFamily="50" charset="-128"/>
                <a:ea typeface="メイリオ" panose="020B0604030504040204" pitchFamily="50" charset="-128"/>
              </a:rPr>
              <a:t>「司令塔」はタスクを分解し、</a:t>
            </a:r>
            <a:r>
              <a:rPr kumimoji="1" lang="ja-JP" altLang="en-US" sz="1400">
                <a:latin typeface="メイリオ" panose="020B0604030504040204" pitchFamily="50" charset="-128"/>
                <a:ea typeface="メイリオ" panose="020B0604030504040204" pitchFamily="50" charset="-128"/>
              </a:rPr>
              <a:t>作業自体は作業員に担当してもらい結果を受け取ります。</a:t>
            </a:r>
            <a:endParaRPr kumimoji="1" lang="en-US" altLang="ja-JP" sz="140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C5336A0-F7C7-BB7B-EF67-D9B6D1BC110F}"/>
              </a:ext>
            </a:extLst>
          </p:cNvPr>
          <p:cNvSpPr/>
          <p:nvPr/>
        </p:nvSpPr>
        <p:spPr>
          <a:xfrm>
            <a:off x="3614048" y="2308908"/>
            <a:ext cx="1514542" cy="711732"/>
          </a:xfrm>
          <a:prstGeom prst="rect">
            <a:avLst/>
          </a:prstGeom>
          <a:solidFill>
            <a:schemeClr val="bg1"/>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b="1">
                <a:solidFill>
                  <a:schemeClr val="tx1"/>
                </a:solidFill>
                <a:latin typeface="メイリオ" panose="020B0604030504040204" pitchFamily="50" charset="-128"/>
                <a:ea typeface="メイリオ" panose="020B0604030504040204" pitchFamily="50" charset="-128"/>
              </a:rPr>
              <a:t>司令塔</a:t>
            </a:r>
            <a:endParaRPr lang="en-US" altLang="ja-JP" sz="1600" b="1">
              <a:solidFill>
                <a:schemeClr val="tx1"/>
              </a:solidFill>
              <a:latin typeface="メイリオ" panose="020B0604030504040204" pitchFamily="50" charset="-128"/>
              <a:ea typeface="メイリオ" panose="020B0604030504040204" pitchFamily="50" charset="-128"/>
            </a:endParaRPr>
          </a:p>
          <a:p>
            <a:pPr algn="ctr"/>
            <a:r>
              <a:rPr kumimoji="1" lang="en-US" altLang="ja-JP" sz="1400" b="1">
                <a:solidFill>
                  <a:schemeClr val="tx1"/>
                </a:solidFill>
                <a:latin typeface="メイリオ" panose="020B0604030504040204" pitchFamily="50" charset="-128"/>
                <a:ea typeface="メイリオ" panose="020B0604030504040204" pitchFamily="50" charset="-128"/>
              </a:rPr>
              <a:t>Main Agent</a:t>
            </a:r>
            <a:endParaRPr kumimoji="1" lang="ja-JP" altLang="en-US" sz="1400" b="1">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F1EC43EA-2418-EEFC-A905-81878294D754}"/>
              </a:ext>
            </a:extLst>
          </p:cNvPr>
          <p:cNvSpPr/>
          <p:nvPr/>
        </p:nvSpPr>
        <p:spPr>
          <a:xfrm>
            <a:off x="6552721" y="2308908"/>
            <a:ext cx="1514542" cy="711732"/>
          </a:xfrm>
          <a:prstGeom prst="rect">
            <a:avLst/>
          </a:prstGeom>
          <a:solidFill>
            <a:schemeClr val="bg1"/>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b="1">
                <a:solidFill>
                  <a:schemeClr val="tx1"/>
                </a:solidFill>
                <a:latin typeface="メイリオ" panose="020B0604030504040204" pitchFamily="50" charset="-128"/>
                <a:ea typeface="メイリオ" panose="020B0604030504040204" pitchFamily="50" charset="-128"/>
              </a:rPr>
              <a:t>作業員</a:t>
            </a:r>
            <a:endParaRPr lang="en-US" altLang="ja-JP" sz="1600" b="1">
              <a:solidFill>
                <a:schemeClr val="tx1"/>
              </a:solidFill>
              <a:latin typeface="メイリオ" panose="020B0604030504040204" pitchFamily="50" charset="-128"/>
              <a:ea typeface="メイリオ" panose="020B0604030504040204" pitchFamily="50" charset="-128"/>
            </a:endParaRPr>
          </a:p>
          <a:p>
            <a:pPr algn="ctr"/>
            <a:r>
              <a:rPr kumimoji="1" lang="en-US" altLang="ja-JP" sz="1400" b="1">
                <a:solidFill>
                  <a:schemeClr val="tx1"/>
                </a:solidFill>
                <a:latin typeface="メイリオ" panose="020B0604030504040204" pitchFamily="50" charset="-128"/>
                <a:ea typeface="メイリオ" panose="020B0604030504040204" pitchFamily="50" charset="-128"/>
              </a:rPr>
              <a:t>Sub Agent</a:t>
            </a:r>
            <a:endParaRPr kumimoji="1" lang="ja-JP" altLang="en-US" sz="1400" b="1">
              <a:solidFill>
                <a:schemeClr val="tx1"/>
              </a:solidFill>
              <a:latin typeface="メイリオ" panose="020B0604030504040204" pitchFamily="50" charset="-128"/>
              <a:ea typeface="メイリオ" panose="020B0604030504040204" pitchFamily="50" charset="-128"/>
            </a:endParaRPr>
          </a:p>
        </p:txBody>
      </p:sp>
      <p:sp>
        <p:nvSpPr>
          <p:cNvPr id="8" name="矢印: 右 7">
            <a:extLst>
              <a:ext uri="{FF2B5EF4-FFF2-40B4-BE49-F238E27FC236}">
                <a16:creationId xmlns:a16="http://schemas.microsoft.com/office/drawing/2014/main" id="{F6B37056-8B0E-C0AF-489A-0D4F2CB9F131}"/>
              </a:ext>
            </a:extLst>
          </p:cNvPr>
          <p:cNvSpPr/>
          <p:nvPr/>
        </p:nvSpPr>
        <p:spPr>
          <a:xfrm>
            <a:off x="5128590" y="2376539"/>
            <a:ext cx="1424131" cy="288235"/>
          </a:xfrm>
          <a:prstGeom prst="rightArrow">
            <a:avLst>
              <a:gd name="adj1" fmla="val 50000"/>
              <a:gd name="adj2" fmla="val 84149"/>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BD366119-6E97-FEC3-F648-18DAA8839FA0}"/>
              </a:ext>
            </a:extLst>
          </p:cNvPr>
          <p:cNvSpPr/>
          <p:nvPr/>
        </p:nvSpPr>
        <p:spPr>
          <a:xfrm rot="10800000">
            <a:off x="5128590" y="2664774"/>
            <a:ext cx="1424131" cy="288235"/>
          </a:xfrm>
          <a:prstGeom prst="rightArrow">
            <a:avLst>
              <a:gd name="adj1" fmla="val 50000"/>
              <a:gd name="adj2" fmla="val 84149"/>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F0017630-6D42-61D4-7219-D8E8831D4258}"/>
              </a:ext>
            </a:extLst>
          </p:cNvPr>
          <p:cNvSpPr txBox="1"/>
          <p:nvPr/>
        </p:nvSpPr>
        <p:spPr>
          <a:xfrm>
            <a:off x="5487695" y="2105851"/>
            <a:ext cx="705919" cy="388568"/>
          </a:xfrm>
          <a:prstGeom prst="rect">
            <a:avLst/>
          </a:prstGeom>
          <a:noFill/>
        </p:spPr>
        <p:txBody>
          <a:bodyPr wrap="square" rtlCol="0">
            <a:spAutoFit/>
          </a:bodyPr>
          <a:lstStyle/>
          <a:p>
            <a:pPr algn="ctr">
              <a:lnSpc>
                <a:spcPct val="150000"/>
              </a:lnSpc>
            </a:pPr>
            <a:r>
              <a:rPr kumimoji="1" lang="ja-JP" altLang="en-US" sz="1400" b="1">
                <a:latin typeface="メイリオ" panose="020B0604030504040204" pitchFamily="50" charset="-128"/>
                <a:ea typeface="メイリオ" panose="020B0604030504040204" pitchFamily="50" charset="-128"/>
              </a:rPr>
              <a:t>指示</a:t>
            </a:r>
            <a:endParaRPr kumimoji="1" lang="en-US" altLang="ja-JP" sz="1400" b="1">
              <a:latin typeface="メイリオ" panose="020B0604030504040204" pitchFamily="50" charset="-128"/>
              <a:ea typeface="メイリオ" panose="020B0604030504040204" pitchFamily="50" charset="-128"/>
            </a:endParaRPr>
          </a:p>
        </p:txBody>
      </p:sp>
      <p:sp>
        <p:nvSpPr>
          <p:cNvPr id="11" name="テキスト ボックス 10">
            <a:extLst>
              <a:ext uri="{FF2B5EF4-FFF2-40B4-BE49-F238E27FC236}">
                <a16:creationId xmlns:a16="http://schemas.microsoft.com/office/drawing/2014/main" id="{567E8749-A7D1-9B5B-4518-BEE385684F1D}"/>
              </a:ext>
            </a:extLst>
          </p:cNvPr>
          <p:cNvSpPr txBox="1"/>
          <p:nvPr/>
        </p:nvSpPr>
        <p:spPr>
          <a:xfrm>
            <a:off x="5487695" y="2788548"/>
            <a:ext cx="705919" cy="388568"/>
          </a:xfrm>
          <a:prstGeom prst="rect">
            <a:avLst/>
          </a:prstGeom>
          <a:noFill/>
        </p:spPr>
        <p:txBody>
          <a:bodyPr wrap="square" rtlCol="0">
            <a:spAutoFit/>
          </a:bodyPr>
          <a:lstStyle/>
          <a:p>
            <a:pPr algn="ctr">
              <a:lnSpc>
                <a:spcPct val="150000"/>
              </a:lnSpc>
            </a:pPr>
            <a:r>
              <a:rPr lang="ja-JP" altLang="en-US" sz="1400" b="1">
                <a:latin typeface="メイリオ" panose="020B0604030504040204" pitchFamily="50" charset="-128"/>
                <a:ea typeface="メイリオ" panose="020B0604030504040204" pitchFamily="50" charset="-128"/>
              </a:rPr>
              <a:t>成果</a:t>
            </a:r>
            <a:endParaRPr kumimoji="1" lang="en-US" altLang="ja-JP" sz="1400" b="1">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A4D42807-2A4F-9B61-EF56-6B8D32C15C40}"/>
              </a:ext>
            </a:extLst>
          </p:cNvPr>
          <p:cNvSpPr txBox="1"/>
          <p:nvPr/>
        </p:nvSpPr>
        <p:spPr>
          <a:xfrm>
            <a:off x="354253" y="2308908"/>
            <a:ext cx="3174137" cy="715581"/>
          </a:xfrm>
          <a:prstGeom prst="rect">
            <a:avLst/>
          </a:prstGeom>
          <a:noFill/>
        </p:spPr>
        <p:txBody>
          <a:bodyPr wrap="square" rtlCol="0">
            <a:spAutoFit/>
          </a:bodyPr>
          <a:lstStyle/>
          <a:p>
            <a:pPr>
              <a:lnSpc>
                <a:spcPct val="150000"/>
              </a:lnSpc>
            </a:pPr>
            <a:r>
              <a:rPr kumimoji="1" lang="en-US" altLang="ja-JP" sz="1600" b="1">
                <a:latin typeface="メイリオ" panose="020B0604030504040204" pitchFamily="50" charset="-128"/>
                <a:ea typeface="メイリオ" panose="020B0604030504040204" pitchFamily="50" charset="-128"/>
              </a:rPr>
              <a:t>Main Agent</a:t>
            </a:r>
            <a:r>
              <a:rPr kumimoji="1" lang="ja-JP" altLang="en-US" sz="1600" b="1">
                <a:latin typeface="メイリオ" panose="020B0604030504040204" pitchFamily="50" charset="-128"/>
                <a:ea typeface="メイリオ" panose="020B0604030504040204" pitchFamily="50" charset="-128"/>
              </a:rPr>
              <a:t>が持っている情報</a:t>
            </a:r>
            <a:endParaRPr kumimoji="1" lang="en-US" altLang="ja-JP" sz="1600" b="1">
              <a:latin typeface="メイリオ" panose="020B0604030504040204" pitchFamily="50" charset="-128"/>
              <a:ea typeface="メイリオ" panose="020B0604030504040204" pitchFamily="50" charset="-128"/>
            </a:endParaRPr>
          </a:p>
          <a:p>
            <a:pPr>
              <a:lnSpc>
                <a:spcPct val="150000"/>
              </a:lnSpc>
            </a:pPr>
            <a:r>
              <a:rPr lang="ja-JP" altLang="en-US" sz="1200" b="1">
                <a:latin typeface="メイリオ" panose="020B0604030504040204" pitchFamily="50" charset="-128"/>
                <a:ea typeface="メイリオ" panose="020B0604030504040204" pitchFamily="50" charset="-128"/>
              </a:rPr>
              <a:t>（事前に読み込むテキストファイル）</a:t>
            </a:r>
            <a:endParaRPr kumimoji="1" lang="en-US" altLang="ja-JP" sz="1200" b="1">
              <a:latin typeface="メイリオ" panose="020B0604030504040204" pitchFamily="50" charset="-128"/>
              <a:ea typeface="メイリオ" panose="020B0604030504040204" pitchFamily="50" charset="-128"/>
            </a:endParaRPr>
          </a:p>
        </p:txBody>
      </p:sp>
      <p:graphicFrame>
        <p:nvGraphicFramePr>
          <p:cNvPr id="14" name="表 13">
            <a:extLst>
              <a:ext uri="{FF2B5EF4-FFF2-40B4-BE49-F238E27FC236}">
                <a16:creationId xmlns:a16="http://schemas.microsoft.com/office/drawing/2014/main" id="{3296209B-15BB-0DBF-2554-35017B7266C5}"/>
              </a:ext>
            </a:extLst>
          </p:cNvPr>
          <p:cNvGraphicFramePr>
            <a:graphicFrameLocks noGrp="1"/>
          </p:cNvGraphicFramePr>
          <p:nvPr>
            <p:extLst>
              <p:ext uri="{D42A27DB-BD31-4B8C-83A1-F6EECF244321}">
                <p14:modId xmlns:p14="http://schemas.microsoft.com/office/powerpoint/2010/main" val="3880084144"/>
              </p:ext>
            </p:extLst>
          </p:nvPr>
        </p:nvGraphicFramePr>
        <p:xfrm>
          <a:off x="387144" y="3119371"/>
          <a:ext cx="5839361" cy="3637280"/>
        </p:xfrm>
        <a:graphic>
          <a:graphicData uri="http://schemas.openxmlformats.org/drawingml/2006/table">
            <a:tbl>
              <a:tblPr bandRow="1">
                <a:tableStyleId>{5C22544A-7EE6-4342-B048-85BDC9FD1C3A}</a:tableStyleId>
              </a:tblPr>
              <a:tblGrid>
                <a:gridCol w="1888917">
                  <a:extLst>
                    <a:ext uri="{9D8B030D-6E8A-4147-A177-3AD203B41FA5}">
                      <a16:colId xmlns:a16="http://schemas.microsoft.com/office/drawing/2014/main" val="2178145205"/>
                    </a:ext>
                  </a:extLst>
                </a:gridCol>
                <a:gridCol w="3950444">
                  <a:extLst>
                    <a:ext uri="{9D8B030D-6E8A-4147-A177-3AD203B41FA5}">
                      <a16:colId xmlns:a16="http://schemas.microsoft.com/office/drawing/2014/main" val="724501695"/>
                    </a:ext>
                  </a:extLst>
                </a:gridCol>
              </a:tblGrid>
              <a:tr h="370840">
                <a:tc>
                  <a:txBody>
                    <a:bodyPr/>
                    <a:lstStyle/>
                    <a:p>
                      <a:pPr algn="l"/>
                      <a:r>
                        <a:rPr kumimoji="1" lang="en-US" altLang="ja-JP" sz="1600">
                          <a:latin typeface="メイリオ" panose="020B0604030504040204" pitchFamily="50" charset="-128"/>
                          <a:ea typeface="メイリオ" panose="020B0604030504040204" pitchFamily="50" charset="-128"/>
                        </a:rPr>
                        <a:t>AGENTS.md</a:t>
                      </a:r>
                      <a:endParaRPr kumimoji="1" lang="ja-JP" altLang="en-US" sz="1600">
                        <a:latin typeface="メイリオ" panose="020B0604030504040204" pitchFamily="50" charset="-128"/>
                        <a:ea typeface="メイリオ" panose="020B0604030504040204" pitchFamily="50" charset="-128"/>
                      </a:endParaRPr>
                    </a:p>
                  </a:txBody>
                  <a:tcPr anchor="ctr"/>
                </a:tc>
                <a:tc>
                  <a:txBody>
                    <a:bodyPr/>
                    <a:lstStyle/>
                    <a:p>
                      <a:pPr algn="l"/>
                      <a:r>
                        <a:rPr kumimoji="1" lang="ja-JP" altLang="en-US" sz="1600">
                          <a:latin typeface="メイリオ" panose="020B0604030504040204" pitchFamily="50" charset="-128"/>
                          <a:ea typeface="メイリオ" panose="020B0604030504040204" pitchFamily="50" charset="-128"/>
                        </a:rPr>
                        <a:t>全員共通の指示書</a:t>
                      </a:r>
                    </a:p>
                  </a:txBody>
                  <a:tcPr anchor="ctr"/>
                </a:tc>
                <a:extLst>
                  <a:ext uri="{0D108BD9-81ED-4DB2-BD59-A6C34878D82A}">
                    <a16:rowId xmlns:a16="http://schemas.microsoft.com/office/drawing/2014/main" val="4189117046"/>
                  </a:ext>
                </a:extLst>
              </a:tr>
              <a:tr h="370840">
                <a:tc>
                  <a:txBody>
                    <a:bodyPr/>
                    <a:lstStyle/>
                    <a:p>
                      <a:pPr algn="l"/>
                      <a:r>
                        <a:rPr kumimoji="1" lang="en-US" altLang="ja-JP" sz="1600">
                          <a:latin typeface="メイリオ" panose="020B0604030504040204" pitchFamily="50" charset="-128"/>
                          <a:ea typeface="メイリオ" panose="020B0604030504040204" pitchFamily="50" charset="-128"/>
                        </a:rPr>
                        <a:t>SOUL.md</a:t>
                      </a:r>
                      <a:endParaRPr kumimoji="1" lang="ja-JP" altLang="en-US" sz="1600">
                        <a:latin typeface="メイリオ" panose="020B0604030504040204" pitchFamily="50" charset="-128"/>
                        <a:ea typeface="メイリオ" panose="020B0604030504040204" pitchFamily="50" charset="-128"/>
                      </a:endParaRPr>
                    </a:p>
                  </a:txBody>
                  <a:tcPr anchor="ctr"/>
                </a:tc>
                <a:tc>
                  <a:txBody>
                    <a:bodyPr/>
                    <a:lstStyle/>
                    <a:p>
                      <a:pPr algn="l"/>
                      <a:r>
                        <a:rPr kumimoji="1" lang="ja-JP" altLang="en-US" sz="1600">
                          <a:latin typeface="メイリオ" panose="020B0604030504040204" pitchFamily="50" charset="-128"/>
                          <a:ea typeface="メイリオ" panose="020B0604030504040204" pitchFamily="50" charset="-128"/>
                        </a:rPr>
                        <a:t>人格・ルール・関係性</a:t>
                      </a:r>
                    </a:p>
                  </a:txBody>
                  <a:tcPr anchor="ctr"/>
                </a:tc>
                <a:extLst>
                  <a:ext uri="{0D108BD9-81ED-4DB2-BD59-A6C34878D82A}">
                    <a16:rowId xmlns:a16="http://schemas.microsoft.com/office/drawing/2014/main" val="3260504193"/>
                  </a:ext>
                </a:extLst>
              </a:tr>
              <a:tr h="370840">
                <a:tc>
                  <a:txBody>
                    <a:bodyPr/>
                    <a:lstStyle/>
                    <a:p>
                      <a:pPr algn="l"/>
                      <a:r>
                        <a:rPr kumimoji="1" lang="en-US" altLang="ja-JP" sz="1600">
                          <a:latin typeface="メイリオ" panose="020B0604030504040204" pitchFamily="50" charset="-128"/>
                          <a:ea typeface="メイリオ" panose="020B0604030504040204" pitchFamily="50" charset="-128"/>
                        </a:rPr>
                        <a:t>TOOLS.md</a:t>
                      </a:r>
                      <a:endParaRPr kumimoji="1" lang="ja-JP" altLang="en-US" sz="1600">
                        <a:latin typeface="メイリオ" panose="020B0604030504040204" pitchFamily="50" charset="-128"/>
                        <a:ea typeface="メイリオ" panose="020B0604030504040204" pitchFamily="50" charset="-128"/>
                      </a:endParaRPr>
                    </a:p>
                  </a:txBody>
                  <a:tcPr anchor="ctr"/>
                </a:tc>
                <a:tc>
                  <a:txBody>
                    <a:bodyPr/>
                    <a:lstStyle/>
                    <a:p>
                      <a:pPr algn="l"/>
                      <a:r>
                        <a:rPr kumimoji="1" lang="ja-JP" altLang="en-US" sz="1600">
                          <a:latin typeface="メイリオ" panose="020B0604030504040204" pitchFamily="50" charset="-128"/>
                          <a:ea typeface="メイリオ" panose="020B0604030504040204" pitchFamily="50" charset="-128"/>
                        </a:rPr>
                        <a:t>ツール定義</a:t>
                      </a:r>
                      <a:endParaRPr kumimoji="1" lang="en-US" altLang="ja-JP" sz="1600">
                        <a:latin typeface="メイリオ" panose="020B0604030504040204" pitchFamily="50" charset="-128"/>
                        <a:ea typeface="メイリオ" panose="020B0604030504040204" pitchFamily="50" charset="-128"/>
                      </a:endParaRPr>
                    </a:p>
                    <a:p>
                      <a:pPr algn="l"/>
                      <a:r>
                        <a:rPr kumimoji="1" lang="ja-JP" altLang="en-US" sz="1600">
                          <a:latin typeface="メイリオ" panose="020B0604030504040204" pitchFamily="50" charset="-128"/>
                          <a:ea typeface="メイリオ" panose="020B0604030504040204" pitchFamily="50" charset="-128"/>
                        </a:rPr>
                        <a:t>・何を使えるかの把握</a:t>
                      </a:r>
                    </a:p>
                  </a:txBody>
                  <a:tcPr anchor="ctr"/>
                </a:tc>
                <a:extLst>
                  <a:ext uri="{0D108BD9-81ED-4DB2-BD59-A6C34878D82A}">
                    <a16:rowId xmlns:a16="http://schemas.microsoft.com/office/drawing/2014/main" val="2735890957"/>
                  </a:ext>
                </a:extLst>
              </a:tr>
              <a:tr h="370840">
                <a:tc>
                  <a:txBody>
                    <a:bodyPr/>
                    <a:lstStyle/>
                    <a:p>
                      <a:pPr algn="l"/>
                      <a:r>
                        <a:rPr kumimoji="1" lang="en-US" altLang="ja-JP" sz="1600">
                          <a:latin typeface="メイリオ" panose="020B0604030504040204" pitchFamily="50" charset="-128"/>
                          <a:ea typeface="メイリオ" panose="020B0604030504040204" pitchFamily="50" charset="-128"/>
                        </a:rPr>
                        <a:t>IDENTITY.md</a:t>
                      </a:r>
                      <a:endParaRPr kumimoji="1" lang="ja-JP" altLang="en-US" sz="1600">
                        <a:latin typeface="メイリオ" panose="020B0604030504040204" pitchFamily="50" charset="-128"/>
                        <a:ea typeface="メイリオ" panose="020B0604030504040204" pitchFamily="50" charset="-128"/>
                      </a:endParaRPr>
                    </a:p>
                  </a:txBody>
                  <a:tcPr anchor="ctr"/>
                </a:tc>
                <a:tc>
                  <a:txBody>
                    <a:bodyPr/>
                    <a:lstStyle/>
                    <a:p>
                      <a:pPr algn="l"/>
                      <a:r>
                        <a:rPr kumimoji="1" lang="ja-JP" altLang="en-US" sz="1600">
                          <a:latin typeface="メイリオ" panose="020B0604030504040204" pitchFamily="50" charset="-128"/>
                          <a:ea typeface="メイリオ" panose="020B0604030504040204" pitchFamily="50" charset="-128"/>
                        </a:rPr>
                        <a:t>自己紹介</a:t>
                      </a:r>
                      <a:endParaRPr kumimoji="1" lang="en-US" altLang="ja-JP" sz="1600">
                        <a:latin typeface="メイリオ" panose="020B0604030504040204" pitchFamily="50" charset="-128"/>
                        <a:ea typeface="メイリオ" panose="020B0604030504040204" pitchFamily="50" charset="-128"/>
                      </a:endParaRPr>
                    </a:p>
                    <a:p>
                      <a:pPr algn="l"/>
                      <a:r>
                        <a:rPr kumimoji="1" lang="ja-JP" altLang="en-US" sz="1600">
                          <a:latin typeface="メイリオ" panose="020B0604030504040204" pitchFamily="50" charset="-128"/>
                          <a:ea typeface="メイリオ" panose="020B0604030504040204" pitchFamily="50" charset="-128"/>
                        </a:rPr>
                        <a:t>・自分が何者かの自覚</a:t>
                      </a:r>
                    </a:p>
                  </a:txBody>
                  <a:tcPr anchor="ctr"/>
                </a:tc>
                <a:extLst>
                  <a:ext uri="{0D108BD9-81ED-4DB2-BD59-A6C34878D82A}">
                    <a16:rowId xmlns:a16="http://schemas.microsoft.com/office/drawing/2014/main" val="1008717600"/>
                  </a:ext>
                </a:extLst>
              </a:tr>
              <a:tr h="370840">
                <a:tc>
                  <a:txBody>
                    <a:bodyPr/>
                    <a:lstStyle/>
                    <a:p>
                      <a:pPr algn="l"/>
                      <a:r>
                        <a:rPr kumimoji="1" lang="en-US" altLang="ja-JP" sz="1600">
                          <a:latin typeface="メイリオ" panose="020B0604030504040204" pitchFamily="50" charset="-128"/>
                          <a:ea typeface="メイリオ" panose="020B0604030504040204" pitchFamily="50" charset="-128"/>
                        </a:rPr>
                        <a:t>USER.md</a:t>
                      </a:r>
                      <a:endParaRPr kumimoji="1" lang="ja-JP" altLang="en-US" sz="1600">
                        <a:latin typeface="メイリオ" panose="020B0604030504040204" pitchFamily="50" charset="-128"/>
                        <a:ea typeface="メイリオ" panose="020B0604030504040204" pitchFamily="50" charset="-128"/>
                      </a:endParaRPr>
                    </a:p>
                  </a:txBody>
                  <a:tcPr anchor="ctr"/>
                </a:tc>
                <a:tc>
                  <a:txBody>
                    <a:bodyPr/>
                    <a:lstStyle/>
                    <a:p>
                      <a:pPr algn="l"/>
                      <a:r>
                        <a:rPr kumimoji="1" lang="ja-JP" altLang="en-US" sz="1600">
                          <a:latin typeface="メイリオ" panose="020B0604030504040204" pitchFamily="50" charset="-128"/>
                          <a:ea typeface="メイリオ" panose="020B0604030504040204" pitchFamily="50" charset="-128"/>
                        </a:rPr>
                        <a:t>ユーザー情報</a:t>
                      </a:r>
                      <a:endParaRPr kumimoji="1" lang="en-US" altLang="ja-JP" sz="1600">
                        <a:latin typeface="メイリオ" panose="020B0604030504040204" pitchFamily="50" charset="-128"/>
                        <a:ea typeface="メイリオ" panose="020B0604030504040204" pitchFamily="50" charset="-128"/>
                      </a:endParaRPr>
                    </a:p>
                    <a:p>
                      <a:pPr algn="l"/>
                      <a:r>
                        <a:rPr kumimoji="1" lang="ja-JP" altLang="en-US" sz="1600">
                          <a:latin typeface="メイリオ" panose="020B0604030504040204" pitchFamily="50" charset="-128"/>
                          <a:ea typeface="メイリオ" panose="020B0604030504040204" pitchFamily="50" charset="-128"/>
                        </a:rPr>
                        <a:t>・依頼者の好みや背景</a:t>
                      </a:r>
                    </a:p>
                  </a:txBody>
                  <a:tcPr anchor="ctr"/>
                </a:tc>
                <a:extLst>
                  <a:ext uri="{0D108BD9-81ED-4DB2-BD59-A6C34878D82A}">
                    <a16:rowId xmlns:a16="http://schemas.microsoft.com/office/drawing/2014/main" val="1720023439"/>
                  </a:ext>
                </a:extLst>
              </a:tr>
              <a:tr h="185420">
                <a:tc>
                  <a:txBody>
                    <a:bodyPr/>
                    <a:lstStyle/>
                    <a:p>
                      <a:pPr algn="l"/>
                      <a:r>
                        <a:rPr kumimoji="1" lang="en-US" altLang="ja-JP" sz="1600" b="1">
                          <a:latin typeface="メイリオ" panose="020B0604030504040204" pitchFamily="50" charset="-128"/>
                          <a:ea typeface="メイリオ" panose="020B0604030504040204" pitchFamily="50" charset="-128"/>
                        </a:rPr>
                        <a:t>HEARTBEAT.md</a:t>
                      </a:r>
                      <a:endParaRPr kumimoji="1" lang="ja-JP" altLang="en-US" sz="1600" b="1">
                        <a:latin typeface="メイリオ" panose="020B0604030504040204" pitchFamily="50" charset="-128"/>
                        <a:ea typeface="メイリオ" panose="020B0604030504040204" pitchFamily="50" charset="-128"/>
                      </a:endParaRPr>
                    </a:p>
                  </a:txBody>
                  <a:tcPr anchor="ctr"/>
                </a:tc>
                <a:tc>
                  <a:txBody>
                    <a:bodyPr/>
                    <a:lstStyle/>
                    <a:p>
                      <a:pPr algn="l"/>
                      <a:r>
                        <a:rPr kumimoji="1" lang="ja-JP" altLang="en-US" sz="1600">
                          <a:latin typeface="メイリオ" panose="020B0604030504040204" pitchFamily="50" charset="-128"/>
                          <a:ea typeface="メイリオ" panose="020B0604030504040204" pitchFamily="50" charset="-128"/>
                        </a:rPr>
                        <a:t>定期チェック</a:t>
                      </a:r>
                      <a:endParaRPr kumimoji="1" lang="en-US" altLang="ja-JP" sz="1600">
                        <a:latin typeface="メイリオ" panose="020B0604030504040204" pitchFamily="50" charset="-128"/>
                        <a:ea typeface="メイリオ" panose="020B0604030504040204" pitchFamily="50" charset="-128"/>
                      </a:endParaRPr>
                    </a:p>
                    <a:p>
                      <a:pPr algn="l"/>
                      <a:r>
                        <a:rPr kumimoji="1" lang="ja-JP" altLang="en-US" sz="1600">
                          <a:latin typeface="メイリオ" panose="020B0604030504040204" pitchFamily="50" charset="-128"/>
                          <a:ea typeface="メイリオ" panose="020B0604030504040204" pitchFamily="50" charset="-128"/>
                        </a:rPr>
                        <a:t>・放っておいても自分で確認すべきこと</a:t>
                      </a:r>
                    </a:p>
                  </a:txBody>
                  <a:tcPr anchor="ctr"/>
                </a:tc>
                <a:extLst>
                  <a:ext uri="{0D108BD9-81ED-4DB2-BD59-A6C34878D82A}">
                    <a16:rowId xmlns:a16="http://schemas.microsoft.com/office/drawing/2014/main" val="1081932992"/>
                  </a:ext>
                </a:extLst>
              </a:tr>
              <a:tr h="185420">
                <a:tc>
                  <a:txBody>
                    <a:bodyPr/>
                    <a:lstStyle/>
                    <a:p>
                      <a:pPr algn="l"/>
                      <a:r>
                        <a:rPr kumimoji="1" lang="en-US" altLang="ja-JP" sz="1600">
                          <a:latin typeface="メイリオ" panose="020B0604030504040204" pitchFamily="50" charset="-128"/>
                          <a:ea typeface="メイリオ" panose="020B0604030504040204" pitchFamily="50" charset="-128"/>
                        </a:rPr>
                        <a:t>Memory/*.md</a:t>
                      </a:r>
                      <a:endParaRPr kumimoji="1" lang="ja-JP" altLang="en-US" sz="1600">
                        <a:latin typeface="メイリオ" panose="020B0604030504040204" pitchFamily="50" charset="-128"/>
                        <a:ea typeface="メイリオ" panose="020B0604030504040204" pitchFamily="50" charset="-128"/>
                      </a:endParaRPr>
                    </a:p>
                  </a:txBody>
                  <a:tcPr anchor="ctr"/>
                </a:tc>
                <a:tc>
                  <a:txBody>
                    <a:bodyPr/>
                    <a:lstStyle/>
                    <a:p>
                      <a:pPr algn="l"/>
                      <a:r>
                        <a:rPr kumimoji="1" lang="ja-JP" altLang="en-US" sz="1600">
                          <a:latin typeface="メイリオ" panose="020B0604030504040204" pitchFamily="50" charset="-128"/>
                          <a:ea typeface="メイリオ" panose="020B0604030504040204" pitchFamily="50" charset="-128"/>
                        </a:rPr>
                        <a:t>記憶</a:t>
                      </a:r>
                      <a:endParaRPr kumimoji="1" lang="en-US" altLang="ja-JP" sz="1600">
                        <a:latin typeface="メイリオ" panose="020B0604030504040204" pitchFamily="50" charset="-128"/>
                        <a:ea typeface="メイリオ" panose="020B0604030504040204" pitchFamily="50" charset="-128"/>
                      </a:endParaRPr>
                    </a:p>
                    <a:p>
                      <a:pPr algn="l"/>
                      <a:r>
                        <a:rPr kumimoji="1" lang="ja-JP" altLang="en-US" sz="1600">
                          <a:latin typeface="メイリオ" panose="020B0604030504040204" pitchFamily="50" charset="-128"/>
                          <a:ea typeface="メイリオ" panose="020B0604030504040204" pitchFamily="50" charset="-128"/>
                        </a:rPr>
                        <a:t>・過去のやり取りな学び</a:t>
                      </a:r>
                    </a:p>
                  </a:txBody>
                  <a:tcPr anchor="ctr"/>
                </a:tc>
                <a:extLst>
                  <a:ext uri="{0D108BD9-81ED-4DB2-BD59-A6C34878D82A}">
                    <a16:rowId xmlns:a16="http://schemas.microsoft.com/office/drawing/2014/main" val="4070662332"/>
                  </a:ext>
                </a:extLst>
              </a:tr>
            </a:tbl>
          </a:graphicData>
        </a:graphic>
      </p:graphicFrame>
      <p:sp>
        <p:nvSpPr>
          <p:cNvPr id="17" name="テキスト ボックス 16">
            <a:extLst>
              <a:ext uri="{FF2B5EF4-FFF2-40B4-BE49-F238E27FC236}">
                <a16:creationId xmlns:a16="http://schemas.microsoft.com/office/drawing/2014/main" id="{6F8A82CD-AE3C-D07B-9C30-C1C4232667EE}"/>
              </a:ext>
            </a:extLst>
          </p:cNvPr>
          <p:cNvSpPr txBox="1"/>
          <p:nvPr/>
        </p:nvSpPr>
        <p:spPr>
          <a:xfrm>
            <a:off x="8169723" y="2308908"/>
            <a:ext cx="3174137" cy="430887"/>
          </a:xfrm>
          <a:prstGeom prst="rect">
            <a:avLst/>
          </a:prstGeom>
          <a:noFill/>
        </p:spPr>
        <p:txBody>
          <a:bodyPr wrap="square" rtlCol="0">
            <a:spAutoFit/>
          </a:bodyPr>
          <a:lstStyle/>
          <a:p>
            <a:pPr>
              <a:lnSpc>
                <a:spcPct val="150000"/>
              </a:lnSpc>
            </a:pPr>
            <a:r>
              <a:rPr kumimoji="1" lang="en-US" altLang="ja-JP" sz="1600" b="1">
                <a:latin typeface="メイリオ" panose="020B0604030504040204" pitchFamily="50" charset="-128"/>
                <a:ea typeface="メイリオ" panose="020B0604030504040204" pitchFamily="50" charset="-128"/>
              </a:rPr>
              <a:t>Sub Agent</a:t>
            </a:r>
            <a:r>
              <a:rPr kumimoji="1" lang="ja-JP" altLang="en-US" sz="1600" b="1">
                <a:latin typeface="メイリオ" panose="020B0604030504040204" pitchFamily="50" charset="-128"/>
                <a:ea typeface="メイリオ" panose="020B0604030504040204" pitchFamily="50" charset="-128"/>
              </a:rPr>
              <a:t>が持っている情報</a:t>
            </a:r>
            <a:endParaRPr kumimoji="1" lang="en-US" altLang="ja-JP" sz="1600" b="1">
              <a:latin typeface="メイリオ" panose="020B0604030504040204" pitchFamily="50" charset="-128"/>
              <a:ea typeface="メイリオ" panose="020B0604030504040204" pitchFamily="50" charset="-128"/>
            </a:endParaRPr>
          </a:p>
        </p:txBody>
      </p:sp>
      <p:graphicFrame>
        <p:nvGraphicFramePr>
          <p:cNvPr id="18" name="表 17">
            <a:extLst>
              <a:ext uri="{FF2B5EF4-FFF2-40B4-BE49-F238E27FC236}">
                <a16:creationId xmlns:a16="http://schemas.microsoft.com/office/drawing/2014/main" id="{F7948501-F188-C235-9C44-FBA27488E9EA}"/>
              </a:ext>
            </a:extLst>
          </p:cNvPr>
          <p:cNvGraphicFramePr>
            <a:graphicFrameLocks noGrp="1"/>
          </p:cNvGraphicFramePr>
          <p:nvPr>
            <p:extLst>
              <p:ext uri="{D42A27DB-BD31-4B8C-83A1-F6EECF244321}">
                <p14:modId xmlns:p14="http://schemas.microsoft.com/office/powerpoint/2010/main" val="4102093851"/>
              </p:ext>
            </p:extLst>
          </p:nvPr>
        </p:nvGraphicFramePr>
        <p:xfrm>
          <a:off x="7072628" y="3104427"/>
          <a:ext cx="4585971" cy="949960"/>
        </p:xfrm>
        <a:graphic>
          <a:graphicData uri="http://schemas.openxmlformats.org/drawingml/2006/table">
            <a:tbl>
              <a:tblPr bandRow="1">
                <a:tableStyleId>{5C22544A-7EE6-4342-B048-85BDC9FD1C3A}</a:tableStyleId>
              </a:tblPr>
              <a:tblGrid>
                <a:gridCol w="1806396">
                  <a:extLst>
                    <a:ext uri="{9D8B030D-6E8A-4147-A177-3AD203B41FA5}">
                      <a16:colId xmlns:a16="http://schemas.microsoft.com/office/drawing/2014/main" val="2178145205"/>
                    </a:ext>
                  </a:extLst>
                </a:gridCol>
                <a:gridCol w="2779575">
                  <a:extLst>
                    <a:ext uri="{9D8B030D-6E8A-4147-A177-3AD203B41FA5}">
                      <a16:colId xmlns:a16="http://schemas.microsoft.com/office/drawing/2014/main" val="724501695"/>
                    </a:ext>
                  </a:extLst>
                </a:gridCol>
              </a:tblGrid>
              <a:tr h="370840">
                <a:tc>
                  <a:txBody>
                    <a:bodyPr/>
                    <a:lstStyle/>
                    <a:p>
                      <a:pPr algn="l"/>
                      <a:r>
                        <a:rPr kumimoji="1" lang="en-US" altLang="ja-JP" sz="1600">
                          <a:latin typeface="メイリオ" panose="020B0604030504040204" pitchFamily="50" charset="-128"/>
                          <a:ea typeface="メイリオ" panose="020B0604030504040204" pitchFamily="50" charset="-128"/>
                        </a:rPr>
                        <a:t>AGENTS.md</a:t>
                      </a:r>
                      <a:endParaRPr kumimoji="1" lang="ja-JP" altLang="en-US" sz="1600">
                        <a:latin typeface="メイリオ" panose="020B0604030504040204" pitchFamily="50" charset="-128"/>
                        <a:ea typeface="メイリオ" panose="020B0604030504040204" pitchFamily="50" charset="-128"/>
                      </a:endParaRPr>
                    </a:p>
                  </a:txBody>
                  <a:tcPr anchor="ctr"/>
                </a:tc>
                <a:tc>
                  <a:txBody>
                    <a:bodyPr/>
                    <a:lstStyle/>
                    <a:p>
                      <a:pPr algn="l"/>
                      <a:r>
                        <a:rPr kumimoji="1" lang="ja-JP" altLang="en-US" sz="1600">
                          <a:latin typeface="メイリオ" panose="020B0604030504040204" pitchFamily="50" charset="-128"/>
                          <a:ea typeface="メイリオ" panose="020B0604030504040204" pitchFamily="50" charset="-128"/>
                        </a:rPr>
                        <a:t>全員共通の指示書</a:t>
                      </a:r>
                    </a:p>
                  </a:txBody>
                  <a:tcPr anchor="ctr"/>
                </a:tc>
                <a:extLst>
                  <a:ext uri="{0D108BD9-81ED-4DB2-BD59-A6C34878D82A}">
                    <a16:rowId xmlns:a16="http://schemas.microsoft.com/office/drawing/2014/main" val="4189117046"/>
                  </a:ext>
                </a:extLst>
              </a:tr>
              <a:tr h="370840">
                <a:tc>
                  <a:txBody>
                    <a:bodyPr/>
                    <a:lstStyle/>
                    <a:p>
                      <a:pPr algn="l"/>
                      <a:r>
                        <a:rPr kumimoji="1" lang="en-US" altLang="ja-JP" sz="1600">
                          <a:latin typeface="メイリオ" panose="020B0604030504040204" pitchFamily="50" charset="-128"/>
                          <a:ea typeface="メイリオ" panose="020B0604030504040204" pitchFamily="50" charset="-128"/>
                        </a:rPr>
                        <a:t>TOOLS.md</a:t>
                      </a:r>
                      <a:endParaRPr kumimoji="1" lang="ja-JP" altLang="en-US" sz="1600">
                        <a:latin typeface="メイリオ" panose="020B0604030504040204" pitchFamily="50" charset="-128"/>
                        <a:ea typeface="メイリオ" panose="020B0604030504040204" pitchFamily="50" charset="-128"/>
                      </a:endParaRPr>
                    </a:p>
                  </a:txBody>
                  <a:tcPr anchor="ctr"/>
                </a:tc>
                <a:tc>
                  <a:txBody>
                    <a:bodyPr/>
                    <a:lstStyle/>
                    <a:p>
                      <a:pPr algn="l"/>
                      <a:r>
                        <a:rPr kumimoji="1" lang="ja-JP" altLang="en-US" sz="1600">
                          <a:latin typeface="メイリオ" panose="020B0604030504040204" pitchFamily="50" charset="-128"/>
                          <a:ea typeface="メイリオ" panose="020B0604030504040204" pitchFamily="50" charset="-128"/>
                        </a:rPr>
                        <a:t>ツール定義</a:t>
                      </a:r>
                      <a:endParaRPr kumimoji="1" lang="en-US" altLang="ja-JP" sz="1600">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a:latin typeface="メイリオ" panose="020B0604030504040204" pitchFamily="50" charset="-128"/>
                          <a:ea typeface="メイリオ" panose="020B0604030504040204" pitchFamily="50" charset="-128"/>
                        </a:rPr>
                        <a:t>・何を使えるかの把握</a:t>
                      </a:r>
                    </a:p>
                  </a:txBody>
                  <a:tcPr anchor="ctr"/>
                </a:tc>
                <a:extLst>
                  <a:ext uri="{0D108BD9-81ED-4DB2-BD59-A6C34878D82A}">
                    <a16:rowId xmlns:a16="http://schemas.microsoft.com/office/drawing/2014/main" val="2735890957"/>
                  </a:ext>
                </a:extLst>
              </a:tr>
            </a:tbl>
          </a:graphicData>
        </a:graphic>
      </p:graphicFrame>
      <p:sp>
        <p:nvSpPr>
          <p:cNvPr id="20" name="テキスト ボックス 19">
            <a:extLst>
              <a:ext uri="{FF2B5EF4-FFF2-40B4-BE49-F238E27FC236}">
                <a16:creationId xmlns:a16="http://schemas.microsoft.com/office/drawing/2014/main" id="{F962303D-58ED-4B1E-4E67-76698BB82D94}"/>
              </a:ext>
            </a:extLst>
          </p:cNvPr>
          <p:cNvSpPr txBox="1"/>
          <p:nvPr/>
        </p:nvSpPr>
        <p:spPr>
          <a:xfrm>
            <a:off x="6676023" y="4138174"/>
            <a:ext cx="5203255" cy="1034899"/>
          </a:xfrm>
          <a:prstGeom prst="rect">
            <a:avLst/>
          </a:prstGeom>
          <a:noFill/>
        </p:spPr>
        <p:txBody>
          <a:bodyPr wrap="square" rtlCol="0">
            <a:spAutoFit/>
          </a:bodyPr>
          <a:lstStyle/>
          <a:p>
            <a:pPr>
              <a:lnSpc>
                <a:spcPct val="150000"/>
              </a:lnSpc>
            </a:pPr>
            <a:r>
              <a:rPr kumimoji="1" lang="ja-JP" altLang="en-US" sz="1400">
                <a:latin typeface="メイリオ" panose="020B0604030504040204" pitchFamily="50" charset="-128"/>
                <a:ea typeface="メイリオ" panose="020B0604030504040204" pitchFamily="50" charset="-128"/>
              </a:rPr>
              <a:t>作業に必要な情報だけあればいいので、人格も記憶もユーザー理解も必要ない。</a:t>
            </a:r>
            <a:endParaRPr kumimoji="1" lang="en-US" altLang="ja-JP" sz="1400">
              <a:latin typeface="メイリオ" panose="020B0604030504040204" pitchFamily="50" charset="-128"/>
              <a:ea typeface="メイリオ" panose="020B0604030504040204" pitchFamily="50" charset="-128"/>
            </a:endParaRPr>
          </a:p>
          <a:p>
            <a:pPr>
              <a:lnSpc>
                <a:spcPct val="150000"/>
              </a:lnSpc>
            </a:pPr>
            <a:r>
              <a:rPr lang="ja-JP" altLang="en-US" sz="1400">
                <a:latin typeface="メイリオ" panose="020B0604030504040204" pitchFamily="50" charset="-128"/>
                <a:ea typeface="メイリオ" panose="020B0604030504040204" pitchFamily="50" charset="-128"/>
              </a:rPr>
              <a:t>言われた作業をやって返すだけ。</a:t>
            </a:r>
            <a:endParaRPr kumimoji="1" lang="en-US" altLang="ja-JP" sz="140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F30D0CD6-9356-153E-507D-13A37586FC37}"/>
              </a:ext>
            </a:extLst>
          </p:cNvPr>
          <p:cNvSpPr txBox="1"/>
          <p:nvPr/>
        </p:nvSpPr>
        <p:spPr>
          <a:xfrm>
            <a:off x="6643132" y="5507383"/>
            <a:ext cx="5308794" cy="1169551"/>
          </a:xfrm>
          <a:prstGeom prst="rect">
            <a:avLst/>
          </a:prstGeom>
          <a:noFill/>
        </p:spPr>
        <p:txBody>
          <a:bodyPr wrap="square" rtlCol="0">
            <a:spAutoFit/>
          </a:bodyPr>
          <a:lstStyle/>
          <a:p>
            <a:r>
              <a:rPr kumimoji="1" lang="ja-JP" altLang="en-US" sz="1400">
                <a:latin typeface="メイリオ" panose="020B0604030504040204" pitchFamily="50" charset="-128"/>
                <a:ea typeface="メイリオ" panose="020B0604030504040204" pitchFamily="50" charset="-128"/>
              </a:rPr>
              <a:t>会話をするとエージェントにテキストが貯まって毎回参照するので、結果として会話をしていくことで</a:t>
            </a:r>
            <a:r>
              <a:rPr kumimoji="1" lang="ja-JP" altLang="en-US" sz="1400" b="1">
                <a:solidFill>
                  <a:schemeClr val="accent4">
                    <a:lumMod val="75000"/>
                  </a:schemeClr>
                </a:solidFill>
                <a:latin typeface="メイリオ" panose="020B0604030504040204" pitchFamily="50" charset="-128"/>
                <a:ea typeface="メイリオ" panose="020B0604030504040204" pitchFamily="50" charset="-128"/>
              </a:rPr>
              <a:t>自分にパーソナライズされた</a:t>
            </a:r>
            <a:r>
              <a:rPr kumimoji="1" lang="en-US" altLang="ja-JP" sz="1400" b="1">
                <a:solidFill>
                  <a:schemeClr val="accent4">
                    <a:lumMod val="75000"/>
                  </a:schemeClr>
                </a:solidFill>
                <a:latin typeface="メイリオ" panose="020B0604030504040204" pitchFamily="50" charset="-128"/>
                <a:ea typeface="メイリオ" panose="020B0604030504040204" pitchFamily="50" charset="-128"/>
              </a:rPr>
              <a:t>AI</a:t>
            </a:r>
            <a:r>
              <a:rPr kumimoji="1" lang="ja-JP" altLang="en-US" sz="1400" b="1">
                <a:solidFill>
                  <a:schemeClr val="accent4">
                    <a:lumMod val="75000"/>
                  </a:schemeClr>
                </a:solidFill>
                <a:latin typeface="メイリオ" panose="020B0604030504040204" pitchFamily="50" charset="-128"/>
                <a:ea typeface="メイリオ" panose="020B0604030504040204" pitchFamily="50" charset="-128"/>
              </a:rPr>
              <a:t>が育っていきます。</a:t>
            </a:r>
            <a:endParaRPr kumimoji="1" lang="en-US" altLang="ja-JP" sz="1400" b="1">
              <a:solidFill>
                <a:schemeClr val="accent4">
                  <a:lumMod val="75000"/>
                </a:schemeClr>
              </a:solidFill>
              <a:latin typeface="メイリオ" panose="020B0604030504040204" pitchFamily="50" charset="-128"/>
              <a:ea typeface="メイリオ" panose="020B0604030504040204" pitchFamily="50" charset="-128"/>
            </a:endParaRPr>
          </a:p>
          <a:p>
            <a:r>
              <a:rPr lang="ja-JP" altLang="en-US" sz="1400">
                <a:latin typeface="メイリオ" panose="020B0604030504040204" pitchFamily="50" charset="-128"/>
                <a:ea typeface="メイリオ" panose="020B0604030504040204" pitchFamily="50" charset="-128"/>
              </a:rPr>
              <a:t>テキストファイルなので書き換えれば判断基準などもこちらで変更できます。</a:t>
            </a:r>
            <a:endParaRPr kumimoji="1" lang="en-US" altLang="ja-JP" sz="14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0059105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6EE38-7468-558A-D3EC-C204434AB1D4}"/>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BDC9D1B5-4486-3549-1D3F-C8A709A94ECD}"/>
              </a:ext>
            </a:extLst>
          </p:cNvPr>
          <p:cNvSpPr txBox="1"/>
          <p:nvPr/>
        </p:nvSpPr>
        <p:spPr>
          <a:xfrm>
            <a:off x="443466" y="317212"/>
            <a:ext cx="11215133" cy="584775"/>
          </a:xfrm>
          <a:prstGeom prst="rect">
            <a:avLst/>
          </a:prstGeom>
          <a:noFill/>
        </p:spPr>
        <p:txBody>
          <a:bodyPr wrap="square" rtlCol="0">
            <a:spAutoFit/>
          </a:bodyPr>
          <a:lstStyle/>
          <a:p>
            <a:r>
              <a:rPr lang="en-US" altLang="ja-JP" sz="3200" b="1">
                <a:latin typeface="メイリオ" panose="020B0604030504040204" pitchFamily="50" charset="-128"/>
                <a:ea typeface="メイリオ" panose="020B0604030504040204" pitchFamily="50" charset="-128"/>
              </a:rPr>
              <a:t>3.HEARTBEAT - </a:t>
            </a:r>
            <a:r>
              <a:rPr lang="ja-JP" altLang="en-US" sz="3200" b="1">
                <a:latin typeface="メイリオ" panose="020B0604030504040204" pitchFamily="50" charset="-128"/>
                <a:ea typeface="メイリオ" panose="020B0604030504040204" pitchFamily="50" charset="-128"/>
              </a:rPr>
              <a:t>常時起動で何が変わるか</a:t>
            </a:r>
            <a:endParaRPr kumimoji="1" lang="ja-JP" altLang="en-US" sz="3200" b="1">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DD45656B-28E8-3F02-D6C4-F9155DC548CA}"/>
              </a:ext>
            </a:extLst>
          </p:cNvPr>
          <p:cNvSpPr txBox="1"/>
          <p:nvPr/>
        </p:nvSpPr>
        <p:spPr>
          <a:xfrm>
            <a:off x="354254" y="867978"/>
            <a:ext cx="11483492" cy="1358064"/>
          </a:xfrm>
          <a:prstGeom prst="rect">
            <a:avLst/>
          </a:prstGeom>
          <a:noFill/>
        </p:spPr>
        <p:txBody>
          <a:bodyPr wrap="square" rtlCol="0">
            <a:spAutoFit/>
          </a:bodyPr>
          <a:lstStyle/>
          <a:p>
            <a:pPr>
              <a:lnSpc>
                <a:spcPct val="150000"/>
              </a:lnSpc>
            </a:pPr>
            <a:r>
              <a:rPr kumimoji="1" lang="en-US" altLang="ja-JP" sz="1400">
                <a:latin typeface="メイリオ" panose="020B0604030504040204" pitchFamily="50" charset="-128"/>
                <a:ea typeface="メイリオ" panose="020B0604030504040204" pitchFamily="50" charset="-128"/>
              </a:rPr>
              <a:t>OpenClaw</a:t>
            </a:r>
            <a:r>
              <a:rPr kumimoji="1" lang="ja-JP" altLang="en-US" sz="1400">
                <a:latin typeface="メイリオ" panose="020B0604030504040204" pitchFamily="50" charset="-128"/>
                <a:ea typeface="メイリオ" panose="020B0604030504040204" pitchFamily="50" charset="-128"/>
              </a:rPr>
              <a:t>は常駐型なので、立ち上げてさえいれば当然チャットで話しかければすぐに返事がきます。</a:t>
            </a:r>
            <a:endParaRPr kumimoji="1" lang="en-US" altLang="ja-JP" sz="1400">
              <a:latin typeface="メイリオ" panose="020B0604030504040204" pitchFamily="50" charset="-128"/>
              <a:ea typeface="メイリオ" panose="020B0604030504040204" pitchFamily="50" charset="-128"/>
            </a:endParaRPr>
          </a:p>
          <a:p>
            <a:pPr>
              <a:lnSpc>
                <a:spcPct val="150000"/>
              </a:lnSpc>
            </a:pPr>
            <a:r>
              <a:rPr lang="en-US" altLang="ja-JP" sz="1400">
                <a:latin typeface="メイリオ" panose="020B0604030504040204" pitchFamily="50" charset="-128"/>
                <a:ea typeface="メイリオ" panose="020B0604030504040204" pitchFamily="50" charset="-128"/>
              </a:rPr>
              <a:t>HEARTBEAT</a:t>
            </a:r>
            <a:r>
              <a:rPr lang="ja-JP" altLang="en-US" sz="1400">
                <a:latin typeface="メイリオ" panose="020B0604030504040204" pitchFamily="50" charset="-128"/>
                <a:ea typeface="メイリオ" panose="020B0604030504040204" pitchFamily="50" charset="-128"/>
              </a:rPr>
              <a:t>はそれに加え、</a:t>
            </a:r>
            <a:r>
              <a:rPr lang="ja-JP" altLang="en-US" sz="1400" b="1">
                <a:latin typeface="メイリオ" panose="020B0604030504040204" pitchFamily="50" charset="-128"/>
                <a:ea typeface="メイリオ" panose="020B0604030504040204" pitchFamily="50" charset="-128"/>
              </a:rPr>
              <a:t>時間トリガーなどで定期的に起動し、</a:t>
            </a:r>
            <a:r>
              <a:rPr lang="ja-JP" altLang="en-US" sz="1400">
                <a:latin typeface="メイリオ" panose="020B0604030504040204" pitchFamily="50" charset="-128"/>
                <a:ea typeface="メイリオ" panose="020B0604030504040204" pitchFamily="50" charset="-128"/>
              </a:rPr>
              <a:t>誰も話しかけなくても自分から動く仕組みです。</a:t>
            </a:r>
            <a:endParaRPr lang="en-US" altLang="ja-JP" sz="1400">
              <a:latin typeface="メイリオ" panose="020B0604030504040204" pitchFamily="50" charset="-128"/>
              <a:ea typeface="メイリオ" panose="020B0604030504040204" pitchFamily="50" charset="-128"/>
            </a:endParaRPr>
          </a:p>
          <a:p>
            <a:pPr>
              <a:lnSpc>
                <a:spcPct val="150000"/>
              </a:lnSpc>
            </a:pPr>
            <a:r>
              <a:rPr lang="ja-JP" altLang="en-US" sz="1400">
                <a:latin typeface="メイリオ" panose="020B0604030504040204" pitchFamily="50" charset="-128"/>
                <a:ea typeface="メイリオ" panose="020B0604030504040204" pitchFamily="50" charset="-128"/>
              </a:rPr>
              <a:t>「放っておいても自分で確認すべきこと」の一覧を確認し、やるべきことがあるかを判断します。</a:t>
            </a:r>
            <a:endParaRPr lang="en-US" altLang="ja-JP" sz="1400">
              <a:latin typeface="メイリオ" panose="020B0604030504040204" pitchFamily="50" charset="-128"/>
              <a:ea typeface="メイリオ" panose="020B0604030504040204" pitchFamily="50" charset="-128"/>
            </a:endParaRPr>
          </a:p>
          <a:p>
            <a:pPr>
              <a:lnSpc>
                <a:spcPct val="150000"/>
              </a:lnSpc>
            </a:pPr>
            <a:r>
              <a:rPr kumimoji="1" lang="ja-JP" altLang="en-US" sz="1400">
                <a:latin typeface="メイリオ" panose="020B0604030504040204" pitchFamily="50" charset="-128"/>
                <a:ea typeface="メイリオ" panose="020B0604030504040204" pitchFamily="50" charset="-128"/>
              </a:rPr>
              <a:t>各種ツールとの連携機能もあり、</a:t>
            </a:r>
            <a:r>
              <a:rPr kumimoji="1" lang="en-US" altLang="ja-JP" sz="1400">
                <a:latin typeface="メイリオ" panose="020B0604030504040204" pitchFamily="50" charset="-128"/>
                <a:ea typeface="メイリオ" panose="020B0604030504040204" pitchFamily="50" charset="-128"/>
              </a:rPr>
              <a:t>Slack</a:t>
            </a:r>
            <a:r>
              <a:rPr lang="ja-JP" altLang="en-US" sz="1400">
                <a:latin typeface="メイリオ" panose="020B0604030504040204" pitchFamily="50" charset="-128"/>
                <a:ea typeface="メイリオ" panose="020B0604030504040204" pitchFamily="50" charset="-128"/>
              </a:rPr>
              <a:t>・</a:t>
            </a:r>
            <a:r>
              <a:rPr kumimoji="1" lang="en-US" altLang="ja-JP" sz="1400">
                <a:latin typeface="メイリオ" panose="020B0604030504040204" pitchFamily="50" charset="-128"/>
                <a:ea typeface="メイリオ" panose="020B0604030504040204" pitchFamily="50" charset="-128"/>
              </a:rPr>
              <a:t>Teams</a:t>
            </a:r>
            <a:r>
              <a:rPr kumimoji="1" lang="ja-JP" altLang="en-US" sz="1400">
                <a:latin typeface="メイリオ" panose="020B0604030504040204" pitchFamily="50" charset="-128"/>
                <a:ea typeface="メイリオ" panose="020B0604030504040204" pitchFamily="50" charset="-128"/>
              </a:rPr>
              <a:t>・</a:t>
            </a:r>
            <a:r>
              <a:rPr kumimoji="1" lang="en-US" altLang="ja-JP" sz="1400">
                <a:latin typeface="メイリオ" panose="020B0604030504040204" pitchFamily="50" charset="-128"/>
                <a:ea typeface="メイリオ" panose="020B0604030504040204" pitchFamily="50" charset="-128"/>
              </a:rPr>
              <a:t>Line</a:t>
            </a:r>
            <a:r>
              <a:rPr kumimoji="1" lang="ja-JP" altLang="en-US" sz="1400">
                <a:latin typeface="メイリオ" panose="020B0604030504040204" pitchFamily="50" charset="-128"/>
                <a:ea typeface="メイリオ" panose="020B0604030504040204" pitchFamily="50" charset="-128"/>
              </a:rPr>
              <a:t>などからでもやり取りができます。</a:t>
            </a:r>
            <a:endParaRPr kumimoji="1" lang="en-US" altLang="ja-JP" sz="1400">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F7A03CE7-677A-A9D0-5AA0-D12638F1C95B}"/>
              </a:ext>
            </a:extLst>
          </p:cNvPr>
          <p:cNvSpPr/>
          <p:nvPr/>
        </p:nvSpPr>
        <p:spPr>
          <a:xfrm>
            <a:off x="354254" y="2293320"/>
            <a:ext cx="4476162" cy="45720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a:solidFill>
                  <a:schemeClr val="tx1"/>
                </a:solidFill>
                <a:latin typeface="メイリオ" panose="020B0604030504040204" pitchFamily="50" charset="-128"/>
                <a:ea typeface="メイリオ" panose="020B0604030504040204" pitchFamily="50" charset="-128"/>
              </a:rPr>
              <a:t>記憶 </a:t>
            </a:r>
            <a:r>
              <a:rPr lang="en-US" altLang="ja-JP" b="1">
                <a:solidFill>
                  <a:schemeClr val="tx1"/>
                </a:solidFill>
                <a:latin typeface="メイリオ" panose="020B0604030504040204" pitchFamily="50" charset="-128"/>
                <a:ea typeface="メイリオ" panose="020B0604030504040204" pitchFamily="50" charset="-128"/>
              </a:rPr>
              <a:t>+ </a:t>
            </a:r>
            <a:r>
              <a:rPr lang="ja-JP" altLang="en-US" b="1">
                <a:solidFill>
                  <a:schemeClr val="tx1"/>
                </a:solidFill>
                <a:latin typeface="メイリオ" panose="020B0604030504040204" pitchFamily="50" charset="-128"/>
                <a:ea typeface="メイリオ" panose="020B0604030504040204" pitchFamily="50" charset="-128"/>
              </a:rPr>
              <a:t>定期起動 </a:t>
            </a:r>
            <a:r>
              <a:rPr lang="en-US" altLang="ja-JP" b="1">
                <a:solidFill>
                  <a:schemeClr val="tx1"/>
                </a:solidFill>
                <a:latin typeface="メイリオ" panose="020B0604030504040204" pitchFamily="50" charset="-128"/>
                <a:ea typeface="メイリオ" panose="020B0604030504040204" pitchFamily="50" charset="-128"/>
              </a:rPr>
              <a:t>= </a:t>
            </a:r>
            <a:r>
              <a:rPr lang="ja-JP" altLang="en-US" b="1">
                <a:solidFill>
                  <a:schemeClr val="tx1"/>
                </a:solidFill>
                <a:latin typeface="メイリオ" panose="020B0604030504040204" pitchFamily="50" charset="-128"/>
                <a:ea typeface="メイリオ" panose="020B0604030504040204" pitchFamily="50" charset="-128"/>
              </a:rPr>
              <a:t>継続的な自立行動</a:t>
            </a:r>
            <a:endParaRPr kumimoji="1" lang="ja-JP" altLang="en-US" b="1">
              <a:solidFill>
                <a:schemeClr val="tx1"/>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360F531A-2D90-C69F-A5C8-55C1A2AB1D96}"/>
              </a:ext>
            </a:extLst>
          </p:cNvPr>
          <p:cNvSpPr txBox="1"/>
          <p:nvPr/>
        </p:nvSpPr>
        <p:spPr>
          <a:xfrm>
            <a:off x="354253" y="2845086"/>
            <a:ext cx="4476163" cy="1384995"/>
          </a:xfrm>
          <a:prstGeom prst="rect">
            <a:avLst/>
          </a:prstGeom>
          <a:noFill/>
        </p:spPr>
        <p:txBody>
          <a:bodyPr wrap="square" rtlCol="0">
            <a:spAutoFit/>
          </a:bodyPr>
          <a:lstStyle/>
          <a:p>
            <a:pPr marL="342900" indent="-342900">
              <a:buFont typeface="+mj-lt"/>
              <a:buAutoNum type="arabicPeriod"/>
            </a:pPr>
            <a:r>
              <a:rPr lang="en-US" altLang="ja-JP" sz="1400">
                <a:latin typeface="メイリオ" panose="020B0604030504040204" pitchFamily="50" charset="-128"/>
                <a:ea typeface="メイリオ" panose="020B0604030504040204" pitchFamily="50" charset="-128"/>
              </a:rPr>
              <a:t>HEARTBEAT</a:t>
            </a:r>
            <a:r>
              <a:rPr lang="ja-JP" altLang="en-US" sz="1400">
                <a:latin typeface="メイリオ" panose="020B0604030504040204" pitchFamily="50" charset="-128"/>
                <a:ea typeface="メイリオ" panose="020B0604030504040204" pitchFamily="50" charset="-128"/>
              </a:rPr>
              <a:t>で</a:t>
            </a:r>
            <a:r>
              <a:rPr lang="en-US" altLang="ja-JP" sz="1400">
                <a:latin typeface="メイリオ" panose="020B0604030504040204" pitchFamily="50" charset="-128"/>
                <a:ea typeface="メイリオ" panose="020B0604030504040204" pitchFamily="50" charset="-128"/>
              </a:rPr>
              <a:t>30</a:t>
            </a:r>
            <a:r>
              <a:rPr lang="ja-JP" altLang="en-US" sz="1400">
                <a:latin typeface="メイリオ" panose="020B0604030504040204" pitchFamily="50" charset="-128"/>
                <a:ea typeface="メイリオ" panose="020B0604030504040204" pitchFamily="50" charset="-128"/>
              </a:rPr>
              <a:t>分ごとに起動：毎回別人だが</a:t>
            </a:r>
            <a:r>
              <a:rPr lang="en-US" altLang="ja-JP" sz="1400">
                <a:latin typeface="メイリオ" panose="020B0604030504040204" pitchFamily="50" charset="-128"/>
                <a:ea typeface="メイリオ" panose="020B0604030504040204" pitchFamily="50" charset="-128"/>
              </a:rPr>
              <a:t>…</a:t>
            </a:r>
          </a:p>
          <a:p>
            <a:pPr marL="342900" indent="-342900">
              <a:buFont typeface="+mj-lt"/>
              <a:buAutoNum type="arabicPeriod"/>
            </a:pPr>
            <a:r>
              <a:rPr lang="ja-JP" altLang="en-US" sz="1400">
                <a:latin typeface="メイリオ" panose="020B0604030504040204" pitchFamily="50" charset="-128"/>
                <a:ea typeface="メイリオ" panose="020B0604030504040204" pitchFamily="50" charset="-128"/>
              </a:rPr>
              <a:t>続きから動く：引継書確認して何をやっていたかを思い出す</a:t>
            </a:r>
            <a:endParaRPr lang="en-US" altLang="ja-JP" sz="1400">
              <a:latin typeface="メイリオ" panose="020B0604030504040204" pitchFamily="50" charset="-128"/>
              <a:ea typeface="メイリオ" panose="020B0604030504040204" pitchFamily="50" charset="-128"/>
            </a:endParaRPr>
          </a:p>
          <a:p>
            <a:pPr marL="342900" indent="-342900">
              <a:buFont typeface="+mj-lt"/>
              <a:buAutoNum type="arabicPeriod"/>
            </a:pPr>
            <a:r>
              <a:rPr lang="ja-JP" altLang="en-US" sz="1400">
                <a:latin typeface="メイリオ" panose="020B0604030504040204" pitchFamily="50" charset="-128"/>
                <a:ea typeface="メイリオ" panose="020B0604030504040204" pitchFamily="50" charset="-128"/>
              </a:rPr>
              <a:t>継続的な行動をする</a:t>
            </a:r>
            <a:endParaRPr lang="en-US" altLang="ja-JP" sz="1400">
              <a:latin typeface="メイリオ" panose="020B0604030504040204" pitchFamily="50" charset="-128"/>
              <a:ea typeface="メイリオ" panose="020B0604030504040204" pitchFamily="50" charset="-128"/>
            </a:endParaRPr>
          </a:p>
          <a:p>
            <a:pPr marL="342900" indent="-342900">
              <a:buFont typeface="+mj-lt"/>
              <a:buAutoNum type="arabicPeriod"/>
            </a:pPr>
            <a:r>
              <a:rPr lang="ja-JP" altLang="en-US" sz="1400">
                <a:latin typeface="メイリオ" panose="020B0604030504040204" pitchFamily="50" charset="-128"/>
                <a:ea typeface="メイリオ" panose="020B0604030504040204" pitchFamily="50" charset="-128"/>
              </a:rPr>
              <a:t>自分が何をやったか記録する</a:t>
            </a:r>
            <a:endParaRPr lang="en-US" altLang="ja-JP" sz="1400">
              <a:latin typeface="メイリオ" panose="020B0604030504040204" pitchFamily="50" charset="-128"/>
              <a:ea typeface="メイリオ" panose="020B0604030504040204" pitchFamily="50" charset="-128"/>
            </a:endParaRPr>
          </a:p>
          <a:p>
            <a:r>
              <a:rPr lang="ja-JP" altLang="en-US" sz="1400">
                <a:latin typeface="メイリオ" panose="020B0604030504040204" pitchFamily="50" charset="-128"/>
                <a:ea typeface="メイリオ" panose="020B0604030504040204" pitchFamily="50" charset="-128"/>
              </a:rPr>
              <a:t>のループ作業を行う</a:t>
            </a:r>
            <a:endParaRPr lang="en-US" altLang="ja-JP" sz="140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51580BFF-8CAF-C326-CCC4-5C76D09CBAB3}"/>
              </a:ext>
            </a:extLst>
          </p:cNvPr>
          <p:cNvSpPr/>
          <p:nvPr/>
        </p:nvSpPr>
        <p:spPr>
          <a:xfrm>
            <a:off x="5600825" y="2297889"/>
            <a:ext cx="6236921" cy="45720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a:solidFill>
                  <a:schemeClr val="tx1"/>
                </a:solidFill>
                <a:latin typeface="メイリオ" panose="020B0604030504040204" pitchFamily="50" charset="-128"/>
                <a:ea typeface="メイリオ" panose="020B0604030504040204" pitchFamily="50" charset="-128"/>
              </a:rPr>
              <a:t>常時起動が可能にする利点</a:t>
            </a:r>
            <a:endParaRPr kumimoji="1" lang="ja-JP" altLang="en-US" b="1">
              <a:solidFill>
                <a:schemeClr val="tx1"/>
              </a:solidFill>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E80FB714-50E3-279E-627C-176756E83177}"/>
              </a:ext>
            </a:extLst>
          </p:cNvPr>
          <p:cNvSpPr txBox="1"/>
          <p:nvPr/>
        </p:nvSpPr>
        <p:spPr>
          <a:xfrm>
            <a:off x="5600825" y="2755089"/>
            <a:ext cx="6236922" cy="1681229"/>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メール・カレンダーの定期チェック</a:t>
            </a:r>
            <a:endParaRPr lang="en-US" altLang="ja-JP" sz="1400">
              <a:latin typeface="メイリオ" panose="020B0604030504040204" pitchFamily="50" charset="-128"/>
              <a:ea typeface="メイリオ" panose="020B0604030504040204" pitchFamily="50" charset="-128"/>
            </a:endParaRPr>
          </a:p>
          <a:p>
            <a:pPr marL="342900" indent="-34290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レポート作成したらチャットで連絡</a:t>
            </a:r>
            <a:endParaRPr lang="en-US" altLang="ja-JP" sz="1400">
              <a:latin typeface="メイリオ" panose="020B0604030504040204" pitchFamily="50" charset="-128"/>
              <a:ea typeface="メイリオ" panose="020B0604030504040204" pitchFamily="50" charset="-128"/>
            </a:endParaRPr>
          </a:p>
          <a:p>
            <a:pPr marL="342900" indent="-34290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記憶の自動整理（日記を自動で整理更新して大事なことは長期記憶へ）</a:t>
            </a:r>
            <a:endParaRPr lang="en-US" altLang="ja-JP" sz="1400">
              <a:latin typeface="メイリオ" panose="020B0604030504040204" pitchFamily="50" charset="-128"/>
              <a:ea typeface="メイリオ" panose="020B0604030504040204" pitchFamily="50" charset="-128"/>
            </a:endParaRPr>
          </a:p>
          <a:p>
            <a:pPr marL="342900" indent="-34290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ローカル</a:t>
            </a:r>
            <a:r>
              <a:rPr lang="en-US" altLang="ja-JP" sz="1400">
                <a:latin typeface="メイリオ" panose="020B0604030504040204" pitchFamily="50" charset="-128"/>
                <a:ea typeface="メイリオ" panose="020B0604030504040204" pitchFamily="50" charset="-128"/>
              </a:rPr>
              <a:t>PC</a:t>
            </a:r>
            <a:r>
              <a:rPr lang="ja-JP" altLang="en-US" sz="1400">
                <a:latin typeface="メイリオ" panose="020B0604030504040204" pitchFamily="50" charset="-128"/>
                <a:ea typeface="メイリオ" panose="020B0604030504040204" pitchFamily="50" charset="-128"/>
              </a:rPr>
              <a:t>やブラウザ操作が自律的にできるので、スクレイピング／デバイス連携／セキュリティ・運用監視／コンテンツ制作なども可能</a:t>
            </a:r>
            <a:endParaRPr lang="en-US" altLang="ja-JP" sz="14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F7AE995F-8219-FB1D-64F9-9DFBB8955AB2}"/>
              </a:ext>
            </a:extLst>
          </p:cNvPr>
          <p:cNvSpPr/>
          <p:nvPr/>
        </p:nvSpPr>
        <p:spPr>
          <a:xfrm>
            <a:off x="354253" y="4530884"/>
            <a:ext cx="11483492" cy="457200"/>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a:solidFill>
                  <a:schemeClr val="bg1"/>
                </a:solidFill>
                <a:latin typeface="メイリオ" panose="020B0604030504040204" pitchFamily="50" charset="-128"/>
                <a:ea typeface="メイリオ" panose="020B0604030504040204" pitchFamily="50" charset="-128"/>
              </a:rPr>
              <a:t>セキュリティ面：「なんでもできる」の代償</a:t>
            </a:r>
            <a:endParaRPr kumimoji="1" lang="ja-JP" altLang="en-US" b="1">
              <a:solidFill>
                <a:schemeClr val="bg1"/>
              </a:solidFill>
              <a:latin typeface="メイリオ" panose="020B0604030504040204" pitchFamily="50" charset="-128"/>
              <a:ea typeface="メイリオ" panose="020B0604030504040204" pitchFamily="50" charset="-128"/>
            </a:endParaRPr>
          </a:p>
        </p:txBody>
      </p:sp>
      <p:sp>
        <p:nvSpPr>
          <p:cNvPr id="11" name="二等辺三角形 10">
            <a:extLst>
              <a:ext uri="{FF2B5EF4-FFF2-40B4-BE49-F238E27FC236}">
                <a16:creationId xmlns:a16="http://schemas.microsoft.com/office/drawing/2014/main" id="{BFCBDD09-73C7-54DB-D033-103879030559}"/>
              </a:ext>
            </a:extLst>
          </p:cNvPr>
          <p:cNvSpPr/>
          <p:nvPr/>
        </p:nvSpPr>
        <p:spPr>
          <a:xfrm rot="5400000">
            <a:off x="4833069" y="3340350"/>
            <a:ext cx="765104" cy="214473"/>
          </a:xfrm>
          <a:prstGeom prst="triangl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二等辺三角形 11">
            <a:extLst>
              <a:ext uri="{FF2B5EF4-FFF2-40B4-BE49-F238E27FC236}">
                <a16:creationId xmlns:a16="http://schemas.microsoft.com/office/drawing/2014/main" id="{AF97AAC7-3D48-A225-3332-64D24A93CAF4}"/>
              </a:ext>
            </a:extLst>
          </p:cNvPr>
          <p:cNvSpPr/>
          <p:nvPr/>
        </p:nvSpPr>
        <p:spPr>
          <a:xfrm rot="10800000">
            <a:off x="2209784" y="4230081"/>
            <a:ext cx="765104" cy="214473"/>
          </a:xfrm>
          <a:prstGeom prst="triangl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3904A78C-711F-8139-4DDB-32701474D485}"/>
              </a:ext>
            </a:extLst>
          </p:cNvPr>
          <p:cNvSpPr txBox="1"/>
          <p:nvPr/>
        </p:nvSpPr>
        <p:spPr>
          <a:xfrm>
            <a:off x="209682" y="5021656"/>
            <a:ext cx="4968605" cy="1681229"/>
          </a:xfrm>
          <a:prstGeom prst="rect">
            <a:avLst/>
          </a:prstGeom>
          <a:noFill/>
        </p:spPr>
        <p:txBody>
          <a:bodyPr wrap="square" rtlCol="0">
            <a:spAutoFit/>
          </a:bodyPr>
          <a:lstStyle/>
          <a:p>
            <a:pPr>
              <a:lnSpc>
                <a:spcPct val="150000"/>
              </a:lnSpc>
            </a:pPr>
            <a:r>
              <a:rPr lang="ja-JP" altLang="en-US" sz="1400" b="1">
                <a:latin typeface="メイリオ" panose="020B0604030504040204" pitchFamily="50" charset="-128"/>
                <a:ea typeface="メイリオ" panose="020B0604030504040204" pitchFamily="50" charset="-128"/>
              </a:rPr>
              <a:t>テキストファイルを</a:t>
            </a:r>
            <a:r>
              <a:rPr lang="en-US" altLang="ja-JP" sz="1400" b="1">
                <a:latin typeface="メイリオ" panose="020B0604030504040204" pitchFamily="50" charset="-128"/>
                <a:ea typeface="メイリオ" panose="020B0604030504040204" pitchFamily="50" charset="-128"/>
              </a:rPr>
              <a:t>AI</a:t>
            </a:r>
            <a:r>
              <a:rPr lang="ja-JP" altLang="en-US" sz="1400" b="1">
                <a:latin typeface="メイリオ" panose="020B0604030504040204" pitchFamily="50" charset="-128"/>
                <a:ea typeface="メイリオ" panose="020B0604030504040204" pitchFamily="50" charset="-128"/>
              </a:rPr>
              <a:t>に読ませて何でもやらせる</a:t>
            </a:r>
            <a:endParaRPr lang="en-US" altLang="ja-JP" sz="1400" b="1">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悪意あるテキストが混ざっていたら悪意ある行動を行う</a:t>
            </a:r>
            <a:endParaRPr lang="en-US" altLang="ja-JP" sz="1400">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スキルストアという、他の人が作ったスキルの配布場所にも悪意がある物が潜んでいる</a:t>
            </a:r>
            <a:endParaRPr lang="en-US" altLang="ja-JP" sz="1400">
              <a:latin typeface="メイリオ" panose="020B0604030504040204" pitchFamily="50" charset="-128"/>
              <a:ea typeface="メイリオ" panose="020B0604030504040204" pitchFamily="50" charset="-128"/>
            </a:endParaRPr>
          </a:p>
          <a:p>
            <a:pPr marL="742950" lvl="1" indent="-28575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テキストファイルなのでウイルス検知もされない</a:t>
            </a:r>
            <a:endParaRPr lang="en-US" altLang="ja-JP" sz="1400">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5A6AB5F9-DB83-3BF0-E078-A51E96F40489}"/>
              </a:ext>
            </a:extLst>
          </p:cNvPr>
          <p:cNvSpPr txBox="1"/>
          <p:nvPr/>
        </p:nvSpPr>
        <p:spPr>
          <a:xfrm>
            <a:off x="5178287" y="5021655"/>
            <a:ext cx="7013713" cy="1723549"/>
          </a:xfrm>
          <a:prstGeom prst="rect">
            <a:avLst/>
          </a:prstGeom>
          <a:noFill/>
        </p:spPr>
        <p:txBody>
          <a:bodyPr wrap="square" rtlCol="0">
            <a:spAutoFit/>
          </a:bodyPr>
          <a:lstStyle/>
          <a:p>
            <a:pPr>
              <a:lnSpc>
                <a:spcPct val="150000"/>
              </a:lnSpc>
            </a:pPr>
            <a:r>
              <a:rPr lang="ja-JP" altLang="en-US" sz="1400" b="1">
                <a:latin typeface="メイリオ" panose="020B0604030504040204" pitchFamily="50" charset="-128"/>
                <a:ea typeface="メイリオ" panose="020B0604030504040204" pitchFamily="50" charset="-128"/>
              </a:rPr>
              <a:t>アプリ本体自体の虚弱性もある</a:t>
            </a:r>
            <a:endParaRPr lang="en-US" altLang="ja-JP" sz="1400" b="1">
              <a:latin typeface="メイリオ" panose="020B0604030504040204" pitchFamily="50" charset="-128"/>
              <a:ea typeface="メイリオ" panose="020B0604030504040204" pitchFamily="50" charset="-128"/>
            </a:endParaRPr>
          </a:p>
          <a:p>
            <a:pPr>
              <a:lnSpc>
                <a:spcPct val="150000"/>
              </a:lnSpc>
            </a:pPr>
            <a:r>
              <a:rPr lang="ja-JP" altLang="en-US" sz="1400">
                <a:latin typeface="メイリオ" panose="020B0604030504040204" pitchFamily="50" charset="-128"/>
                <a:ea typeface="メイリオ" panose="020B0604030504040204" pitchFamily="50" charset="-128"/>
              </a:rPr>
              <a:t>今後改善される部分もありますが、被害事例として</a:t>
            </a:r>
            <a:endParaRPr lang="en-US" altLang="ja-JP" sz="1400">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攻撃者の</a:t>
            </a:r>
            <a:r>
              <a:rPr lang="en-US" altLang="ja-JP" sz="1400">
                <a:latin typeface="メイリオ" panose="020B0604030504040204" pitchFamily="50" charset="-128"/>
                <a:ea typeface="メイリオ" panose="020B0604030504040204" pitchFamily="50" charset="-128"/>
              </a:rPr>
              <a:t>URL</a:t>
            </a:r>
            <a:r>
              <a:rPr lang="ja-JP" altLang="en-US" sz="1400">
                <a:latin typeface="メイリオ" panose="020B0604030504040204" pitchFamily="50" charset="-128"/>
                <a:ea typeface="メイリオ" panose="020B0604030504040204" pitchFamily="50" charset="-128"/>
              </a:rPr>
              <a:t>を開くだけで各種情報が流出</a:t>
            </a:r>
            <a:endParaRPr lang="en-US" altLang="ja-JP" sz="1400">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lang="ja-JP" altLang="en-US" sz="1400">
                <a:latin typeface="メイリオ" panose="020B0604030504040204" pitchFamily="50" charset="-128"/>
                <a:ea typeface="メイリオ" panose="020B0604030504040204" pitchFamily="50" charset="-128"/>
              </a:rPr>
              <a:t>パスワード類がローカルにそのまま保存されていて</a:t>
            </a:r>
            <a:r>
              <a:rPr lang="en-US" altLang="ja-JP" sz="1400">
                <a:latin typeface="メイリオ" panose="020B0604030504040204" pitchFamily="50" charset="-128"/>
                <a:ea typeface="メイリオ" panose="020B0604030504040204" pitchFamily="50" charset="-128"/>
              </a:rPr>
              <a:t>AI</a:t>
            </a:r>
            <a:r>
              <a:rPr lang="ja-JP" altLang="en-US" sz="1400">
                <a:latin typeface="メイリオ" panose="020B0604030504040204" pitchFamily="50" charset="-128"/>
                <a:ea typeface="メイリオ" panose="020B0604030504040204" pitchFamily="50" charset="-128"/>
              </a:rPr>
              <a:t>が見れてしまう</a:t>
            </a:r>
            <a:endParaRPr lang="en-US" altLang="ja-JP" sz="1400">
              <a:latin typeface="メイリオ" panose="020B0604030504040204" pitchFamily="50" charset="-128"/>
              <a:ea typeface="メイリオ" panose="020B0604030504040204" pitchFamily="50" charset="-128"/>
            </a:endParaRPr>
          </a:p>
          <a:p>
            <a:pPr>
              <a:lnSpc>
                <a:spcPct val="150000"/>
              </a:lnSpc>
            </a:pPr>
            <a:r>
              <a:rPr lang="ja-JP" altLang="en-US" sz="1600" b="1">
                <a:solidFill>
                  <a:srgbClr val="C00000"/>
                </a:solidFill>
                <a:latin typeface="メイリオ" panose="020B0604030504040204" pitchFamily="50" charset="-128"/>
                <a:ea typeface="メイリオ" panose="020B0604030504040204" pitchFamily="50" charset="-128"/>
              </a:rPr>
              <a:t>➡ </a:t>
            </a:r>
            <a:r>
              <a:rPr lang="en-US" altLang="ja-JP" sz="1600" b="1">
                <a:solidFill>
                  <a:srgbClr val="C00000"/>
                </a:solidFill>
                <a:latin typeface="メイリオ" panose="020B0604030504040204" pitchFamily="50" charset="-128"/>
                <a:ea typeface="メイリオ" panose="020B0604030504040204" pitchFamily="50" charset="-128"/>
              </a:rPr>
              <a:t>Gartner</a:t>
            </a:r>
            <a:r>
              <a:rPr lang="ja-JP" altLang="en-US" sz="1600" b="1">
                <a:solidFill>
                  <a:srgbClr val="C00000"/>
                </a:solidFill>
                <a:latin typeface="メイリオ" panose="020B0604030504040204" pitchFamily="50" charset="-128"/>
                <a:ea typeface="メイリオ" panose="020B0604030504040204" pitchFamily="50" charset="-128"/>
              </a:rPr>
              <a:t>社は企業利用には受け入れがたいリスクが多いとブロック推奨</a:t>
            </a:r>
            <a:endParaRPr lang="en-US" altLang="ja-JP" sz="1600" b="1">
              <a:solidFill>
                <a:srgbClr val="C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306387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44D52-8375-685F-7713-D70322C3B933}"/>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B49C5970-5273-1B31-8D54-D6D3986E7427}"/>
              </a:ext>
            </a:extLst>
          </p:cNvPr>
          <p:cNvSpPr txBox="1"/>
          <p:nvPr/>
        </p:nvSpPr>
        <p:spPr>
          <a:xfrm>
            <a:off x="443466" y="317212"/>
            <a:ext cx="11215133" cy="584775"/>
          </a:xfrm>
          <a:prstGeom prst="rect">
            <a:avLst/>
          </a:prstGeom>
          <a:noFill/>
        </p:spPr>
        <p:txBody>
          <a:bodyPr wrap="square" rtlCol="0">
            <a:spAutoFit/>
          </a:bodyPr>
          <a:lstStyle/>
          <a:p>
            <a:r>
              <a:rPr lang="en-US" altLang="ja-JP" sz="3200" b="1">
                <a:latin typeface="メイリオ" panose="020B0604030504040204" pitchFamily="50" charset="-128"/>
                <a:ea typeface="メイリオ" panose="020B0604030504040204" pitchFamily="50" charset="-128"/>
              </a:rPr>
              <a:t>4.</a:t>
            </a:r>
            <a:r>
              <a:rPr lang="ja-JP" altLang="en-US" sz="3200" b="1">
                <a:latin typeface="メイリオ" panose="020B0604030504040204" pitchFamily="50" charset="-128"/>
                <a:ea typeface="メイリオ" panose="020B0604030504040204" pitchFamily="50" charset="-128"/>
              </a:rPr>
              <a:t>とはいえ便利 </a:t>
            </a:r>
            <a:r>
              <a:rPr lang="en-US" altLang="ja-JP" sz="3200" b="1">
                <a:latin typeface="メイリオ" panose="020B0604030504040204" pitchFamily="50" charset="-128"/>
                <a:ea typeface="メイリオ" panose="020B0604030504040204" pitchFamily="50" charset="-128"/>
              </a:rPr>
              <a:t>– </a:t>
            </a:r>
            <a:r>
              <a:rPr lang="ja-JP" altLang="en-US" sz="3200" b="1">
                <a:latin typeface="メイリオ" panose="020B0604030504040204" pitchFamily="50" charset="-128"/>
                <a:ea typeface="メイリオ" panose="020B0604030504040204" pitchFamily="50" charset="-128"/>
              </a:rPr>
              <a:t>ユースケース</a:t>
            </a:r>
            <a:endParaRPr kumimoji="1" lang="ja-JP" altLang="en-US" sz="3200" b="1">
              <a:latin typeface="メイリオ" panose="020B0604030504040204" pitchFamily="50" charset="-128"/>
              <a:ea typeface="メイリオ" panose="020B0604030504040204" pitchFamily="50" charset="-128"/>
            </a:endParaRPr>
          </a:p>
        </p:txBody>
      </p:sp>
      <p:sp>
        <p:nvSpPr>
          <p:cNvPr id="2" name="テキスト ボックス 1">
            <a:extLst>
              <a:ext uri="{FF2B5EF4-FFF2-40B4-BE49-F238E27FC236}">
                <a16:creationId xmlns:a16="http://schemas.microsoft.com/office/drawing/2014/main" id="{0E27C4BE-FB99-CED7-380F-FE899313DA94}"/>
              </a:ext>
            </a:extLst>
          </p:cNvPr>
          <p:cNvSpPr txBox="1"/>
          <p:nvPr/>
        </p:nvSpPr>
        <p:spPr>
          <a:xfrm>
            <a:off x="354254" y="867978"/>
            <a:ext cx="11483492" cy="711733"/>
          </a:xfrm>
          <a:prstGeom prst="rect">
            <a:avLst/>
          </a:prstGeom>
          <a:noFill/>
        </p:spPr>
        <p:txBody>
          <a:bodyPr wrap="square" rtlCol="0">
            <a:spAutoFit/>
          </a:bodyPr>
          <a:lstStyle/>
          <a:p>
            <a:pPr>
              <a:lnSpc>
                <a:spcPct val="150000"/>
              </a:lnSpc>
            </a:pPr>
            <a:r>
              <a:rPr lang="ja-JP" altLang="en-US" sz="1400">
                <a:latin typeface="メイリオ" panose="020B0604030504040204" pitchFamily="50" charset="-128"/>
                <a:ea typeface="メイリオ" panose="020B0604030504040204" pitchFamily="50" charset="-128"/>
              </a:rPr>
              <a:t>セキュリティ対策は当然必要必須ですが、それさえ講じれば「人間が</a:t>
            </a:r>
            <a:r>
              <a:rPr lang="en-US" altLang="ja-JP" sz="1400">
                <a:latin typeface="メイリオ" panose="020B0604030504040204" pitchFamily="50" charset="-128"/>
                <a:ea typeface="メイリオ" panose="020B0604030504040204" pitchFamily="50" charset="-128"/>
              </a:rPr>
              <a:t>PC</a:t>
            </a:r>
            <a:r>
              <a:rPr lang="ja-JP" altLang="en-US" sz="1400">
                <a:latin typeface="メイリオ" panose="020B0604030504040204" pitchFamily="50" charset="-128"/>
                <a:ea typeface="メイリオ" panose="020B0604030504040204" pitchFamily="50" charset="-128"/>
              </a:rPr>
              <a:t>でできることのほとんど」が自動化できる可能性があります。</a:t>
            </a:r>
            <a:endParaRPr lang="en-US" altLang="ja-JP" sz="1400">
              <a:latin typeface="メイリオ" panose="020B0604030504040204" pitchFamily="50" charset="-128"/>
              <a:ea typeface="メイリオ" panose="020B0604030504040204" pitchFamily="50" charset="-128"/>
            </a:endParaRPr>
          </a:p>
          <a:p>
            <a:pPr>
              <a:lnSpc>
                <a:spcPct val="150000"/>
              </a:lnSpc>
            </a:pPr>
            <a:r>
              <a:rPr lang="en-US" altLang="ja-JP" sz="1400">
                <a:latin typeface="メイリオ" panose="020B0604030504040204" pitchFamily="50" charset="-128"/>
                <a:ea typeface="メイリオ" panose="020B0604030504040204" pitchFamily="50" charset="-128"/>
              </a:rPr>
              <a:t>OSS</a:t>
            </a:r>
            <a:r>
              <a:rPr lang="ja-JP" altLang="en-US" sz="1400">
                <a:latin typeface="メイリオ" panose="020B0604030504040204" pitchFamily="50" charset="-128"/>
                <a:ea typeface="メイリオ" panose="020B0604030504040204" pitchFamily="50" charset="-128"/>
              </a:rPr>
              <a:t>なので自社環境向けにカスタマイズや参考実装も可能です。</a:t>
            </a:r>
            <a:endParaRPr kumimoji="1" lang="en-US" altLang="ja-JP" sz="140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B6E47F9-F272-E347-7E1F-E09B5BBC915B}"/>
              </a:ext>
            </a:extLst>
          </p:cNvPr>
          <p:cNvSpPr/>
          <p:nvPr/>
        </p:nvSpPr>
        <p:spPr>
          <a:xfrm>
            <a:off x="2502018" y="1673132"/>
            <a:ext cx="2329186"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a:latin typeface="メイリオ" panose="020B0604030504040204" pitchFamily="50" charset="-128"/>
                <a:ea typeface="メイリオ" panose="020B0604030504040204" pitchFamily="50" charset="-128"/>
              </a:rPr>
              <a:t>データ分析・レポート</a:t>
            </a:r>
            <a:endParaRPr kumimoji="1" lang="ja-JP" altLang="en-US" sz="160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867A04F-746B-A71A-EB92-EB75058FDCC6}"/>
              </a:ext>
            </a:extLst>
          </p:cNvPr>
          <p:cNvSpPr txBox="1"/>
          <p:nvPr/>
        </p:nvSpPr>
        <p:spPr>
          <a:xfrm>
            <a:off x="2497732" y="2073010"/>
            <a:ext cx="2329186" cy="1731243"/>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売上データの異常検知＆自動アラート</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顧客アンケート自由記述の感情分析＆カテゴリ分類</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月次</a:t>
            </a:r>
            <a:r>
              <a:rPr lang="en-US" altLang="ja-JP" sz="1200">
                <a:latin typeface="メイリオ" panose="020B0604030504040204" pitchFamily="50" charset="-128"/>
                <a:ea typeface="メイリオ" panose="020B0604030504040204" pitchFamily="50" charset="-128"/>
              </a:rPr>
              <a:t>KPI</a:t>
            </a:r>
            <a:r>
              <a:rPr lang="ja-JP" altLang="en-US" sz="1200">
                <a:latin typeface="メイリオ" panose="020B0604030504040204" pitchFamily="50" charset="-128"/>
                <a:ea typeface="メイリオ" panose="020B0604030504040204" pitchFamily="50" charset="-128"/>
              </a:rPr>
              <a:t>レポート自動生成＆配信</a:t>
            </a:r>
            <a:endParaRPr kumimoji="1" lang="en-US" altLang="ja-JP" sz="1200">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9D49334B-58EA-1739-A27E-40810DE09E57}"/>
              </a:ext>
            </a:extLst>
          </p:cNvPr>
          <p:cNvSpPr/>
          <p:nvPr/>
        </p:nvSpPr>
        <p:spPr>
          <a:xfrm>
            <a:off x="2502019" y="2013535"/>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31E0082F-0D24-62D9-FE31-9CCCD3CC53FC}"/>
              </a:ext>
            </a:extLst>
          </p:cNvPr>
          <p:cNvSpPr/>
          <p:nvPr/>
        </p:nvSpPr>
        <p:spPr>
          <a:xfrm>
            <a:off x="70488" y="1673132"/>
            <a:ext cx="2329185"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a:latin typeface="メイリオ" panose="020B0604030504040204" pitchFamily="50" charset="-128"/>
                <a:ea typeface="メイリオ" panose="020B0604030504040204" pitchFamily="50" charset="-128"/>
              </a:rPr>
              <a:t>情報収集・監視</a:t>
            </a:r>
            <a:endParaRPr kumimoji="1" lang="ja-JP" altLang="en-US" sz="160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1EEE5FE2-F618-FA96-4DD0-ECE2ACC5B7DE}"/>
              </a:ext>
            </a:extLst>
          </p:cNvPr>
          <p:cNvSpPr txBox="1"/>
          <p:nvPr/>
        </p:nvSpPr>
        <p:spPr>
          <a:xfrm>
            <a:off x="66201" y="2073010"/>
            <a:ext cx="2329186" cy="1731243"/>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en-US" altLang="ja-JP" sz="1200">
                <a:latin typeface="メイリオ" panose="020B0604030504040204" pitchFamily="50" charset="-128"/>
                <a:ea typeface="メイリオ" panose="020B0604030504040204" pitchFamily="50" charset="-128"/>
              </a:rPr>
              <a:t>SNS</a:t>
            </a:r>
            <a:r>
              <a:rPr lang="ja-JP" altLang="en-US" sz="1200">
                <a:latin typeface="メイリオ" panose="020B0604030504040204" pitchFamily="50" charset="-128"/>
                <a:ea typeface="メイリオ" panose="020B0604030504040204" pitchFamily="50" charset="-128"/>
              </a:rPr>
              <a:t>ブランドメンション監視＆ネガティブ即時検知</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法改正・規制変更の自動追跡＆影響分析</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競合プレスリリース自動監視＆日次サマリー</a:t>
            </a:r>
          </a:p>
        </p:txBody>
      </p:sp>
      <p:sp>
        <p:nvSpPr>
          <p:cNvPr id="11" name="正方形/長方形 10">
            <a:extLst>
              <a:ext uri="{FF2B5EF4-FFF2-40B4-BE49-F238E27FC236}">
                <a16:creationId xmlns:a16="http://schemas.microsoft.com/office/drawing/2014/main" id="{E4EA563D-A048-3415-43B2-C1C4655F2B18}"/>
              </a:ext>
            </a:extLst>
          </p:cNvPr>
          <p:cNvSpPr/>
          <p:nvPr/>
        </p:nvSpPr>
        <p:spPr>
          <a:xfrm>
            <a:off x="70488" y="2013535"/>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823CCBB7-B542-EABA-96B2-E1D2B77FCB05}"/>
              </a:ext>
            </a:extLst>
          </p:cNvPr>
          <p:cNvSpPr/>
          <p:nvPr/>
        </p:nvSpPr>
        <p:spPr>
          <a:xfrm>
            <a:off x="4929341" y="1673132"/>
            <a:ext cx="2329185"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a:latin typeface="メイリオ" panose="020B0604030504040204" pitchFamily="50" charset="-128"/>
                <a:ea typeface="メイリオ" panose="020B0604030504040204" pitchFamily="50" charset="-128"/>
              </a:rPr>
              <a:t>業務自動化</a:t>
            </a:r>
            <a:endParaRPr kumimoji="1" lang="ja-JP" altLang="en-US" sz="1600">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B9AE62C7-23F0-B97E-9741-4E68605561E7}"/>
              </a:ext>
            </a:extLst>
          </p:cNvPr>
          <p:cNvSpPr txBox="1"/>
          <p:nvPr/>
        </p:nvSpPr>
        <p:spPr>
          <a:xfrm>
            <a:off x="4925054" y="2073010"/>
            <a:ext cx="2329185" cy="1454244"/>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社内</a:t>
            </a:r>
            <a:r>
              <a:rPr lang="en-US" altLang="ja-JP" sz="1200">
                <a:latin typeface="メイリオ" panose="020B0604030504040204" pitchFamily="50" charset="-128"/>
                <a:ea typeface="メイリオ" panose="020B0604030504040204" pitchFamily="50" charset="-128"/>
              </a:rPr>
              <a:t>FAQ Bot</a:t>
            </a: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経費精算の領収書</a:t>
            </a:r>
            <a:r>
              <a:rPr lang="en-US" altLang="ja-JP" sz="1200">
                <a:latin typeface="メイリオ" panose="020B0604030504040204" pitchFamily="50" charset="-128"/>
                <a:ea typeface="メイリオ" panose="020B0604030504040204" pitchFamily="50" charset="-128"/>
              </a:rPr>
              <a:t>OCR</a:t>
            </a:r>
            <a:r>
              <a:rPr lang="ja-JP" altLang="en-US" sz="1200">
                <a:latin typeface="メイリオ" panose="020B0604030504040204" pitchFamily="50" charset="-128"/>
                <a:ea typeface="メイリオ" panose="020B0604030504040204" pitchFamily="50" charset="-128"/>
              </a:rPr>
              <a:t>＆自動入力</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新入社員オンボーディング自動チェックリスト</a:t>
            </a:r>
            <a:endParaRPr kumimoji="1" lang="en-US" altLang="ja-JP" sz="1200">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B3F09396-101F-C6A8-AF15-3BCA9486FA43}"/>
              </a:ext>
            </a:extLst>
          </p:cNvPr>
          <p:cNvSpPr/>
          <p:nvPr/>
        </p:nvSpPr>
        <p:spPr>
          <a:xfrm>
            <a:off x="4929341" y="2013535"/>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963E1A56-0811-DE5F-3854-68BA0E9922F8}"/>
              </a:ext>
            </a:extLst>
          </p:cNvPr>
          <p:cNvSpPr/>
          <p:nvPr/>
        </p:nvSpPr>
        <p:spPr>
          <a:xfrm>
            <a:off x="7360872" y="1673132"/>
            <a:ext cx="2329185"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a:latin typeface="メイリオ" panose="020B0604030504040204" pitchFamily="50" charset="-128"/>
                <a:ea typeface="メイリオ" panose="020B0604030504040204" pitchFamily="50" charset="-128"/>
              </a:rPr>
              <a:t>コミュニケーション</a:t>
            </a:r>
            <a:endParaRPr kumimoji="1" lang="ja-JP" altLang="en-US" sz="160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07DE7628-DB04-07C4-2623-27F1AAABEFA9}"/>
              </a:ext>
            </a:extLst>
          </p:cNvPr>
          <p:cNvSpPr txBox="1"/>
          <p:nvPr/>
        </p:nvSpPr>
        <p:spPr>
          <a:xfrm>
            <a:off x="7356585" y="2073010"/>
            <a:ext cx="2329186" cy="1731243"/>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会議議事録の自動要約＆アクションアイテム抽出</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障害発生時の全チャネル一斉通知</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音声メモの文字起こし＆要約配信</a:t>
            </a:r>
            <a:endParaRPr kumimoji="1" lang="en-US" altLang="ja-JP" sz="1200">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C4A26004-E79E-7B34-9F0C-710EBB86C624}"/>
              </a:ext>
            </a:extLst>
          </p:cNvPr>
          <p:cNvSpPr/>
          <p:nvPr/>
        </p:nvSpPr>
        <p:spPr>
          <a:xfrm>
            <a:off x="7360872" y="2013535"/>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CD13A616-4FD7-9CEA-68C0-B71794268920}"/>
              </a:ext>
            </a:extLst>
          </p:cNvPr>
          <p:cNvSpPr/>
          <p:nvPr/>
        </p:nvSpPr>
        <p:spPr>
          <a:xfrm>
            <a:off x="9796613" y="1673132"/>
            <a:ext cx="2329185"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a:latin typeface="メイリオ" panose="020B0604030504040204" pitchFamily="50" charset="-128"/>
                <a:ea typeface="メイリオ" panose="020B0604030504040204" pitchFamily="50" charset="-128"/>
              </a:rPr>
              <a:t>Web</a:t>
            </a:r>
            <a:r>
              <a:rPr lang="ja-JP" altLang="en-US" sz="1200">
                <a:latin typeface="メイリオ" panose="020B0604030504040204" pitchFamily="50" charset="-128"/>
                <a:ea typeface="メイリオ" panose="020B0604030504040204" pitchFamily="50" charset="-128"/>
              </a:rPr>
              <a:t>操作・スクレイピング</a:t>
            </a:r>
            <a:endParaRPr kumimoji="1" lang="ja-JP" altLang="en-US" sz="1200">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D236ABE6-FFEB-A767-53D9-5F223DB3D8A1}"/>
              </a:ext>
            </a:extLst>
          </p:cNvPr>
          <p:cNvSpPr txBox="1"/>
          <p:nvPr/>
        </p:nvSpPr>
        <p:spPr>
          <a:xfrm>
            <a:off x="9792326" y="2073010"/>
            <a:ext cx="2329186" cy="1454244"/>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官公庁の入札情報自動収集＆フィルタリング</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自社サイトのリンク切れ・表示崩れ自動検知</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複数求人媒体への同時掲載</a:t>
            </a:r>
            <a:endParaRPr kumimoji="1" lang="en-US" altLang="ja-JP" sz="1200">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CA6CD9D3-886E-1188-6DDB-96E88FCD0243}"/>
              </a:ext>
            </a:extLst>
          </p:cNvPr>
          <p:cNvSpPr/>
          <p:nvPr/>
        </p:nvSpPr>
        <p:spPr>
          <a:xfrm>
            <a:off x="9796613" y="2013535"/>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CE7ADDD-FDD5-8501-B45E-DCD9BD4A238D}"/>
              </a:ext>
            </a:extLst>
          </p:cNvPr>
          <p:cNvSpPr/>
          <p:nvPr/>
        </p:nvSpPr>
        <p:spPr>
          <a:xfrm>
            <a:off x="2495664" y="4275103"/>
            <a:ext cx="2329186"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a:latin typeface="メイリオ" panose="020B0604030504040204" pitchFamily="50" charset="-128"/>
                <a:ea typeface="メイリオ" panose="020B0604030504040204" pitchFamily="50" charset="-128"/>
              </a:rPr>
              <a:t>営業・マーケ支援</a:t>
            </a:r>
            <a:endParaRPr kumimoji="1" lang="ja-JP" altLang="en-US" sz="1600">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D0B18A97-E6D5-0AA7-74D8-FAF13D7FFDB2}"/>
              </a:ext>
            </a:extLst>
          </p:cNvPr>
          <p:cNvSpPr txBox="1"/>
          <p:nvPr/>
        </p:nvSpPr>
        <p:spPr>
          <a:xfrm>
            <a:off x="2491378" y="4674981"/>
            <a:ext cx="2329186" cy="1454244"/>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商談前の企業リサーチ自動パッケージ</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顧客の解約予兆検知＆アラート</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展示会名刺の</a:t>
            </a:r>
            <a:r>
              <a:rPr lang="en-US" altLang="ja-JP" sz="1200">
                <a:latin typeface="メイリオ" panose="020B0604030504040204" pitchFamily="50" charset="-128"/>
                <a:ea typeface="メイリオ" panose="020B0604030504040204" pitchFamily="50" charset="-128"/>
              </a:rPr>
              <a:t>CRM</a:t>
            </a:r>
            <a:r>
              <a:rPr lang="ja-JP" altLang="en-US" sz="1200">
                <a:latin typeface="メイリオ" panose="020B0604030504040204" pitchFamily="50" charset="-128"/>
                <a:ea typeface="メイリオ" panose="020B0604030504040204" pitchFamily="50" charset="-128"/>
              </a:rPr>
              <a:t>一括登録</a:t>
            </a:r>
            <a:endParaRPr kumimoji="1" lang="en-US" altLang="ja-JP" sz="1200">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2745FE9D-5826-0887-D3A0-ADBF948F859D}"/>
              </a:ext>
            </a:extLst>
          </p:cNvPr>
          <p:cNvSpPr/>
          <p:nvPr/>
        </p:nvSpPr>
        <p:spPr>
          <a:xfrm>
            <a:off x="2495665" y="4615506"/>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038919E7-179D-8CC9-52EC-3DAADFE75057}"/>
              </a:ext>
            </a:extLst>
          </p:cNvPr>
          <p:cNvSpPr/>
          <p:nvPr/>
        </p:nvSpPr>
        <p:spPr>
          <a:xfrm>
            <a:off x="64134" y="4275103"/>
            <a:ext cx="2329185"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a:latin typeface="メイリオ" panose="020B0604030504040204" pitchFamily="50" charset="-128"/>
                <a:ea typeface="メイリオ" panose="020B0604030504040204" pitchFamily="50" charset="-128"/>
              </a:rPr>
              <a:t>IoT</a:t>
            </a:r>
            <a:r>
              <a:rPr lang="ja-JP" altLang="en-US" sz="1600">
                <a:latin typeface="メイリオ" panose="020B0604030504040204" pitchFamily="50" charset="-128"/>
                <a:ea typeface="メイリオ" panose="020B0604030504040204" pitchFamily="50" charset="-128"/>
              </a:rPr>
              <a:t>・デバイス連携</a:t>
            </a:r>
            <a:endParaRPr kumimoji="1" lang="ja-JP" altLang="en-US" sz="1600">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49B309BF-F3B8-4DCA-773A-9FD459E8E56F}"/>
              </a:ext>
            </a:extLst>
          </p:cNvPr>
          <p:cNvSpPr txBox="1"/>
          <p:nvPr/>
        </p:nvSpPr>
        <p:spPr>
          <a:xfrm>
            <a:off x="59847" y="4674981"/>
            <a:ext cx="2329186" cy="1177245"/>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ホワイトボード定期撮影＆</a:t>
            </a:r>
            <a:r>
              <a:rPr lang="en-US" altLang="ja-JP" sz="1200">
                <a:latin typeface="メイリオ" panose="020B0604030504040204" pitchFamily="50" charset="-128"/>
                <a:ea typeface="メイリオ" panose="020B0604030504040204" pitchFamily="50" charset="-128"/>
              </a:rPr>
              <a:t>OCR</a:t>
            </a:r>
            <a:r>
              <a:rPr lang="ja-JP" altLang="en-US" sz="1200">
                <a:latin typeface="メイリオ" panose="020B0604030504040204" pitchFamily="50" charset="-128"/>
                <a:ea typeface="メイリオ" panose="020B0604030504040204" pitchFamily="50" charset="-128"/>
              </a:rPr>
              <a:t>議事録化</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現場写真の自動報告書生成</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店舗の陳列状態チェック</a:t>
            </a:r>
            <a:endParaRPr kumimoji="1" lang="en-US" altLang="ja-JP" sz="1200">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E71B211F-07BB-EE29-64A1-7FFAF43ED318}"/>
              </a:ext>
            </a:extLst>
          </p:cNvPr>
          <p:cNvSpPr/>
          <p:nvPr/>
        </p:nvSpPr>
        <p:spPr>
          <a:xfrm>
            <a:off x="64134" y="4615506"/>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4843D99C-DB8D-C84D-DB50-4D932D8F9B5A}"/>
              </a:ext>
            </a:extLst>
          </p:cNvPr>
          <p:cNvSpPr/>
          <p:nvPr/>
        </p:nvSpPr>
        <p:spPr>
          <a:xfrm>
            <a:off x="4922987" y="4275103"/>
            <a:ext cx="2329185"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latin typeface="メイリオ" panose="020B0604030504040204" pitchFamily="50" charset="-128"/>
                <a:ea typeface="メイリオ" panose="020B0604030504040204" pitchFamily="50" charset="-128"/>
              </a:rPr>
              <a:t>セキュリティ・運用監視</a:t>
            </a:r>
            <a:endParaRPr kumimoji="1" lang="ja-JP" altLang="en-US" sz="1400">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AFFEF8C3-8E37-FB6B-5390-BA25915D4C29}"/>
              </a:ext>
            </a:extLst>
          </p:cNvPr>
          <p:cNvSpPr txBox="1"/>
          <p:nvPr/>
        </p:nvSpPr>
        <p:spPr>
          <a:xfrm>
            <a:off x="4918700" y="4674981"/>
            <a:ext cx="2329185" cy="1731243"/>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サーバーログ異常パターン検知＆通知</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en-US" altLang="ja-JP" sz="1200">
                <a:latin typeface="メイリオ" panose="020B0604030504040204" pitchFamily="50" charset="-128"/>
                <a:ea typeface="メイリオ" panose="020B0604030504040204" pitchFamily="50" charset="-128"/>
              </a:rPr>
              <a:t>SSL</a:t>
            </a:r>
            <a:r>
              <a:rPr lang="ja-JP" altLang="en-US" sz="1200">
                <a:latin typeface="メイリオ" panose="020B0604030504040204" pitchFamily="50" charset="-128"/>
                <a:ea typeface="メイリオ" panose="020B0604030504040204" pitchFamily="50" charset="-128"/>
              </a:rPr>
              <a:t>証明書期限監視＆段階アラート</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クラウドリソースのコスト異常検知</a:t>
            </a:r>
            <a:endParaRPr kumimoji="1" lang="en-US" altLang="ja-JP" sz="1200">
              <a:latin typeface="メイリオ" panose="020B0604030504040204" pitchFamily="50" charset="-128"/>
              <a:ea typeface="メイリオ" panose="020B0604030504040204" pitchFamily="50" charset="-128"/>
            </a:endParaRPr>
          </a:p>
        </p:txBody>
      </p:sp>
      <p:sp>
        <p:nvSpPr>
          <p:cNvPr id="34" name="正方形/長方形 33">
            <a:extLst>
              <a:ext uri="{FF2B5EF4-FFF2-40B4-BE49-F238E27FC236}">
                <a16:creationId xmlns:a16="http://schemas.microsoft.com/office/drawing/2014/main" id="{243CB046-B0A4-EAD9-A2E2-E726F15B67A3}"/>
              </a:ext>
            </a:extLst>
          </p:cNvPr>
          <p:cNvSpPr/>
          <p:nvPr/>
        </p:nvSpPr>
        <p:spPr>
          <a:xfrm>
            <a:off x="4922987" y="4615506"/>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35" name="正方形/長方形 34">
            <a:extLst>
              <a:ext uri="{FF2B5EF4-FFF2-40B4-BE49-F238E27FC236}">
                <a16:creationId xmlns:a16="http://schemas.microsoft.com/office/drawing/2014/main" id="{A92F9711-434A-A014-4AB2-9CA804AFAE3E}"/>
              </a:ext>
            </a:extLst>
          </p:cNvPr>
          <p:cNvSpPr/>
          <p:nvPr/>
        </p:nvSpPr>
        <p:spPr>
          <a:xfrm>
            <a:off x="7354518" y="4275103"/>
            <a:ext cx="2329185"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a:latin typeface="メイリオ" panose="020B0604030504040204" pitchFamily="50" charset="-128"/>
                <a:ea typeface="メイリオ" panose="020B0604030504040204" pitchFamily="50" charset="-128"/>
              </a:rPr>
              <a:t>コンテンツ制作</a:t>
            </a:r>
            <a:endParaRPr kumimoji="1" lang="ja-JP" altLang="en-US" sz="1600">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C3D59A81-3411-F6DE-60F9-CA175C59C7C4}"/>
              </a:ext>
            </a:extLst>
          </p:cNvPr>
          <p:cNvSpPr txBox="1"/>
          <p:nvPr/>
        </p:nvSpPr>
        <p:spPr>
          <a:xfrm>
            <a:off x="7350231" y="4674981"/>
            <a:ext cx="2329186" cy="1731243"/>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プレゼン資料の構成案＆素材収集</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動画台本＆ナレーション音声の一括生成</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多言語コンテンツの並列ローカライズ</a:t>
            </a:r>
            <a:endParaRPr kumimoji="1" lang="en-US" altLang="ja-JP" sz="1200">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7E5D3249-C1C0-E59F-B8FA-5C09CD3B6876}"/>
              </a:ext>
            </a:extLst>
          </p:cNvPr>
          <p:cNvSpPr/>
          <p:nvPr/>
        </p:nvSpPr>
        <p:spPr>
          <a:xfrm>
            <a:off x="7354518" y="4615506"/>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38" name="正方形/長方形 37">
            <a:extLst>
              <a:ext uri="{FF2B5EF4-FFF2-40B4-BE49-F238E27FC236}">
                <a16:creationId xmlns:a16="http://schemas.microsoft.com/office/drawing/2014/main" id="{6DCF1029-6A89-FEE3-E360-C2C6040917D6}"/>
              </a:ext>
            </a:extLst>
          </p:cNvPr>
          <p:cNvSpPr/>
          <p:nvPr/>
        </p:nvSpPr>
        <p:spPr>
          <a:xfrm>
            <a:off x="9790259" y="4275103"/>
            <a:ext cx="2329185"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a:latin typeface="メイリオ" panose="020B0604030504040204" pitchFamily="50" charset="-128"/>
                <a:ea typeface="メイリオ" panose="020B0604030504040204" pitchFamily="50" charset="-128"/>
              </a:rPr>
              <a:t>開発・</a:t>
            </a:r>
            <a:r>
              <a:rPr lang="en-US" altLang="ja-JP" sz="1600">
                <a:latin typeface="メイリオ" panose="020B0604030504040204" pitchFamily="50" charset="-128"/>
                <a:ea typeface="メイリオ" panose="020B0604030504040204" pitchFamily="50" charset="-128"/>
              </a:rPr>
              <a:t>DevOps</a:t>
            </a:r>
            <a:endParaRPr kumimoji="1" lang="ja-JP" altLang="en-US" sz="1600">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5702D217-210D-7CF8-EFAD-F9BA76AB2646}"/>
              </a:ext>
            </a:extLst>
          </p:cNvPr>
          <p:cNvSpPr txBox="1"/>
          <p:nvPr/>
        </p:nvSpPr>
        <p:spPr>
          <a:xfrm>
            <a:off x="9785972" y="4674981"/>
            <a:ext cx="2329186" cy="1731243"/>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ドキュメントの自動更新検知＆</a:t>
            </a:r>
            <a:r>
              <a:rPr lang="en-US" altLang="ja-JP" sz="1200">
                <a:latin typeface="メイリオ" panose="020B0604030504040204" pitchFamily="50" charset="-128"/>
                <a:ea typeface="メイリオ" panose="020B0604030504040204" pitchFamily="50" charset="-128"/>
              </a:rPr>
              <a:t>Changelog</a:t>
            </a:r>
            <a:r>
              <a:rPr lang="ja-JP" altLang="en-US" sz="1200">
                <a:latin typeface="メイリオ" panose="020B0604030504040204" pitchFamily="50" charset="-128"/>
                <a:ea typeface="メイリオ" panose="020B0604030504040204" pitchFamily="50" charset="-128"/>
              </a:rPr>
              <a:t>生成</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技術負債の定期スキャン＆レポート</a:t>
            </a:r>
            <a:endParaRPr lang="en-US" altLang="ja-JP" sz="1200">
              <a:latin typeface="メイリオ" panose="020B0604030504040204" pitchFamily="50" charset="-128"/>
              <a:ea typeface="メイリオ" panose="020B0604030504040204" pitchFamily="50" charset="-128"/>
            </a:endParaRPr>
          </a:p>
          <a:p>
            <a:pPr marL="171450" indent="-171450">
              <a:lnSpc>
                <a:spcPct val="150000"/>
              </a:lnSpc>
              <a:buFont typeface="Arial" panose="020B0604020202020204" pitchFamily="34" charset="0"/>
              <a:buChar char="•"/>
            </a:pPr>
            <a:r>
              <a:rPr lang="ja-JP" altLang="en-US" sz="1200">
                <a:latin typeface="メイリオ" panose="020B0604030504040204" pitchFamily="50" charset="-128"/>
                <a:ea typeface="メイリオ" panose="020B0604030504040204" pitchFamily="50" charset="-128"/>
              </a:rPr>
              <a:t>本番デプロイ後のスモークテスト</a:t>
            </a:r>
            <a:endParaRPr kumimoji="1" lang="en-US" altLang="ja-JP" sz="1200">
              <a:latin typeface="メイリオ" panose="020B0604030504040204" pitchFamily="50" charset="-128"/>
              <a:ea typeface="メイリオ" panose="020B0604030504040204" pitchFamily="50" charset="-128"/>
            </a:endParaRPr>
          </a:p>
        </p:txBody>
      </p:sp>
      <p:sp>
        <p:nvSpPr>
          <p:cNvPr id="40" name="正方形/長方形 39">
            <a:extLst>
              <a:ext uri="{FF2B5EF4-FFF2-40B4-BE49-F238E27FC236}">
                <a16:creationId xmlns:a16="http://schemas.microsoft.com/office/drawing/2014/main" id="{64BB39ED-4766-0227-9D25-8E4003FC521D}"/>
              </a:ext>
            </a:extLst>
          </p:cNvPr>
          <p:cNvSpPr/>
          <p:nvPr/>
        </p:nvSpPr>
        <p:spPr>
          <a:xfrm>
            <a:off x="9790259" y="4615506"/>
            <a:ext cx="2329185" cy="2108672"/>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585647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E6E3F-598C-75F5-2523-9F1193EC933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5C389BD-5F73-D4E0-FA57-3E5811BBDAEA}"/>
              </a:ext>
            </a:extLst>
          </p:cNvPr>
          <p:cNvSpPr txBox="1"/>
          <p:nvPr/>
        </p:nvSpPr>
        <p:spPr>
          <a:xfrm>
            <a:off x="443466" y="317212"/>
            <a:ext cx="11215133" cy="584775"/>
          </a:xfrm>
          <a:prstGeom prst="rect">
            <a:avLst/>
          </a:prstGeom>
          <a:noFill/>
        </p:spPr>
        <p:txBody>
          <a:bodyPr wrap="square" rtlCol="0">
            <a:spAutoFit/>
          </a:bodyPr>
          <a:lstStyle/>
          <a:p>
            <a:r>
              <a:rPr lang="en-US" altLang="ja-JP" sz="3200" b="1">
                <a:latin typeface="メイリオ" panose="020B0604030504040204" pitchFamily="50" charset="-128"/>
                <a:ea typeface="メイリオ" panose="020B0604030504040204" pitchFamily="50" charset="-128"/>
              </a:rPr>
              <a:t>5.</a:t>
            </a:r>
            <a:r>
              <a:rPr lang="ja-JP" altLang="en-US" sz="3200" b="1">
                <a:latin typeface="メイリオ" panose="020B0604030504040204" pitchFamily="50" charset="-128"/>
                <a:ea typeface="メイリオ" panose="020B0604030504040204" pitchFamily="50" charset="-128"/>
              </a:rPr>
              <a:t>自律型</a:t>
            </a:r>
            <a:r>
              <a:rPr lang="en-US" altLang="ja-JP" sz="3200" b="1">
                <a:latin typeface="メイリオ" panose="020B0604030504040204" pitchFamily="50" charset="-128"/>
                <a:ea typeface="メイリオ" panose="020B0604030504040204" pitchFamily="50" charset="-128"/>
              </a:rPr>
              <a:t>AI</a:t>
            </a:r>
            <a:r>
              <a:rPr lang="ja-JP" altLang="en-US" sz="3200" b="1">
                <a:latin typeface="メイリオ" panose="020B0604030504040204" pitchFamily="50" charset="-128"/>
                <a:ea typeface="メイリオ" panose="020B0604030504040204" pitchFamily="50" charset="-128"/>
              </a:rPr>
              <a:t>は“判断する仕事”に手が届き始めた</a:t>
            </a:r>
            <a:endParaRPr kumimoji="1" lang="ja-JP" altLang="en-US" sz="3200" b="1">
              <a:latin typeface="メイリオ" panose="020B0604030504040204" pitchFamily="50" charset="-128"/>
              <a:ea typeface="メイリオ" panose="020B0604030504040204" pitchFamily="50" charset="-128"/>
            </a:endParaRPr>
          </a:p>
        </p:txBody>
      </p:sp>
      <p:sp>
        <p:nvSpPr>
          <p:cNvPr id="2" name="正方形/長方形 1">
            <a:extLst>
              <a:ext uri="{FF2B5EF4-FFF2-40B4-BE49-F238E27FC236}">
                <a16:creationId xmlns:a16="http://schemas.microsoft.com/office/drawing/2014/main" id="{34DD1D90-9A33-F73B-BE63-E3C5C23C7D96}"/>
              </a:ext>
            </a:extLst>
          </p:cNvPr>
          <p:cNvSpPr/>
          <p:nvPr/>
        </p:nvSpPr>
        <p:spPr>
          <a:xfrm>
            <a:off x="348874" y="1158125"/>
            <a:ext cx="3676589"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500" b="1">
                <a:solidFill>
                  <a:srgbClr val="FFFFFF"/>
                </a:solidFill>
                <a:latin typeface="メイリオ"/>
              </a:defRPr>
            </a:pPr>
            <a:r>
              <a:rPr lang="en-US" altLang="ja-JP" sz="1600">
                <a:latin typeface="メイリオ" panose="020B0604030504040204" pitchFamily="50" charset="-128"/>
                <a:ea typeface="メイリオ" panose="020B0604030504040204" pitchFamily="50" charset="-128"/>
              </a:rPr>
              <a:t>RPA</a:t>
            </a:r>
            <a:r>
              <a:rPr lang="ja-JP" altLang="en-US" sz="1600">
                <a:latin typeface="メイリオ" panose="020B0604030504040204" pitchFamily="50" charset="-128"/>
                <a:ea typeface="メイリオ" panose="020B0604030504040204" pitchFamily="50" charset="-128"/>
              </a:rPr>
              <a:t>の限界</a:t>
            </a:r>
          </a:p>
        </p:txBody>
      </p:sp>
      <p:sp>
        <p:nvSpPr>
          <p:cNvPr id="3" name="正方形/長方形 2">
            <a:extLst>
              <a:ext uri="{FF2B5EF4-FFF2-40B4-BE49-F238E27FC236}">
                <a16:creationId xmlns:a16="http://schemas.microsoft.com/office/drawing/2014/main" id="{58575368-F400-B2ED-14CC-672789E3E594}"/>
              </a:ext>
            </a:extLst>
          </p:cNvPr>
          <p:cNvSpPr/>
          <p:nvPr/>
        </p:nvSpPr>
        <p:spPr>
          <a:xfrm>
            <a:off x="348874" y="1498528"/>
            <a:ext cx="3676589" cy="5042260"/>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E86F425-1DEB-9C64-7041-95F96CA19F2B}"/>
              </a:ext>
            </a:extLst>
          </p:cNvPr>
          <p:cNvSpPr/>
          <p:nvPr/>
        </p:nvSpPr>
        <p:spPr>
          <a:xfrm>
            <a:off x="4257706" y="1158125"/>
            <a:ext cx="3676589"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500" b="1">
                <a:solidFill>
                  <a:srgbClr val="FFFFFF"/>
                </a:solidFill>
                <a:latin typeface="メイリオ"/>
              </a:defRPr>
            </a:pPr>
            <a:r>
              <a:rPr lang="en-US" altLang="ja-JP" sz="1600">
                <a:latin typeface="メイリオ" panose="020B0604030504040204" pitchFamily="50" charset="-128"/>
                <a:ea typeface="メイリオ" panose="020B0604030504040204" pitchFamily="50" charset="-128"/>
              </a:rPr>
              <a:t>OpenClaw</a:t>
            </a:r>
            <a:r>
              <a:rPr lang="ja-JP" altLang="en-US" sz="1600">
                <a:latin typeface="メイリオ" panose="020B0604030504040204" pitchFamily="50" charset="-128"/>
                <a:ea typeface="メイリオ" panose="020B0604030504040204" pitchFamily="50" charset="-128"/>
              </a:rPr>
              <a:t>が実証した</a:t>
            </a:r>
            <a:r>
              <a:rPr lang="en-US" altLang="ja-JP" sz="1600">
                <a:latin typeface="メイリオ" panose="020B0604030504040204" pitchFamily="50" charset="-128"/>
                <a:ea typeface="メイリオ" panose="020B0604030504040204" pitchFamily="50" charset="-128"/>
              </a:rPr>
              <a:t>3</a:t>
            </a:r>
            <a:r>
              <a:rPr lang="ja-JP" altLang="en-US" sz="1600">
                <a:latin typeface="メイリオ" panose="020B0604030504040204" pitchFamily="50" charset="-128"/>
                <a:ea typeface="メイリオ" panose="020B0604030504040204" pitchFamily="50" charset="-128"/>
              </a:rPr>
              <a:t>つの能力</a:t>
            </a:r>
          </a:p>
        </p:txBody>
      </p:sp>
      <p:sp>
        <p:nvSpPr>
          <p:cNvPr id="6" name="正方形/長方形 5">
            <a:extLst>
              <a:ext uri="{FF2B5EF4-FFF2-40B4-BE49-F238E27FC236}">
                <a16:creationId xmlns:a16="http://schemas.microsoft.com/office/drawing/2014/main" id="{444833CD-CA95-0742-8C06-9815B57A5C17}"/>
              </a:ext>
            </a:extLst>
          </p:cNvPr>
          <p:cNvSpPr/>
          <p:nvPr/>
        </p:nvSpPr>
        <p:spPr>
          <a:xfrm>
            <a:off x="4257706" y="1498528"/>
            <a:ext cx="3676589" cy="5042260"/>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9983DDAB-1F22-E433-7F6A-5DB6A682F2E8}"/>
              </a:ext>
            </a:extLst>
          </p:cNvPr>
          <p:cNvSpPr/>
          <p:nvPr/>
        </p:nvSpPr>
        <p:spPr>
          <a:xfrm>
            <a:off x="8166538" y="1158125"/>
            <a:ext cx="3676589" cy="340403"/>
          </a:xfrm>
          <a:prstGeom prst="rect">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500" b="1">
                <a:solidFill>
                  <a:srgbClr val="FFFFFF"/>
                </a:solidFill>
                <a:latin typeface="メイリオ"/>
              </a:defRPr>
            </a:pPr>
            <a:r>
              <a:rPr lang="ja-JP" altLang="en-US" sz="1600">
                <a:latin typeface="メイリオ" panose="020B0604030504040204" pitchFamily="50" charset="-128"/>
                <a:ea typeface="メイリオ" panose="020B0604030504040204" pitchFamily="50" charset="-128"/>
              </a:rPr>
              <a:t>生成</a:t>
            </a:r>
            <a:r>
              <a:rPr lang="en-US" altLang="ja-JP" sz="1600">
                <a:latin typeface="メイリオ" panose="020B0604030504040204" pitchFamily="50" charset="-128"/>
                <a:ea typeface="メイリオ" panose="020B0604030504040204" pitchFamily="50" charset="-128"/>
              </a:rPr>
              <a:t>AI</a:t>
            </a:r>
            <a:r>
              <a:rPr lang="ja-JP" altLang="en-US" sz="1600">
                <a:latin typeface="メイリオ" panose="020B0604030504040204" pitchFamily="50" charset="-128"/>
                <a:ea typeface="メイリオ" panose="020B0604030504040204" pitchFamily="50" charset="-128"/>
              </a:rPr>
              <a:t>業界動向</a:t>
            </a:r>
          </a:p>
        </p:txBody>
      </p:sp>
      <p:sp>
        <p:nvSpPr>
          <p:cNvPr id="8" name="正方形/長方形 7">
            <a:extLst>
              <a:ext uri="{FF2B5EF4-FFF2-40B4-BE49-F238E27FC236}">
                <a16:creationId xmlns:a16="http://schemas.microsoft.com/office/drawing/2014/main" id="{7E4723E6-DC74-8008-1BA0-DF092296ED96}"/>
              </a:ext>
            </a:extLst>
          </p:cNvPr>
          <p:cNvSpPr/>
          <p:nvPr/>
        </p:nvSpPr>
        <p:spPr>
          <a:xfrm>
            <a:off x="8166538" y="1498528"/>
            <a:ext cx="3676589" cy="5042260"/>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11" name="テキスト ボックス 10">
            <a:extLst>
              <a:ext uri="{FF2B5EF4-FFF2-40B4-BE49-F238E27FC236}">
                <a16:creationId xmlns:a16="http://schemas.microsoft.com/office/drawing/2014/main" id="{ED264FAC-B693-8C9D-4932-45F6AB0DDDF8}"/>
              </a:ext>
            </a:extLst>
          </p:cNvPr>
          <p:cNvSpPr txBox="1"/>
          <p:nvPr/>
        </p:nvSpPr>
        <p:spPr>
          <a:xfrm>
            <a:off x="348875" y="1657564"/>
            <a:ext cx="3676588" cy="1404231"/>
          </a:xfrm>
          <a:prstGeom prst="rect">
            <a:avLst/>
          </a:prstGeom>
          <a:noFill/>
        </p:spPr>
        <p:txBody>
          <a:bodyPr wrap="square" rtlCol="0">
            <a:spAutoFit/>
          </a:bodyPr>
          <a:lstStyle/>
          <a:p>
            <a:pPr>
              <a:lnSpc>
                <a:spcPct val="150000"/>
              </a:lnSpc>
            </a:pPr>
            <a:r>
              <a:rPr lang="en-US" altLang="ja-JP" sz="1600" b="1">
                <a:latin typeface="メイリオ" panose="020B0604030504040204" pitchFamily="50" charset="-128"/>
                <a:ea typeface="メイリオ" panose="020B0604030504040204" pitchFamily="50" charset="-128"/>
              </a:rPr>
              <a:t>RPA</a:t>
            </a:r>
            <a:r>
              <a:rPr lang="ja-JP" altLang="en-US" sz="1600" b="1">
                <a:latin typeface="メイリオ" panose="020B0604030504040204" pitchFamily="50" charset="-128"/>
                <a:ea typeface="メイリオ" panose="020B0604030504040204" pitchFamily="50" charset="-128"/>
              </a:rPr>
              <a:t>が置き換えたもの</a:t>
            </a:r>
          </a:p>
          <a:p>
            <a:pPr>
              <a:lnSpc>
                <a:spcPct val="150000"/>
              </a:lnSpc>
            </a:pPr>
            <a:r>
              <a:rPr lang="ja-JP" altLang="en-US" sz="1400">
                <a:latin typeface="メイリオ" panose="020B0604030504040204" pitchFamily="50" charset="-128"/>
                <a:ea typeface="メイリオ" panose="020B0604030504040204" pitchFamily="50" charset="-128"/>
              </a:rPr>
              <a:t>・簡単データ入力</a:t>
            </a:r>
          </a:p>
          <a:p>
            <a:pPr>
              <a:lnSpc>
                <a:spcPct val="150000"/>
              </a:lnSpc>
            </a:pPr>
            <a:r>
              <a:rPr lang="ja-JP" altLang="en-US" sz="1400">
                <a:latin typeface="メイリオ" panose="020B0604030504040204" pitchFamily="50" charset="-128"/>
                <a:ea typeface="メイリオ" panose="020B0604030504040204" pitchFamily="50" charset="-128"/>
              </a:rPr>
              <a:t>・アプリケーション操作</a:t>
            </a:r>
          </a:p>
          <a:p>
            <a:pPr>
              <a:lnSpc>
                <a:spcPct val="150000"/>
              </a:lnSpc>
            </a:pPr>
            <a:r>
              <a:rPr lang="ja-JP" altLang="en-US" sz="1400">
                <a:latin typeface="メイリオ" panose="020B0604030504040204" pitchFamily="50" charset="-128"/>
                <a:ea typeface="メイリオ" panose="020B0604030504040204" pitchFamily="50" charset="-128"/>
              </a:rPr>
              <a:t>→ 手順が決まった定型作業</a:t>
            </a:r>
            <a:endParaRPr lang="ja-JP" altLang="en-US" sz="120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BF585F9C-22B5-66FB-6D53-61A89034EFC4}"/>
              </a:ext>
            </a:extLst>
          </p:cNvPr>
          <p:cNvSpPr txBox="1"/>
          <p:nvPr/>
        </p:nvSpPr>
        <p:spPr>
          <a:xfrm>
            <a:off x="348874" y="3679712"/>
            <a:ext cx="3676589" cy="1081065"/>
          </a:xfrm>
          <a:prstGeom prst="rect">
            <a:avLst/>
          </a:prstGeom>
          <a:noFill/>
        </p:spPr>
        <p:txBody>
          <a:bodyPr wrap="square" rtlCol="0">
            <a:spAutoFit/>
          </a:bodyPr>
          <a:lstStyle/>
          <a:p>
            <a:pPr>
              <a:lnSpc>
                <a:spcPct val="150000"/>
              </a:lnSpc>
            </a:pPr>
            <a:r>
              <a:rPr lang="ja-JP" altLang="en-US" sz="1600" b="1">
                <a:latin typeface="メイリオ" panose="020B0604030504040204" pitchFamily="50" charset="-128"/>
                <a:ea typeface="メイリオ" panose="020B0604030504040204" pitchFamily="50" charset="-128"/>
              </a:rPr>
              <a:t>自律型エージェントが置き換えるもの</a:t>
            </a:r>
          </a:p>
          <a:p>
            <a:pPr>
              <a:lnSpc>
                <a:spcPct val="150000"/>
              </a:lnSpc>
            </a:pPr>
            <a:r>
              <a:rPr lang="ja-JP" altLang="en-US" sz="1400">
                <a:latin typeface="メイリオ" panose="020B0604030504040204" pitchFamily="50" charset="-128"/>
                <a:ea typeface="メイリオ" panose="020B0604030504040204" pitchFamily="50" charset="-128"/>
              </a:rPr>
              <a:t>・状況を見て判断し、次のアクションを選ぶ業務</a:t>
            </a:r>
          </a:p>
        </p:txBody>
      </p:sp>
      <p:sp>
        <p:nvSpPr>
          <p:cNvPr id="13" name="テキスト ボックス 12">
            <a:extLst>
              <a:ext uri="{FF2B5EF4-FFF2-40B4-BE49-F238E27FC236}">
                <a16:creationId xmlns:a16="http://schemas.microsoft.com/office/drawing/2014/main" id="{D47899A0-50EA-0F9B-C3FE-D6D93B6A5F67}"/>
              </a:ext>
            </a:extLst>
          </p:cNvPr>
          <p:cNvSpPr txBox="1"/>
          <p:nvPr/>
        </p:nvSpPr>
        <p:spPr>
          <a:xfrm>
            <a:off x="348873" y="5034115"/>
            <a:ext cx="3676588" cy="757900"/>
          </a:xfrm>
          <a:prstGeom prst="rect">
            <a:avLst/>
          </a:prstGeom>
          <a:noFill/>
        </p:spPr>
        <p:txBody>
          <a:bodyPr wrap="square" rtlCol="0">
            <a:spAutoFit/>
          </a:bodyPr>
          <a:lstStyle/>
          <a:p>
            <a:pPr>
              <a:lnSpc>
                <a:spcPct val="150000"/>
              </a:lnSpc>
            </a:pPr>
            <a:r>
              <a:rPr lang="ja-JP" altLang="en-US" sz="1600" b="1">
                <a:latin typeface="メイリオ" panose="020B0604030504040204" pitchFamily="50" charset="-128"/>
                <a:ea typeface="メイリオ" panose="020B0604030504040204" pitchFamily="50" charset="-128"/>
              </a:rPr>
              <a:t>ポイント：</a:t>
            </a:r>
          </a:p>
          <a:p>
            <a:pPr>
              <a:lnSpc>
                <a:spcPct val="150000"/>
              </a:lnSpc>
            </a:pPr>
            <a:r>
              <a:rPr lang="ja-JP" altLang="en-US" sz="1400">
                <a:latin typeface="メイリオ" panose="020B0604030504040204" pitchFamily="50" charset="-128"/>
                <a:ea typeface="メイリオ" panose="020B0604030504040204" pitchFamily="50" charset="-128"/>
              </a:rPr>
              <a:t>自律性がある＝ </a:t>
            </a:r>
            <a:r>
              <a:rPr lang="en-US" altLang="ja-JP" sz="1400" b="1">
                <a:solidFill>
                  <a:schemeClr val="accent2">
                    <a:lumMod val="75000"/>
                  </a:schemeClr>
                </a:solidFill>
                <a:latin typeface="メイリオ" panose="020B0604030504040204" pitchFamily="50" charset="-128"/>
                <a:ea typeface="メイリオ" panose="020B0604030504040204" pitchFamily="50" charset="-128"/>
              </a:rPr>
              <a:t>"</a:t>
            </a:r>
            <a:r>
              <a:rPr lang="ja-JP" altLang="en-US" sz="1400" b="1">
                <a:solidFill>
                  <a:schemeClr val="accent2">
                    <a:lumMod val="75000"/>
                  </a:schemeClr>
                </a:solidFill>
                <a:latin typeface="メイリオ" panose="020B0604030504040204" pitchFamily="50" charset="-128"/>
                <a:ea typeface="メイリオ" panose="020B0604030504040204" pitchFamily="50" charset="-128"/>
              </a:rPr>
              <a:t>判断</a:t>
            </a:r>
            <a:r>
              <a:rPr lang="en-US" altLang="ja-JP" sz="1400" b="1">
                <a:solidFill>
                  <a:schemeClr val="accent2">
                    <a:lumMod val="75000"/>
                  </a:schemeClr>
                </a:solidFill>
                <a:latin typeface="メイリオ" panose="020B0604030504040204" pitchFamily="50" charset="-128"/>
                <a:ea typeface="メイリオ" panose="020B0604030504040204" pitchFamily="50" charset="-128"/>
              </a:rPr>
              <a:t>"</a:t>
            </a:r>
            <a:r>
              <a:rPr lang="ja-JP" altLang="en-US" sz="1400" b="1">
                <a:solidFill>
                  <a:schemeClr val="accent2">
                    <a:lumMod val="75000"/>
                  </a:schemeClr>
                </a:solidFill>
                <a:latin typeface="メイリオ" panose="020B0604030504040204" pitchFamily="50" charset="-128"/>
                <a:ea typeface="メイリオ" panose="020B0604030504040204" pitchFamily="50" charset="-128"/>
              </a:rPr>
              <a:t>が自動化される</a:t>
            </a:r>
          </a:p>
        </p:txBody>
      </p:sp>
      <p:sp>
        <p:nvSpPr>
          <p:cNvPr id="14" name="二等辺三角形 13">
            <a:extLst>
              <a:ext uri="{FF2B5EF4-FFF2-40B4-BE49-F238E27FC236}">
                <a16:creationId xmlns:a16="http://schemas.microsoft.com/office/drawing/2014/main" id="{8F9A5FD3-538F-D51E-DCA8-14739D395BD3}"/>
              </a:ext>
            </a:extLst>
          </p:cNvPr>
          <p:cNvSpPr/>
          <p:nvPr/>
        </p:nvSpPr>
        <p:spPr>
          <a:xfrm rot="10800000">
            <a:off x="1804616" y="3294961"/>
            <a:ext cx="765104" cy="214473"/>
          </a:xfrm>
          <a:prstGeom prst="triangl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1E11DECE-FFD7-B09F-7780-D48BBDB71A6B}"/>
              </a:ext>
            </a:extLst>
          </p:cNvPr>
          <p:cNvSpPr txBox="1"/>
          <p:nvPr/>
        </p:nvSpPr>
        <p:spPr>
          <a:xfrm>
            <a:off x="4257707" y="1657564"/>
            <a:ext cx="3676588" cy="1519647"/>
          </a:xfrm>
          <a:prstGeom prst="rect">
            <a:avLst/>
          </a:prstGeom>
          <a:noFill/>
        </p:spPr>
        <p:txBody>
          <a:bodyPr wrap="square" rtlCol="0">
            <a:spAutoFit/>
          </a:bodyPr>
          <a:lstStyle/>
          <a:p>
            <a:pPr>
              <a:lnSpc>
                <a:spcPct val="150000"/>
              </a:lnSpc>
            </a:pPr>
            <a:r>
              <a:rPr lang="en-US" altLang="ja-JP" sz="1600" b="1">
                <a:latin typeface="メイリオ" panose="020B0604030504040204" pitchFamily="50" charset="-128"/>
                <a:ea typeface="メイリオ" panose="020B0604030504040204" pitchFamily="50" charset="-128"/>
              </a:rPr>
              <a:t>Heartbeat</a:t>
            </a:r>
            <a:r>
              <a:rPr lang="ja-JP" altLang="en-US" sz="1600" b="1">
                <a:latin typeface="メイリオ" panose="020B0604030504040204" pitchFamily="50" charset="-128"/>
                <a:ea typeface="メイリオ" panose="020B0604030504040204" pitchFamily="50" charset="-128"/>
              </a:rPr>
              <a:t>（常時起動）</a:t>
            </a:r>
          </a:p>
          <a:p>
            <a:pPr>
              <a:lnSpc>
                <a:spcPct val="150000"/>
              </a:lnSpc>
            </a:pPr>
            <a:r>
              <a:rPr lang="en-US" altLang="ja-JP" sz="1400">
                <a:latin typeface="メイリオ" panose="020B0604030504040204" pitchFamily="50" charset="-128"/>
                <a:ea typeface="メイリオ" panose="020B0604030504040204" pitchFamily="50" charset="-128"/>
              </a:rPr>
              <a:t>30</a:t>
            </a:r>
            <a:r>
              <a:rPr lang="ja-JP" altLang="en-US" sz="1400">
                <a:latin typeface="メイリオ" panose="020B0604030504040204" pitchFamily="50" charset="-128"/>
                <a:ea typeface="メイリオ" panose="020B0604030504040204" pitchFamily="50" charset="-128"/>
              </a:rPr>
              <a:t>分ごとに状況を確認し、</a:t>
            </a:r>
          </a:p>
          <a:p>
            <a:pPr>
              <a:lnSpc>
                <a:spcPct val="150000"/>
              </a:lnSpc>
            </a:pPr>
            <a:r>
              <a:rPr lang="ja-JP" altLang="en-US" sz="1400">
                <a:latin typeface="メイリオ" panose="020B0604030504040204" pitchFamily="50" charset="-128"/>
                <a:ea typeface="メイリオ" panose="020B0604030504040204" pitchFamily="50" charset="-128"/>
              </a:rPr>
              <a:t>自分で優先度を判断して動く</a:t>
            </a:r>
            <a:endParaRPr lang="en-US" altLang="ja-JP" sz="1400">
              <a:latin typeface="メイリオ" panose="020B0604030504040204" pitchFamily="50" charset="-128"/>
              <a:ea typeface="メイリオ" panose="020B0604030504040204" pitchFamily="50" charset="-128"/>
            </a:endParaRPr>
          </a:p>
          <a:p>
            <a:pPr>
              <a:lnSpc>
                <a:spcPct val="150000"/>
              </a:lnSpc>
            </a:pPr>
            <a:endParaRPr lang="ja-JP" altLang="en-US" sz="400">
              <a:latin typeface="メイリオ" panose="020B0604030504040204" pitchFamily="50" charset="-128"/>
              <a:ea typeface="メイリオ" panose="020B0604030504040204" pitchFamily="50" charset="-128"/>
            </a:endParaRPr>
          </a:p>
          <a:p>
            <a:pPr>
              <a:lnSpc>
                <a:spcPct val="150000"/>
              </a:lnSpc>
            </a:pPr>
            <a:r>
              <a:rPr lang="ja-JP" altLang="en-US" sz="1400" b="1">
                <a:solidFill>
                  <a:srgbClr val="C00000"/>
                </a:solidFill>
                <a:latin typeface="メイリオ" panose="020B0604030504040204" pitchFamily="50" charset="-128"/>
                <a:ea typeface="メイリオ" panose="020B0604030504040204" pitchFamily="50" charset="-128"/>
              </a:rPr>
              <a:t>➡ 管理者・オペレーターの仕事そのもの</a:t>
            </a:r>
          </a:p>
        </p:txBody>
      </p:sp>
      <p:sp>
        <p:nvSpPr>
          <p:cNvPr id="16" name="テキスト ボックス 15">
            <a:extLst>
              <a:ext uri="{FF2B5EF4-FFF2-40B4-BE49-F238E27FC236}">
                <a16:creationId xmlns:a16="http://schemas.microsoft.com/office/drawing/2014/main" id="{85068579-E637-503D-5662-602935B71C80}"/>
              </a:ext>
            </a:extLst>
          </p:cNvPr>
          <p:cNvSpPr txBox="1"/>
          <p:nvPr/>
        </p:nvSpPr>
        <p:spPr>
          <a:xfrm>
            <a:off x="4257707" y="3321975"/>
            <a:ext cx="3676588" cy="1496564"/>
          </a:xfrm>
          <a:prstGeom prst="rect">
            <a:avLst/>
          </a:prstGeom>
          <a:noFill/>
        </p:spPr>
        <p:txBody>
          <a:bodyPr wrap="square" rtlCol="0">
            <a:spAutoFit/>
          </a:bodyPr>
          <a:lstStyle/>
          <a:p>
            <a:pPr>
              <a:lnSpc>
                <a:spcPct val="150000"/>
              </a:lnSpc>
            </a:pPr>
            <a:r>
              <a:rPr lang="ja-JP" altLang="en-US" sz="1600" b="1">
                <a:latin typeface="メイリオ" panose="020B0604030504040204" pitchFamily="50" charset="-128"/>
                <a:ea typeface="メイリオ" panose="020B0604030504040204" pitchFamily="50" charset="-128"/>
              </a:rPr>
              <a:t>記憶＋人格（</a:t>
            </a:r>
            <a:r>
              <a:rPr lang="en-US" altLang="ja-JP" sz="1600" b="1">
                <a:latin typeface="メイリオ" panose="020B0604030504040204" pitchFamily="50" charset="-128"/>
                <a:ea typeface="メイリオ" panose="020B0604030504040204" pitchFamily="50" charset="-128"/>
              </a:rPr>
              <a:t>Main Agent</a:t>
            </a:r>
            <a:r>
              <a:rPr lang="ja-JP" altLang="en-US" sz="1600" b="1">
                <a:latin typeface="メイリオ" panose="020B0604030504040204" pitchFamily="50" charset="-128"/>
                <a:ea typeface="メイリオ" panose="020B0604030504040204" pitchFamily="50" charset="-128"/>
              </a:rPr>
              <a:t>）</a:t>
            </a:r>
            <a:endParaRPr lang="en-US" altLang="ja-JP" sz="1600" b="1">
              <a:latin typeface="メイリオ" panose="020B0604030504040204" pitchFamily="50" charset="-128"/>
              <a:ea typeface="メイリオ" panose="020B0604030504040204" pitchFamily="50" charset="-128"/>
            </a:endParaRPr>
          </a:p>
          <a:p>
            <a:pPr>
              <a:lnSpc>
                <a:spcPct val="150000"/>
              </a:lnSpc>
            </a:pPr>
            <a:r>
              <a:rPr lang="ja-JP" altLang="en-US" sz="1400">
                <a:latin typeface="メイリオ" panose="020B0604030504040204" pitchFamily="50" charset="-128"/>
                <a:ea typeface="メイリオ" panose="020B0604030504040204" pitchFamily="50" charset="-128"/>
              </a:rPr>
              <a:t>文脈を蓄積し、ユーザーの好みに合わせて判断基準を調整</a:t>
            </a:r>
            <a:endParaRPr lang="en-US" altLang="ja-JP" sz="1400">
              <a:latin typeface="メイリオ" panose="020B0604030504040204" pitchFamily="50" charset="-128"/>
              <a:ea typeface="メイリオ" panose="020B0604030504040204" pitchFamily="50" charset="-128"/>
            </a:endParaRPr>
          </a:p>
          <a:p>
            <a:pPr>
              <a:lnSpc>
                <a:spcPct val="150000"/>
              </a:lnSpc>
            </a:pPr>
            <a:endParaRPr lang="ja-JP" altLang="en-US" sz="400">
              <a:latin typeface="メイリオ" panose="020B0604030504040204" pitchFamily="50" charset="-128"/>
              <a:ea typeface="メイリオ" panose="020B0604030504040204" pitchFamily="50" charset="-128"/>
            </a:endParaRPr>
          </a:p>
          <a:p>
            <a:pPr>
              <a:lnSpc>
                <a:spcPct val="150000"/>
              </a:lnSpc>
            </a:pPr>
            <a:r>
              <a:rPr lang="ja-JP" altLang="en-US" sz="1400" b="1">
                <a:solidFill>
                  <a:srgbClr val="C00000"/>
                </a:solidFill>
                <a:latin typeface="メイリオ" panose="020B0604030504040204" pitchFamily="50" charset="-128"/>
                <a:ea typeface="メイリオ" panose="020B0604030504040204" pitchFamily="50" charset="-128"/>
              </a:rPr>
              <a:t>➡ マニュアル外の対応ができる</a:t>
            </a:r>
          </a:p>
        </p:txBody>
      </p:sp>
      <p:sp>
        <p:nvSpPr>
          <p:cNvPr id="17" name="テキスト ボックス 16">
            <a:extLst>
              <a:ext uri="{FF2B5EF4-FFF2-40B4-BE49-F238E27FC236}">
                <a16:creationId xmlns:a16="http://schemas.microsoft.com/office/drawing/2014/main" id="{C36A9C59-50A6-32DF-5C49-81902F7B2E8B}"/>
              </a:ext>
            </a:extLst>
          </p:cNvPr>
          <p:cNvSpPr txBox="1"/>
          <p:nvPr/>
        </p:nvSpPr>
        <p:spPr>
          <a:xfrm>
            <a:off x="4257704" y="4963303"/>
            <a:ext cx="3676588" cy="1173398"/>
          </a:xfrm>
          <a:prstGeom prst="rect">
            <a:avLst/>
          </a:prstGeom>
          <a:noFill/>
        </p:spPr>
        <p:txBody>
          <a:bodyPr wrap="square" rtlCol="0">
            <a:spAutoFit/>
          </a:bodyPr>
          <a:lstStyle/>
          <a:p>
            <a:pPr>
              <a:lnSpc>
                <a:spcPct val="150000"/>
              </a:lnSpc>
            </a:pPr>
            <a:r>
              <a:rPr lang="ja-JP" altLang="en-US" sz="1600" b="1">
                <a:latin typeface="メイリオ" panose="020B0604030504040204" pitchFamily="50" charset="-128"/>
                <a:ea typeface="メイリオ" panose="020B0604030504040204" pitchFamily="50" charset="-128"/>
              </a:rPr>
              <a:t>テキストによる振る舞い定義</a:t>
            </a:r>
            <a:endParaRPr lang="en-US" altLang="ja-JP" sz="1600" b="1">
              <a:latin typeface="メイリオ" panose="020B0604030504040204" pitchFamily="50" charset="-128"/>
              <a:ea typeface="メイリオ" panose="020B0604030504040204" pitchFamily="50" charset="-128"/>
            </a:endParaRPr>
          </a:p>
          <a:p>
            <a:pPr>
              <a:lnSpc>
                <a:spcPct val="150000"/>
              </a:lnSpc>
            </a:pPr>
            <a:r>
              <a:rPr lang="ja-JP" altLang="en-US" sz="1400">
                <a:latin typeface="メイリオ" panose="020B0604030504040204" pitchFamily="50" charset="-128"/>
                <a:ea typeface="メイリオ" panose="020B0604030504040204" pitchFamily="50" charset="-128"/>
              </a:rPr>
              <a:t>手順書を渡すだけで</a:t>
            </a:r>
            <a:r>
              <a:rPr lang="en-US" altLang="ja-JP" sz="1400">
                <a:latin typeface="メイリオ" panose="020B0604030504040204" pitchFamily="50" charset="-128"/>
                <a:ea typeface="メイリオ" panose="020B0604030504040204" pitchFamily="50" charset="-128"/>
              </a:rPr>
              <a:t>AI</a:t>
            </a:r>
            <a:r>
              <a:rPr lang="ja-JP" altLang="en-US" sz="1400">
                <a:latin typeface="メイリオ" panose="020B0604030504040204" pitchFamily="50" charset="-128"/>
                <a:ea typeface="メイリオ" panose="020B0604030504040204" pitchFamily="50" charset="-128"/>
              </a:rPr>
              <a:t>が判断込みで実行</a:t>
            </a:r>
            <a:endParaRPr lang="en-US" altLang="ja-JP" sz="1400">
              <a:latin typeface="メイリオ" panose="020B0604030504040204" pitchFamily="50" charset="-128"/>
              <a:ea typeface="メイリオ" panose="020B0604030504040204" pitchFamily="50" charset="-128"/>
            </a:endParaRPr>
          </a:p>
          <a:p>
            <a:pPr>
              <a:lnSpc>
                <a:spcPct val="150000"/>
              </a:lnSpc>
            </a:pPr>
            <a:endParaRPr lang="ja-JP" altLang="en-US" sz="400">
              <a:latin typeface="メイリオ" panose="020B0604030504040204" pitchFamily="50" charset="-128"/>
              <a:ea typeface="メイリオ" panose="020B0604030504040204" pitchFamily="50" charset="-128"/>
            </a:endParaRPr>
          </a:p>
          <a:p>
            <a:pPr>
              <a:lnSpc>
                <a:spcPct val="150000"/>
              </a:lnSpc>
            </a:pPr>
            <a:r>
              <a:rPr lang="ja-JP" altLang="en-US" sz="1400" b="1">
                <a:solidFill>
                  <a:srgbClr val="C00000"/>
                </a:solidFill>
                <a:latin typeface="メイリオ" panose="020B0604030504040204" pitchFamily="50" charset="-128"/>
                <a:ea typeface="メイリオ" panose="020B0604030504040204" pitchFamily="50" charset="-128"/>
              </a:rPr>
              <a:t>➡ 教育コスト・引き継ぎコストが消える</a:t>
            </a:r>
          </a:p>
        </p:txBody>
      </p:sp>
      <p:sp>
        <p:nvSpPr>
          <p:cNvPr id="18" name="テキスト ボックス 17">
            <a:extLst>
              <a:ext uri="{FF2B5EF4-FFF2-40B4-BE49-F238E27FC236}">
                <a16:creationId xmlns:a16="http://schemas.microsoft.com/office/drawing/2014/main" id="{E21F7325-BF53-B07C-8D37-EC5A63C2D486}"/>
              </a:ext>
            </a:extLst>
          </p:cNvPr>
          <p:cNvSpPr txBox="1"/>
          <p:nvPr/>
        </p:nvSpPr>
        <p:spPr>
          <a:xfrm>
            <a:off x="8166538" y="1491109"/>
            <a:ext cx="3676587" cy="1034899"/>
          </a:xfrm>
          <a:prstGeom prst="rect">
            <a:avLst/>
          </a:prstGeom>
          <a:noFill/>
        </p:spPr>
        <p:txBody>
          <a:bodyPr wrap="square" rtlCol="0">
            <a:spAutoFit/>
          </a:bodyPr>
          <a:lstStyle/>
          <a:p>
            <a:pPr>
              <a:lnSpc>
                <a:spcPct val="150000"/>
              </a:lnSpc>
            </a:pPr>
            <a:r>
              <a:rPr lang="en-US" altLang="ja-JP" sz="1400">
                <a:latin typeface="メイリオ" panose="020B0604030504040204" pitchFamily="50" charset="-128"/>
                <a:ea typeface="メイリオ" panose="020B0604030504040204" pitchFamily="50" charset="-128"/>
              </a:rPr>
              <a:t>OpenAI</a:t>
            </a:r>
            <a:r>
              <a:rPr lang="ja-JP" altLang="en-US" sz="1400">
                <a:latin typeface="メイリオ" panose="020B0604030504040204" pitchFamily="50" charset="-128"/>
                <a:ea typeface="メイリオ" panose="020B0604030504040204" pitchFamily="50" charset="-128"/>
              </a:rPr>
              <a:t>・</a:t>
            </a:r>
            <a:r>
              <a:rPr lang="en-US" altLang="ja-JP" sz="1400">
                <a:latin typeface="メイリオ" panose="020B0604030504040204" pitchFamily="50" charset="-128"/>
                <a:ea typeface="メイリオ" panose="020B0604030504040204" pitchFamily="50" charset="-128"/>
              </a:rPr>
              <a:t>Anthropic</a:t>
            </a:r>
            <a:r>
              <a:rPr lang="ja-JP" altLang="en-US" sz="1400">
                <a:latin typeface="メイリオ" panose="020B0604030504040204" pitchFamily="50" charset="-128"/>
                <a:ea typeface="メイリオ" panose="020B0604030504040204" pitchFamily="50" charset="-128"/>
              </a:rPr>
              <a:t>が「判断する常駐エージェント」を製品化中 </a:t>
            </a:r>
            <a:endParaRPr lang="en-US" altLang="ja-JP" sz="400">
              <a:latin typeface="メイリオ" panose="020B0604030504040204" pitchFamily="50" charset="-128"/>
              <a:ea typeface="メイリオ" panose="020B0604030504040204" pitchFamily="50" charset="-128"/>
            </a:endParaRPr>
          </a:p>
          <a:p>
            <a:pPr>
              <a:lnSpc>
                <a:spcPct val="150000"/>
              </a:lnSpc>
            </a:pPr>
            <a:r>
              <a:rPr lang="ja-JP" altLang="en-US" sz="1400">
                <a:latin typeface="メイリオ" panose="020B0604030504040204" pitchFamily="50" charset="-128"/>
                <a:ea typeface="メイリオ" panose="020B0604030504040204" pitchFamily="50" charset="-128"/>
              </a:rPr>
              <a:t>→ 導入障壁は急速に低下</a:t>
            </a:r>
            <a:endParaRPr lang="ja-JP" altLang="en-US" sz="1100">
              <a:latin typeface="メイリオ" panose="020B0604030504040204" pitchFamily="50" charset="-128"/>
              <a:ea typeface="メイリオ" panose="020B0604030504040204" pitchFamily="50" charset="-128"/>
            </a:endParaRPr>
          </a:p>
        </p:txBody>
      </p:sp>
      <p:sp>
        <p:nvSpPr>
          <p:cNvPr id="19" name="二等辺三角形 18">
            <a:extLst>
              <a:ext uri="{FF2B5EF4-FFF2-40B4-BE49-F238E27FC236}">
                <a16:creationId xmlns:a16="http://schemas.microsoft.com/office/drawing/2014/main" id="{97A32694-2016-62A2-F0D8-EBE21E26F329}"/>
              </a:ext>
            </a:extLst>
          </p:cNvPr>
          <p:cNvSpPr/>
          <p:nvPr/>
        </p:nvSpPr>
        <p:spPr>
          <a:xfrm rot="10800000">
            <a:off x="9622281" y="2533427"/>
            <a:ext cx="765104" cy="214473"/>
          </a:xfrm>
          <a:prstGeom prst="triangl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AAFCA287-D31F-C76F-E80E-F5E5625E7025}"/>
              </a:ext>
            </a:extLst>
          </p:cNvPr>
          <p:cNvSpPr txBox="1"/>
          <p:nvPr/>
        </p:nvSpPr>
        <p:spPr>
          <a:xfrm>
            <a:off x="8166537" y="2707466"/>
            <a:ext cx="3676587" cy="711733"/>
          </a:xfrm>
          <a:prstGeom prst="rect">
            <a:avLst/>
          </a:prstGeom>
          <a:noFill/>
        </p:spPr>
        <p:txBody>
          <a:bodyPr wrap="square" rtlCol="0">
            <a:spAutoFit/>
          </a:bodyPr>
          <a:lstStyle/>
          <a:p>
            <a:pPr>
              <a:lnSpc>
                <a:spcPct val="150000"/>
              </a:lnSpc>
            </a:pPr>
            <a:r>
              <a:rPr lang="en-US" altLang="ja-JP" sz="1400" b="1">
                <a:solidFill>
                  <a:srgbClr val="C00000"/>
                </a:solidFill>
                <a:latin typeface="メイリオ" panose="020B0604030504040204" pitchFamily="50" charset="-128"/>
                <a:ea typeface="メイリオ" panose="020B0604030504040204" pitchFamily="50" charset="-128"/>
              </a:rPr>
              <a:t>AI</a:t>
            </a:r>
            <a:r>
              <a:rPr lang="ja-JP" altLang="en-US" sz="1400" b="1">
                <a:solidFill>
                  <a:srgbClr val="C00000"/>
                </a:solidFill>
                <a:latin typeface="メイリオ" panose="020B0604030504040204" pitchFamily="50" charset="-128"/>
                <a:ea typeface="メイリオ" panose="020B0604030504040204" pitchFamily="50" charset="-128"/>
              </a:rPr>
              <a:t>の自律判断は、もはや実験ではなくビジネスの実用に乗るフェーズに来ている</a:t>
            </a:r>
            <a:endParaRPr lang="en-US" altLang="ja-JP" sz="1400" b="1">
              <a:solidFill>
                <a:srgbClr val="C00000"/>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78F7A71C-A76C-0123-5BB7-7912433462ED}"/>
              </a:ext>
            </a:extLst>
          </p:cNvPr>
          <p:cNvSpPr txBox="1"/>
          <p:nvPr/>
        </p:nvSpPr>
        <p:spPr>
          <a:xfrm>
            <a:off x="8166533" y="3490738"/>
            <a:ext cx="3676588" cy="3020058"/>
          </a:xfrm>
          <a:prstGeom prst="rect">
            <a:avLst/>
          </a:prstGeom>
          <a:noFill/>
        </p:spPr>
        <p:txBody>
          <a:bodyPr wrap="square" rtlCol="0">
            <a:spAutoFit/>
          </a:bodyPr>
          <a:lstStyle/>
          <a:p>
            <a:pPr>
              <a:lnSpc>
                <a:spcPct val="150000"/>
              </a:lnSpc>
            </a:pPr>
            <a:r>
              <a:rPr lang="en-US" altLang="ja-JP" sz="1600" b="1">
                <a:latin typeface="メイリオ" panose="020B0604030504040204" pitchFamily="50" charset="-128"/>
                <a:ea typeface="メイリオ" panose="020B0604030504040204" pitchFamily="50" charset="-128"/>
              </a:rPr>
              <a:t>BPO</a:t>
            </a:r>
            <a:r>
              <a:rPr lang="ja-JP" altLang="en-US" sz="1600" b="1">
                <a:latin typeface="メイリオ" panose="020B0604030504040204" pitchFamily="50" charset="-128"/>
                <a:ea typeface="メイリオ" panose="020B0604030504040204" pitchFamily="50" charset="-128"/>
              </a:rPr>
              <a:t>への影響</a:t>
            </a:r>
          </a:p>
          <a:p>
            <a:pPr marL="285750" indent="-285750">
              <a:lnSpc>
                <a:spcPct val="150000"/>
              </a:lnSpc>
              <a:buFont typeface="Arial" panose="020B0604020202020204" pitchFamily="34" charset="0"/>
              <a:buChar char="•"/>
            </a:pPr>
            <a:r>
              <a:rPr lang="ja-JP" altLang="en-US" sz="1400" b="1">
                <a:latin typeface="メイリオ" panose="020B0604030504040204" pitchFamily="50" charset="-128"/>
                <a:ea typeface="メイリオ" panose="020B0604030504040204" pitchFamily="50" charset="-128"/>
              </a:rPr>
              <a:t>マニュアル化しきれない</a:t>
            </a:r>
            <a:r>
              <a:rPr lang="en-US" altLang="ja-JP" sz="1400" b="1">
                <a:latin typeface="メイリオ" panose="020B0604030504040204" pitchFamily="50" charset="-128"/>
                <a:ea typeface="メイリオ" panose="020B0604030504040204" pitchFamily="50" charset="-128"/>
              </a:rPr>
              <a:t>『</a:t>
            </a:r>
            <a:r>
              <a:rPr lang="ja-JP" altLang="en-US" sz="1400" b="1">
                <a:latin typeface="メイリオ" panose="020B0604030504040204" pitchFamily="50" charset="-128"/>
                <a:ea typeface="メイリオ" panose="020B0604030504040204" pitchFamily="50" charset="-128"/>
              </a:rPr>
              <a:t>人間の判断・調整</a:t>
            </a:r>
            <a:r>
              <a:rPr lang="en-US" altLang="ja-JP" sz="1400" b="1">
                <a:latin typeface="メイリオ" panose="020B0604030504040204" pitchFamily="50" charset="-128"/>
                <a:ea typeface="メイリオ" panose="020B0604030504040204" pitchFamily="50" charset="-128"/>
              </a:rPr>
              <a:t>』</a:t>
            </a:r>
            <a:r>
              <a:rPr lang="ja-JP" altLang="en-US" sz="1400" b="1">
                <a:latin typeface="メイリオ" panose="020B0604030504040204" pitchFamily="50" charset="-128"/>
                <a:ea typeface="メイリオ" panose="020B0604030504040204" pitchFamily="50" charset="-128"/>
              </a:rPr>
              <a:t>の消失による需要減</a:t>
            </a:r>
            <a:endParaRPr lang="en-US" altLang="ja-JP" sz="1400" b="1">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lang="ja-JP" altLang="en-US" sz="1400" b="1">
                <a:latin typeface="メイリオ" panose="020B0604030504040204" pitchFamily="50" charset="-128"/>
                <a:ea typeface="メイリオ" panose="020B0604030504040204" pitchFamily="50" charset="-128"/>
              </a:rPr>
              <a:t>「</a:t>
            </a:r>
            <a:r>
              <a:rPr lang="en-US" altLang="ja-JP" sz="1400" b="1">
                <a:latin typeface="メイリオ" panose="020B0604030504040204" pitchFamily="50" charset="-128"/>
                <a:ea typeface="メイリオ" panose="020B0604030504040204" pitchFamily="50" charset="-128"/>
              </a:rPr>
              <a:t>PMO</a:t>
            </a:r>
            <a:r>
              <a:rPr lang="ja-JP" altLang="en-US" sz="1400" b="1">
                <a:latin typeface="メイリオ" panose="020B0604030504040204" pitchFamily="50" charset="-128"/>
                <a:ea typeface="メイリオ" panose="020B0604030504040204" pitchFamily="50" charset="-128"/>
              </a:rPr>
              <a:t>・提案業務」の自律化による需要減</a:t>
            </a:r>
            <a:endParaRPr lang="en-US" altLang="ja-JP" sz="1400" b="1">
              <a:latin typeface="メイリオ" panose="020B0604030504040204" pitchFamily="50" charset="-128"/>
              <a:ea typeface="メイリオ" panose="020B0604030504040204" pitchFamily="50" charset="-128"/>
            </a:endParaRPr>
          </a:p>
          <a:p>
            <a:pPr marL="285750" indent="-285750">
              <a:lnSpc>
                <a:spcPct val="150000"/>
              </a:lnSpc>
              <a:buFont typeface="Arial" panose="020B0604020202020204" pitchFamily="34" charset="0"/>
              <a:buChar char="•"/>
            </a:pPr>
            <a:r>
              <a:rPr lang="en-US" altLang="ja-JP" sz="1400" b="1">
                <a:latin typeface="メイリオ" panose="020B0604030504040204" pitchFamily="50" charset="-128"/>
                <a:ea typeface="メイリオ" panose="020B0604030504040204" pitchFamily="50" charset="-128"/>
              </a:rPr>
              <a:t>AI</a:t>
            </a:r>
            <a:r>
              <a:rPr lang="ja-JP" altLang="en-US" sz="1400" b="1">
                <a:latin typeface="メイリオ" panose="020B0604030504040204" pitchFamily="50" charset="-128"/>
                <a:ea typeface="メイリオ" panose="020B0604030504040204" pitchFamily="50" charset="-128"/>
              </a:rPr>
              <a:t>活用が人間が起点じゃなくても動くので</a:t>
            </a:r>
            <a:r>
              <a:rPr lang="en-US" altLang="ja-JP" sz="1400" b="1">
                <a:latin typeface="メイリオ" panose="020B0604030504040204" pitchFamily="50" charset="-128"/>
                <a:ea typeface="メイリオ" panose="020B0604030504040204" pitchFamily="50" charset="-128"/>
              </a:rPr>
              <a:t>AI</a:t>
            </a:r>
            <a:r>
              <a:rPr lang="ja-JP" altLang="en-US" sz="1400" b="1">
                <a:latin typeface="メイリオ" panose="020B0604030504040204" pitchFamily="50" charset="-128"/>
                <a:ea typeface="メイリオ" panose="020B0604030504040204" pitchFamily="50" charset="-128"/>
              </a:rPr>
              <a:t>使えること自体の価値の需要減</a:t>
            </a:r>
            <a:endParaRPr lang="en-US" altLang="ja-JP" sz="1400" b="1">
              <a:latin typeface="メイリオ" panose="020B0604030504040204" pitchFamily="50" charset="-128"/>
              <a:ea typeface="メイリオ" panose="020B0604030504040204" pitchFamily="50" charset="-128"/>
            </a:endParaRPr>
          </a:p>
          <a:p>
            <a:pPr>
              <a:lnSpc>
                <a:spcPct val="150000"/>
              </a:lnSpc>
            </a:pPr>
            <a:r>
              <a:rPr lang="ja-JP" altLang="en-US" sz="1400" b="1">
                <a:latin typeface="メイリオ" panose="020B0604030504040204" pitchFamily="50" charset="-128"/>
                <a:ea typeface="メイリオ" panose="020B0604030504040204" pitchFamily="50" charset="-128"/>
              </a:rPr>
              <a:t>➡ 今後どういったアウトカムを提供できるかが市場価値になる</a:t>
            </a:r>
          </a:p>
        </p:txBody>
      </p:sp>
      <p:sp>
        <p:nvSpPr>
          <p:cNvPr id="22" name="二等辺三角形 21">
            <a:extLst>
              <a:ext uri="{FF2B5EF4-FFF2-40B4-BE49-F238E27FC236}">
                <a16:creationId xmlns:a16="http://schemas.microsoft.com/office/drawing/2014/main" id="{6F162E87-BF70-D5C5-F3FA-5E492D6A05BC}"/>
              </a:ext>
            </a:extLst>
          </p:cNvPr>
          <p:cNvSpPr/>
          <p:nvPr/>
        </p:nvSpPr>
        <p:spPr>
          <a:xfrm rot="10800000">
            <a:off x="9622281" y="3492351"/>
            <a:ext cx="765104" cy="214473"/>
          </a:xfrm>
          <a:prstGeom prst="triangle">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39174521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3FB276B-C25D-46DD-BACC-F1C1E3FC6EF4}">
  <we:reference id="wa200010001" version="1.0.0.0" store="en-US" storeType="OMEX"/>
  <we:alternateReferences>
    <we:reference id="WA200010001" version="1.0.0.0"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1374</TotalTime>
  <Words>3148</Words>
  <Application>Microsoft Office PowerPoint</Application>
  <PresentationFormat>ワイド画面</PresentationFormat>
  <Paragraphs>406</Paragraphs>
  <Slides>11</Slides>
  <Notes>1</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11</vt:i4>
      </vt:variant>
    </vt:vector>
  </HeadingPairs>
  <TitlesOfParts>
    <vt:vector size="15" baseType="lpstr">
      <vt:lpstr>メイリオ</vt:lpstr>
      <vt:lpstr>游ゴシック</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kodai higuchi</dc:creator>
  <cp:lastModifiedBy>kodai higuchi</cp:lastModifiedBy>
  <cp:revision>85</cp:revision>
  <dcterms:created xsi:type="dcterms:W3CDTF">2026-02-04T06:28:26Z</dcterms:created>
  <dcterms:modified xsi:type="dcterms:W3CDTF">2026-03-05T09:37:46Z</dcterms:modified>
</cp:coreProperties>
</file>