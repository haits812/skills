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sldIdLst>
    <p:sldId id="256" r:id="rId2"/>
    <p:sldId id="257" r:id="rId3"/>
    <p:sldId id="259" r:id="rId4"/>
    <p:sldId id="261" r:id="rId5"/>
    <p:sldId id="262" r:id="rId6"/>
    <p:sldId id="263" r:id="rId7"/>
    <p:sldId id="268" r:id="rId8"/>
    <p:sldId id="264" r:id="rId9"/>
    <p:sldId id="265" r:id="rId10"/>
    <p:sldId id="266" r:id="rId11"/>
    <p:sldId id="267" r:id="rId12"/>
    <p:sldId id="269" r:id="rId13"/>
    <p:sldId id="271" r:id="rId14"/>
    <p:sldId id="272" r:id="rId15"/>
    <p:sldId id="270" r:id="rId16"/>
    <p:sldId id="273" r:id="rId17"/>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DE5F3"/>
    <a:srgbClr val="CFBAE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スタイル (中間)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987" autoAdjust="0"/>
    <p:restoredTop sz="94660"/>
  </p:normalViewPr>
  <p:slideViewPr>
    <p:cSldViewPr snapToGrid="0">
      <p:cViewPr varScale="1">
        <p:scale>
          <a:sx n="117" d="100"/>
          <a:sy n="117" d="100"/>
        </p:scale>
        <p:origin x="100" y="6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58F722D-2274-4A30-A214-7B03C3AD31F9}" type="datetimeFigureOut">
              <a:rPr kumimoji="1" lang="ja-JP" altLang="en-US" smtClean="0"/>
              <a:t>2026/4/2</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B30768A-7EDE-4A60-A3AD-7A6D00335ACD}" type="slidenum">
              <a:rPr kumimoji="1" lang="ja-JP" altLang="en-US" smtClean="0"/>
              <a:t>‹#›</a:t>
            </a:fld>
            <a:endParaRPr kumimoji="1" lang="ja-JP" altLang="en-US"/>
          </a:p>
        </p:txBody>
      </p:sp>
    </p:spTree>
    <p:extLst>
      <p:ext uri="{BB962C8B-B14F-4D97-AF65-F5344CB8AC3E}">
        <p14:creationId xmlns:p14="http://schemas.microsoft.com/office/powerpoint/2010/main" val="124388297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EB30768A-7EDE-4A60-A3AD-7A6D00335ACD}" type="slidenum">
              <a:rPr kumimoji="1" lang="ja-JP" altLang="en-US" smtClean="0"/>
              <a:t>7</a:t>
            </a:fld>
            <a:endParaRPr kumimoji="1" lang="ja-JP" altLang="en-US"/>
          </a:p>
        </p:txBody>
      </p:sp>
    </p:spTree>
    <p:extLst>
      <p:ext uri="{BB962C8B-B14F-4D97-AF65-F5344CB8AC3E}">
        <p14:creationId xmlns:p14="http://schemas.microsoft.com/office/powerpoint/2010/main" val="431941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6FFD179-A474-6EED-DF30-9FAA9DB03BD1}"/>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D231B528-4A5C-65AF-C4EB-E7DF3942BC1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FB5D3B9E-0C04-1D83-356D-32619A6FE84C}"/>
              </a:ext>
            </a:extLst>
          </p:cNvPr>
          <p:cNvSpPr>
            <a:spLocks noGrp="1"/>
          </p:cNvSpPr>
          <p:nvPr>
            <p:ph type="dt" sz="half" idx="10"/>
          </p:nvPr>
        </p:nvSpPr>
        <p:spPr/>
        <p:txBody>
          <a:bodyPr/>
          <a:lstStyle/>
          <a:p>
            <a:fld id="{50C022C9-6362-4D7E-800D-CCB5DC9E42C2}" type="datetimeFigureOut">
              <a:rPr kumimoji="1" lang="ja-JP" altLang="en-US" smtClean="0"/>
              <a:t>2026/4/2</a:t>
            </a:fld>
            <a:endParaRPr kumimoji="1" lang="ja-JP" altLang="en-US"/>
          </a:p>
        </p:txBody>
      </p:sp>
      <p:sp>
        <p:nvSpPr>
          <p:cNvPr id="5" name="フッター プレースホルダー 4">
            <a:extLst>
              <a:ext uri="{FF2B5EF4-FFF2-40B4-BE49-F238E27FC236}">
                <a16:creationId xmlns:a16="http://schemas.microsoft.com/office/drawing/2014/main" id="{DB9C8F41-683B-E8A9-05C8-0F3D44A882DB}"/>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8770C819-7B0A-1F13-8017-35F4FFEFD1A7}"/>
              </a:ext>
            </a:extLst>
          </p:cNvPr>
          <p:cNvSpPr>
            <a:spLocks noGrp="1"/>
          </p:cNvSpPr>
          <p:nvPr>
            <p:ph type="sldNum" sz="quarter" idx="12"/>
          </p:nvPr>
        </p:nvSpPr>
        <p:spPr/>
        <p:txBody>
          <a:bodyPr/>
          <a:lstStyle/>
          <a:p>
            <a:fld id="{FBF6089D-95F5-4092-B6A7-DE2EA042654D}" type="slidenum">
              <a:rPr kumimoji="1" lang="ja-JP" altLang="en-US" smtClean="0"/>
              <a:t>‹#›</a:t>
            </a:fld>
            <a:endParaRPr kumimoji="1" lang="ja-JP" altLang="en-US"/>
          </a:p>
        </p:txBody>
      </p:sp>
    </p:spTree>
    <p:extLst>
      <p:ext uri="{BB962C8B-B14F-4D97-AF65-F5344CB8AC3E}">
        <p14:creationId xmlns:p14="http://schemas.microsoft.com/office/powerpoint/2010/main" val="360574643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EB9FF35-2037-1EE2-3594-6ACCDF5B913E}"/>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6FA7A7E2-5078-B9EC-401E-AF43F421301A}"/>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67FBC8D-D65B-C75C-F921-B8BDBEAA67BD}"/>
              </a:ext>
            </a:extLst>
          </p:cNvPr>
          <p:cNvSpPr>
            <a:spLocks noGrp="1"/>
          </p:cNvSpPr>
          <p:nvPr>
            <p:ph type="dt" sz="half" idx="10"/>
          </p:nvPr>
        </p:nvSpPr>
        <p:spPr/>
        <p:txBody>
          <a:bodyPr/>
          <a:lstStyle/>
          <a:p>
            <a:fld id="{50C022C9-6362-4D7E-800D-CCB5DC9E42C2}" type="datetimeFigureOut">
              <a:rPr kumimoji="1" lang="ja-JP" altLang="en-US" smtClean="0"/>
              <a:t>2026/4/2</a:t>
            </a:fld>
            <a:endParaRPr kumimoji="1" lang="ja-JP" altLang="en-US"/>
          </a:p>
        </p:txBody>
      </p:sp>
      <p:sp>
        <p:nvSpPr>
          <p:cNvPr id="5" name="フッター プレースホルダー 4">
            <a:extLst>
              <a:ext uri="{FF2B5EF4-FFF2-40B4-BE49-F238E27FC236}">
                <a16:creationId xmlns:a16="http://schemas.microsoft.com/office/drawing/2014/main" id="{FB849088-2DEF-4F68-5F1E-FEBC8FFAEEB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003503D1-A4D6-DCAE-5EBC-F6D2ED810CF4}"/>
              </a:ext>
            </a:extLst>
          </p:cNvPr>
          <p:cNvSpPr>
            <a:spLocks noGrp="1"/>
          </p:cNvSpPr>
          <p:nvPr>
            <p:ph type="sldNum" sz="quarter" idx="12"/>
          </p:nvPr>
        </p:nvSpPr>
        <p:spPr/>
        <p:txBody>
          <a:bodyPr/>
          <a:lstStyle/>
          <a:p>
            <a:fld id="{FBF6089D-95F5-4092-B6A7-DE2EA042654D}" type="slidenum">
              <a:rPr kumimoji="1" lang="ja-JP" altLang="en-US" smtClean="0"/>
              <a:t>‹#›</a:t>
            </a:fld>
            <a:endParaRPr kumimoji="1" lang="ja-JP" altLang="en-US"/>
          </a:p>
        </p:txBody>
      </p:sp>
    </p:spTree>
    <p:extLst>
      <p:ext uri="{BB962C8B-B14F-4D97-AF65-F5344CB8AC3E}">
        <p14:creationId xmlns:p14="http://schemas.microsoft.com/office/powerpoint/2010/main" val="20789620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98D8809-1FDF-B1D0-A3B9-D9B317735CFF}"/>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A63FD268-B254-41A0-E1C0-24031DE1906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7DAFBFFC-BCB5-7553-63CC-05DCE5E4D91F}"/>
              </a:ext>
            </a:extLst>
          </p:cNvPr>
          <p:cNvSpPr>
            <a:spLocks noGrp="1"/>
          </p:cNvSpPr>
          <p:nvPr>
            <p:ph type="dt" sz="half" idx="10"/>
          </p:nvPr>
        </p:nvSpPr>
        <p:spPr/>
        <p:txBody>
          <a:bodyPr/>
          <a:lstStyle/>
          <a:p>
            <a:fld id="{50C022C9-6362-4D7E-800D-CCB5DC9E42C2}" type="datetimeFigureOut">
              <a:rPr kumimoji="1" lang="ja-JP" altLang="en-US" smtClean="0"/>
              <a:t>2026/4/2</a:t>
            </a:fld>
            <a:endParaRPr kumimoji="1" lang="ja-JP" altLang="en-US"/>
          </a:p>
        </p:txBody>
      </p:sp>
      <p:sp>
        <p:nvSpPr>
          <p:cNvPr id="5" name="フッター プレースホルダー 4">
            <a:extLst>
              <a:ext uri="{FF2B5EF4-FFF2-40B4-BE49-F238E27FC236}">
                <a16:creationId xmlns:a16="http://schemas.microsoft.com/office/drawing/2014/main" id="{BE1546E2-AEAD-F18C-01AE-82BEFCABC162}"/>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2DB982F-2066-5CC4-D716-994848F3294A}"/>
              </a:ext>
            </a:extLst>
          </p:cNvPr>
          <p:cNvSpPr>
            <a:spLocks noGrp="1"/>
          </p:cNvSpPr>
          <p:nvPr>
            <p:ph type="sldNum" sz="quarter" idx="12"/>
          </p:nvPr>
        </p:nvSpPr>
        <p:spPr/>
        <p:txBody>
          <a:bodyPr/>
          <a:lstStyle/>
          <a:p>
            <a:fld id="{FBF6089D-95F5-4092-B6A7-DE2EA042654D}" type="slidenum">
              <a:rPr kumimoji="1" lang="ja-JP" altLang="en-US" smtClean="0"/>
              <a:t>‹#›</a:t>
            </a:fld>
            <a:endParaRPr kumimoji="1" lang="ja-JP" altLang="en-US"/>
          </a:p>
        </p:txBody>
      </p:sp>
    </p:spTree>
    <p:extLst>
      <p:ext uri="{BB962C8B-B14F-4D97-AF65-F5344CB8AC3E}">
        <p14:creationId xmlns:p14="http://schemas.microsoft.com/office/powerpoint/2010/main" val="9577038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9D34331-DF38-E363-9C50-E7579FA790DC}"/>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2AC9B805-6A23-3757-5A3A-43371B71F6A2}"/>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723BEE72-B7A9-7472-5C60-92787E1C141D}"/>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1A8320D9-A20F-3B2B-746E-B9AFF2048A0C}"/>
              </a:ext>
            </a:extLst>
          </p:cNvPr>
          <p:cNvSpPr>
            <a:spLocks noGrp="1"/>
          </p:cNvSpPr>
          <p:nvPr>
            <p:ph type="dt" sz="half" idx="10"/>
          </p:nvPr>
        </p:nvSpPr>
        <p:spPr/>
        <p:txBody>
          <a:bodyPr/>
          <a:lstStyle/>
          <a:p>
            <a:fld id="{50C022C9-6362-4D7E-800D-CCB5DC9E42C2}" type="datetimeFigureOut">
              <a:rPr kumimoji="1" lang="ja-JP" altLang="en-US" smtClean="0"/>
              <a:t>2026/4/2</a:t>
            </a:fld>
            <a:endParaRPr kumimoji="1" lang="ja-JP" altLang="en-US"/>
          </a:p>
        </p:txBody>
      </p:sp>
      <p:sp>
        <p:nvSpPr>
          <p:cNvPr id="6" name="フッター プレースホルダー 5">
            <a:extLst>
              <a:ext uri="{FF2B5EF4-FFF2-40B4-BE49-F238E27FC236}">
                <a16:creationId xmlns:a16="http://schemas.microsoft.com/office/drawing/2014/main" id="{868F0A13-78B6-D56B-BF06-AC2539D66245}"/>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52696EF-7B0A-C840-1169-498E27C95C07}"/>
              </a:ext>
            </a:extLst>
          </p:cNvPr>
          <p:cNvSpPr>
            <a:spLocks noGrp="1"/>
          </p:cNvSpPr>
          <p:nvPr>
            <p:ph type="sldNum" sz="quarter" idx="12"/>
          </p:nvPr>
        </p:nvSpPr>
        <p:spPr/>
        <p:txBody>
          <a:bodyPr/>
          <a:lstStyle/>
          <a:p>
            <a:fld id="{FBF6089D-95F5-4092-B6A7-DE2EA042654D}" type="slidenum">
              <a:rPr kumimoji="1" lang="ja-JP" altLang="en-US" smtClean="0"/>
              <a:t>‹#›</a:t>
            </a:fld>
            <a:endParaRPr kumimoji="1" lang="ja-JP" altLang="en-US"/>
          </a:p>
        </p:txBody>
      </p:sp>
    </p:spTree>
    <p:extLst>
      <p:ext uri="{BB962C8B-B14F-4D97-AF65-F5344CB8AC3E}">
        <p14:creationId xmlns:p14="http://schemas.microsoft.com/office/powerpoint/2010/main" val="14702739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DE73861-759B-7319-407B-E857A3A11273}"/>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61D1AFB5-A776-F568-047E-50FB143306F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E2A78C92-645E-0A79-3BD6-D704AF98AF9C}"/>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FA774066-8E0D-3A51-55B6-A718A4E72BA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EB177441-F3FD-BA74-C28C-40913CAE435E}"/>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94215683-BA66-60E0-6D0D-5FF4325D35B5}"/>
              </a:ext>
            </a:extLst>
          </p:cNvPr>
          <p:cNvSpPr>
            <a:spLocks noGrp="1"/>
          </p:cNvSpPr>
          <p:nvPr>
            <p:ph type="dt" sz="half" idx="10"/>
          </p:nvPr>
        </p:nvSpPr>
        <p:spPr/>
        <p:txBody>
          <a:bodyPr/>
          <a:lstStyle/>
          <a:p>
            <a:fld id="{50C022C9-6362-4D7E-800D-CCB5DC9E42C2}" type="datetimeFigureOut">
              <a:rPr kumimoji="1" lang="ja-JP" altLang="en-US" smtClean="0"/>
              <a:t>2026/4/2</a:t>
            </a:fld>
            <a:endParaRPr kumimoji="1" lang="ja-JP" altLang="en-US"/>
          </a:p>
        </p:txBody>
      </p:sp>
      <p:sp>
        <p:nvSpPr>
          <p:cNvPr id="8" name="フッター プレースホルダー 7">
            <a:extLst>
              <a:ext uri="{FF2B5EF4-FFF2-40B4-BE49-F238E27FC236}">
                <a16:creationId xmlns:a16="http://schemas.microsoft.com/office/drawing/2014/main" id="{9A5A0EE9-8736-5AD1-2372-A2B9C74AFEAC}"/>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FD447E25-4249-D752-B779-01F2E5C44ED8}"/>
              </a:ext>
            </a:extLst>
          </p:cNvPr>
          <p:cNvSpPr>
            <a:spLocks noGrp="1"/>
          </p:cNvSpPr>
          <p:nvPr>
            <p:ph type="sldNum" sz="quarter" idx="12"/>
          </p:nvPr>
        </p:nvSpPr>
        <p:spPr/>
        <p:txBody>
          <a:bodyPr/>
          <a:lstStyle/>
          <a:p>
            <a:fld id="{FBF6089D-95F5-4092-B6A7-DE2EA042654D}" type="slidenum">
              <a:rPr kumimoji="1" lang="ja-JP" altLang="en-US" smtClean="0"/>
              <a:t>‹#›</a:t>
            </a:fld>
            <a:endParaRPr kumimoji="1" lang="ja-JP" altLang="en-US"/>
          </a:p>
        </p:txBody>
      </p:sp>
    </p:spTree>
    <p:extLst>
      <p:ext uri="{BB962C8B-B14F-4D97-AF65-F5344CB8AC3E}">
        <p14:creationId xmlns:p14="http://schemas.microsoft.com/office/powerpoint/2010/main" val="21050468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4DA920B-3FEB-1718-F1EC-95F0204233A1}"/>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1569E227-0A61-DA64-91EA-5327D197AE17}"/>
              </a:ext>
            </a:extLst>
          </p:cNvPr>
          <p:cNvSpPr>
            <a:spLocks noGrp="1"/>
          </p:cNvSpPr>
          <p:nvPr>
            <p:ph type="dt" sz="half" idx="10"/>
          </p:nvPr>
        </p:nvSpPr>
        <p:spPr/>
        <p:txBody>
          <a:bodyPr/>
          <a:lstStyle/>
          <a:p>
            <a:fld id="{50C022C9-6362-4D7E-800D-CCB5DC9E42C2}" type="datetimeFigureOut">
              <a:rPr kumimoji="1" lang="ja-JP" altLang="en-US" smtClean="0"/>
              <a:t>2026/4/2</a:t>
            </a:fld>
            <a:endParaRPr kumimoji="1" lang="ja-JP" altLang="en-US"/>
          </a:p>
        </p:txBody>
      </p:sp>
      <p:sp>
        <p:nvSpPr>
          <p:cNvPr id="4" name="フッター プレースホルダー 3">
            <a:extLst>
              <a:ext uri="{FF2B5EF4-FFF2-40B4-BE49-F238E27FC236}">
                <a16:creationId xmlns:a16="http://schemas.microsoft.com/office/drawing/2014/main" id="{EE9D16DB-6C64-2812-10E0-24D3B234CFA0}"/>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210724D3-DB86-E532-CF4E-752FB7937B8C}"/>
              </a:ext>
            </a:extLst>
          </p:cNvPr>
          <p:cNvSpPr>
            <a:spLocks noGrp="1"/>
          </p:cNvSpPr>
          <p:nvPr>
            <p:ph type="sldNum" sz="quarter" idx="12"/>
          </p:nvPr>
        </p:nvSpPr>
        <p:spPr/>
        <p:txBody>
          <a:bodyPr/>
          <a:lstStyle/>
          <a:p>
            <a:fld id="{FBF6089D-95F5-4092-B6A7-DE2EA042654D}" type="slidenum">
              <a:rPr kumimoji="1" lang="ja-JP" altLang="en-US" smtClean="0"/>
              <a:t>‹#›</a:t>
            </a:fld>
            <a:endParaRPr kumimoji="1" lang="ja-JP" altLang="en-US"/>
          </a:p>
        </p:txBody>
      </p:sp>
    </p:spTree>
    <p:extLst>
      <p:ext uri="{BB962C8B-B14F-4D97-AF65-F5344CB8AC3E}">
        <p14:creationId xmlns:p14="http://schemas.microsoft.com/office/powerpoint/2010/main" val="21076857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C6A39E2B-0ABB-7583-7FCF-6A0A382016AB}"/>
              </a:ext>
            </a:extLst>
          </p:cNvPr>
          <p:cNvSpPr>
            <a:spLocks noGrp="1"/>
          </p:cNvSpPr>
          <p:nvPr>
            <p:ph type="dt" sz="half" idx="10"/>
          </p:nvPr>
        </p:nvSpPr>
        <p:spPr/>
        <p:txBody>
          <a:bodyPr/>
          <a:lstStyle/>
          <a:p>
            <a:fld id="{50C022C9-6362-4D7E-800D-CCB5DC9E42C2}" type="datetimeFigureOut">
              <a:rPr kumimoji="1" lang="ja-JP" altLang="en-US" smtClean="0"/>
              <a:t>2026/4/2</a:t>
            </a:fld>
            <a:endParaRPr kumimoji="1" lang="ja-JP" altLang="en-US"/>
          </a:p>
        </p:txBody>
      </p:sp>
      <p:sp>
        <p:nvSpPr>
          <p:cNvPr id="3" name="フッター プレースホルダー 2">
            <a:extLst>
              <a:ext uri="{FF2B5EF4-FFF2-40B4-BE49-F238E27FC236}">
                <a16:creationId xmlns:a16="http://schemas.microsoft.com/office/drawing/2014/main" id="{FA3EF4CB-8A24-3436-8562-F8A083F0615F}"/>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AF9B8917-F443-056F-58C9-DD331ED635DF}"/>
              </a:ext>
            </a:extLst>
          </p:cNvPr>
          <p:cNvSpPr>
            <a:spLocks noGrp="1"/>
          </p:cNvSpPr>
          <p:nvPr>
            <p:ph type="sldNum" sz="quarter" idx="12"/>
          </p:nvPr>
        </p:nvSpPr>
        <p:spPr/>
        <p:txBody>
          <a:bodyPr/>
          <a:lstStyle/>
          <a:p>
            <a:fld id="{FBF6089D-95F5-4092-B6A7-DE2EA042654D}" type="slidenum">
              <a:rPr kumimoji="1" lang="ja-JP" altLang="en-US" smtClean="0"/>
              <a:t>‹#›</a:t>
            </a:fld>
            <a:endParaRPr kumimoji="1" lang="ja-JP" altLang="en-US"/>
          </a:p>
        </p:txBody>
      </p:sp>
    </p:spTree>
    <p:extLst>
      <p:ext uri="{BB962C8B-B14F-4D97-AF65-F5344CB8AC3E}">
        <p14:creationId xmlns:p14="http://schemas.microsoft.com/office/powerpoint/2010/main" val="17236949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62BB35-D3E8-70CC-03B0-1EBE63DC6B15}"/>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D9A5C77F-DD97-197C-5A1F-3AE5CBCB997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C2D136B-885B-A37F-DB9A-5BFEE05E52E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B9259887-1609-6964-47BE-D54DE49C1072}"/>
              </a:ext>
            </a:extLst>
          </p:cNvPr>
          <p:cNvSpPr>
            <a:spLocks noGrp="1"/>
          </p:cNvSpPr>
          <p:nvPr>
            <p:ph type="dt" sz="half" idx="10"/>
          </p:nvPr>
        </p:nvSpPr>
        <p:spPr/>
        <p:txBody>
          <a:bodyPr/>
          <a:lstStyle/>
          <a:p>
            <a:fld id="{50C022C9-6362-4D7E-800D-CCB5DC9E42C2}" type="datetimeFigureOut">
              <a:rPr kumimoji="1" lang="ja-JP" altLang="en-US" smtClean="0"/>
              <a:t>2026/4/2</a:t>
            </a:fld>
            <a:endParaRPr kumimoji="1" lang="ja-JP" altLang="en-US"/>
          </a:p>
        </p:txBody>
      </p:sp>
      <p:sp>
        <p:nvSpPr>
          <p:cNvPr id="6" name="フッター プレースホルダー 5">
            <a:extLst>
              <a:ext uri="{FF2B5EF4-FFF2-40B4-BE49-F238E27FC236}">
                <a16:creationId xmlns:a16="http://schemas.microsoft.com/office/drawing/2014/main" id="{6225EA83-F7D0-3C46-1822-C0F5B8950E0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12DBDD24-C4E5-7023-E2C4-B0A1F4743688}"/>
              </a:ext>
            </a:extLst>
          </p:cNvPr>
          <p:cNvSpPr>
            <a:spLocks noGrp="1"/>
          </p:cNvSpPr>
          <p:nvPr>
            <p:ph type="sldNum" sz="quarter" idx="12"/>
          </p:nvPr>
        </p:nvSpPr>
        <p:spPr/>
        <p:txBody>
          <a:bodyPr/>
          <a:lstStyle/>
          <a:p>
            <a:fld id="{FBF6089D-95F5-4092-B6A7-DE2EA042654D}" type="slidenum">
              <a:rPr kumimoji="1" lang="ja-JP" altLang="en-US" smtClean="0"/>
              <a:t>‹#›</a:t>
            </a:fld>
            <a:endParaRPr kumimoji="1" lang="ja-JP" altLang="en-US"/>
          </a:p>
        </p:txBody>
      </p:sp>
    </p:spTree>
    <p:extLst>
      <p:ext uri="{BB962C8B-B14F-4D97-AF65-F5344CB8AC3E}">
        <p14:creationId xmlns:p14="http://schemas.microsoft.com/office/powerpoint/2010/main" val="6588553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5FAD83D-7ECD-9EAE-CDD7-CD3CD5BC197B}"/>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0AACBAB-89A4-4CEA-C612-CA6B5105CBC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29A196C1-7AC5-0C22-98DE-10069D59C5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13119D8B-5FC5-3263-5141-582D5CD2CC4A}"/>
              </a:ext>
            </a:extLst>
          </p:cNvPr>
          <p:cNvSpPr>
            <a:spLocks noGrp="1"/>
          </p:cNvSpPr>
          <p:nvPr>
            <p:ph type="dt" sz="half" idx="10"/>
          </p:nvPr>
        </p:nvSpPr>
        <p:spPr/>
        <p:txBody>
          <a:bodyPr/>
          <a:lstStyle/>
          <a:p>
            <a:fld id="{50C022C9-6362-4D7E-800D-CCB5DC9E42C2}" type="datetimeFigureOut">
              <a:rPr kumimoji="1" lang="ja-JP" altLang="en-US" smtClean="0"/>
              <a:t>2026/4/2</a:t>
            </a:fld>
            <a:endParaRPr kumimoji="1" lang="ja-JP" altLang="en-US"/>
          </a:p>
        </p:txBody>
      </p:sp>
      <p:sp>
        <p:nvSpPr>
          <p:cNvPr id="6" name="フッター プレースホルダー 5">
            <a:extLst>
              <a:ext uri="{FF2B5EF4-FFF2-40B4-BE49-F238E27FC236}">
                <a16:creationId xmlns:a16="http://schemas.microsoft.com/office/drawing/2014/main" id="{E6AA9012-0211-30F5-0FC6-55952577A11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13B1775-668E-3534-B2E7-20F412DD28F5}"/>
              </a:ext>
            </a:extLst>
          </p:cNvPr>
          <p:cNvSpPr>
            <a:spLocks noGrp="1"/>
          </p:cNvSpPr>
          <p:nvPr>
            <p:ph type="sldNum" sz="quarter" idx="12"/>
          </p:nvPr>
        </p:nvSpPr>
        <p:spPr/>
        <p:txBody>
          <a:bodyPr/>
          <a:lstStyle/>
          <a:p>
            <a:fld id="{FBF6089D-95F5-4092-B6A7-DE2EA042654D}" type="slidenum">
              <a:rPr kumimoji="1" lang="ja-JP" altLang="en-US" smtClean="0"/>
              <a:t>‹#›</a:t>
            </a:fld>
            <a:endParaRPr kumimoji="1" lang="ja-JP" altLang="en-US"/>
          </a:p>
        </p:txBody>
      </p:sp>
    </p:spTree>
    <p:extLst>
      <p:ext uri="{BB962C8B-B14F-4D97-AF65-F5344CB8AC3E}">
        <p14:creationId xmlns:p14="http://schemas.microsoft.com/office/powerpoint/2010/main" val="42091189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68EE62B-4E25-6957-512C-96525890465A}"/>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709CC5AE-3F98-7F56-DFC7-857A77A57F45}"/>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EFD36-4C91-5754-1311-0EE16B8A8B18}"/>
              </a:ext>
            </a:extLst>
          </p:cNvPr>
          <p:cNvSpPr>
            <a:spLocks noGrp="1"/>
          </p:cNvSpPr>
          <p:nvPr>
            <p:ph type="dt" sz="half" idx="10"/>
          </p:nvPr>
        </p:nvSpPr>
        <p:spPr/>
        <p:txBody>
          <a:bodyPr/>
          <a:lstStyle/>
          <a:p>
            <a:fld id="{50C022C9-6362-4D7E-800D-CCB5DC9E42C2}" type="datetimeFigureOut">
              <a:rPr kumimoji="1" lang="ja-JP" altLang="en-US" smtClean="0"/>
              <a:t>2026/4/2</a:t>
            </a:fld>
            <a:endParaRPr kumimoji="1" lang="ja-JP" altLang="en-US"/>
          </a:p>
        </p:txBody>
      </p:sp>
      <p:sp>
        <p:nvSpPr>
          <p:cNvPr id="5" name="フッター プレースホルダー 4">
            <a:extLst>
              <a:ext uri="{FF2B5EF4-FFF2-40B4-BE49-F238E27FC236}">
                <a16:creationId xmlns:a16="http://schemas.microsoft.com/office/drawing/2014/main" id="{7E4E434A-5EC6-86B6-3D68-0F15A68775A3}"/>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E45B7EA-6A53-48D2-0899-786A59AE2029}"/>
              </a:ext>
            </a:extLst>
          </p:cNvPr>
          <p:cNvSpPr>
            <a:spLocks noGrp="1"/>
          </p:cNvSpPr>
          <p:nvPr>
            <p:ph type="sldNum" sz="quarter" idx="12"/>
          </p:nvPr>
        </p:nvSpPr>
        <p:spPr/>
        <p:txBody>
          <a:bodyPr/>
          <a:lstStyle/>
          <a:p>
            <a:fld id="{FBF6089D-95F5-4092-B6A7-DE2EA042654D}" type="slidenum">
              <a:rPr kumimoji="1" lang="ja-JP" altLang="en-US" smtClean="0"/>
              <a:t>‹#›</a:t>
            </a:fld>
            <a:endParaRPr kumimoji="1" lang="ja-JP" altLang="en-US"/>
          </a:p>
        </p:txBody>
      </p:sp>
    </p:spTree>
    <p:extLst>
      <p:ext uri="{BB962C8B-B14F-4D97-AF65-F5344CB8AC3E}">
        <p14:creationId xmlns:p14="http://schemas.microsoft.com/office/powerpoint/2010/main" val="205143686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65055E64-173A-A46C-E067-034922F9DF07}"/>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BC2435AE-2288-BDC4-9EB4-56458197498C}"/>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7FE9259-C3C0-CA00-CBBA-7C6E5A33D42D}"/>
              </a:ext>
            </a:extLst>
          </p:cNvPr>
          <p:cNvSpPr>
            <a:spLocks noGrp="1"/>
          </p:cNvSpPr>
          <p:nvPr>
            <p:ph type="dt" sz="half" idx="10"/>
          </p:nvPr>
        </p:nvSpPr>
        <p:spPr/>
        <p:txBody>
          <a:bodyPr/>
          <a:lstStyle/>
          <a:p>
            <a:fld id="{50C022C9-6362-4D7E-800D-CCB5DC9E42C2}" type="datetimeFigureOut">
              <a:rPr kumimoji="1" lang="ja-JP" altLang="en-US" smtClean="0"/>
              <a:t>2026/4/2</a:t>
            </a:fld>
            <a:endParaRPr kumimoji="1" lang="ja-JP" altLang="en-US"/>
          </a:p>
        </p:txBody>
      </p:sp>
      <p:sp>
        <p:nvSpPr>
          <p:cNvPr id="5" name="フッター プレースホルダー 4">
            <a:extLst>
              <a:ext uri="{FF2B5EF4-FFF2-40B4-BE49-F238E27FC236}">
                <a16:creationId xmlns:a16="http://schemas.microsoft.com/office/drawing/2014/main" id="{64076CD3-9B26-E2F3-5C94-DD7BEFB3240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007AA67-CF2D-0A39-A110-AF3CA7C1FB4D}"/>
              </a:ext>
            </a:extLst>
          </p:cNvPr>
          <p:cNvSpPr>
            <a:spLocks noGrp="1"/>
          </p:cNvSpPr>
          <p:nvPr>
            <p:ph type="sldNum" sz="quarter" idx="12"/>
          </p:nvPr>
        </p:nvSpPr>
        <p:spPr/>
        <p:txBody>
          <a:bodyPr/>
          <a:lstStyle/>
          <a:p>
            <a:fld id="{FBF6089D-95F5-4092-B6A7-DE2EA042654D}" type="slidenum">
              <a:rPr kumimoji="1" lang="ja-JP" altLang="en-US" smtClean="0"/>
              <a:t>‹#›</a:t>
            </a:fld>
            <a:endParaRPr kumimoji="1" lang="ja-JP" altLang="en-US"/>
          </a:p>
        </p:txBody>
      </p:sp>
    </p:spTree>
    <p:extLst>
      <p:ext uri="{BB962C8B-B14F-4D97-AF65-F5344CB8AC3E}">
        <p14:creationId xmlns:p14="http://schemas.microsoft.com/office/powerpoint/2010/main" val="102742973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100907DD-842A-E29E-D60A-08ED59FCD11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7F59D565-08B7-F15A-BDD8-D53BE04D444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8A62D52-320C-F297-245D-521F0BBBB76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メイリオ" panose="020B0604030504040204" pitchFamily="50" charset="-128"/>
                <a:ea typeface="メイリオ" panose="020B0604030504040204" pitchFamily="50" charset="-128"/>
              </a:defRPr>
            </a:lvl1pPr>
          </a:lstStyle>
          <a:p>
            <a:fld id="{50C022C9-6362-4D7E-800D-CCB5DC9E42C2}" type="datetimeFigureOut">
              <a:rPr lang="ja-JP" altLang="en-US" smtClean="0"/>
              <a:pPr/>
              <a:t>2026/4/2</a:t>
            </a:fld>
            <a:endParaRPr lang="ja-JP" altLang="en-US"/>
          </a:p>
        </p:txBody>
      </p:sp>
      <p:sp>
        <p:nvSpPr>
          <p:cNvPr id="5" name="フッター プレースホルダー 4">
            <a:extLst>
              <a:ext uri="{FF2B5EF4-FFF2-40B4-BE49-F238E27FC236}">
                <a16:creationId xmlns:a16="http://schemas.microsoft.com/office/drawing/2014/main" id="{DD837BAE-EBEB-1F2E-57B8-5D2CB39ABBB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メイリオ" panose="020B0604030504040204" pitchFamily="50" charset="-128"/>
                <a:ea typeface="メイリオ" panose="020B0604030504040204" pitchFamily="50" charset="-128"/>
              </a:defRPr>
            </a:lvl1pPr>
          </a:lstStyle>
          <a:p>
            <a:endParaRPr lang="ja-JP" altLang="en-US"/>
          </a:p>
        </p:txBody>
      </p:sp>
      <p:sp>
        <p:nvSpPr>
          <p:cNvPr id="6" name="スライド番号プレースホルダー 5">
            <a:extLst>
              <a:ext uri="{FF2B5EF4-FFF2-40B4-BE49-F238E27FC236}">
                <a16:creationId xmlns:a16="http://schemas.microsoft.com/office/drawing/2014/main" id="{E53B9A0A-A600-1DDE-BE15-1F6392A9E6B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メイリオ" panose="020B0604030504040204" pitchFamily="50" charset="-128"/>
                <a:ea typeface="メイリオ" panose="020B0604030504040204" pitchFamily="50" charset="-128"/>
              </a:defRPr>
            </a:lvl1pPr>
          </a:lstStyle>
          <a:p>
            <a:fld id="{FBF6089D-95F5-4092-B6A7-DE2EA042654D}" type="slidenum">
              <a:rPr lang="ja-JP" altLang="en-US" smtClean="0"/>
              <a:pPr/>
              <a:t>‹#›</a:t>
            </a:fld>
            <a:endParaRPr lang="ja-JP" altLang="en-US"/>
          </a:p>
        </p:txBody>
      </p:sp>
    </p:spTree>
    <p:extLst>
      <p:ext uri="{BB962C8B-B14F-4D97-AF65-F5344CB8AC3E}">
        <p14:creationId xmlns:p14="http://schemas.microsoft.com/office/powerpoint/2010/main" val="316152542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メイリオ" panose="020B0604030504040204" pitchFamily="50" charset="-128"/>
          <a:ea typeface="メイリオ" panose="020B0604030504040204" pitchFamily="50"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13" Type="http://schemas.openxmlformats.org/officeDocument/2006/relationships/hyperlink" Target="https://news.mynavi.jp/article/20251223-3859486/" TargetMode="External"/><Relationship Id="rId18" Type="http://schemas.openxmlformats.org/officeDocument/2006/relationships/image" Target="../media/image8.png"/><Relationship Id="rId3" Type="http://schemas.openxmlformats.org/officeDocument/2006/relationships/hyperlink" Target="https://news.yahoo.co.jp/expert/articles/2aaef085f14d8c5592ecd0e6df466a5afc86d56e" TargetMode="External"/><Relationship Id="rId7" Type="http://schemas.openxmlformats.org/officeDocument/2006/relationships/image" Target="../media/image3.png"/><Relationship Id="rId12" Type="http://schemas.openxmlformats.org/officeDocument/2006/relationships/hyperlink" Target="https://www.sbbit.jp/article/cont1/179458" TargetMode="External"/><Relationship Id="rId17" Type="http://schemas.openxmlformats.org/officeDocument/2006/relationships/image" Target="../media/image7.png"/><Relationship Id="rId2" Type="http://schemas.openxmlformats.org/officeDocument/2006/relationships/hyperlink" Target="https://gigazine.net/news/20251210-mcp-donated-to-aaif/" TargetMode="External"/><Relationship Id="rId16" Type="http://schemas.openxmlformats.org/officeDocument/2006/relationships/hyperlink" Target="https://www.watch.impress.co.jp/docs/topic/2079398.html" TargetMode="External"/><Relationship Id="rId1" Type="http://schemas.openxmlformats.org/officeDocument/2006/relationships/slideLayout" Target="../slideLayouts/slideLayout1.xml"/><Relationship Id="rId6" Type="http://schemas.openxmlformats.org/officeDocument/2006/relationships/image" Target="../media/image2.png"/><Relationship Id="rId11" Type="http://schemas.openxmlformats.org/officeDocument/2006/relationships/hyperlink" Target="https://dev.classmethod.jp/articles/claude-desktop-mcp-answered-by-claude/" TargetMode="External"/><Relationship Id="rId5" Type="http://schemas.openxmlformats.org/officeDocument/2006/relationships/image" Target="../media/image1.jpg"/><Relationship Id="rId15" Type="http://schemas.openxmlformats.org/officeDocument/2006/relationships/hyperlink" Target="https://tech-noisy.com/2026/01/26/anthropic-claude-in-excel-beta-release/" TargetMode="External"/><Relationship Id="rId10" Type="http://schemas.openxmlformats.org/officeDocument/2006/relationships/image" Target="../media/image6.png"/><Relationship Id="rId19" Type="http://schemas.openxmlformats.org/officeDocument/2006/relationships/image" Target="../media/image9.png"/><Relationship Id="rId4" Type="http://schemas.openxmlformats.org/officeDocument/2006/relationships/hyperlink" Target="https://forest.watch.impress.co.jp/docs/news/2067633.html" TargetMode="External"/><Relationship Id="rId9" Type="http://schemas.openxmlformats.org/officeDocument/2006/relationships/image" Target="../media/image5.png"/><Relationship Id="rId14" Type="http://schemas.openxmlformats.org/officeDocument/2006/relationships/hyperlink" Target="https://forest.watch.impress.co.jp/docs/news/2055832.html" TargetMode="External"/></Relationships>
</file>

<file path=ppt/slides/_rels/slide2.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3.png"/><Relationship Id="rId7" Type="http://schemas.openxmlformats.org/officeDocument/2006/relationships/image" Target="../media/image11.svg"/><Relationship Id="rId2" Type="http://schemas.openxmlformats.org/officeDocument/2006/relationships/image" Target="../media/image1.jpg"/><Relationship Id="rId1" Type="http://schemas.openxmlformats.org/officeDocument/2006/relationships/slideLayout" Target="../slideLayouts/slideLayout1.xml"/><Relationship Id="rId6" Type="http://schemas.openxmlformats.org/officeDocument/2006/relationships/image" Target="../media/image10.png"/><Relationship Id="rId11" Type="http://schemas.openxmlformats.org/officeDocument/2006/relationships/hyperlink" Target="https://claude.com/ja-jp/blog/how-anthropic-teams-use-claude-code" TargetMode="External"/><Relationship Id="rId5" Type="http://schemas.openxmlformats.org/officeDocument/2006/relationships/image" Target="../media/image6.png"/><Relationship Id="rId10" Type="http://schemas.openxmlformats.org/officeDocument/2006/relationships/hyperlink" Target="https://learn.microsoft.com/ja-jp/microsoft-365-copilot/extensibility/agents-overview" TargetMode="External"/><Relationship Id="rId4" Type="http://schemas.openxmlformats.org/officeDocument/2006/relationships/hyperlink" Target="https://claude.ai/code" TargetMode="External"/><Relationship Id="rId9" Type="http://schemas.openxmlformats.org/officeDocument/2006/relationships/image" Target="../media/image13.png"/></Relationships>
</file>

<file path=ppt/slides/_rels/slide3.xml.rels><?xml version="1.0" encoding="UTF-8" standalone="yes"?>
<Relationships xmlns="http://schemas.openxmlformats.org/package/2006/relationships"><Relationship Id="rId3" Type="http://schemas.openxmlformats.org/officeDocument/2006/relationships/hyperlink" Target="https://note.com/hhu/n/n92c9c7c65722" TargetMode="External"/><Relationship Id="rId2" Type="http://schemas.openxmlformats.org/officeDocument/2006/relationships/hyperlink" Target="https://note.com/napps/n/na65725437971" TargetMode="External"/><Relationship Id="rId1" Type="http://schemas.openxmlformats.org/officeDocument/2006/relationships/slideLayout" Target="../slideLayouts/slideLayout1.xml"/><Relationship Id="rId4" Type="http://schemas.openxmlformats.org/officeDocument/2006/relationships/hyperlink" Target="https://docodoor.co.jp/staffblog/claudecode_for_marketing/"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https://qiita.com/hirokidaichi/items/243bd176b84900f4cc0d" TargetMode="External"/><Relationship Id="rId7" Type="http://schemas.openxmlformats.org/officeDocument/2006/relationships/hyperlink" Target="https://group.gmo/news/article/9794/" TargetMode="External"/><Relationship Id="rId2" Type="http://schemas.openxmlformats.org/officeDocument/2006/relationships/hyperlink" Target="https://note.com/electrical_cat/n/n672a533b2004" TargetMode="External"/><Relationship Id="rId1" Type="http://schemas.openxmlformats.org/officeDocument/2006/relationships/slideLayout" Target="../slideLayouts/slideLayout1.xml"/><Relationship Id="rId6" Type="http://schemas.openxmlformats.org/officeDocument/2006/relationships/hyperlink" Target="https://zenn.dev/readyfor_blog/articles/a1cfd81a562e07" TargetMode="External"/><Relationship Id="rId5" Type="http://schemas.openxmlformats.org/officeDocument/2006/relationships/hyperlink" Target="https://www.itmedia.co.jp/news/articles/2509/29/news074.html" TargetMode="External"/><Relationship Id="rId4" Type="http://schemas.openxmlformats.org/officeDocument/2006/relationships/hyperlink" Target="https://docs.google.com/spreadsheets/d/1HW0ipoNLYD6LqbqDnfeZE8sy_PlUue-hq1B47NuwIvQ/edit?gid=0#gid=0" TargetMode="External"/></Relationships>
</file>

<file path=ppt/slides/_rels/slide5.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hyperlink" Target="https://www.bloomberg.com/news/articles/2025-06-10/accenture-trains-500-000-staffers-for-boom-in-ai-consulting-work" TargetMode="External"/><Relationship Id="rId7" Type="http://schemas.openxmlformats.org/officeDocument/2006/relationships/hyperlink" Target="https://www.nttdata.com/global/ja/news/topics/2025/090502/" TargetMode="External"/><Relationship Id="rId2" Type="http://schemas.openxmlformats.org/officeDocument/2006/relationships/hyperlink" Target="https://www.trans-cosmos.co.jp/ir/library/pdf/2025/pre250430.pdf" TargetMode="External"/><Relationship Id="rId1" Type="http://schemas.openxmlformats.org/officeDocument/2006/relationships/slideLayout" Target="../slideLayouts/slideLayout1.xml"/><Relationship Id="rId6" Type="http://schemas.openxmlformats.org/officeDocument/2006/relationships/hyperlink" Target="https://www.solution.bell24.co.jp/ja/solution/crm_consulting/publicsectorbpo/ai_bpo/" TargetMode="External"/><Relationship Id="rId5" Type="http://schemas.openxmlformats.org/officeDocument/2006/relationships/hyperlink" Target="https://www.trans-cosmos.co.jp/company/news/240808_0001.html" TargetMode="External"/><Relationship Id="rId4" Type="http://schemas.openxmlformats.org/officeDocument/2006/relationships/hyperlink" Target="https://newsroom.accenture.jp/jp/news/2025/release-20251217"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hyperlink" Target="https://blog.lai.so/openclaw/" TargetMode="External"/><Relationship Id="rId7" Type="http://schemas.openxmlformats.org/officeDocument/2006/relationships/image" Target="../media/image17.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16.png"/><Relationship Id="rId11" Type="http://schemas.openxmlformats.org/officeDocument/2006/relationships/hyperlink" Target="https://www.techno-edge.net/article/2026/02/16/4867.html" TargetMode="External"/><Relationship Id="rId5" Type="http://schemas.openxmlformats.org/officeDocument/2006/relationships/image" Target="../media/image15.png"/><Relationship Id="rId10" Type="http://schemas.openxmlformats.org/officeDocument/2006/relationships/image" Target="../media/image19.jpg"/><Relationship Id="rId4" Type="http://schemas.openxmlformats.org/officeDocument/2006/relationships/hyperlink" Target="https://www.cnbc.com/2026/02/15/openclaw-creator-peter-steinberger-joining-openai-altman-says.html" TargetMode="External"/><Relationship Id="rId9" Type="http://schemas.openxmlformats.org/officeDocument/2006/relationships/hyperlink" Target="https://x.com/AlicanKiraz0/status/2025277145589617139"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21.svg"/><Relationship Id="rId7" Type="http://schemas.openxmlformats.org/officeDocument/2006/relationships/image" Target="../media/image25.png"/><Relationship Id="rId2" Type="http://schemas.openxmlformats.org/officeDocument/2006/relationships/image" Target="../media/image20.svg"/><Relationship Id="rId1" Type="http://schemas.openxmlformats.org/officeDocument/2006/relationships/slideLayout" Target="../slideLayouts/slideLayout1.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 Id="rId9" Type="http://schemas.openxmlformats.org/officeDocument/2006/relationships/image" Target="../media/image27.png"/></Relationships>
</file>

<file path=ppt/slides/_rels/slide14.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slideLayout" Target="../slideLayouts/slideLayout1.xml"/><Relationship Id="rId1" Type="http://schemas.openxmlformats.org/officeDocument/2006/relationships/video" Target="https://www.youtube.com/embed/HSS1G0trJ7M?feature=oembed" TargetMode="External"/></Relationships>
</file>

<file path=ppt/slides/_rels/slide15.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29.png"/><Relationship Id="rId1" Type="http://schemas.openxmlformats.org/officeDocument/2006/relationships/slideLayout" Target="../slideLayouts/slideLayout1.xml"/><Relationship Id="rId4" Type="http://schemas.openxmlformats.org/officeDocument/2006/relationships/image" Target="../media/image20.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吹き出し: 四角形 39">
            <a:extLst>
              <a:ext uri="{FF2B5EF4-FFF2-40B4-BE49-F238E27FC236}">
                <a16:creationId xmlns:a16="http://schemas.microsoft.com/office/drawing/2014/main" id="{8F283454-163A-BAFC-BB97-2206CC9B1514}"/>
              </a:ext>
            </a:extLst>
          </p:cNvPr>
          <p:cNvSpPr/>
          <p:nvPr/>
        </p:nvSpPr>
        <p:spPr>
          <a:xfrm>
            <a:off x="3880123" y="6188530"/>
            <a:ext cx="8080435" cy="618819"/>
          </a:xfrm>
          <a:prstGeom prst="wedgeRectCallout">
            <a:avLst>
              <a:gd name="adj1" fmla="val -42182"/>
              <a:gd name="adj2" fmla="val -118727"/>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400">
                <a:solidFill>
                  <a:schemeClr val="tx1"/>
                </a:solidFill>
                <a:latin typeface="メイリオ" panose="020B0604030504040204" pitchFamily="50" charset="-128"/>
                <a:ea typeface="メイリオ" panose="020B0604030504040204" pitchFamily="50" charset="-128"/>
              </a:rPr>
              <a:t>MCP</a:t>
            </a:r>
            <a:r>
              <a:rPr kumimoji="1" lang="ja-JP" altLang="en-US" sz="1400">
                <a:solidFill>
                  <a:schemeClr val="tx1"/>
                </a:solidFill>
                <a:latin typeface="メイリオ" panose="020B0604030504040204" pitchFamily="50" charset="-128"/>
                <a:ea typeface="メイリオ" panose="020B0604030504040204" pitchFamily="50" charset="-128"/>
              </a:rPr>
              <a:t>：</a:t>
            </a:r>
            <a:r>
              <a:rPr kumimoji="1" lang="en-US" altLang="ja-JP" sz="1400">
                <a:solidFill>
                  <a:schemeClr val="tx1"/>
                </a:solidFill>
                <a:latin typeface="メイリオ" panose="020B0604030504040204" pitchFamily="50" charset="-128"/>
                <a:ea typeface="メイリオ" panose="020B0604030504040204" pitchFamily="50" charset="-128"/>
              </a:rPr>
              <a:t>AI</a:t>
            </a:r>
            <a:r>
              <a:rPr kumimoji="1" lang="ja-JP" altLang="en-US" sz="1400">
                <a:solidFill>
                  <a:schemeClr val="tx1"/>
                </a:solidFill>
                <a:latin typeface="メイリオ" panose="020B0604030504040204" pitchFamily="50" charset="-128"/>
                <a:ea typeface="メイリオ" panose="020B0604030504040204" pitchFamily="50" charset="-128"/>
              </a:rPr>
              <a:t>と外部ツールの接続規格。</a:t>
            </a:r>
            <a:r>
              <a:rPr kumimoji="1" lang="en-US" altLang="ja-JP" sz="1400">
                <a:solidFill>
                  <a:schemeClr val="tx1"/>
                </a:solidFill>
                <a:latin typeface="メイリオ" panose="020B0604030504040204" pitchFamily="50" charset="-128"/>
                <a:ea typeface="メイリオ" panose="020B0604030504040204" pitchFamily="50" charset="-128"/>
              </a:rPr>
              <a:t>OpenAI</a:t>
            </a:r>
            <a:r>
              <a:rPr kumimoji="1" lang="ja-JP" altLang="en-US" sz="1400">
                <a:solidFill>
                  <a:schemeClr val="tx1"/>
                </a:solidFill>
                <a:latin typeface="メイリオ" panose="020B0604030504040204" pitchFamily="50" charset="-128"/>
                <a:ea typeface="メイリオ" panose="020B0604030504040204" pitchFamily="50" charset="-128"/>
              </a:rPr>
              <a:t>・</a:t>
            </a:r>
            <a:r>
              <a:rPr kumimoji="1" lang="en-US" altLang="ja-JP" sz="1400">
                <a:solidFill>
                  <a:schemeClr val="tx1"/>
                </a:solidFill>
                <a:latin typeface="メイリオ" panose="020B0604030504040204" pitchFamily="50" charset="-128"/>
                <a:ea typeface="メイリオ" panose="020B0604030504040204" pitchFamily="50" charset="-128"/>
              </a:rPr>
              <a:t>Google</a:t>
            </a:r>
            <a:r>
              <a:rPr kumimoji="1" lang="ja-JP" altLang="en-US" sz="1400">
                <a:solidFill>
                  <a:schemeClr val="tx1"/>
                </a:solidFill>
                <a:latin typeface="メイリオ" panose="020B0604030504040204" pitchFamily="50" charset="-128"/>
                <a:ea typeface="メイリオ" panose="020B0604030504040204" pitchFamily="50" charset="-128"/>
              </a:rPr>
              <a:t>・</a:t>
            </a:r>
            <a:r>
              <a:rPr kumimoji="1" lang="en-US" altLang="ja-JP" sz="1400">
                <a:solidFill>
                  <a:schemeClr val="tx1"/>
                </a:solidFill>
                <a:latin typeface="メイリオ" panose="020B0604030504040204" pitchFamily="50" charset="-128"/>
                <a:ea typeface="メイリオ" panose="020B0604030504040204" pitchFamily="50" charset="-128"/>
              </a:rPr>
              <a:t>Microsoft</a:t>
            </a:r>
            <a:r>
              <a:rPr kumimoji="1" lang="ja-JP" altLang="en-US" sz="1400">
                <a:solidFill>
                  <a:schemeClr val="tx1"/>
                </a:solidFill>
                <a:latin typeface="メイリオ" panose="020B0604030504040204" pitchFamily="50" charset="-128"/>
                <a:ea typeface="メイリオ" panose="020B0604030504040204" pitchFamily="50" charset="-128"/>
              </a:rPr>
              <a:t>も</a:t>
            </a:r>
            <a:r>
              <a:rPr kumimoji="1" lang="en-US" altLang="ja-JP" sz="1400">
                <a:solidFill>
                  <a:schemeClr val="tx1"/>
                </a:solidFill>
                <a:latin typeface="メイリオ" panose="020B0604030504040204" pitchFamily="50" charset="-128"/>
                <a:ea typeface="メイリオ" panose="020B0604030504040204" pitchFamily="50" charset="-128"/>
              </a:rPr>
              <a:t>MCP</a:t>
            </a:r>
            <a:r>
              <a:rPr kumimoji="1" lang="ja-JP" altLang="en-US" sz="1400">
                <a:solidFill>
                  <a:schemeClr val="tx1"/>
                </a:solidFill>
                <a:latin typeface="メイリオ" panose="020B0604030504040204" pitchFamily="50" charset="-128"/>
                <a:ea typeface="メイリオ" panose="020B0604030504040204" pitchFamily="50" charset="-128"/>
              </a:rPr>
              <a:t>を採用。</a:t>
            </a:r>
            <a:endParaRPr kumimoji="1" lang="en-US" altLang="ja-JP" sz="1400">
              <a:solidFill>
                <a:schemeClr val="tx1"/>
              </a:solidFill>
              <a:latin typeface="メイリオ" panose="020B0604030504040204" pitchFamily="50" charset="-128"/>
              <a:ea typeface="メイリオ" panose="020B0604030504040204" pitchFamily="50" charset="-128"/>
            </a:endParaRPr>
          </a:p>
          <a:p>
            <a:r>
              <a:rPr kumimoji="1" lang="en-US" altLang="ja-JP" sz="1400">
                <a:solidFill>
                  <a:schemeClr val="tx1"/>
                </a:solidFill>
                <a:latin typeface="メイリオ" panose="020B0604030504040204" pitchFamily="50" charset="-128"/>
                <a:ea typeface="メイリオ" panose="020B0604030504040204" pitchFamily="50" charset="-128"/>
                <a:hlinkClick r:id="rId2"/>
              </a:rPr>
              <a:t>2025</a:t>
            </a:r>
            <a:r>
              <a:rPr kumimoji="1" lang="ja-JP" altLang="en-US" sz="1400">
                <a:solidFill>
                  <a:schemeClr val="tx1"/>
                </a:solidFill>
                <a:latin typeface="メイリオ" panose="020B0604030504040204" pitchFamily="50" charset="-128"/>
                <a:ea typeface="メイリオ" panose="020B0604030504040204" pitchFamily="50" charset="-128"/>
                <a:hlinkClick r:id="rId2"/>
              </a:rPr>
              <a:t>年</a:t>
            </a:r>
            <a:r>
              <a:rPr kumimoji="1" lang="en-US" altLang="ja-JP" sz="1400">
                <a:solidFill>
                  <a:schemeClr val="tx1"/>
                </a:solidFill>
                <a:latin typeface="メイリオ" panose="020B0604030504040204" pitchFamily="50" charset="-128"/>
                <a:ea typeface="メイリオ" panose="020B0604030504040204" pitchFamily="50" charset="-128"/>
                <a:hlinkClick r:id="rId2"/>
              </a:rPr>
              <a:t>12</a:t>
            </a:r>
            <a:r>
              <a:rPr kumimoji="1" lang="ja-JP" altLang="en-US" sz="1400">
                <a:solidFill>
                  <a:schemeClr val="tx1"/>
                </a:solidFill>
                <a:latin typeface="メイリオ" panose="020B0604030504040204" pitchFamily="50" charset="-128"/>
                <a:ea typeface="メイリオ" panose="020B0604030504040204" pitchFamily="50" charset="-128"/>
                <a:hlinkClick r:id="rId2"/>
              </a:rPr>
              <a:t>月に</a:t>
            </a:r>
            <a:r>
              <a:rPr kumimoji="1" lang="en-US" altLang="ja-JP" sz="1400">
                <a:solidFill>
                  <a:schemeClr val="tx1"/>
                </a:solidFill>
                <a:latin typeface="メイリオ" panose="020B0604030504040204" pitchFamily="50" charset="-128"/>
                <a:ea typeface="メイリオ" panose="020B0604030504040204" pitchFamily="50" charset="-128"/>
                <a:hlinkClick r:id="rId2"/>
              </a:rPr>
              <a:t>Linux Foundation</a:t>
            </a:r>
            <a:r>
              <a:rPr kumimoji="1" lang="ja-JP" altLang="en-US" sz="1400">
                <a:solidFill>
                  <a:schemeClr val="tx1"/>
                </a:solidFill>
                <a:latin typeface="メイリオ" panose="020B0604030504040204" pitchFamily="50" charset="-128"/>
                <a:ea typeface="メイリオ" panose="020B0604030504040204" pitchFamily="50" charset="-128"/>
                <a:hlinkClick r:id="rId2"/>
              </a:rPr>
              <a:t>傘下で業界標準化。</a:t>
            </a:r>
            <a:r>
              <a:rPr kumimoji="1" lang="ja-JP" altLang="en-US" sz="1400">
                <a:solidFill>
                  <a:schemeClr val="tx1"/>
                </a:solidFill>
                <a:latin typeface="メイリオ" panose="020B0604030504040204" pitchFamily="50" charset="-128"/>
                <a:ea typeface="メイリオ" panose="020B0604030504040204" pitchFamily="50" charset="-128"/>
              </a:rPr>
              <a:t>特定のベンダーに依存しないエコシステムへ。</a:t>
            </a:r>
          </a:p>
        </p:txBody>
      </p:sp>
      <p:sp>
        <p:nvSpPr>
          <p:cNvPr id="4" name="テキスト ボックス 3">
            <a:extLst>
              <a:ext uri="{FF2B5EF4-FFF2-40B4-BE49-F238E27FC236}">
                <a16:creationId xmlns:a16="http://schemas.microsoft.com/office/drawing/2014/main" id="{2D2EA754-A7B6-56E0-51E1-F086413075F2}"/>
              </a:ext>
            </a:extLst>
          </p:cNvPr>
          <p:cNvSpPr txBox="1"/>
          <p:nvPr/>
        </p:nvSpPr>
        <p:spPr>
          <a:xfrm>
            <a:off x="443466" y="317212"/>
            <a:ext cx="11215133" cy="584775"/>
          </a:xfrm>
          <a:prstGeom prst="rect">
            <a:avLst/>
          </a:prstGeom>
          <a:noFill/>
        </p:spPr>
        <p:txBody>
          <a:bodyPr wrap="square" rtlCol="0">
            <a:spAutoFit/>
          </a:bodyPr>
          <a:lstStyle/>
          <a:p>
            <a:r>
              <a:rPr kumimoji="1" lang="en-US" altLang="ja-JP" sz="3200" b="1">
                <a:latin typeface="メイリオ" panose="020B0604030504040204" pitchFamily="50" charset="-128"/>
                <a:ea typeface="メイリオ" panose="020B0604030504040204" pitchFamily="50" charset="-128"/>
              </a:rPr>
              <a:t>Anthropic</a:t>
            </a:r>
            <a:r>
              <a:rPr kumimoji="1" lang="ja-JP" altLang="en-US" sz="3200" b="1">
                <a:latin typeface="メイリオ" panose="020B0604030504040204" pitchFamily="50" charset="-128"/>
                <a:ea typeface="メイリオ" panose="020B0604030504040204" pitchFamily="50" charset="-128"/>
              </a:rPr>
              <a:t>社 </a:t>
            </a:r>
            <a:r>
              <a:rPr kumimoji="1" lang="en-US" altLang="ja-JP" sz="3200" b="1">
                <a:latin typeface="メイリオ" panose="020B0604030504040204" pitchFamily="50" charset="-128"/>
                <a:ea typeface="メイリオ" panose="020B0604030504040204" pitchFamily="50" charset="-128"/>
              </a:rPr>
              <a:t>Claude</a:t>
            </a:r>
            <a:r>
              <a:rPr kumimoji="1" lang="ja-JP" altLang="en-US" sz="3200" b="1">
                <a:latin typeface="メイリオ" panose="020B0604030504040204" pitchFamily="50" charset="-128"/>
                <a:ea typeface="メイリオ" panose="020B0604030504040204" pitchFamily="50" charset="-128"/>
              </a:rPr>
              <a:t>の紹介</a:t>
            </a:r>
          </a:p>
        </p:txBody>
      </p:sp>
      <p:sp>
        <p:nvSpPr>
          <p:cNvPr id="5" name="テキスト ボックス 4">
            <a:extLst>
              <a:ext uri="{FF2B5EF4-FFF2-40B4-BE49-F238E27FC236}">
                <a16:creationId xmlns:a16="http://schemas.microsoft.com/office/drawing/2014/main" id="{0C24D339-67BE-A12E-26F8-8836C35F8414}"/>
              </a:ext>
            </a:extLst>
          </p:cNvPr>
          <p:cNvSpPr txBox="1"/>
          <p:nvPr/>
        </p:nvSpPr>
        <p:spPr>
          <a:xfrm>
            <a:off x="443465" y="901987"/>
            <a:ext cx="11215133" cy="1034899"/>
          </a:xfrm>
          <a:prstGeom prst="rect">
            <a:avLst/>
          </a:prstGeom>
          <a:noFill/>
        </p:spPr>
        <p:txBody>
          <a:bodyPr wrap="square" rtlCol="0">
            <a:spAutoFit/>
          </a:bodyPr>
          <a:lstStyle/>
          <a:p>
            <a:pPr>
              <a:lnSpc>
                <a:spcPct val="150000"/>
              </a:lnSpc>
            </a:pPr>
            <a:r>
              <a:rPr lang="en-US" altLang="ja-JP" sz="1400" b="1">
                <a:latin typeface="メイリオ" panose="020B0604030504040204" pitchFamily="50" charset="-128"/>
                <a:ea typeface="メイリオ" panose="020B0604030504040204" pitchFamily="50" charset="-128"/>
              </a:rPr>
              <a:t>Anthropic</a:t>
            </a:r>
            <a:r>
              <a:rPr kumimoji="1" lang="ja-JP" altLang="en-US" sz="1400">
                <a:latin typeface="メイリオ" panose="020B0604030504040204" pitchFamily="50" charset="-128"/>
                <a:ea typeface="メイリオ" panose="020B0604030504040204" pitchFamily="50" charset="-128"/>
              </a:rPr>
              <a:t>：</a:t>
            </a:r>
            <a:r>
              <a:rPr kumimoji="1" lang="en-US" altLang="ja-JP" sz="1400">
                <a:latin typeface="メイリオ" panose="020B0604030504040204" pitchFamily="50" charset="-128"/>
                <a:ea typeface="メイリオ" panose="020B0604030504040204" pitchFamily="50" charset="-128"/>
              </a:rPr>
              <a:t>ChatGPT</a:t>
            </a:r>
            <a:r>
              <a:rPr kumimoji="1" lang="ja-JP" altLang="en-US" sz="1400">
                <a:latin typeface="メイリオ" panose="020B0604030504040204" pitchFamily="50" charset="-128"/>
                <a:ea typeface="メイリオ" panose="020B0604030504040204" pitchFamily="50" charset="-128"/>
              </a:rPr>
              <a:t>を作っている</a:t>
            </a:r>
            <a:r>
              <a:rPr kumimoji="1" lang="en-US" altLang="ja-JP" sz="1400">
                <a:latin typeface="メイリオ" panose="020B0604030504040204" pitchFamily="50" charset="-128"/>
                <a:ea typeface="メイリオ" panose="020B0604030504040204" pitchFamily="50" charset="-128"/>
              </a:rPr>
              <a:t>OpenAI</a:t>
            </a:r>
            <a:r>
              <a:rPr kumimoji="1" lang="ja-JP" altLang="en-US" sz="1400">
                <a:latin typeface="メイリオ" panose="020B0604030504040204" pitchFamily="50" charset="-128"/>
                <a:ea typeface="メイリオ" panose="020B0604030504040204" pitchFamily="50" charset="-128"/>
              </a:rPr>
              <a:t>社の競合で、</a:t>
            </a:r>
            <a:r>
              <a:rPr kumimoji="1" lang="en-US" altLang="ja-JP" sz="1400">
                <a:latin typeface="メイリオ" panose="020B0604030504040204" pitchFamily="50" charset="-128"/>
                <a:ea typeface="メイリオ" panose="020B0604030504040204" pitchFamily="50" charset="-128"/>
              </a:rPr>
              <a:t>OpenAI</a:t>
            </a:r>
            <a:r>
              <a:rPr kumimoji="1" lang="ja-JP" altLang="en-US" sz="1400">
                <a:latin typeface="メイリオ" panose="020B0604030504040204" pitchFamily="50" charset="-128"/>
                <a:ea typeface="メイリオ" panose="020B0604030504040204" pitchFamily="50" charset="-128"/>
              </a:rPr>
              <a:t>出身者が設立した</a:t>
            </a:r>
            <a:r>
              <a:rPr kumimoji="1" lang="en-US" altLang="ja-JP" sz="1400">
                <a:latin typeface="メイリオ" panose="020B0604030504040204" pitchFamily="50" charset="-128"/>
                <a:ea typeface="メイリオ" panose="020B0604030504040204" pitchFamily="50" charset="-128"/>
              </a:rPr>
              <a:t>AI</a:t>
            </a:r>
            <a:r>
              <a:rPr kumimoji="1" lang="ja-JP" altLang="en-US" sz="1400">
                <a:latin typeface="メイリオ" panose="020B0604030504040204" pitchFamily="50" charset="-128"/>
                <a:ea typeface="メイリオ" panose="020B0604030504040204" pitchFamily="50" charset="-128"/>
              </a:rPr>
              <a:t>企業。</a:t>
            </a:r>
            <a:r>
              <a:rPr kumimoji="1" lang="en-US" altLang="ja-JP" sz="1400">
                <a:latin typeface="メイリオ" panose="020B0604030504040204" pitchFamily="50" charset="-128"/>
                <a:ea typeface="メイリオ" panose="020B0604030504040204" pitchFamily="50" charset="-128"/>
              </a:rPr>
              <a:t>MCP</a:t>
            </a:r>
            <a:r>
              <a:rPr kumimoji="1" lang="ja-JP" altLang="en-US" sz="1400">
                <a:latin typeface="メイリオ" panose="020B0604030504040204" pitchFamily="50" charset="-128"/>
                <a:ea typeface="メイリオ" panose="020B0604030504040204" pitchFamily="50" charset="-128"/>
              </a:rPr>
              <a:t>や</a:t>
            </a:r>
            <a:r>
              <a:rPr kumimoji="1" lang="en-US" altLang="ja-JP" sz="1400">
                <a:latin typeface="メイリオ" panose="020B0604030504040204" pitchFamily="50" charset="-128"/>
                <a:ea typeface="メイリオ" panose="020B0604030504040204" pitchFamily="50" charset="-128"/>
              </a:rPr>
              <a:t>Skills</a:t>
            </a:r>
            <a:r>
              <a:rPr kumimoji="1" lang="ja-JP" altLang="en-US" sz="1400">
                <a:latin typeface="メイリオ" panose="020B0604030504040204" pitchFamily="50" charset="-128"/>
                <a:ea typeface="メイリオ" panose="020B0604030504040204" pitchFamily="50" charset="-128"/>
              </a:rPr>
              <a:t>など、</a:t>
            </a:r>
            <a:r>
              <a:rPr kumimoji="1" lang="ja-JP" altLang="en-US" sz="1400" b="1">
                <a:latin typeface="メイリオ" panose="020B0604030504040204" pitchFamily="50" charset="-128"/>
                <a:ea typeface="メイリオ" panose="020B0604030504040204" pitchFamily="50" charset="-128"/>
              </a:rPr>
              <a:t>業界全体が採用する「規格を作る側」</a:t>
            </a:r>
            <a:r>
              <a:rPr kumimoji="1" lang="ja-JP" altLang="en-US" sz="1400">
                <a:latin typeface="メイリオ" panose="020B0604030504040204" pitchFamily="50" charset="-128"/>
                <a:ea typeface="メイリオ" panose="020B0604030504040204" pitchFamily="50" charset="-128"/>
              </a:rPr>
              <a:t>になっている企業。</a:t>
            </a:r>
            <a:r>
              <a:rPr kumimoji="1" lang="en-US" altLang="ja-JP" sz="1400">
                <a:latin typeface="メイリオ" panose="020B0604030504040204" pitchFamily="50" charset="-128"/>
                <a:ea typeface="メイリオ" panose="020B0604030504040204" pitchFamily="50" charset="-128"/>
              </a:rPr>
              <a:t>Claude Code</a:t>
            </a:r>
            <a:r>
              <a:rPr kumimoji="1" lang="ja-JP" altLang="en-US" sz="1400">
                <a:latin typeface="メイリオ" panose="020B0604030504040204" pitchFamily="50" charset="-128"/>
                <a:ea typeface="メイリオ" panose="020B0604030504040204" pitchFamily="50" charset="-128"/>
              </a:rPr>
              <a:t>や</a:t>
            </a:r>
            <a:r>
              <a:rPr kumimoji="1" lang="en-US" altLang="ja-JP" sz="1400">
                <a:latin typeface="メイリオ" panose="020B0604030504040204" pitchFamily="50" charset="-128"/>
                <a:ea typeface="メイリオ" panose="020B0604030504040204" pitchFamily="50" charset="-128"/>
              </a:rPr>
              <a:t>Claude in Chrome</a:t>
            </a:r>
            <a:r>
              <a:rPr kumimoji="1" lang="ja-JP" altLang="en-US" sz="1400">
                <a:latin typeface="メイリオ" panose="020B0604030504040204" pitchFamily="50" charset="-128"/>
                <a:ea typeface="メイリオ" panose="020B0604030504040204" pitchFamily="50" charset="-128"/>
              </a:rPr>
              <a:t>、</a:t>
            </a:r>
            <a:r>
              <a:rPr kumimoji="1" lang="en-US" altLang="ja-JP" sz="1400">
                <a:latin typeface="メイリオ" panose="020B0604030504040204" pitchFamily="50" charset="-128"/>
                <a:ea typeface="メイリオ" panose="020B0604030504040204" pitchFamily="50" charset="-128"/>
              </a:rPr>
              <a:t>Skills</a:t>
            </a:r>
            <a:r>
              <a:rPr kumimoji="1" lang="ja-JP" altLang="en-US" sz="1400">
                <a:latin typeface="メイリオ" panose="020B0604030504040204" pitchFamily="50" charset="-128"/>
                <a:ea typeface="メイリオ" panose="020B0604030504040204" pitchFamily="50" charset="-128"/>
              </a:rPr>
              <a:t>など、</a:t>
            </a:r>
            <a:r>
              <a:rPr kumimoji="1" lang="en-US" altLang="ja-JP" sz="1400" b="1">
                <a:latin typeface="メイリオ" panose="020B0604030504040204" pitchFamily="50" charset="-128"/>
                <a:ea typeface="メイリオ" panose="020B0604030504040204" pitchFamily="50" charset="-128"/>
              </a:rPr>
              <a:t>BPO</a:t>
            </a:r>
            <a:r>
              <a:rPr kumimoji="1" lang="ja-JP" altLang="en-US" sz="1400" b="1">
                <a:latin typeface="メイリオ" panose="020B0604030504040204" pitchFamily="50" charset="-128"/>
                <a:ea typeface="メイリオ" panose="020B0604030504040204" pitchFamily="50" charset="-128"/>
              </a:rPr>
              <a:t>の実務でも使える</a:t>
            </a:r>
            <a:r>
              <a:rPr kumimoji="1" lang="ja-JP" altLang="en-US" sz="1400">
                <a:latin typeface="メイリオ" panose="020B0604030504040204" pitchFamily="50" charset="-128"/>
                <a:ea typeface="メイリオ" panose="020B0604030504040204" pitchFamily="50" charset="-128"/>
              </a:rPr>
              <a:t>武器を複数生み出している。</a:t>
            </a:r>
            <a:endParaRPr kumimoji="1" lang="en-US" altLang="ja-JP" sz="1400">
              <a:latin typeface="メイリオ" panose="020B0604030504040204" pitchFamily="50" charset="-128"/>
              <a:ea typeface="メイリオ" panose="020B0604030504040204" pitchFamily="50" charset="-128"/>
            </a:endParaRPr>
          </a:p>
          <a:p>
            <a:pPr>
              <a:lnSpc>
                <a:spcPct val="150000"/>
              </a:lnSpc>
            </a:pPr>
            <a:r>
              <a:rPr kumimoji="1" lang="ja-JP" altLang="en-US" sz="1400">
                <a:latin typeface="メイリオ" panose="020B0604030504040204" pitchFamily="50" charset="-128"/>
                <a:ea typeface="メイリオ" panose="020B0604030504040204" pitchFamily="50" charset="-128"/>
                <a:hlinkClick r:id="rId3"/>
              </a:rPr>
              <a:t>国内でもテック企業やスタートアップで利用する企業が出始め、先行企業は成果を出し始めている。</a:t>
            </a:r>
            <a:endParaRPr kumimoji="1" lang="en-US" altLang="ja-JP" sz="1400">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C3693C1E-64EA-F9BC-1D06-12C224CF3E19}"/>
              </a:ext>
            </a:extLst>
          </p:cNvPr>
          <p:cNvSpPr/>
          <p:nvPr/>
        </p:nvSpPr>
        <p:spPr>
          <a:xfrm>
            <a:off x="231441" y="2186027"/>
            <a:ext cx="3512310" cy="457200"/>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a:solidFill>
                  <a:schemeClr val="tx1">
                    <a:lumMod val="85000"/>
                    <a:lumOff val="15000"/>
                  </a:schemeClr>
                </a:solidFill>
                <a:latin typeface="メイリオ" panose="020B0604030504040204" pitchFamily="50" charset="-128"/>
                <a:ea typeface="メイリオ" panose="020B0604030504040204" pitchFamily="50" charset="-128"/>
              </a:rPr>
              <a:t>Anthropic</a:t>
            </a:r>
            <a:r>
              <a:rPr kumimoji="1" lang="ja-JP" altLang="en-US" b="1">
                <a:solidFill>
                  <a:schemeClr val="tx1">
                    <a:lumMod val="85000"/>
                    <a:lumOff val="15000"/>
                  </a:schemeClr>
                </a:solidFill>
                <a:latin typeface="メイリオ" panose="020B0604030504040204" pitchFamily="50" charset="-128"/>
                <a:ea typeface="メイリオ" panose="020B0604030504040204" pitchFamily="50" charset="-128"/>
              </a:rPr>
              <a:t>の位置づけ</a:t>
            </a:r>
          </a:p>
        </p:txBody>
      </p:sp>
      <p:graphicFrame>
        <p:nvGraphicFramePr>
          <p:cNvPr id="7" name="表 6">
            <a:extLst>
              <a:ext uri="{FF2B5EF4-FFF2-40B4-BE49-F238E27FC236}">
                <a16:creationId xmlns:a16="http://schemas.microsoft.com/office/drawing/2014/main" id="{8F2CB9DD-98C8-2DCA-2E08-E79602F4D7B8}"/>
              </a:ext>
            </a:extLst>
          </p:cNvPr>
          <p:cNvGraphicFramePr>
            <a:graphicFrameLocks noGrp="1"/>
          </p:cNvGraphicFramePr>
          <p:nvPr>
            <p:extLst>
              <p:ext uri="{D42A27DB-BD31-4B8C-83A1-F6EECF244321}">
                <p14:modId xmlns:p14="http://schemas.microsoft.com/office/powerpoint/2010/main" val="787416970"/>
              </p:ext>
            </p:extLst>
          </p:nvPr>
        </p:nvGraphicFramePr>
        <p:xfrm>
          <a:off x="231441" y="2722404"/>
          <a:ext cx="3512310" cy="2473960"/>
        </p:xfrm>
        <a:graphic>
          <a:graphicData uri="http://schemas.openxmlformats.org/drawingml/2006/table">
            <a:tbl>
              <a:tblPr firstRow="1" bandRow="1">
                <a:tableStyleId>{5C22544A-7EE6-4342-B048-85BDC9FD1C3A}</a:tableStyleId>
              </a:tblPr>
              <a:tblGrid>
                <a:gridCol w="655109">
                  <a:extLst>
                    <a:ext uri="{9D8B030D-6E8A-4147-A177-3AD203B41FA5}">
                      <a16:colId xmlns:a16="http://schemas.microsoft.com/office/drawing/2014/main" val="1714558132"/>
                    </a:ext>
                  </a:extLst>
                </a:gridCol>
                <a:gridCol w="1030240">
                  <a:extLst>
                    <a:ext uri="{9D8B030D-6E8A-4147-A177-3AD203B41FA5}">
                      <a16:colId xmlns:a16="http://schemas.microsoft.com/office/drawing/2014/main" val="480840800"/>
                    </a:ext>
                  </a:extLst>
                </a:gridCol>
                <a:gridCol w="1826961">
                  <a:extLst>
                    <a:ext uri="{9D8B030D-6E8A-4147-A177-3AD203B41FA5}">
                      <a16:colId xmlns:a16="http://schemas.microsoft.com/office/drawing/2014/main" val="1844808726"/>
                    </a:ext>
                  </a:extLst>
                </a:gridCol>
              </a:tblGrid>
              <a:tr h="370840">
                <a:tc>
                  <a:txBody>
                    <a:bodyPr/>
                    <a:lstStyle/>
                    <a:p>
                      <a:endParaRPr kumimoji="1" lang="ja-JP" altLang="en-US">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a:latin typeface="メイリオ" panose="020B0604030504040204" pitchFamily="50" charset="-128"/>
                          <a:ea typeface="メイリオ" panose="020B0604030504040204" pitchFamily="50" charset="-128"/>
                        </a:rPr>
                        <a:t>OpenAI</a:t>
                      </a:r>
                      <a:endParaRPr kumimoji="1" lang="ja-JP" altLang="en-US" sz="160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a:latin typeface="メイリオ" panose="020B0604030504040204" pitchFamily="50" charset="-128"/>
                          <a:ea typeface="メイリオ" panose="020B0604030504040204" pitchFamily="50" charset="-128"/>
                        </a:rPr>
                        <a:t>Anthropic</a:t>
                      </a:r>
                      <a:endParaRPr kumimoji="1" lang="ja-JP" altLang="en-US" sz="1600">
                        <a:latin typeface="メイリオ" panose="020B0604030504040204" pitchFamily="50" charset="-128"/>
                        <a:ea typeface="メイリオ" panose="020B0604030504040204" pitchFamily="50" charset="-128"/>
                      </a:endParaRPr>
                    </a:p>
                  </a:txBody>
                  <a:tcPr/>
                </a:tc>
                <a:extLst>
                  <a:ext uri="{0D108BD9-81ED-4DB2-BD59-A6C34878D82A}">
                    <a16:rowId xmlns:a16="http://schemas.microsoft.com/office/drawing/2014/main" val="708897093"/>
                  </a:ext>
                </a:extLst>
              </a:tr>
              <a:tr h="370840">
                <a:tc>
                  <a:txBody>
                    <a:bodyPr/>
                    <a:lstStyle/>
                    <a:p>
                      <a:pPr algn="ctr"/>
                      <a:r>
                        <a:rPr kumimoji="1" lang="ja-JP" altLang="en-US" sz="1400">
                          <a:latin typeface="メイリオ" panose="020B0604030504040204" pitchFamily="50" charset="-128"/>
                          <a:ea typeface="メイリオ" panose="020B0604030504040204" pitchFamily="50" charset="-128"/>
                        </a:rPr>
                        <a:t>企業ポジション</a:t>
                      </a:r>
                    </a:p>
                  </a:txBody>
                  <a:tcPr anchor="ctr"/>
                </a:tc>
                <a:tc>
                  <a:txBody>
                    <a:bodyPr/>
                    <a:lstStyle/>
                    <a:p>
                      <a:pPr algn="ctr"/>
                      <a:r>
                        <a:rPr kumimoji="1" lang="ja-JP" altLang="en-US" sz="1400">
                          <a:latin typeface="メイリオ" panose="020B0604030504040204" pitchFamily="50" charset="-128"/>
                          <a:ea typeface="メイリオ" panose="020B0604030504040204" pitchFamily="50" charset="-128"/>
                        </a:rPr>
                        <a:t>製品化の巨人</a:t>
                      </a:r>
                    </a:p>
                  </a:txBody>
                  <a:tcPr anchor="ctr"/>
                </a:tc>
                <a:tc>
                  <a:txBody>
                    <a:bodyPr/>
                    <a:lstStyle/>
                    <a:p>
                      <a:pPr algn="ctr"/>
                      <a:r>
                        <a:rPr lang="ja-JP" altLang="en-US" sz="1400">
                          <a:latin typeface="メイリオ" panose="020B0604030504040204" pitchFamily="50" charset="-128"/>
                          <a:ea typeface="メイリオ" panose="020B0604030504040204" pitchFamily="50" charset="-128"/>
                        </a:rPr>
                        <a:t>業界全体が採用する技術標準を生み出す</a:t>
                      </a:r>
                      <a:endParaRPr kumimoji="1" lang="ja-JP" altLang="en-US" sz="1400">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915160650"/>
                  </a:ext>
                </a:extLst>
              </a:tr>
              <a:tr h="370840">
                <a:tc>
                  <a:txBody>
                    <a:bodyPr/>
                    <a:lstStyle/>
                    <a:p>
                      <a:pPr algn="ctr"/>
                      <a:r>
                        <a:rPr kumimoji="1" lang="ja-JP" altLang="en-US" sz="1400">
                          <a:latin typeface="メイリオ" panose="020B0604030504040204" pitchFamily="50" charset="-128"/>
                          <a:ea typeface="メイリオ" panose="020B0604030504040204" pitchFamily="50" charset="-128"/>
                        </a:rPr>
                        <a:t>特徴</a:t>
                      </a:r>
                    </a:p>
                  </a:txBody>
                  <a:tcPr anchor="ctr"/>
                </a:tc>
                <a:tc>
                  <a:txBody>
                    <a:bodyPr/>
                    <a:lstStyle/>
                    <a:p>
                      <a:pPr algn="ctr"/>
                      <a:r>
                        <a:rPr kumimoji="1" lang="en-US" altLang="ja-JP" sz="1400">
                          <a:latin typeface="メイリオ" panose="020B0604030504040204" pitchFamily="50" charset="-128"/>
                          <a:ea typeface="メイリオ" panose="020B0604030504040204" pitchFamily="50" charset="-128"/>
                        </a:rPr>
                        <a:t>ChatGPT</a:t>
                      </a:r>
                      <a:r>
                        <a:rPr kumimoji="1" lang="ja-JP" altLang="en-US" sz="1400">
                          <a:latin typeface="メイリオ" panose="020B0604030504040204" pitchFamily="50" charset="-128"/>
                          <a:ea typeface="メイリオ" panose="020B0604030504040204" pitchFamily="50" charset="-128"/>
                        </a:rPr>
                        <a:t>、</a:t>
                      </a:r>
                      <a:r>
                        <a:rPr kumimoji="1" lang="en-US" altLang="ja-JP" sz="1400">
                          <a:latin typeface="メイリオ" panose="020B0604030504040204" pitchFamily="50" charset="-128"/>
                          <a:ea typeface="メイリオ" panose="020B0604030504040204" pitchFamily="50" charset="-128"/>
                        </a:rPr>
                        <a:t>Sora</a:t>
                      </a:r>
                      <a:r>
                        <a:rPr kumimoji="1" lang="ja-JP" altLang="en-US" sz="1400">
                          <a:latin typeface="メイリオ" panose="020B0604030504040204" pitchFamily="50" charset="-128"/>
                          <a:ea typeface="メイリオ" panose="020B0604030504040204" pitchFamily="50" charset="-128"/>
                        </a:rPr>
                        <a:t>等で消費者市場を席巻</a:t>
                      </a:r>
                    </a:p>
                  </a:txBody>
                  <a:tcPr anchor="ctr"/>
                </a:tc>
                <a:tc>
                  <a:txBody>
                    <a:bodyPr/>
                    <a:lstStyle/>
                    <a:p>
                      <a:pPr algn="ctr"/>
                      <a:r>
                        <a:rPr kumimoji="1" lang="ja-JP" altLang="en-US" sz="1400">
                          <a:latin typeface="メイリオ" panose="020B0604030504040204" pitchFamily="50" charset="-128"/>
                          <a:ea typeface="メイリオ" panose="020B0604030504040204" pitchFamily="50" charset="-128"/>
                        </a:rPr>
                        <a:t>業界全体が採用する技術標準を生み出す</a:t>
                      </a:r>
                      <a:endParaRPr kumimoji="1" lang="en-US" altLang="ja-JP" sz="1400">
                        <a:latin typeface="メイリオ" panose="020B0604030504040204" pitchFamily="50" charset="-128"/>
                        <a:ea typeface="メイリオ" panose="020B0604030504040204" pitchFamily="50" charset="-128"/>
                      </a:endParaRPr>
                    </a:p>
                    <a:p>
                      <a:pPr algn="ctr"/>
                      <a:r>
                        <a:rPr kumimoji="1" lang="en-US" altLang="ja-JP" sz="1400">
                          <a:latin typeface="メイリオ" panose="020B0604030504040204" pitchFamily="50" charset="-128"/>
                          <a:ea typeface="メイリオ" panose="020B0604030504040204" pitchFamily="50" charset="-128"/>
                        </a:rPr>
                        <a:t>M365 Copilot</a:t>
                      </a:r>
                      <a:r>
                        <a:rPr kumimoji="1" lang="ja-JP" altLang="en-US" sz="1400">
                          <a:latin typeface="メイリオ" panose="020B0604030504040204" pitchFamily="50" charset="-128"/>
                          <a:ea typeface="メイリオ" panose="020B0604030504040204" pitchFamily="50" charset="-128"/>
                        </a:rPr>
                        <a:t>も</a:t>
                      </a:r>
                      <a:r>
                        <a:rPr kumimoji="1" lang="en-US" altLang="ja-JP" sz="1400">
                          <a:latin typeface="メイリオ" panose="020B0604030504040204" pitchFamily="50" charset="-128"/>
                          <a:ea typeface="メイリオ" panose="020B0604030504040204" pitchFamily="50" charset="-128"/>
                        </a:rPr>
                        <a:t>Claude</a:t>
                      </a:r>
                      <a:r>
                        <a:rPr kumimoji="1" lang="ja-JP" altLang="en-US" sz="1400">
                          <a:latin typeface="メイリオ" panose="020B0604030504040204" pitchFamily="50" charset="-128"/>
                          <a:ea typeface="メイリオ" panose="020B0604030504040204" pitchFamily="50" charset="-128"/>
                        </a:rPr>
                        <a:t>を採用（マルチモデル化）</a:t>
                      </a:r>
                      <a:endParaRPr kumimoji="1" lang="en-US" altLang="ja-JP" sz="1400">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1551060320"/>
                  </a:ext>
                </a:extLst>
              </a:tr>
            </a:tbl>
          </a:graphicData>
        </a:graphic>
      </p:graphicFrame>
      <p:sp>
        <p:nvSpPr>
          <p:cNvPr id="8" name="正方形/長方形 7">
            <a:extLst>
              <a:ext uri="{FF2B5EF4-FFF2-40B4-BE49-F238E27FC236}">
                <a16:creationId xmlns:a16="http://schemas.microsoft.com/office/drawing/2014/main" id="{4D38971F-DC5E-DCC5-44FA-459ECE6B67C4}"/>
              </a:ext>
            </a:extLst>
          </p:cNvPr>
          <p:cNvSpPr/>
          <p:nvPr/>
        </p:nvSpPr>
        <p:spPr>
          <a:xfrm>
            <a:off x="231442" y="5379019"/>
            <a:ext cx="3512309" cy="969199"/>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400">
                <a:solidFill>
                  <a:schemeClr val="tx1">
                    <a:lumMod val="85000"/>
                    <a:lumOff val="15000"/>
                  </a:schemeClr>
                </a:solidFill>
                <a:latin typeface="メイリオ" panose="020B0604030504040204" pitchFamily="50" charset="-128"/>
                <a:ea typeface="メイリオ" panose="020B0604030504040204" pitchFamily="50" charset="-128"/>
              </a:rPr>
              <a:t>Microsoft</a:t>
            </a:r>
            <a:r>
              <a:rPr kumimoji="1" lang="ja-JP" altLang="en-US" sz="1400">
                <a:solidFill>
                  <a:schemeClr val="tx1">
                    <a:lumMod val="85000"/>
                    <a:lumOff val="15000"/>
                  </a:schemeClr>
                </a:solidFill>
                <a:latin typeface="メイリオ" panose="020B0604030504040204" pitchFamily="50" charset="-128"/>
                <a:ea typeface="メイリオ" panose="020B0604030504040204" pitchFamily="50" charset="-128"/>
              </a:rPr>
              <a:t>は</a:t>
            </a:r>
            <a:r>
              <a:rPr kumimoji="1" lang="en-US" altLang="ja-JP" sz="1400">
                <a:solidFill>
                  <a:schemeClr val="tx1">
                    <a:lumMod val="85000"/>
                    <a:lumOff val="15000"/>
                  </a:schemeClr>
                </a:solidFill>
                <a:latin typeface="メイリオ" panose="020B0604030504040204" pitchFamily="50" charset="-128"/>
                <a:ea typeface="メイリオ" panose="020B0604030504040204" pitchFamily="50" charset="-128"/>
              </a:rPr>
              <a:t>M365 Copilot</a:t>
            </a:r>
            <a:r>
              <a:rPr kumimoji="1" lang="ja-JP" altLang="en-US" sz="1400">
                <a:solidFill>
                  <a:schemeClr val="tx1">
                    <a:lumMod val="85000"/>
                    <a:lumOff val="15000"/>
                  </a:schemeClr>
                </a:solidFill>
                <a:latin typeface="メイリオ" panose="020B0604030504040204" pitchFamily="50" charset="-128"/>
                <a:ea typeface="メイリオ" panose="020B0604030504040204" pitchFamily="50" charset="-128"/>
              </a:rPr>
              <a:t>で</a:t>
            </a:r>
            <a:r>
              <a:rPr kumimoji="1" lang="en-US" altLang="ja-JP" sz="1400">
                <a:solidFill>
                  <a:schemeClr val="tx1">
                    <a:lumMod val="85000"/>
                    <a:lumOff val="15000"/>
                  </a:schemeClr>
                </a:solidFill>
                <a:latin typeface="メイリオ" panose="020B0604030504040204" pitchFamily="50" charset="-128"/>
                <a:ea typeface="メイリオ" panose="020B0604030504040204" pitchFamily="50" charset="-128"/>
              </a:rPr>
              <a:t>OpenAI</a:t>
            </a:r>
            <a:r>
              <a:rPr kumimoji="1" lang="ja-JP" altLang="en-US" sz="1400">
                <a:solidFill>
                  <a:schemeClr val="tx1">
                    <a:lumMod val="85000"/>
                    <a:lumOff val="15000"/>
                  </a:schemeClr>
                </a:solidFill>
                <a:latin typeface="メイリオ" panose="020B0604030504040204" pitchFamily="50" charset="-128"/>
                <a:ea typeface="メイリオ" panose="020B0604030504040204" pitchFamily="50" charset="-128"/>
              </a:rPr>
              <a:t>一本から方針転換。</a:t>
            </a:r>
            <a:r>
              <a:rPr kumimoji="1" lang="en-US" altLang="ja-JP" sz="1400">
                <a:solidFill>
                  <a:schemeClr val="tx1">
                    <a:lumMod val="85000"/>
                    <a:lumOff val="15000"/>
                  </a:schemeClr>
                </a:solidFill>
                <a:latin typeface="メイリオ" panose="020B0604030504040204" pitchFamily="50" charset="-128"/>
                <a:ea typeface="メイリオ" panose="020B0604030504040204" pitchFamily="50" charset="-128"/>
              </a:rPr>
              <a:t>Copilot Studio</a:t>
            </a:r>
            <a:r>
              <a:rPr kumimoji="1" lang="ja-JP" altLang="en-US" sz="1400">
                <a:solidFill>
                  <a:schemeClr val="tx1">
                    <a:lumMod val="85000"/>
                    <a:lumOff val="15000"/>
                  </a:schemeClr>
                </a:solidFill>
                <a:latin typeface="メイリオ" panose="020B0604030504040204" pitchFamily="50" charset="-128"/>
                <a:ea typeface="メイリオ" panose="020B0604030504040204" pitchFamily="50" charset="-128"/>
              </a:rPr>
              <a:t>や</a:t>
            </a:r>
            <a:r>
              <a:rPr kumimoji="1" lang="en-US" altLang="ja-JP" sz="1400">
                <a:solidFill>
                  <a:schemeClr val="tx1">
                    <a:lumMod val="85000"/>
                    <a:lumOff val="15000"/>
                  </a:schemeClr>
                </a:solidFill>
                <a:latin typeface="メイリオ" panose="020B0604030504040204" pitchFamily="50" charset="-128"/>
                <a:ea typeface="メイリオ" panose="020B0604030504040204" pitchFamily="50" charset="-128"/>
                <a:hlinkClick r:id="rId4"/>
              </a:rPr>
              <a:t>Excel Agent Mode</a:t>
            </a:r>
            <a:r>
              <a:rPr kumimoji="1" lang="ja-JP" altLang="en-US" sz="1400">
                <a:solidFill>
                  <a:schemeClr val="tx1">
                    <a:lumMod val="85000"/>
                    <a:lumOff val="15000"/>
                  </a:schemeClr>
                </a:solidFill>
                <a:latin typeface="メイリオ" panose="020B0604030504040204" pitchFamily="50" charset="-128"/>
                <a:ea typeface="メイリオ" panose="020B0604030504040204" pitchFamily="50" charset="-128"/>
                <a:hlinkClick r:id="rId4"/>
              </a:rPr>
              <a:t>で</a:t>
            </a:r>
            <a:r>
              <a:rPr kumimoji="1" lang="en-US" altLang="ja-JP" sz="1400">
                <a:solidFill>
                  <a:schemeClr val="tx1">
                    <a:lumMod val="85000"/>
                    <a:lumOff val="15000"/>
                  </a:schemeClr>
                </a:solidFill>
                <a:latin typeface="メイリオ" panose="020B0604030504040204" pitchFamily="50" charset="-128"/>
                <a:ea typeface="メイリオ" panose="020B0604030504040204" pitchFamily="50" charset="-128"/>
                <a:hlinkClick r:id="rId4"/>
              </a:rPr>
              <a:t>Claude Opus 4.5</a:t>
            </a:r>
            <a:r>
              <a:rPr kumimoji="1" lang="ja-JP" altLang="en-US" sz="1400">
                <a:solidFill>
                  <a:schemeClr val="tx1">
                    <a:lumMod val="85000"/>
                    <a:lumOff val="15000"/>
                  </a:schemeClr>
                </a:solidFill>
                <a:latin typeface="メイリオ" panose="020B0604030504040204" pitchFamily="50" charset="-128"/>
                <a:ea typeface="メイリオ" panose="020B0604030504040204" pitchFamily="50" charset="-128"/>
              </a:rPr>
              <a:t>が</a:t>
            </a:r>
            <a:r>
              <a:rPr kumimoji="1" lang="en-US" altLang="ja-JP" sz="1400">
                <a:solidFill>
                  <a:schemeClr val="tx1">
                    <a:lumMod val="85000"/>
                    <a:lumOff val="15000"/>
                  </a:schemeClr>
                </a:solidFill>
                <a:latin typeface="メイリオ" panose="020B0604030504040204" pitchFamily="50" charset="-128"/>
                <a:ea typeface="メイリオ" panose="020B0604030504040204" pitchFamily="50" charset="-128"/>
              </a:rPr>
              <a:t>2026</a:t>
            </a:r>
            <a:r>
              <a:rPr kumimoji="1" lang="ja-JP" altLang="en-US" sz="1400">
                <a:solidFill>
                  <a:schemeClr val="tx1">
                    <a:lumMod val="85000"/>
                    <a:lumOff val="15000"/>
                  </a:schemeClr>
                </a:solidFill>
                <a:latin typeface="メイリオ" panose="020B0604030504040204" pitchFamily="50" charset="-128"/>
                <a:ea typeface="メイリオ" panose="020B0604030504040204" pitchFamily="50" charset="-128"/>
              </a:rPr>
              <a:t>年</a:t>
            </a:r>
            <a:r>
              <a:rPr kumimoji="1" lang="en-US" altLang="ja-JP" sz="1400">
                <a:solidFill>
                  <a:schemeClr val="tx1">
                    <a:lumMod val="85000"/>
                    <a:lumOff val="15000"/>
                  </a:schemeClr>
                </a:solidFill>
                <a:latin typeface="メイリオ" panose="020B0604030504040204" pitchFamily="50" charset="-128"/>
                <a:ea typeface="メイリオ" panose="020B0604030504040204" pitchFamily="50" charset="-128"/>
              </a:rPr>
              <a:t>1</a:t>
            </a:r>
            <a:r>
              <a:rPr kumimoji="1" lang="ja-JP" altLang="en-US" sz="1400">
                <a:solidFill>
                  <a:schemeClr val="tx1">
                    <a:lumMod val="85000"/>
                    <a:lumOff val="15000"/>
                  </a:schemeClr>
                </a:solidFill>
                <a:latin typeface="メイリオ" panose="020B0604030504040204" pitchFamily="50" charset="-128"/>
                <a:ea typeface="メイリオ" panose="020B0604030504040204" pitchFamily="50" charset="-128"/>
              </a:rPr>
              <a:t>月時点で選択可能に。</a:t>
            </a:r>
          </a:p>
        </p:txBody>
      </p:sp>
      <p:sp>
        <p:nvSpPr>
          <p:cNvPr id="9" name="正方形/長方形 8">
            <a:extLst>
              <a:ext uri="{FF2B5EF4-FFF2-40B4-BE49-F238E27FC236}">
                <a16:creationId xmlns:a16="http://schemas.microsoft.com/office/drawing/2014/main" id="{56C861DB-C164-8416-06F6-1895587D013A}"/>
              </a:ext>
            </a:extLst>
          </p:cNvPr>
          <p:cNvSpPr/>
          <p:nvPr/>
        </p:nvSpPr>
        <p:spPr>
          <a:xfrm>
            <a:off x="3954426" y="2186027"/>
            <a:ext cx="8006132" cy="457200"/>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a:solidFill>
                  <a:schemeClr val="tx1">
                    <a:lumMod val="85000"/>
                    <a:lumOff val="15000"/>
                  </a:schemeClr>
                </a:solidFill>
                <a:latin typeface="メイリオ" panose="020B0604030504040204" pitchFamily="50" charset="-128"/>
                <a:ea typeface="メイリオ" panose="020B0604030504040204" pitchFamily="50" charset="-128"/>
              </a:rPr>
              <a:t>主な発表・動向</a:t>
            </a:r>
          </a:p>
        </p:txBody>
      </p:sp>
      <p:pic>
        <p:nvPicPr>
          <p:cNvPr id="15" name="図 14" descr="ロゴ&#10;&#10;AI 生成コンテンツは誤りを含む可能性があります。">
            <a:extLst>
              <a:ext uri="{FF2B5EF4-FFF2-40B4-BE49-F238E27FC236}">
                <a16:creationId xmlns:a16="http://schemas.microsoft.com/office/drawing/2014/main" id="{0D53DB3E-7418-3CCA-A579-19FA2A5E001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60111" y="2667098"/>
            <a:ext cx="1183041" cy="1183041"/>
          </a:xfrm>
          <a:prstGeom prst="rect">
            <a:avLst/>
          </a:prstGeom>
        </p:spPr>
      </p:pic>
      <p:pic>
        <p:nvPicPr>
          <p:cNvPr id="11" name="図 10" descr="図形&#10;&#10;AI 生成コンテンツは誤りを含む可能性があります。">
            <a:extLst>
              <a:ext uri="{FF2B5EF4-FFF2-40B4-BE49-F238E27FC236}">
                <a16:creationId xmlns:a16="http://schemas.microsoft.com/office/drawing/2014/main" id="{84403B7F-42B2-11C4-3574-86CE78E09BB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045847" y="2934873"/>
            <a:ext cx="748357" cy="748357"/>
          </a:xfrm>
          <a:prstGeom prst="rect">
            <a:avLst/>
          </a:prstGeom>
        </p:spPr>
      </p:pic>
      <p:pic>
        <p:nvPicPr>
          <p:cNvPr id="13" name="図 12" descr="ダイアグラム&#10;&#10;AI 生成コンテンツは誤りを含む可能性があります。">
            <a:extLst>
              <a:ext uri="{FF2B5EF4-FFF2-40B4-BE49-F238E27FC236}">
                <a16:creationId xmlns:a16="http://schemas.microsoft.com/office/drawing/2014/main" id="{010722DA-9155-ECFC-8195-638FF22F20F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899323" y="2375598"/>
            <a:ext cx="1270067" cy="748356"/>
          </a:xfrm>
          <a:prstGeom prst="rect">
            <a:avLst/>
          </a:prstGeom>
        </p:spPr>
      </p:pic>
      <p:pic>
        <p:nvPicPr>
          <p:cNvPr id="17" name="図 16" descr="アイコン が含まれている画像&#10;&#10;AI 生成コンテンツは誤りを含む可能性があります。">
            <a:extLst>
              <a:ext uri="{FF2B5EF4-FFF2-40B4-BE49-F238E27FC236}">
                <a16:creationId xmlns:a16="http://schemas.microsoft.com/office/drawing/2014/main" id="{E33E1DAB-1D2B-C3B0-EFCD-A328EA1E4DFC}"/>
              </a:ext>
            </a:extLst>
          </p:cNvPr>
          <p:cNvPicPr>
            <a:picLocks noChangeAspect="1"/>
          </p:cNvPicPr>
          <p:nvPr/>
        </p:nvPicPr>
        <p:blipFill>
          <a:blip r:embed="rId8"/>
          <a:stretch>
            <a:fillRect/>
          </a:stretch>
        </p:blipFill>
        <p:spPr>
          <a:xfrm>
            <a:off x="8375613" y="2849503"/>
            <a:ext cx="844630" cy="818235"/>
          </a:xfrm>
          <a:prstGeom prst="rect">
            <a:avLst/>
          </a:prstGeom>
        </p:spPr>
      </p:pic>
      <p:pic>
        <p:nvPicPr>
          <p:cNvPr id="19" name="図 18" descr="白い背景に黒い文字が書かれた絵&#10;&#10;AI 生成コンテンツは誤りを含む可能性があります。">
            <a:extLst>
              <a:ext uri="{FF2B5EF4-FFF2-40B4-BE49-F238E27FC236}">
                <a16:creationId xmlns:a16="http://schemas.microsoft.com/office/drawing/2014/main" id="{4452C3ED-B8CF-CC70-CC49-147BF9F8327C}"/>
              </a:ext>
            </a:extLst>
          </p:cNvPr>
          <p:cNvPicPr>
            <a:picLocks noChangeAspect="1"/>
          </p:cNvPicPr>
          <p:nvPr/>
        </p:nvPicPr>
        <p:blipFill>
          <a:blip r:embed="rId9"/>
          <a:stretch>
            <a:fillRect/>
          </a:stretch>
        </p:blipFill>
        <p:spPr>
          <a:xfrm>
            <a:off x="10899314" y="2849502"/>
            <a:ext cx="862597" cy="818235"/>
          </a:xfrm>
          <a:prstGeom prst="rect">
            <a:avLst/>
          </a:prstGeom>
        </p:spPr>
      </p:pic>
      <p:pic>
        <p:nvPicPr>
          <p:cNvPr id="21" name="図 20" descr="アイコン&#10;&#10;AI 生成コンテンツは誤りを含む可能性があります。">
            <a:extLst>
              <a:ext uri="{FF2B5EF4-FFF2-40B4-BE49-F238E27FC236}">
                <a16:creationId xmlns:a16="http://schemas.microsoft.com/office/drawing/2014/main" id="{270F9240-AD55-0D81-5287-47C43B39FE0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43519" y="2827837"/>
            <a:ext cx="933021" cy="868147"/>
          </a:xfrm>
          <a:prstGeom prst="rect">
            <a:avLst/>
          </a:prstGeom>
        </p:spPr>
      </p:pic>
      <p:cxnSp>
        <p:nvCxnSpPr>
          <p:cNvPr id="26" name="直線矢印コネクタ 25">
            <a:extLst>
              <a:ext uri="{FF2B5EF4-FFF2-40B4-BE49-F238E27FC236}">
                <a16:creationId xmlns:a16="http://schemas.microsoft.com/office/drawing/2014/main" id="{778FC040-8443-36E0-CC15-01B935E4416D}"/>
              </a:ext>
            </a:extLst>
          </p:cNvPr>
          <p:cNvCxnSpPr>
            <a:cxnSpLocks/>
          </p:cNvCxnSpPr>
          <p:nvPr/>
        </p:nvCxnSpPr>
        <p:spPr>
          <a:xfrm>
            <a:off x="3954426" y="3936615"/>
            <a:ext cx="8006132" cy="0"/>
          </a:xfrm>
          <a:prstGeom prst="straightConnector1">
            <a:avLst/>
          </a:prstGeom>
          <a:ln w="57150">
            <a:solidFill>
              <a:schemeClr val="accent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8" name="楕円 27">
            <a:extLst>
              <a:ext uri="{FF2B5EF4-FFF2-40B4-BE49-F238E27FC236}">
                <a16:creationId xmlns:a16="http://schemas.microsoft.com/office/drawing/2014/main" id="{9060C280-1527-D343-80D8-C0CC92FAAB98}"/>
              </a:ext>
            </a:extLst>
          </p:cNvPr>
          <p:cNvSpPr/>
          <p:nvPr/>
        </p:nvSpPr>
        <p:spPr>
          <a:xfrm>
            <a:off x="4323298" y="3840791"/>
            <a:ext cx="193453" cy="191649"/>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29" name="楕円 28">
            <a:extLst>
              <a:ext uri="{FF2B5EF4-FFF2-40B4-BE49-F238E27FC236}">
                <a16:creationId xmlns:a16="http://schemas.microsoft.com/office/drawing/2014/main" id="{359192FF-8AA3-BD6F-F681-0B966DA29631}"/>
              </a:ext>
            </a:extLst>
          </p:cNvPr>
          <p:cNvSpPr/>
          <p:nvPr/>
        </p:nvSpPr>
        <p:spPr>
          <a:xfrm>
            <a:off x="5806236" y="3840791"/>
            <a:ext cx="193453" cy="191649"/>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30" name="楕円 29">
            <a:extLst>
              <a:ext uri="{FF2B5EF4-FFF2-40B4-BE49-F238E27FC236}">
                <a16:creationId xmlns:a16="http://schemas.microsoft.com/office/drawing/2014/main" id="{50BC03A2-ABE0-9C34-E209-1D153097FC10}"/>
              </a:ext>
            </a:extLst>
          </p:cNvPr>
          <p:cNvSpPr/>
          <p:nvPr/>
        </p:nvSpPr>
        <p:spPr>
          <a:xfrm>
            <a:off x="7454905" y="3840791"/>
            <a:ext cx="193453" cy="191649"/>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31" name="楕円 30">
            <a:extLst>
              <a:ext uri="{FF2B5EF4-FFF2-40B4-BE49-F238E27FC236}">
                <a16:creationId xmlns:a16="http://schemas.microsoft.com/office/drawing/2014/main" id="{572C1F17-81B2-AB0E-0B00-B0CFEA066A0F}"/>
              </a:ext>
            </a:extLst>
          </p:cNvPr>
          <p:cNvSpPr/>
          <p:nvPr/>
        </p:nvSpPr>
        <p:spPr>
          <a:xfrm>
            <a:off x="8701202" y="3840791"/>
            <a:ext cx="193453" cy="191649"/>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32" name="楕円 31">
            <a:extLst>
              <a:ext uri="{FF2B5EF4-FFF2-40B4-BE49-F238E27FC236}">
                <a16:creationId xmlns:a16="http://schemas.microsoft.com/office/drawing/2014/main" id="{41D5A154-29E3-76CF-689C-01B662E41E63}"/>
              </a:ext>
            </a:extLst>
          </p:cNvPr>
          <p:cNvSpPr/>
          <p:nvPr/>
        </p:nvSpPr>
        <p:spPr>
          <a:xfrm>
            <a:off x="10019969" y="3840791"/>
            <a:ext cx="193453" cy="191649"/>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33" name="楕円 32">
            <a:extLst>
              <a:ext uri="{FF2B5EF4-FFF2-40B4-BE49-F238E27FC236}">
                <a16:creationId xmlns:a16="http://schemas.microsoft.com/office/drawing/2014/main" id="{D52F98E1-DBE1-DF07-AB6F-FBBD66085472}"/>
              </a:ext>
            </a:extLst>
          </p:cNvPr>
          <p:cNvSpPr/>
          <p:nvPr/>
        </p:nvSpPr>
        <p:spPr>
          <a:xfrm>
            <a:off x="11233886" y="3840791"/>
            <a:ext cx="193453" cy="191649"/>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34" name="テキスト ボックス 33">
            <a:extLst>
              <a:ext uri="{FF2B5EF4-FFF2-40B4-BE49-F238E27FC236}">
                <a16:creationId xmlns:a16="http://schemas.microsoft.com/office/drawing/2014/main" id="{E37DDA82-1D84-2EEC-D97E-7259F1319258}"/>
              </a:ext>
            </a:extLst>
          </p:cNvPr>
          <p:cNvSpPr txBox="1"/>
          <p:nvPr/>
        </p:nvSpPr>
        <p:spPr>
          <a:xfrm>
            <a:off x="3812030" y="4041788"/>
            <a:ext cx="1248830" cy="1681229"/>
          </a:xfrm>
          <a:prstGeom prst="rect">
            <a:avLst/>
          </a:prstGeom>
          <a:noFill/>
        </p:spPr>
        <p:txBody>
          <a:bodyPr wrap="square" rtlCol="0">
            <a:spAutoFit/>
          </a:bodyPr>
          <a:lstStyle/>
          <a:p>
            <a:pPr>
              <a:lnSpc>
                <a:spcPct val="150000"/>
              </a:lnSpc>
            </a:pPr>
            <a:r>
              <a:rPr lang="en-US" altLang="ja-JP" sz="1400">
                <a:latin typeface="メイリオ" panose="020B0604030504040204" pitchFamily="50" charset="-128"/>
                <a:ea typeface="メイリオ" panose="020B0604030504040204" pitchFamily="50" charset="-128"/>
              </a:rPr>
              <a:t>2024</a:t>
            </a:r>
            <a:r>
              <a:rPr lang="ja-JP" altLang="en-US" sz="1400">
                <a:latin typeface="メイリオ" panose="020B0604030504040204" pitchFamily="50" charset="-128"/>
                <a:ea typeface="メイリオ" panose="020B0604030504040204" pitchFamily="50" charset="-128"/>
              </a:rPr>
              <a:t>年</a:t>
            </a:r>
            <a:r>
              <a:rPr lang="en-US" altLang="ja-JP" sz="1400">
                <a:latin typeface="メイリオ" panose="020B0604030504040204" pitchFamily="50" charset="-128"/>
                <a:ea typeface="メイリオ" panose="020B0604030504040204" pitchFamily="50" charset="-128"/>
              </a:rPr>
              <a:t>11</a:t>
            </a:r>
            <a:r>
              <a:rPr lang="ja-JP" altLang="en-US" sz="1400">
                <a:latin typeface="メイリオ" panose="020B0604030504040204" pitchFamily="50" charset="-128"/>
                <a:ea typeface="メイリオ" panose="020B0604030504040204" pitchFamily="50" charset="-128"/>
              </a:rPr>
              <a:t>月</a:t>
            </a:r>
            <a:endParaRPr lang="en-US" altLang="ja-JP" sz="1400">
              <a:latin typeface="メイリオ" panose="020B0604030504040204" pitchFamily="50" charset="-128"/>
              <a:ea typeface="メイリオ" panose="020B0604030504040204" pitchFamily="50" charset="-128"/>
            </a:endParaRPr>
          </a:p>
          <a:p>
            <a:pPr>
              <a:lnSpc>
                <a:spcPct val="150000"/>
              </a:lnSpc>
            </a:pPr>
            <a:r>
              <a:rPr lang="en-US" altLang="ja-JP" sz="1400" b="1">
                <a:latin typeface="メイリオ" panose="020B0604030504040204" pitchFamily="50" charset="-128"/>
                <a:ea typeface="メイリオ" panose="020B0604030504040204" pitchFamily="50" charset="-128"/>
                <a:hlinkClick r:id="rId11"/>
              </a:rPr>
              <a:t>MCP</a:t>
            </a:r>
            <a:r>
              <a:rPr lang="ja-JP" altLang="en-US" sz="1400" b="1">
                <a:latin typeface="メイリオ" panose="020B0604030504040204" pitchFamily="50" charset="-128"/>
                <a:ea typeface="メイリオ" panose="020B0604030504040204" pitchFamily="50" charset="-128"/>
              </a:rPr>
              <a:t>（</a:t>
            </a:r>
            <a:r>
              <a:rPr lang="en-US" altLang="ja-JP" sz="1400" b="1">
                <a:latin typeface="メイリオ" panose="020B0604030504040204" pitchFamily="50" charset="-128"/>
                <a:ea typeface="メイリオ" panose="020B0604030504040204" pitchFamily="50" charset="-128"/>
              </a:rPr>
              <a:t>Model Context Protocol</a:t>
            </a:r>
            <a:r>
              <a:rPr lang="ja-JP" altLang="en-US" sz="1400" b="1">
                <a:latin typeface="メイリオ" panose="020B0604030504040204" pitchFamily="50" charset="-128"/>
                <a:ea typeface="メイリオ" panose="020B0604030504040204" pitchFamily="50" charset="-128"/>
              </a:rPr>
              <a:t>）</a:t>
            </a:r>
            <a:endParaRPr kumimoji="1" lang="en-US" altLang="ja-JP" sz="1400" b="1">
              <a:latin typeface="メイリオ" panose="020B0604030504040204" pitchFamily="50" charset="-128"/>
              <a:ea typeface="メイリオ" panose="020B0604030504040204" pitchFamily="50" charset="-128"/>
            </a:endParaRPr>
          </a:p>
        </p:txBody>
      </p:sp>
      <p:sp>
        <p:nvSpPr>
          <p:cNvPr id="35" name="テキスト ボックス 34">
            <a:extLst>
              <a:ext uri="{FF2B5EF4-FFF2-40B4-BE49-F238E27FC236}">
                <a16:creationId xmlns:a16="http://schemas.microsoft.com/office/drawing/2014/main" id="{B1FABAED-0E53-4137-657B-34BED609BECF}"/>
              </a:ext>
            </a:extLst>
          </p:cNvPr>
          <p:cNvSpPr txBox="1"/>
          <p:nvPr/>
        </p:nvSpPr>
        <p:spPr>
          <a:xfrm>
            <a:off x="4968968" y="4041788"/>
            <a:ext cx="2002468" cy="2100575"/>
          </a:xfrm>
          <a:prstGeom prst="rect">
            <a:avLst/>
          </a:prstGeom>
          <a:noFill/>
        </p:spPr>
        <p:txBody>
          <a:bodyPr wrap="square" rtlCol="0">
            <a:spAutoFit/>
          </a:bodyPr>
          <a:lstStyle/>
          <a:p>
            <a:pPr>
              <a:lnSpc>
                <a:spcPct val="150000"/>
              </a:lnSpc>
            </a:pPr>
            <a:r>
              <a:rPr lang="en-US" altLang="ja-JP" sz="1400">
                <a:latin typeface="メイリオ" panose="020B0604030504040204" pitchFamily="50" charset="-128"/>
                <a:ea typeface="メイリオ" panose="020B0604030504040204" pitchFamily="50" charset="-128"/>
              </a:rPr>
              <a:t>2025</a:t>
            </a:r>
            <a:r>
              <a:rPr lang="ja-JP" altLang="en-US" sz="1400">
                <a:latin typeface="メイリオ" panose="020B0604030504040204" pitchFamily="50" charset="-128"/>
                <a:ea typeface="メイリオ" panose="020B0604030504040204" pitchFamily="50" charset="-128"/>
              </a:rPr>
              <a:t>年</a:t>
            </a:r>
            <a:r>
              <a:rPr lang="en-US" altLang="ja-JP" sz="1400">
                <a:latin typeface="メイリオ" panose="020B0604030504040204" pitchFamily="50" charset="-128"/>
                <a:ea typeface="メイリオ" panose="020B0604030504040204" pitchFamily="50" charset="-128"/>
              </a:rPr>
              <a:t>3</a:t>
            </a:r>
            <a:r>
              <a:rPr lang="ja-JP" altLang="en-US" sz="1400">
                <a:latin typeface="メイリオ" panose="020B0604030504040204" pitchFamily="50" charset="-128"/>
                <a:ea typeface="メイリオ" panose="020B0604030504040204" pitchFamily="50" charset="-128"/>
              </a:rPr>
              <a:t>月</a:t>
            </a:r>
            <a:endParaRPr lang="en-US" altLang="ja-JP" sz="1400">
              <a:latin typeface="メイリオ" panose="020B0604030504040204" pitchFamily="50" charset="-128"/>
              <a:ea typeface="メイリオ" panose="020B0604030504040204" pitchFamily="50" charset="-128"/>
            </a:endParaRPr>
          </a:p>
          <a:p>
            <a:pPr>
              <a:lnSpc>
                <a:spcPct val="150000"/>
              </a:lnSpc>
            </a:pPr>
            <a:r>
              <a:rPr lang="en-US" altLang="ja-JP" sz="1400" b="1">
                <a:latin typeface="メイリオ" panose="020B0604030504040204" pitchFamily="50" charset="-128"/>
                <a:ea typeface="メイリオ" panose="020B0604030504040204" pitchFamily="50" charset="-128"/>
                <a:hlinkClick r:id="rId12"/>
              </a:rPr>
              <a:t>Claude Code</a:t>
            </a:r>
            <a:endParaRPr lang="en-US" altLang="ja-JP" sz="1400" b="1">
              <a:latin typeface="メイリオ" panose="020B0604030504040204" pitchFamily="50" charset="-128"/>
              <a:ea typeface="メイリオ" panose="020B0604030504040204" pitchFamily="50" charset="-128"/>
            </a:endParaRPr>
          </a:p>
          <a:p>
            <a:pPr>
              <a:lnSpc>
                <a:spcPct val="150000"/>
              </a:lnSpc>
            </a:pPr>
            <a:r>
              <a:rPr lang="ja-JP" altLang="en-US" sz="1200">
                <a:latin typeface="メイリオ" panose="020B0604030504040204" pitchFamily="50" charset="-128"/>
                <a:ea typeface="メイリオ" panose="020B0604030504040204" pitchFamily="50" charset="-128"/>
              </a:rPr>
              <a:t>ターミナル（黒い画面）で動く</a:t>
            </a:r>
            <a:r>
              <a:rPr lang="en-US" altLang="ja-JP" sz="1200">
                <a:latin typeface="メイリオ" panose="020B0604030504040204" pitchFamily="50" charset="-128"/>
                <a:ea typeface="メイリオ" panose="020B0604030504040204" pitchFamily="50" charset="-128"/>
              </a:rPr>
              <a:t>AI</a:t>
            </a:r>
            <a:r>
              <a:rPr lang="ja-JP" altLang="en-US" sz="1200">
                <a:latin typeface="メイリオ" panose="020B0604030504040204" pitchFamily="50" charset="-128"/>
                <a:ea typeface="メイリオ" panose="020B0604030504040204" pitchFamily="50" charset="-128"/>
              </a:rPr>
              <a:t>エージェント。</a:t>
            </a:r>
            <a:endParaRPr lang="en-US" altLang="ja-JP" sz="1200">
              <a:latin typeface="メイリオ" panose="020B0604030504040204" pitchFamily="50" charset="-128"/>
              <a:ea typeface="メイリオ" panose="020B0604030504040204" pitchFamily="50" charset="-128"/>
            </a:endParaRPr>
          </a:p>
          <a:p>
            <a:pPr>
              <a:lnSpc>
                <a:spcPct val="150000"/>
              </a:lnSpc>
            </a:pPr>
            <a:r>
              <a:rPr lang="ja-JP" altLang="en-US" sz="1200" b="1">
                <a:latin typeface="メイリオ" panose="020B0604030504040204" pitchFamily="50" charset="-128"/>
                <a:ea typeface="メイリオ" panose="020B0604030504040204" pitchFamily="50" charset="-128"/>
              </a:rPr>
              <a:t>開発ツールとして登場</a:t>
            </a:r>
            <a:r>
              <a:rPr lang="ja-JP" altLang="en-US" sz="1200">
                <a:latin typeface="メイリオ" panose="020B0604030504040204" pitchFamily="50" charset="-128"/>
                <a:ea typeface="メイリオ" panose="020B0604030504040204" pitchFamily="50" charset="-128"/>
              </a:rPr>
              <a:t>。</a:t>
            </a:r>
            <a:endParaRPr lang="en-US" altLang="ja-JP" sz="1200">
              <a:latin typeface="メイリオ" panose="020B0604030504040204" pitchFamily="50" charset="-128"/>
              <a:ea typeface="メイリオ" panose="020B0604030504040204" pitchFamily="50" charset="-128"/>
            </a:endParaRPr>
          </a:p>
          <a:p>
            <a:pPr>
              <a:lnSpc>
                <a:spcPct val="150000"/>
              </a:lnSpc>
            </a:pPr>
            <a:r>
              <a:rPr lang="en-US" altLang="ja-JP" sz="1200">
                <a:latin typeface="メイリオ" panose="020B0604030504040204" pitchFamily="50" charset="-128"/>
                <a:ea typeface="メイリオ" panose="020B0604030504040204" pitchFamily="50" charset="-128"/>
              </a:rPr>
              <a:t>2025</a:t>
            </a:r>
            <a:r>
              <a:rPr lang="ja-JP" altLang="en-US" sz="1200">
                <a:latin typeface="メイリオ" panose="020B0604030504040204" pitchFamily="50" charset="-128"/>
                <a:ea typeface="メイリオ" panose="020B0604030504040204" pitchFamily="50" charset="-128"/>
              </a:rPr>
              <a:t>年</a:t>
            </a:r>
            <a:r>
              <a:rPr lang="en-US" altLang="ja-JP" sz="1200">
                <a:latin typeface="メイリオ" panose="020B0604030504040204" pitchFamily="50" charset="-128"/>
                <a:ea typeface="メイリオ" panose="020B0604030504040204" pitchFamily="50" charset="-128"/>
              </a:rPr>
              <a:t>5</a:t>
            </a:r>
            <a:r>
              <a:rPr lang="ja-JP" altLang="en-US" sz="1200">
                <a:latin typeface="メイリオ" panose="020B0604030504040204" pitchFamily="50" charset="-128"/>
                <a:ea typeface="メイリオ" panose="020B0604030504040204" pitchFamily="50" charset="-128"/>
              </a:rPr>
              <a:t>月に正式リリース。</a:t>
            </a:r>
            <a:endParaRPr lang="en-US" altLang="ja-JP" sz="1400">
              <a:latin typeface="メイリオ" panose="020B0604030504040204" pitchFamily="50" charset="-128"/>
              <a:ea typeface="メイリオ" panose="020B0604030504040204" pitchFamily="50" charset="-128"/>
            </a:endParaRPr>
          </a:p>
        </p:txBody>
      </p:sp>
      <p:sp>
        <p:nvSpPr>
          <p:cNvPr id="36" name="テキスト ボックス 35">
            <a:extLst>
              <a:ext uri="{FF2B5EF4-FFF2-40B4-BE49-F238E27FC236}">
                <a16:creationId xmlns:a16="http://schemas.microsoft.com/office/drawing/2014/main" id="{E24786D1-8D75-CE82-540F-7544E59D55AA}"/>
              </a:ext>
            </a:extLst>
          </p:cNvPr>
          <p:cNvSpPr txBox="1"/>
          <p:nvPr/>
        </p:nvSpPr>
        <p:spPr>
          <a:xfrm>
            <a:off x="6885836" y="4041788"/>
            <a:ext cx="1282147" cy="1869743"/>
          </a:xfrm>
          <a:prstGeom prst="rect">
            <a:avLst/>
          </a:prstGeom>
          <a:noFill/>
        </p:spPr>
        <p:txBody>
          <a:bodyPr wrap="square" rtlCol="0">
            <a:spAutoFit/>
          </a:bodyPr>
          <a:lstStyle/>
          <a:p>
            <a:pPr>
              <a:lnSpc>
                <a:spcPct val="150000"/>
              </a:lnSpc>
            </a:pPr>
            <a:r>
              <a:rPr lang="en-US" altLang="ja-JP" sz="1400">
                <a:latin typeface="メイリオ" panose="020B0604030504040204" pitchFamily="50" charset="-128"/>
                <a:ea typeface="メイリオ" panose="020B0604030504040204" pitchFamily="50" charset="-128"/>
              </a:rPr>
              <a:t>2025</a:t>
            </a:r>
            <a:r>
              <a:rPr lang="ja-JP" altLang="en-US" sz="1400">
                <a:latin typeface="メイリオ" panose="020B0604030504040204" pitchFamily="50" charset="-128"/>
                <a:ea typeface="メイリオ" panose="020B0604030504040204" pitchFamily="50" charset="-128"/>
              </a:rPr>
              <a:t>年</a:t>
            </a:r>
            <a:r>
              <a:rPr lang="en-US" altLang="ja-JP" sz="1400">
                <a:latin typeface="メイリオ" panose="020B0604030504040204" pitchFamily="50" charset="-128"/>
                <a:ea typeface="メイリオ" panose="020B0604030504040204" pitchFamily="50" charset="-128"/>
              </a:rPr>
              <a:t>8</a:t>
            </a:r>
            <a:r>
              <a:rPr lang="ja-JP" altLang="en-US" sz="1400">
                <a:latin typeface="メイリオ" panose="020B0604030504040204" pitchFamily="50" charset="-128"/>
                <a:ea typeface="メイリオ" panose="020B0604030504040204" pitchFamily="50" charset="-128"/>
              </a:rPr>
              <a:t>月</a:t>
            </a:r>
            <a:endParaRPr lang="en-US" altLang="ja-JP" sz="1400">
              <a:latin typeface="メイリオ" panose="020B0604030504040204" pitchFamily="50" charset="-128"/>
              <a:ea typeface="メイリオ" panose="020B0604030504040204" pitchFamily="50" charset="-128"/>
            </a:endParaRPr>
          </a:p>
          <a:p>
            <a:pPr>
              <a:lnSpc>
                <a:spcPct val="150000"/>
              </a:lnSpc>
            </a:pPr>
            <a:r>
              <a:rPr lang="en-US" altLang="ja-JP" sz="1400" b="1">
                <a:latin typeface="メイリオ" panose="020B0604030504040204" pitchFamily="50" charset="-128"/>
                <a:ea typeface="メイリオ" panose="020B0604030504040204" pitchFamily="50" charset="-128"/>
                <a:hlinkClick r:id="rId13"/>
              </a:rPr>
              <a:t>Claude in Chrome</a:t>
            </a:r>
            <a:endParaRPr lang="en-US" altLang="ja-JP" sz="1400" b="1">
              <a:latin typeface="メイリオ" panose="020B0604030504040204" pitchFamily="50" charset="-128"/>
              <a:ea typeface="メイリオ" panose="020B0604030504040204" pitchFamily="50" charset="-128"/>
            </a:endParaRPr>
          </a:p>
          <a:p>
            <a:pPr>
              <a:lnSpc>
                <a:spcPct val="150000"/>
              </a:lnSpc>
            </a:pPr>
            <a:r>
              <a:rPr lang="en-US" altLang="ja-JP" sz="1200">
                <a:latin typeface="メイリオ" panose="020B0604030504040204" pitchFamily="50" charset="-128"/>
                <a:ea typeface="メイリオ" panose="020B0604030504040204" pitchFamily="50" charset="-128"/>
              </a:rPr>
              <a:t>C</a:t>
            </a:r>
            <a:r>
              <a:rPr kumimoji="1" lang="en-US" altLang="ja-JP" sz="1200">
                <a:latin typeface="メイリオ" panose="020B0604030504040204" pitchFamily="50" charset="-128"/>
                <a:ea typeface="メイリオ" panose="020B0604030504040204" pitchFamily="50" charset="-128"/>
              </a:rPr>
              <a:t>hrome</a:t>
            </a:r>
            <a:r>
              <a:rPr kumimoji="1" lang="ja-JP" altLang="en-US" sz="1200">
                <a:latin typeface="メイリオ" panose="020B0604030504040204" pitchFamily="50" charset="-128"/>
                <a:ea typeface="メイリオ" panose="020B0604030504040204" pitchFamily="50" charset="-128"/>
              </a:rPr>
              <a:t>拡張で</a:t>
            </a:r>
            <a:r>
              <a:rPr kumimoji="1" lang="ja-JP" altLang="en-US" sz="1200" b="1">
                <a:latin typeface="メイリオ" panose="020B0604030504040204" pitchFamily="50" charset="-128"/>
                <a:ea typeface="メイリオ" panose="020B0604030504040204" pitchFamily="50" charset="-128"/>
              </a:rPr>
              <a:t>ブラウザ操作自動化</a:t>
            </a:r>
            <a:r>
              <a:rPr kumimoji="1" lang="ja-JP" altLang="en-US" sz="1200">
                <a:latin typeface="メイリオ" panose="020B0604030504040204" pitchFamily="50" charset="-128"/>
                <a:ea typeface="メイリオ" panose="020B0604030504040204" pitchFamily="50" charset="-128"/>
              </a:rPr>
              <a:t>。</a:t>
            </a:r>
            <a:endParaRPr kumimoji="1" lang="en-US" altLang="ja-JP" sz="1200">
              <a:latin typeface="メイリオ" panose="020B0604030504040204" pitchFamily="50" charset="-128"/>
              <a:ea typeface="メイリオ" panose="020B0604030504040204" pitchFamily="50" charset="-128"/>
            </a:endParaRPr>
          </a:p>
        </p:txBody>
      </p:sp>
      <p:sp>
        <p:nvSpPr>
          <p:cNvPr id="37" name="テキスト ボックス 36">
            <a:extLst>
              <a:ext uri="{FF2B5EF4-FFF2-40B4-BE49-F238E27FC236}">
                <a16:creationId xmlns:a16="http://schemas.microsoft.com/office/drawing/2014/main" id="{5A402090-C9AB-E1FB-7611-CB6F25E423A5}"/>
              </a:ext>
            </a:extLst>
          </p:cNvPr>
          <p:cNvSpPr txBox="1"/>
          <p:nvPr/>
        </p:nvSpPr>
        <p:spPr>
          <a:xfrm>
            <a:off x="8186122" y="4041788"/>
            <a:ext cx="1282147" cy="1823576"/>
          </a:xfrm>
          <a:prstGeom prst="rect">
            <a:avLst/>
          </a:prstGeom>
          <a:noFill/>
        </p:spPr>
        <p:txBody>
          <a:bodyPr wrap="square" rtlCol="0">
            <a:spAutoFit/>
          </a:bodyPr>
          <a:lstStyle/>
          <a:p>
            <a:pPr>
              <a:lnSpc>
                <a:spcPct val="150000"/>
              </a:lnSpc>
            </a:pPr>
            <a:r>
              <a:rPr lang="en-US" altLang="ja-JP" sz="1400">
                <a:latin typeface="メイリオ" panose="020B0604030504040204" pitchFamily="50" charset="-128"/>
                <a:ea typeface="メイリオ" panose="020B0604030504040204" pitchFamily="50" charset="-128"/>
              </a:rPr>
              <a:t>2025</a:t>
            </a:r>
            <a:r>
              <a:rPr lang="ja-JP" altLang="en-US" sz="1400">
                <a:latin typeface="メイリオ" panose="020B0604030504040204" pitchFamily="50" charset="-128"/>
                <a:ea typeface="メイリオ" panose="020B0604030504040204" pitchFamily="50" charset="-128"/>
              </a:rPr>
              <a:t>年</a:t>
            </a:r>
            <a:r>
              <a:rPr lang="en-US" altLang="ja-JP" sz="1400">
                <a:latin typeface="メイリオ" panose="020B0604030504040204" pitchFamily="50" charset="-128"/>
                <a:ea typeface="メイリオ" panose="020B0604030504040204" pitchFamily="50" charset="-128"/>
              </a:rPr>
              <a:t>10</a:t>
            </a:r>
            <a:r>
              <a:rPr lang="ja-JP" altLang="en-US" sz="1400">
                <a:latin typeface="メイリオ" panose="020B0604030504040204" pitchFamily="50" charset="-128"/>
                <a:ea typeface="メイリオ" panose="020B0604030504040204" pitchFamily="50" charset="-128"/>
              </a:rPr>
              <a:t>月</a:t>
            </a:r>
            <a:endParaRPr lang="en-US" altLang="ja-JP" sz="1400">
              <a:latin typeface="メイリオ" panose="020B0604030504040204" pitchFamily="50" charset="-128"/>
              <a:ea typeface="メイリオ" panose="020B0604030504040204" pitchFamily="50" charset="-128"/>
            </a:endParaRPr>
          </a:p>
          <a:p>
            <a:pPr>
              <a:lnSpc>
                <a:spcPct val="150000"/>
              </a:lnSpc>
            </a:pPr>
            <a:r>
              <a:rPr lang="en-US" altLang="ja-JP" sz="1400" b="1">
                <a:latin typeface="メイリオ" panose="020B0604030504040204" pitchFamily="50" charset="-128"/>
                <a:ea typeface="メイリオ" panose="020B0604030504040204" pitchFamily="50" charset="-128"/>
                <a:hlinkClick r:id="rId14"/>
              </a:rPr>
              <a:t>Skills</a:t>
            </a:r>
            <a:endParaRPr lang="en-US" altLang="ja-JP" sz="1400" b="1">
              <a:latin typeface="メイリオ" panose="020B0604030504040204" pitchFamily="50" charset="-128"/>
              <a:ea typeface="メイリオ" panose="020B0604030504040204" pitchFamily="50" charset="-128"/>
            </a:endParaRPr>
          </a:p>
          <a:p>
            <a:pPr>
              <a:lnSpc>
                <a:spcPct val="150000"/>
              </a:lnSpc>
            </a:pPr>
            <a:r>
              <a:rPr lang="ja-JP" altLang="en-US" sz="1200">
                <a:latin typeface="メイリオ" panose="020B0604030504040204" pitchFamily="50" charset="-128"/>
                <a:ea typeface="メイリオ" panose="020B0604030504040204" pitchFamily="50" charset="-128"/>
              </a:rPr>
              <a:t>業務ノウハウをパッケージ化。会話だけで作成可能。</a:t>
            </a:r>
            <a:endParaRPr lang="en-US" altLang="ja-JP" sz="1200">
              <a:latin typeface="メイリオ" panose="020B0604030504040204" pitchFamily="50" charset="-128"/>
              <a:ea typeface="メイリオ" panose="020B0604030504040204" pitchFamily="50" charset="-128"/>
            </a:endParaRPr>
          </a:p>
        </p:txBody>
      </p:sp>
      <p:sp>
        <p:nvSpPr>
          <p:cNvPr id="38" name="テキスト ボックス 37">
            <a:extLst>
              <a:ext uri="{FF2B5EF4-FFF2-40B4-BE49-F238E27FC236}">
                <a16:creationId xmlns:a16="http://schemas.microsoft.com/office/drawing/2014/main" id="{A2CD59AC-1CA2-56D0-908E-B072FE145934}"/>
              </a:ext>
            </a:extLst>
          </p:cNvPr>
          <p:cNvSpPr txBox="1"/>
          <p:nvPr/>
        </p:nvSpPr>
        <p:spPr>
          <a:xfrm>
            <a:off x="9472446" y="4041788"/>
            <a:ext cx="1282147" cy="1592744"/>
          </a:xfrm>
          <a:prstGeom prst="rect">
            <a:avLst/>
          </a:prstGeom>
          <a:noFill/>
        </p:spPr>
        <p:txBody>
          <a:bodyPr wrap="square" rtlCol="0">
            <a:spAutoFit/>
          </a:bodyPr>
          <a:lstStyle/>
          <a:p>
            <a:pPr>
              <a:lnSpc>
                <a:spcPct val="150000"/>
              </a:lnSpc>
            </a:pPr>
            <a:r>
              <a:rPr lang="en-US" altLang="ja-JP" sz="1400">
                <a:latin typeface="メイリオ" panose="020B0604030504040204" pitchFamily="50" charset="-128"/>
                <a:ea typeface="メイリオ" panose="020B0604030504040204" pitchFamily="50" charset="-128"/>
              </a:rPr>
              <a:t>2025</a:t>
            </a:r>
            <a:r>
              <a:rPr lang="ja-JP" altLang="en-US" sz="1400">
                <a:latin typeface="メイリオ" panose="020B0604030504040204" pitchFamily="50" charset="-128"/>
                <a:ea typeface="メイリオ" panose="020B0604030504040204" pitchFamily="50" charset="-128"/>
              </a:rPr>
              <a:t>年</a:t>
            </a:r>
            <a:r>
              <a:rPr lang="en-US" altLang="ja-JP" sz="1400">
                <a:latin typeface="メイリオ" panose="020B0604030504040204" pitchFamily="50" charset="-128"/>
                <a:ea typeface="メイリオ" panose="020B0604030504040204" pitchFamily="50" charset="-128"/>
              </a:rPr>
              <a:t>10</a:t>
            </a:r>
            <a:r>
              <a:rPr lang="ja-JP" altLang="en-US" sz="1400">
                <a:latin typeface="メイリオ" panose="020B0604030504040204" pitchFamily="50" charset="-128"/>
                <a:ea typeface="メイリオ" panose="020B0604030504040204" pitchFamily="50" charset="-128"/>
              </a:rPr>
              <a:t>月</a:t>
            </a:r>
            <a:endParaRPr lang="en-US" altLang="ja-JP" sz="1400">
              <a:latin typeface="メイリオ" panose="020B0604030504040204" pitchFamily="50" charset="-128"/>
              <a:ea typeface="メイリオ" panose="020B0604030504040204" pitchFamily="50" charset="-128"/>
            </a:endParaRPr>
          </a:p>
          <a:p>
            <a:pPr>
              <a:lnSpc>
                <a:spcPct val="150000"/>
              </a:lnSpc>
            </a:pPr>
            <a:r>
              <a:rPr lang="en-US" altLang="ja-JP" sz="1400" b="1">
                <a:latin typeface="メイリオ" panose="020B0604030504040204" pitchFamily="50" charset="-128"/>
                <a:ea typeface="メイリオ" panose="020B0604030504040204" pitchFamily="50" charset="-128"/>
                <a:hlinkClick r:id="rId15"/>
              </a:rPr>
              <a:t>Claude in Excel</a:t>
            </a:r>
            <a:endParaRPr lang="en-US" altLang="ja-JP" sz="1400" b="1">
              <a:latin typeface="メイリオ" panose="020B0604030504040204" pitchFamily="50" charset="-128"/>
              <a:ea typeface="メイリオ" panose="020B0604030504040204" pitchFamily="50" charset="-128"/>
            </a:endParaRPr>
          </a:p>
          <a:p>
            <a:pPr>
              <a:lnSpc>
                <a:spcPct val="150000"/>
              </a:lnSpc>
            </a:pPr>
            <a:r>
              <a:rPr lang="ja-JP" altLang="en-US" sz="1200">
                <a:latin typeface="メイリオ" panose="020B0604030504040204" pitchFamily="50" charset="-128"/>
                <a:ea typeface="メイリオ" panose="020B0604030504040204" pitchFamily="50" charset="-128"/>
              </a:rPr>
              <a:t>自然言語で</a:t>
            </a:r>
            <a:r>
              <a:rPr lang="en-US" altLang="ja-JP" sz="1200">
                <a:latin typeface="メイリオ" panose="020B0604030504040204" pitchFamily="50" charset="-128"/>
                <a:ea typeface="メイリオ" panose="020B0604030504040204" pitchFamily="50" charset="-128"/>
              </a:rPr>
              <a:t>Excel</a:t>
            </a:r>
            <a:r>
              <a:rPr lang="ja-JP" altLang="en-US" sz="1200">
                <a:latin typeface="メイリオ" panose="020B0604030504040204" pitchFamily="50" charset="-128"/>
                <a:ea typeface="メイリオ" panose="020B0604030504040204" pitchFamily="50" charset="-128"/>
              </a:rPr>
              <a:t>操作</a:t>
            </a:r>
            <a:endParaRPr lang="en-US" altLang="ja-JP" sz="1400">
              <a:latin typeface="メイリオ" panose="020B0604030504040204" pitchFamily="50" charset="-128"/>
              <a:ea typeface="メイリオ" panose="020B0604030504040204" pitchFamily="50" charset="-128"/>
            </a:endParaRPr>
          </a:p>
        </p:txBody>
      </p:sp>
      <p:sp>
        <p:nvSpPr>
          <p:cNvPr id="39" name="テキスト ボックス 38">
            <a:extLst>
              <a:ext uri="{FF2B5EF4-FFF2-40B4-BE49-F238E27FC236}">
                <a16:creationId xmlns:a16="http://schemas.microsoft.com/office/drawing/2014/main" id="{ACFE4613-A077-9C55-328B-EB75377B5888}"/>
              </a:ext>
            </a:extLst>
          </p:cNvPr>
          <p:cNvSpPr txBox="1"/>
          <p:nvPr/>
        </p:nvSpPr>
        <p:spPr>
          <a:xfrm>
            <a:off x="10697662" y="4041788"/>
            <a:ext cx="1282147" cy="1823576"/>
          </a:xfrm>
          <a:prstGeom prst="rect">
            <a:avLst/>
          </a:prstGeom>
          <a:noFill/>
        </p:spPr>
        <p:txBody>
          <a:bodyPr wrap="square" rtlCol="0">
            <a:spAutoFit/>
          </a:bodyPr>
          <a:lstStyle/>
          <a:p>
            <a:pPr>
              <a:lnSpc>
                <a:spcPct val="150000"/>
              </a:lnSpc>
            </a:pPr>
            <a:r>
              <a:rPr lang="en-US" altLang="ja-JP" sz="1400">
                <a:latin typeface="メイリオ" panose="020B0604030504040204" pitchFamily="50" charset="-128"/>
                <a:ea typeface="メイリオ" panose="020B0604030504040204" pitchFamily="50" charset="-128"/>
              </a:rPr>
              <a:t>2026</a:t>
            </a:r>
            <a:r>
              <a:rPr lang="ja-JP" altLang="en-US" sz="1400">
                <a:latin typeface="メイリオ" panose="020B0604030504040204" pitchFamily="50" charset="-128"/>
                <a:ea typeface="メイリオ" panose="020B0604030504040204" pitchFamily="50" charset="-128"/>
              </a:rPr>
              <a:t>年</a:t>
            </a:r>
            <a:r>
              <a:rPr lang="en-US" altLang="ja-JP" sz="1400">
                <a:latin typeface="メイリオ" panose="020B0604030504040204" pitchFamily="50" charset="-128"/>
                <a:ea typeface="メイリオ" panose="020B0604030504040204" pitchFamily="50" charset="-128"/>
              </a:rPr>
              <a:t>1</a:t>
            </a:r>
            <a:r>
              <a:rPr lang="ja-JP" altLang="en-US" sz="1400">
                <a:latin typeface="メイリオ" panose="020B0604030504040204" pitchFamily="50" charset="-128"/>
                <a:ea typeface="メイリオ" panose="020B0604030504040204" pitchFamily="50" charset="-128"/>
              </a:rPr>
              <a:t>月</a:t>
            </a:r>
            <a:endParaRPr lang="en-US" altLang="ja-JP" sz="1400">
              <a:latin typeface="メイリオ" panose="020B0604030504040204" pitchFamily="50" charset="-128"/>
              <a:ea typeface="メイリオ" panose="020B0604030504040204" pitchFamily="50" charset="-128"/>
            </a:endParaRPr>
          </a:p>
          <a:p>
            <a:pPr>
              <a:lnSpc>
                <a:spcPct val="150000"/>
              </a:lnSpc>
            </a:pPr>
            <a:r>
              <a:rPr lang="en-US" altLang="ja-JP" sz="1400" b="1">
                <a:latin typeface="メイリオ" panose="020B0604030504040204" pitchFamily="50" charset="-128"/>
                <a:ea typeface="メイリオ" panose="020B0604030504040204" pitchFamily="50" charset="-128"/>
                <a:hlinkClick r:id="rId16"/>
              </a:rPr>
              <a:t>Cowork</a:t>
            </a:r>
            <a:endParaRPr lang="en-US" altLang="ja-JP" sz="1400" b="1">
              <a:latin typeface="メイリオ" panose="020B0604030504040204" pitchFamily="50" charset="-128"/>
              <a:ea typeface="メイリオ" panose="020B0604030504040204" pitchFamily="50" charset="-128"/>
            </a:endParaRPr>
          </a:p>
          <a:p>
            <a:pPr>
              <a:lnSpc>
                <a:spcPct val="150000"/>
              </a:lnSpc>
            </a:pPr>
            <a:r>
              <a:rPr lang="ja-JP" altLang="en-US" sz="1200">
                <a:latin typeface="メイリオ" panose="020B0604030504040204" pitchFamily="50" charset="-128"/>
                <a:ea typeface="メイリオ" panose="020B0604030504040204" pitchFamily="50" charset="-128"/>
              </a:rPr>
              <a:t>非開発者向けデスクトップエージェント（現在は</a:t>
            </a:r>
            <a:r>
              <a:rPr lang="en-US" altLang="ja-JP" sz="1200">
                <a:latin typeface="メイリオ" panose="020B0604030504040204" pitchFamily="50" charset="-128"/>
                <a:ea typeface="メイリオ" panose="020B0604030504040204" pitchFamily="50" charset="-128"/>
              </a:rPr>
              <a:t>Mac</a:t>
            </a:r>
            <a:r>
              <a:rPr lang="ja-JP" altLang="en-US" sz="1200">
                <a:latin typeface="メイリオ" panose="020B0604030504040204" pitchFamily="50" charset="-128"/>
                <a:ea typeface="メイリオ" panose="020B0604030504040204" pitchFamily="50" charset="-128"/>
              </a:rPr>
              <a:t>のみ）</a:t>
            </a:r>
            <a:endParaRPr lang="en-US" altLang="ja-JP" sz="1400">
              <a:latin typeface="メイリオ" panose="020B0604030504040204" pitchFamily="50" charset="-128"/>
              <a:ea typeface="メイリオ" panose="020B0604030504040204" pitchFamily="50" charset="-128"/>
            </a:endParaRPr>
          </a:p>
        </p:txBody>
      </p:sp>
      <p:pic>
        <p:nvPicPr>
          <p:cNvPr id="43" name="図 42" descr="ロゴ&#10;&#10;AI 生成コンテンツは誤りを含む可能性があります。">
            <a:extLst>
              <a:ext uri="{FF2B5EF4-FFF2-40B4-BE49-F238E27FC236}">
                <a16:creationId xmlns:a16="http://schemas.microsoft.com/office/drawing/2014/main" id="{0D00CE13-547E-11A0-E352-4A4F250D5252}"/>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8348594" y="257739"/>
            <a:ext cx="2605659" cy="561845"/>
          </a:xfrm>
          <a:prstGeom prst="rect">
            <a:avLst/>
          </a:prstGeom>
        </p:spPr>
      </p:pic>
      <p:grpSp>
        <p:nvGrpSpPr>
          <p:cNvPr id="51" name="グループ化 50">
            <a:extLst>
              <a:ext uri="{FF2B5EF4-FFF2-40B4-BE49-F238E27FC236}">
                <a16:creationId xmlns:a16="http://schemas.microsoft.com/office/drawing/2014/main" id="{EBD3857C-FC6A-1EFF-45FD-B1C07520325C}"/>
              </a:ext>
            </a:extLst>
          </p:cNvPr>
          <p:cNvGrpSpPr/>
          <p:nvPr/>
        </p:nvGrpSpPr>
        <p:grpSpPr>
          <a:xfrm>
            <a:off x="5684999" y="2752472"/>
            <a:ext cx="1309144" cy="1037811"/>
            <a:chOff x="2028257" y="204337"/>
            <a:chExt cx="8135485" cy="6449325"/>
          </a:xfrm>
        </p:grpSpPr>
        <p:pic>
          <p:nvPicPr>
            <p:cNvPr id="52" name="図 51" descr="テキスト&#10;&#10;AI 生成コンテンツは誤りを含む可能性があります。">
              <a:extLst>
                <a:ext uri="{FF2B5EF4-FFF2-40B4-BE49-F238E27FC236}">
                  <a16:creationId xmlns:a16="http://schemas.microsoft.com/office/drawing/2014/main" id="{9771CB0C-9519-B572-D09B-2496E766DBD6}"/>
                </a:ext>
              </a:extLst>
            </p:cNvPr>
            <p:cNvPicPr>
              <a:picLocks noChangeAspect="1"/>
            </p:cNvPicPr>
            <p:nvPr/>
          </p:nvPicPr>
          <p:blipFill>
            <a:blip r:embed="rId18"/>
            <a:stretch>
              <a:fillRect/>
            </a:stretch>
          </p:blipFill>
          <p:spPr>
            <a:xfrm>
              <a:off x="2028257" y="204337"/>
              <a:ext cx="8135485" cy="6449325"/>
            </a:xfrm>
            <a:prstGeom prst="rect">
              <a:avLst/>
            </a:prstGeom>
            <a:ln>
              <a:noFill/>
            </a:ln>
            <a:effectLst>
              <a:outerShdw blurRad="190500" algn="tl" rotWithShape="0">
                <a:srgbClr val="000000">
                  <a:alpha val="70000"/>
                </a:srgbClr>
              </a:outerShdw>
            </a:effectLst>
          </p:spPr>
        </p:pic>
        <p:pic>
          <p:nvPicPr>
            <p:cNvPr id="53" name="図 52">
              <a:extLst>
                <a:ext uri="{FF2B5EF4-FFF2-40B4-BE49-F238E27FC236}">
                  <a16:creationId xmlns:a16="http://schemas.microsoft.com/office/drawing/2014/main" id="{39D7B14C-2A36-4F8C-CF68-77D7C8DA96E1}"/>
                </a:ext>
              </a:extLst>
            </p:cNvPr>
            <p:cNvPicPr>
              <a:picLocks noChangeAspect="1"/>
            </p:cNvPicPr>
            <p:nvPr/>
          </p:nvPicPr>
          <p:blipFill>
            <a:blip r:embed="rId19"/>
            <a:stretch>
              <a:fillRect/>
            </a:stretch>
          </p:blipFill>
          <p:spPr>
            <a:xfrm>
              <a:off x="3506669" y="1702113"/>
              <a:ext cx="2113295" cy="280800"/>
            </a:xfrm>
            <a:prstGeom prst="rect">
              <a:avLst/>
            </a:prstGeom>
          </p:spPr>
        </p:pic>
      </p:grpSp>
    </p:spTree>
    <p:extLst>
      <p:ext uri="{BB962C8B-B14F-4D97-AF65-F5344CB8AC3E}">
        <p14:creationId xmlns:p14="http://schemas.microsoft.com/office/powerpoint/2010/main" val="40611623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85BF2E-8FBA-3B44-2BF5-71D087EDA49D}"/>
            </a:ext>
          </a:extLst>
        </p:cNvPr>
        <p:cNvGrpSpPr/>
        <p:nvPr/>
      </p:nvGrpSpPr>
      <p:grpSpPr>
        <a:xfrm>
          <a:off x="0" y="0"/>
          <a:ext cx="0" cy="0"/>
          <a:chOff x="0" y="0"/>
          <a:chExt cx="0" cy="0"/>
        </a:xfrm>
      </p:grpSpPr>
      <p:sp>
        <p:nvSpPr>
          <p:cNvPr id="42" name="四角形: 角を丸くする 41">
            <a:extLst>
              <a:ext uri="{FF2B5EF4-FFF2-40B4-BE49-F238E27FC236}">
                <a16:creationId xmlns:a16="http://schemas.microsoft.com/office/drawing/2014/main" id="{695047DB-4761-F67E-4248-47F90148299A}"/>
              </a:ext>
            </a:extLst>
          </p:cNvPr>
          <p:cNvSpPr/>
          <p:nvPr/>
        </p:nvSpPr>
        <p:spPr>
          <a:xfrm>
            <a:off x="8488013" y="3143760"/>
            <a:ext cx="3518935" cy="1476126"/>
          </a:xfrm>
          <a:prstGeom prst="roundRect">
            <a:avLst/>
          </a:prstGeom>
          <a:solidFill>
            <a:srgbClr val="E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3" name="四角形: 角を丸くする 42">
            <a:extLst>
              <a:ext uri="{FF2B5EF4-FFF2-40B4-BE49-F238E27FC236}">
                <a16:creationId xmlns:a16="http://schemas.microsoft.com/office/drawing/2014/main" id="{7050C24C-F094-D1CC-0E9E-B22C5D5B13CB}"/>
              </a:ext>
            </a:extLst>
          </p:cNvPr>
          <p:cNvSpPr/>
          <p:nvPr/>
        </p:nvSpPr>
        <p:spPr>
          <a:xfrm>
            <a:off x="8783112" y="3463220"/>
            <a:ext cx="2928735" cy="737978"/>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23" name="四角形: 角を丸くする 22">
            <a:extLst>
              <a:ext uri="{FF2B5EF4-FFF2-40B4-BE49-F238E27FC236}">
                <a16:creationId xmlns:a16="http://schemas.microsoft.com/office/drawing/2014/main" id="{8680F3FE-1232-A8E3-E297-1699B63EBBCF}"/>
              </a:ext>
            </a:extLst>
          </p:cNvPr>
          <p:cNvSpPr/>
          <p:nvPr/>
        </p:nvSpPr>
        <p:spPr>
          <a:xfrm>
            <a:off x="5575852" y="3118678"/>
            <a:ext cx="2375452" cy="1476126"/>
          </a:xfrm>
          <a:prstGeom prst="round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テキスト ボックス 3">
            <a:extLst>
              <a:ext uri="{FF2B5EF4-FFF2-40B4-BE49-F238E27FC236}">
                <a16:creationId xmlns:a16="http://schemas.microsoft.com/office/drawing/2014/main" id="{2E8474D0-EAC6-01B9-08C9-F6BF1E98735D}"/>
              </a:ext>
            </a:extLst>
          </p:cNvPr>
          <p:cNvSpPr txBox="1"/>
          <p:nvPr/>
        </p:nvSpPr>
        <p:spPr>
          <a:xfrm>
            <a:off x="443466" y="317212"/>
            <a:ext cx="11215133" cy="584775"/>
          </a:xfrm>
          <a:prstGeom prst="rect">
            <a:avLst/>
          </a:prstGeom>
          <a:noFill/>
        </p:spPr>
        <p:txBody>
          <a:bodyPr wrap="square" rtlCol="0">
            <a:spAutoFit/>
          </a:bodyPr>
          <a:lstStyle/>
          <a:p>
            <a:r>
              <a:rPr kumimoji="1" lang="ja-JP" altLang="en-US" sz="3200" b="1">
                <a:latin typeface="メイリオ" panose="020B0604030504040204" pitchFamily="50" charset="-128"/>
                <a:ea typeface="メイリオ" panose="020B0604030504040204" pitchFamily="50" charset="-128"/>
              </a:rPr>
              <a:t>「チャットで答える</a:t>
            </a:r>
            <a:r>
              <a:rPr kumimoji="1" lang="en-US" altLang="ja-JP" sz="3200" b="1">
                <a:latin typeface="メイリオ" panose="020B0604030504040204" pitchFamily="50" charset="-128"/>
                <a:ea typeface="メイリオ" panose="020B0604030504040204" pitchFamily="50" charset="-128"/>
              </a:rPr>
              <a:t>AI</a:t>
            </a:r>
            <a:r>
              <a:rPr kumimoji="1" lang="ja-JP" altLang="en-US" sz="3200" b="1">
                <a:latin typeface="メイリオ" panose="020B0604030504040204" pitchFamily="50" charset="-128"/>
                <a:ea typeface="メイリオ" panose="020B0604030504040204" pitchFamily="50" charset="-128"/>
              </a:rPr>
              <a:t>」から「</a:t>
            </a:r>
            <a:r>
              <a:rPr kumimoji="1" lang="en-US" altLang="ja-JP" sz="3200" b="1">
                <a:latin typeface="メイリオ" panose="020B0604030504040204" pitchFamily="50" charset="-128"/>
                <a:ea typeface="メイリオ" panose="020B0604030504040204" pitchFamily="50" charset="-128"/>
              </a:rPr>
              <a:t>PC</a:t>
            </a:r>
            <a:r>
              <a:rPr kumimoji="1" lang="ja-JP" altLang="en-US" sz="3200" b="1">
                <a:latin typeface="メイリオ" panose="020B0604030504040204" pitchFamily="50" charset="-128"/>
                <a:ea typeface="メイリオ" panose="020B0604030504040204" pitchFamily="50" charset="-128"/>
              </a:rPr>
              <a:t>を動かす</a:t>
            </a:r>
            <a:r>
              <a:rPr kumimoji="1" lang="en-US" altLang="ja-JP" sz="3200" b="1">
                <a:latin typeface="メイリオ" panose="020B0604030504040204" pitchFamily="50" charset="-128"/>
                <a:ea typeface="メイリオ" panose="020B0604030504040204" pitchFamily="50" charset="-128"/>
              </a:rPr>
              <a:t>AI</a:t>
            </a:r>
            <a:r>
              <a:rPr kumimoji="1" lang="ja-JP" altLang="en-US" sz="3200" b="1">
                <a:latin typeface="メイリオ" panose="020B0604030504040204" pitchFamily="50" charset="-128"/>
                <a:ea typeface="メイリオ" panose="020B0604030504040204" pitchFamily="50" charset="-128"/>
              </a:rPr>
              <a:t>」へ</a:t>
            </a:r>
          </a:p>
        </p:txBody>
      </p:sp>
      <p:sp>
        <p:nvSpPr>
          <p:cNvPr id="6" name="正方形/長方形 5">
            <a:extLst>
              <a:ext uri="{FF2B5EF4-FFF2-40B4-BE49-F238E27FC236}">
                <a16:creationId xmlns:a16="http://schemas.microsoft.com/office/drawing/2014/main" id="{317CE811-0509-D08E-CFB3-4BCA1474762E}"/>
              </a:ext>
            </a:extLst>
          </p:cNvPr>
          <p:cNvSpPr/>
          <p:nvPr/>
        </p:nvSpPr>
        <p:spPr>
          <a:xfrm>
            <a:off x="185049" y="1008015"/>
            <a:ext cx="5122446" cy="457200"/>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a:solidFill>
                  <a:schemeClr val="tx1"/>
                </a:solidFill>
                <a:latin typeface="メイリオ" panose="020B0604030504040204" pitchFamily="50" charset="-128"/>
                <a:ea typeface="メイリオ" panose="020B0604030504040204" pitchFamily="50" charset="-128"/>
              </a:rPr>
              <a:t>AI</a:t>
            </a:r>
            <a:r>
              <a:rPr lang="ja-JP" altLang="en-US" b="1">
                <a:solidFill>
                  <a:schemeClr val="tx1"/>
                </a:solidFill>
                <a:latin typeface="メイリオ" panose="020B0604030504040204" pitchFamily="50" charset="-128"/>
                <a:ea typeface="メイリオ" panose="020B0604030504040204" pitchFamily="50" charset="-128"/>
              </a:rPr>
              <a:t>が</a:t>
            </a:r>
            <a:r>
              <a:rPr lang="en-US" altLang="ja-JP" b="1">
                <a:solidFill>
                  <a:schemeClr val="tx1"/>
                </a:solidFill>
                <a:latin typeface="メイリオ" panose="020B0604030504040204" pitchFamily="50" charset="-128"/>
                <a:ea typeface="メイリオ" panose="020B0604030504040204" pitchFamily="50" charset="-128"/>
              </a:rPr>
              <a:t>PC</a:t>
            </a:r>
            <a:r>
              <a:rPr lang="ja-JP" altLang="en-US" b="1">
                <a:solidFill>
                  <a:schemeClr val="tx1"/>
                </a:solidFill>
                <a:latin typeface="メイリオ" panose="020B0604030504040204" pitchFamily="50" charset="-128"/>
                <a:ea typeface="メイリオ" panose="020B0604030504040204" pitchFamily="50" charset="-128"/>
              </a:rPr>
              <a:t>・ブラウザを操作する時代</a:t>
            </a:r>
            <a:endParaRPr kumimoji="1" lang="ja-JP" altLang="en-US" b="1">
              <a:solidFill>
                <a:schemeClr val="tx1"/>
              </a:solidFill>
              <a:latin typeface="メイリオ" panose="020B0604030504040204" pitchFamily="50" charset="-128"/>
              <a:ea typeface="メイリオ" panose="020B0604030504040204" pitchFamily="50" charset="-128"/>
            </a:endParaRPr>
          </a:p>
        </p:txBody>
      </p:sp>
      <p:pic>
        <p:nvPicPr>
          <p:cNvPr id="2" name="図 1" descr="ロゴ&#10;&#10;AI 生成コンテンツは誤りを含む可能性があります。">
            <a:extLst>
              <a:ext uri="{FF2B5EF4-FFF2-40B4-BE49-F238E27FC236}">
                <a16:creationId xmlns:a16="http://schemas.microsoft.com/office/drawing/2014/main" id="{8B9F8CC5-CA72-F45F-2548-F891A61AAA4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051" y="2134471"/>
            <a:ext cx="843930" cy="843930"/>
          </a:xfrm>
          <a:prstGeom prst="rect">
            <a:avLst/>
          </a:prstGeom>
        </p:spPr>
      </p:pic>
      <p:pic>
        <p:nvPicPr>
          <p:cNvPr id="3" name="図 2" descr="ダイアグラム&#10;&#10;AI 生成コンテンツは誤りを含む可能性があります。">
            <a:extLst>
              <a:ext uri="{FF2B5EF4-FFF2-40B4-BE49-F238E27FC236}">
                <a16:creationId xmlns:a16="http://schemas.microsoft.com/office/drawing/2014/main" id="{7A4DADF2-8EB3-05DD-1E24-34143C52680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5049" y="1571243"/>
            <a:ext cx="775934" cy="457200"/>
          </a:xfrm>
          <a:prstGeom prst="rect">
            <a:avLst/>
          </a:prstGeom>
        </p:spPr>
      </p:pic>
      <p:sp>
        <p:nvSpPr>
          <p:cNvPr id="10" name="テキスト ボックス 9">
            <a:extLst>
              <a:ext uri="{FF2B5EF4-FFF2-40B4-BE49-F238E27FC236}">
                <a16:creationId xmlns:a16="http://schemas.microsoft.com/office/drawing/2014/main" id="{FDC608D0-F9DB-37B4-989F-3E28CA46A5A1}"/>
              </a:ext>
            </a:extLst>
          </p:cNvPr>
          <p:cNvSpPr txBox="1"/>
          <p:nvPr/>
        </p:nvSpPr>
        <p:spPr>
          <a:xfrm>
            <a:off x="960983" y="1462741"/>
            <a:ext cx="4346512" cy="711733"/>
          </a:xfrm>
          <a:prstGeom prst="rect">
            <a:avLst/>
          </a:prstGeom>
          <a:noFill/>
        </p:spPr>
        <p:txBody>
          <a:bodyPr wrap="square" rtlCol="0" anchor="ctr">
            <a:spAutoFit/>
          </a:bodyPr>
          <a:lstStyle/>
          <a:p>
            <a:pPr>
              <a:lnSpc>
                <a:spcPct val="150000"/>
              </a:lnSpc>
            </a:pPr>
            <a:r>
              <a:rPr lang="en-US" altLang="ja-JP" sz="1400" b="1">
                <a:latin typeface="メイリオ" panose="020B0604030504040204" pitchFamily="50" charset="-128"/>
                <a:ea typeface="メイリオ" panose="020B0604030504040204" pitchFamily="50" charset="-128"/>
              </a:rPr>
              <a:t>Claude Code</a:t>
            </a:r>
            <a:r>
              <a:rPr lang="ja-JP" altLang="en-US" sz="1400" b="1">
                <a:latin typeface="メイリオ" panose="020B0604030504040204" pitchFamily="50" charset="-128"/>
                <a:ea typeface="メイリオ" panose="020B0604030504040204" pitchFamily="50" charset="-128"/>
              </a:rPr>
              <a:t>：ターミナル</a:t>
            </a:r>
            <a:r>
              <a:rPr lang="ja-JP" altLang="en-US" sz="1400">
                <a:latin typeface="メイリオ" panose="020B0604030504040204" pitchFamily="50" charset="-128"/>
                <a:ea typeface="メイリオ" panose="020B0604030504040204" pitchFamily="50" charset="-128"/>
              </a:rPr>
              <a:t>（黒い画面）</a:t>
            </a:r>
            <a:r>
              <a:rPr lang="ja-JP" altLang="en-US" sz="1400" b="1">
                <a:latin typeface="メイリオ" panose="020B0604030504040204" pitchFamily="50" charset="-128"/>
                <a:ea typeface="メイリオ" panose="020B0604030504040204" pitchFamily="50" charset="-128"/>
              </a:rPr>
              <a:t>で動く</a:t>
            </a:r>
            <a:endParaRPr lang="en-US" altLang="ja-JP" sz="1400" b="1">
              <a:latin typeface="メイリオ" panose="020B0604030504040204" pitchFamily="50" charset="-128"/>
              <a:ea typeface="メイリオ" panose="020B0604030504040204" pitchFamily="50" charset="-128"/>
            </a:endParaRPr>
          </a:p>
          <a:p>
            <a:pPr>
              <a:lnSpc>
                <a:spcPct val="150000"/>
              </a:lnSpc>
            </a:pPr>
            <a:r>
              <a:rPr kumimoji="1" lang="ja-JP" altLang="en-US" sz="1400" b="1">
                <a:latin typeface="メイリオ" panose="020B0604030504040204" pitchFamily="50" charset="-128"/>
                <a:ea typeface="メイリオ" panose="020B0604030504040204" pitchFamily="50" charset="-128"/>
              </a:rPr>
              <a:t>➡</a:t>
            </a:r>
            <a:r>
              <a:rPr kumimoji="1" lang="ja-JP" altLang="en-US" sz="1050" b="1">
                <a:latin typeface="メイリオ" panose="020B0604030504040204" pitchFamily="50" charset="-128"/>
                <a:ea typeface="メイリオ" panose="020B0604030504040204" pitchFamily="50" charset="-128"/>
              </a:rPr>
              <a:t> </a:t>
            </a:r>
            <a:r>
              <a:rPr lang="en-US" altLang="ja-JP" sz="1050">
                <a:latin typeface="メイリオ" panose="020B0604030504040204" pitchFamily="50" charset="-128"/>
                <a:ea typeface="メイリオ" panose="020B0604030504040204" pitchFamily="50" charset="-128"/>
              </a:rPr>
              <a:t>(</a:t>
            </a:r>
            <a:r>
              <a:rPr lang="ja-JP" altLang="en-US" sz="1050">
                <a:latin typeface="メイリオ" panose="020B0604030504040204" pitchFamily="50" charset="-128"/>
                <a:ea typeface="メイリオ" panose="020B0604030504040204" pitchFamily="50" charset="-128"/>
              </a:rPr>
              <a:t>開発ツールだけど</a:t>
            </a:r>
            <a:r>
              <a:rPr lang="en-US" altLang="ja-JP" sz="1050">
                <a:latin typeface="メイリオ" panose="020B0604030504040204" pitchFamily="50" charset="-128"/>
                <a:ea typeface="メイリオ" panose="020B0604030504040204" pitchFamily="50" charset="-128"/>
              </a:rPr>
              <a:t>)</a:t>
            </a:r>
            <a:r>
              <a:rPr kumimoji="1" lang="en-US" altLang="ja-JP" sz="1400" b="1">
                <a:latin typeface="メイリオ" panose="020B0604030504040204" pitchFamily="50" charset="-128"/>
                <a:ea typeface="メイリオ" panose="020B0604030504040204" pitchFamily="50" charset="-128"/>
              </a:rPr>
              <a:t>PC</a:t>
            </a:r>
            <a:r>
              <a:rPr kumimoji="1" lang="ja-JP" altLang="en-US" sz="1400" b="1">
                <a:latin typeface="メイリオ" panose="020B0604030504040204" pitchFamily="50" charset="-128"/>
                <a:ea typeface="メイリオ" panose="020B0604030504040204" pitchFamily="50" charset="-128"/>
              </a:rPr>
              <a:t>自体を操作できる</a:t>
            </a:r>
            <a:r>
              <a:rPr kumimoji="1" lang="ja-JP" altLang="en-US" sz="1400">
                <a:latin typeface="メイリオ" panose="020B0604030504040204" pitchFamily="50" charset="-128"/>
                <a:ea typeface="メイリオ" panose="020B0604030504040204" pitchFamily="50" charset="-128"/>
              </a:rPr>
              <a:t>ということ</a:t>
            </a:r>
            <a:endParaRPr kumimoji="1" lang="en-US" altLang="ja-JP" sz="1400">
              <a:latin typeface="メイリオ" panose="020B0604030504040204" pitchFamily="50" charset="-128"/>
              <a:ea typeface="メイリオ" panose="020B0604030504040204" pitchFamily="50" charset="-128"/>
            </a:endParaRPr>
          </a:p>
        </p:txBody>
      </p:sp>
      <p:sp>
        <p:nvSpPr>
          <p:cNvPr id="12" name="テキスト ボックス 11">
            <a:extLst>
              <a:ext uri="{FF2B5EF4-FFF2-40B4-BE49-F238E27FC236}">
                <a16:creationId xmlns:a16="http://schemas.microsoft.com/office/drawing/2014/main" id="{1C5EB677-2876-A69B-0321-E3AB11269551}"/>
              </a:ext>
            </a:extLst>
          </p:cNvPr>
          <p:cNvSpPr txBox="1"/>
          <p:nvPr/>
        </p:nvSpPr>
        <p:spPr>
          <a:xfrm>
            <a:off x="960983" y="2200569"/>
            <a:ext cx="4035288" cy="711733"/>
          </a:xfrm>
          <a:prstGeom prst="rect">
            <a:avLst/>
          </a:prstGeom>
          <a:noFill/>
        </p:spPr>
        <p:txBody>
          <a:bodyPr wrap="square" rtlCol="0">
            <a:spAutoFit/>
          </a:bodyPr>
          <a:lstStyle/>
          <a:p>
            <a:pPr>
              <a:lnSpc>
                <a:spcPct val="150000"/>
              </a:lnSpc>
            </a:pPr>
            <a:r>
              <a:rPr lang="en-US" altLang="ja-JP" sz="1400" b="1">
                <a:latin typeface="メイリオ" panose="020B0604030504040204" pitchFamily="50" charset="-128"/>
                <a:ea typeface="メイリオ" panose="020B0604030504040204" pitchFamily="50" charset="-128"/>
              </a:rPr>
              <a:t>Claude in Chrome</a:t>
            </a:r>
            <a:r>
              <a:rPr lang="ja-JP" altLang="en-US" sz="1400" b="1">
                <a:latin typeface="メイリオ" panose="020B0604030504040204" pitchFamily="50" charset="-128"/>
                <a:ea typeface="メイリオ" panose="020B0604030504040204" pitchFamily="50" charset="-128"/>
              </a:rPr>
              <a:t>：</a:t>
            </a:r>
            <a:r>
              <a:rPr lang="en-US" altLang="ja-JP" sz="1400" b="1">
                <a:latin typeface="メイリオ" panose="020B0604030504040204" pitchFamily="50" charset="-128"/>
                <a:ea typeface="メイリオ" panose="020B0604030504040204" pitchFamily="50" charset="-128"/>
              </a:rPr>
              <a:t>Chrome</a:t>
            </a:r>
            <a:r>
              <a:rPr lang="ja-JP" altLang="en-US" sz="1400" b="1">
                <a:latin typeface="メイリオ" panose="020B0604030504040204" pitchFamily="50" charset="-128"/>
                <a:ea typeface="メイリオ" panose="020B0604030504040204" pitchFamily="50" charset="-128"/>
              </a:rPr>
              <a:t>拡張として動く</a:t>
            </a:r>
            <a:endParaRPr lang="en-US" altLang="ja-JP" sz="1400" b="1">
              <a:latin typeface="メイリオ" panose="020B0604030504040204" pitchFamily="50" charset="-128"/>
              <a:ea typeface="メイリオ" panose="020B0604030504040204" pitchFamily="50" charset="-128"/>
            </a:endParaRPr>
          </a:p>
          <a:p>
            <a:pPr>
              <a:lnSpc>
                <a:spcPct val="150000"/>
              </a:lnSpc>
            </a:pPr>
            <a:r>
              <a:rPr kumimoji="1" lang="ja-JP" altLang="en-US" sz="1400" b="1">
                <a:latin typeface="メイリオ" panose="020B0604030504040204" pitchFamily="50" charset="-128"/>
                <a:ea typeface="メイリオ" panose="020B0604030504040204" pitchFamily="50" charset="-128"/>
              </a:rPr>
              <a:t>➡ ブラウザを操作できる</a:t>
            </a:r>
            <a:r>
              <a:rPr kumimoji="1" lang="ja-JP" altLang="en-US" sz="1400">
                <a:latin typeface="メイリオ" panose="020B0604030504040204" pitchFamily="50" charset="-128"/>
                <a:ea typeface="メイリオ" panose="020B0604030504040204" pitchFamily="50" charset="-128"/>
              </a:rPr>
              <a:t>ということ</a:t>
            </a:r>
            <a:endParaRPr kumimoji="1" lang="en-US" altLang="ja-JP" sz="1400">
              <a:latin typeface="メイリオ" panose="020B0604030504040204" pitchFamily="50" charset="-128"/>
              <a:ea typeface="メイリオ" panose="020B0604030504040204" pitchFamily="50" charset="-128"/>
            </a:endParaRPr>
          </a:p>
        </p:txBody>
      </p:sp>
      <p:sp>
        <p:nvSpPr>
          <p:cNvPr id="14" name="正方形/長方形 13">
            <a:extLst>
              <a:ext uri="{FF2B5EF4-FFF2-40B4-BE49-F238E27FC236}">
                <a16:creationId xmlns:a16="http://schemas.microsoft.com/office/drawing/2014/main" id="{9F102DBE-8503-73D0-0CAA-8D560FC96AC6}"/>
              </a:ext>
            </a:extLst>
          </p:cNvPr>
          <p:cNvSpPr/>
          <p:nvPr/>
        </p:nvSpPr>
        <p:spPr>
          <a:xfrm>
            <a:off x="185049" y="3084429"/>
            <a:ext cx="5122446" cy="457200"/>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a:solidFill>
                  <a:schemeClr val="tx1"/>
                </a:solidFill>
                <a:latin typeface="メイリオ" panose="020B0604030504040204" pitchFamily="50" charset="-128"/>
                <a:ea typeface="メイリオ" panose="020B0604030504040204" pitchFamily="50" charset="-128"/>
              </a:rPr>
              <a:t>RPA</a:t>
            </a:r>
            <a:r>
              <a:rPr lang="ja-JP" altLang="en-US" b="1">
                <a:solidFill>
                  <a:schemeClr val="tx1"/>
                </a:solidFill>
                <a:latin typeface="メイリオ" panose="020B0604030504040204" pitchFamily="50" charset="-128"/>
                <a:ea typeface="メイリオ" panose="020B0604030504040204" pitchFamily="50" charset="-128"/>
              </a:rPr>
              <a:t>との違い</a:t>
            </a:r>
            <a:endParaRPr kumimoji="1" lang="ja-JP" altLang="en-US" b="1">
              <a:solidFill>
                <a:schemeClr val="tx1"/>
              </a:solidFill>
              <a:latin typeface="メイリオ" panose="020B0604030504040204" pitchFamily="50" charset="-128"/>
              <a:ea typeface="メイリオ" panose="020B0604030504040204" pitchFamily="50" charset="-128"/>
            </a:endParaRPr>
          </a:p>
        </p:txBody>
      </p:sp>
      <p:graphicFrame>
        <p:nvGraphicFramePr>
          <p:cNvPr id="16" name="表 15">
            <a:extLst>
              <a:ext uri="{FF2B5EF4-FFF2-40B4-BE49-F238E27FC236}">
                <a16:creationId xmlns:a16="http://schemas.microsoft.com/office/drawing/2014/main" id="{F138339E-171F-FF11-8C24-C150708111BD}"/>
              </a:ext>
            </a:extLst>
          </p:cNvPr>
          <p:cNvGraphicFramePr>
            <a:graphicFrameLocks noGrp="1"/>
          </p:cNvGraphicFramePr>
          <p:nvPr>
            <p:extLst>
              <p:ext uri="{D42A27DB-BD31-4B8C-83A1-F6EECF244321}">
                <p14:modId xmlns:p14="http://schemas.microsoft.com/office/powerpoint/2010/main" val="2053402878"/>
              </p:ext>
            </p:extLst>
          </p:nvPr>
        </p:nvGraphicFramePr>
        <p:xfrm>
          <a:off x="185050" y="3597784"/>
          <a:ext cx="5122446" cy="3030067"/>
        </p:xfrm>
        <a:graphic>
          <a:graphicData uri="http://schemas.openxmlformats.org/drawingml/2006/table">
            <a:tbl>
              <a:tblPr firstRow="1" bandRow="1">
                <a:tableStyleId>{5C22544A-7EE6-4342-B048-85BDC9FD1C3A}</a:tableStyleId>
              </a:tblPr>
              <a:tblGrid>
                <a:gridCol w="1097098">
                  <a:extLst>
                    <a:ext uri="{9D8B030D-6E8A-4147-A177-3AD203B41FA5}">
                      <a16:colId xmlns:a16="http://schemas.microsoft.com/office/drawing/2014/main" val="1714558132"/>
                    </a:ext>
                  </a:extLst>
                </a:gridCol>
                <a:gridCol w="1699591">
                  <a:extLst>
                    <a:ext uri="{9D8B030D-6E8A-4147-A177-3AD203B41FA5}">
                      <a16:colId xmlns:a16="http://schemas.microsoft.com/office/drawing/2014/main" val="480840800"/>
                    </a:ext>
                  </a:extLst>
                </a:gridCol>
                <a:gridCol w="2325757">
                  <a:extLst>
                    <a:ext uri="{9D8B030D-6E8A-4147-A177-3AD203B41FA5}">
                      <a16:colId xmlns:a16="http://schemas.microsoft.com/office/drawing/2014/main" val="1844808726"/>
                    </a:ext>
                  </a:extLst>
                </a:gridCol>
              </a:tblGrid>
              <a:tr h="530707">
                <a:tc>
                  <a:txBody>
                    <a:bodyPr/>
                    <a:lstStyle/>
                    <a:p>
                      <a:pPr algn="ctr"/>
                      <a:r>
                        <a:rPr kumimoji="1" lang="ja-JP" altLang="en-US" sz="1400">
                          <a:latin typeface="メイリオ" panose="020B0604030504040204" pitchFamily="50" charset="-128"/>
                          <a:ea typeface="メイリオ" panose="020B0604030504040204" pitchFamily="50" charset="-128"/>
                        </a:rPr>
                        <a:t>項目</a:t>
                      </a:r>
                    </a:p>
                  </a:txBody>
                  <a:tcPr anchor="ctr"/>
                </a:tc>
                <a:tc>
                  <a:txBody>
                    <a:bodyPr/>
                    <a:lstStyle/>
                    <a:p>
                      <a:pPr algn="ctr"/>
                      <a:r>
                        <a:rPr kumimoji="1" lang="ja-JP" altLang="en-US" sz="1400">
                          <a:latin typeface="メイリオ" panose="020B0604030504040204" pitchFamily="50" charset="-128"/>
                          <a:ea typeface="メイリオ" panose="020B0604030504040204" pitchFamily="50" charset="-128"/>
                        </a:rPr>
                        <a:t>従来の</a:t>
                      </a:r>
                      <a:r>
                        <a:rPr kumimoji="1" lang="en-US" altLang="ja-JP" sz="1400">
                          <a:latin typeface="メイリオ" panose="020B0604030504040204" pitchFamily="50" charset="-128"/>
                          <a:ea typeface="メイリオ" panose="020B0604030504040204" pitchFamily="50" charset="-128"/>
                        </a:rPr>
                        <a:t>RPA</a:t>
                      </a:r>
                      <a:endParaRPr kumimoji="1" lang="ja-JP" altLang="en-US" sz="1400">
                        <a:latin typeface="メイリオ" panose="020B0604030504040204" pitchFamily="50" charset="-128"/>
                        <a:ea typeface="メイリオ" panose="020B0604030504040204" pitchFamily="50" charset="-128"/>
                      </a:endParaRPr>
                    </a:p>
                  </a:txBody>
                  <a:tcPr anchor="ctr"/>
                </a:tc>
                <a:tc>
                  <a:txBody>
                    <a:bodyPr/>
                    <a:lstStyle/>
                    <a:p>
                      <a:pPr algn="ctr"/>
                      <a:r>
                        <a:rPr kumimoji="1" lang="en-US" altLang="ja-JP" sz="1400">
                          <a:latin typeface="メイリオ" panose="020B0604030504040204" pitchFamily="50" charset="-128"/>
                          <a:ea typeface="メイリオ" panose="020B0604030504040204" pitchFamily="50" charset="-128"/>
                        </a:rPr>
                        <a:t>Claude Code / Claude in Chrome</a:t>
                      </a:r>
                      <a:endParaRPr kumimoji="1" lang="ja-JP" altLang="en-US" sz="1400">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708897093"/>
                  </a:ext>
                </a:extLst>
              </a:tr>
              <a:tr h="741536">
                <a:tc>
                  <a:txBody>
                    <a:bodyPr/>
                    <a:lstStyle/>
                    <a:p>
                      <a:pPr algn="ctr"/>
                      <a:r>
                        <a:rPr kumimoji="1" lang="ja-JP" altLang="en-US" sz="1400">
                          <a:latin typeface="メイリオ" panose="020B0604030504040204" pitchFamily="50" charset="-128"/>
                          <a:ea typeface="メイリオ" panose="020B0604030504040204" pitchFamily="50" charset="-128"/>
                        </a:rPr>
                        <a:t>動作環境</a:t>
                      </a:r>
                    </a:p>
                  </a:txBody>
                  <a:tcPr anchor="ctr"/>
                </a:tc>
                <a:tc>
                  <a:txBody>
                    <a:bodyPr/>
                    <a:lstStyle/>
                    <a:p>
                      <a:pPr algn="ctr"/>
                      <a:r>
                        <a:rPr kumimoji="1" lang="ja-JP" altLang="en-US" sz="1400">
                          <a:latin typeface="メイリオ" panose="020B0604030504040204" pitchFamily="50" charset="-128"/>
                          <a:ea typeface="メイリオ" panose="020B0604030504040204" pitchFamily="50" charset="-128"/>
                        </a:rPr>
                        <a:t>画面座標・要素</a:t>
                      </a:r>
                      <a:r>
                        <a:rPr kumimoji="1" lang="en-US" altLang="ja-JP" sz="1400">
                          <a:latin typeface="メイリオ" panose="020B0604030504040204" pitchFamily="50" charset="-128"/>
                          <a:ea typeface="メイリオ" panose="020B0604030504040204" pitchFamily="50" charset="-128"/>
                        </a:rPr>
                        <a:t>ID</a:t>
                      </a:r>
                      <a:r>
                        <a:rPr kumimoji="1" lang="ja-JP" altLang="en-US" sz="1400">
                          <a:latin typeface="メイリオ" panose="020B0604030504040204" pitchFamily="50" charset="-128"/>
                          <a:ea typeface="メイリオ" panose="020B0604030504040204" pitchFamily="50" charset="-128"/>
                        </a:rPr>
                        <a:t>を記録して再生</a:t>
                      </a:r>
                    </a:p>
                  </a:txBody>
                  <a:tcPr anchor="ctr"/>
                </a:tc>
                <a:tc>
                  <a:txBody>
                    <a:bodyPr/>
                    <a:lstStyle/>
                    <a:p>
                      <a:pPr algn="ctr"/>
                      <a:r>
                        <a:rPr kumimoji="1" lang="en-US" altLang="ja-JP" sz="1400">
                          <a:latin typeface="メイリオ" panose="020B0604030504040204" pitchFamily="50" charset="-128"/>
                          <a:ea typeface="メイリオ" panose="020B0604030504040204" pitchFamily="50" charset="-128"/>
                        </a:rPr>
                        <a:t>AI</a:t>
                      </a:r>
                      <a:r>
                        <a:rPr kumimoji="1" lang="ja-JP" altLang="en-US" sz="1400">
                          <a:latin typeface="メイリオ" panose="020B0604030504040204" pitchFamily="50" charset="-128"/>
                          <a:ea typeface="メイリオ" panose="020B0604030504040204" pitchFamily="50" charset="-128"/>
                        </a:rPr>
                        <a:t>が画面を見て意味を理解して操作</a:t>
                      </a:r>
                      <a:endParaRPr kumimoji="1" lang="en-US" altLang="ja-JP" sz="1400">
                        <a:latin typeface="メイリオ" panose="020B0604030504040204" pitchFamily="50" charset="-128"/>
                        <a:ea typeface="メイリオ" panose="020B0604030504040204" pitchFamily="50" charset="-128"/>
                      </a:endParaRPr>
                    </a:p>
                    <a:p>
                      <a:pPr algn="ctr"/>
                      <a:r>
                        <a:rPr kumimoji="1" lang="ja-JP" altLang="en-US" sz="1400">
                          <a:latin typeface="メイリオ" panose="020B0604030504040204" pitchFamily="50" charset="-128"/>
                          <a:ea typeface="メイリオ" panose="020B0604030504040204" pitchFamily="50" charset="-128"/>
                        </a:rPr>
                        <a:t>➡ 画面スクショを取り勝手に確認するなど</a:t>
                      </a:r>
                    </a:p>
                  </a:txBody>
                  <a:tcPr anchor="ctr"/>
                </a:tc>
                <a:extLst>
                  <a:ext uri="{0D108BD9-81ED-4DB2-BD59-A6C34878D82A}">
                    <a16:rowId xmlns:a16="http://schemas.microsoft.com/office/drawing/2014/main" val="915160650"/>
                  </a:ext>
                </a:extLst>
              </a:tr>
              <a:tr h="436198">
                <a:tc>
                  <a:txBody>
                    <a:bodyPr/>
                    <a:lstStyle/>
                    <a:p>
                      <a:pPr algn="ctr"/>
                      <a:r>
                        <a:rPr kumimoji="1" lang="ja-JP" altLang="en-US" sz="1400">
                          <a:latin typeface="メイリオ" panose="020B0604030504040204" pitchFamily="50" charset="-128"/>
                          <a:ea typeface="メイリオ" panose="020B0604030504040204" pitchFamily="50" charset="-128"/>
                        </a:rPr>
                        <a:t>画面変更時</a:t>
                      </a:r>
                    </a:p>
                  </a:txBody>
                  <a:tcPr anchor="ctr"/>
                </a:tc>
                <a:tc>
                  <a:txBody>
                    <a:bodyPr/>
                    <a:lstStyle/>
                    <a:p>
                      <a:pPr algn="ctr"/>
                      <a:r>
                        <a:rPr kumimoji="1" lang="ja-JP" altLang="en-US" sz="1400">
                          <a:latin typeface="メイリオ" panose="020B0604030504040204" pitchFamily="50" charset="-128"/>
                          <a:ea typeface="メイリオ" panose="020B0604030504040204" pitchFamily="50" charset="-128"/>
                        </a:rPr>
                        <a:t>止まる（シナリオ作り直し）</a:t>
                      </a:r>
                    </a:p>
                  </a:txBody>
                  <a:tcPr anchor="ctr"/>
                </a:tc>
                <a:tc>
                  <a:txBody>
                    <a:bodyPr/>
                    <a:lstStyle/>
                    <a:p>
                      <a:pPr algn="ctr"/>
                      <a:r>
                        <a:rPr kumimoji="1" lang="en-US" altLang="ja-JP" sz="1400">
                          <a:latin typeface="メイリオ" panose="020B0604030504040204" pitchFamily="50" charset="-128"/>
                          <a:ea typeface="メイリオ" panose="020B0604030504040204" pitchFamily="50" charset="-128"/>
                        </a:rPr>
                        <a:t>AI</a:t>
                      </a:r>
                      <a:r>
                        <a:rPr kumimoji="1" lang="ja-JP" altLang="en-US" sz="1400">
                          <a:latin typeface="メイリオ" panose="020B0604030504040204" pitchFamily="50" charset="-128"/>
                          <a:ea typeface="メイリオ" panose="020B0604030504040204" pitchFamily="50" charset="-128"/>
                        </a:rPr>
                        <a:t>が適応して操作を継続</a:t>
                      </a:r>
                      <a:endParaRPr kumimoji="1" lang="en-US" altLang="ja-JP" sz="1400">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1551060320"/>
                  </a:ext>
                </a:extLst>
              </a:tr>
              <a:tr h="436198">
                <a:tc>
                  <a:txBody>
                    <a:bodyPr/>
                    <a:lstStyle/>
                    <a:p>
                      <a:pPr algn="ctr"/>
                      <a:r>
                        <a:rPr kumimoji="1" lang="ja-JP" altLang="en-US" sz="1400">
                          <a:latin typeface="メイリオ" panose="020B0604030504040204" pitchFamily="50" charset="-128"/>
                          <a:ea typeface="メイリオ" panose="020B0604030504040204" pitchFamily="50" charset="-128"/>
                        </a:rPr>
                        <a:t>例外処理</a:t>
                      </a:r>
                    </a:p>
                  </a:txBody>
                  <a:tcPr anchor="ctr"/>
                </a:tc>
                <a:tc>
                  <a:txBody>
                    <a:bodyPr/>
                    <a:lstStyle/>
                    <a:p>
                      <a:pPr algn="ctr"/>
                      <a:r>
                        <a:rPr kumimoji="1" lang="ja-JP" altLang="en-US" sz="1400">
                          <a:latin typeface="メイリオ" panose="020B0604030504040204" pitchFamily="50" charset="-128"/>
                          <a:ea typeface="メイリオ" panose="020B0604030504040204" pitchFamily="50" charset="-128"/>
                        </a:rPr>
                        <a:t>人が対応</a:t>
                      </a:r>
                    </a:p>
                  </a:txBody>
                  <a:tcPr anchor="ctr"/>
                </a:tc>
                <a:tc>
                  <a:txBody>
                    <a:bodyPr/>
                    <a:lstStyle/>
                    <a:p>
                      <a:pPr algn="ctr"/>
                      <a:r>
                        <a:rPr kumimoji="1" lang="en-US" altLang="ja-JP" sz="1400">
                          <a:latin typeface="メイリオ" panose="020B0604030504040204" pitchFamily="50" charset="-128"/>
                          <a:ea typeface="メイリオ" panose="020B0604030504040204" pitchFamily="50" charset="-128"/>
                        </a:rPr>
                        <a:t>AI</a:t>
                      </a:r>
                      <a:r>
                        <a:rPr kumimoji="1" lang="ja-JP" altLang="en-US" sz="1400">
                          <a:latin typeface="メイリオ" panose="020B0604030504040204" pitchFamily="50" charset="-128"/>
                          <a:ea typeface="メイリオ" panose="020B0604030504040204" pitchFamily="50" charset="-128"/>
                        </a:rPr>
                        <a:t>が判断して対処、</a:t>
                      </a:r>
                      <a:endParaRPr kumimoji="1" lang="en-US" altLang="ja-JP" sz="1400">
                        <a:latin typeface="メイリオ" panose="020B0604030504040204" pitchFamily="50" charset="-128"/>
                        <a:ea typeface="メイリオ" panose="020B0604030504040204" pitchFamily="50" charset="-128"/>
                      </a:endParaRPr>
                    </a:p>
                    <a:p>
                      <a:pPr algn="ctr"/>
                      <a:r>
                        <a:rPr kumimoji="1" lang="ja-JP" altLang="en-US" sz="1400">
                          <a:latin typeface="メイリオ" panose="020B0604030504040204" pitchFamily="50" charset="-128"/>
                          <a:ea typeface="メイリオ" panose="020B0604030504040204" pitchFamily="50" charset="-128"/>
                        </a:rPr>
                        <a:t>または人に確認依頼</a:t>
                      </a:r>
                      <a:endParaRPr kumimoji="1" lang="en-US" altLang="ja-JP" sz="1400">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2941166824"/>
                  </a:ext>
                </a:extLst>
              </a:tr>
              <a:tr h="436198">
                <a:tc>
                  <a:txBody>
                    <a:bodyPr/>
                    <a:lstStyle/>
                    <a:p>
                      <a:pPr algn="ctr"/>
                      <a:r>
                        <a:rPr kumimoji="1" lang="ja-JP" altLang="en-US" sz="1400">
                          <a:latin typeface="メイリオ" panose="020B0604030504040204" pitchFamily="50" charset="-128"/>
                          <a:ea typeface="メイリオ" panose="020B0604030504040204" pitchFamily="50" charset="-128"/>
                        </a:rPr>
                        <a:t>作成方法</a:t>
                      </a:r>
                    </a:p>
                  </a:txBody>
                  <a:tcPr anchor="ctr"/>
                </a:tc>
                <a:tc>
                  <a:txBody>
                    <a:bodyPr/>
                    <a:lstStyle/>
                    <a:p>
                      <a:pPr algn="ctr"/>
                      <a:r>
                        <a:rPr kumimoji="1" lang="ja-JP" altLang="en-US" sz="1400">
                          <a:latin typeface="メイリオ" panose="020B0604030504040204" pitchFamily="50" charset="-128"/>
                          <a:ea typeface="メイリオ" panose="020B0604030504040204" pitchFamily="50" charset="-128"/>
                        </a:rPr>
                        <a:t>画面録画・スクリプト作成</a:t>
                      </a:r>
                    </a:p>
                  </a:txBody>
                  <a:tcPr anchor="ctr"/>
                </a:tc>
                <a:tc>
                  <a:txBody>
                    <a:bodyPr/>
                    <a:lstStyle/>
                    <a:p>
                      <a:pPr algn="ctr"/>
                      <a:r>
                        <a:rPr kumimoji="1" lang="ja-JP" altLang="en-US" sz="1400">
                          <a:latin typeface="メイリオ" panose="020B0604030504040204" pitchFamily="50" charset="-128"/>
                          <a:ea typeface="メイリオ" panose="020B0604030504040204" pitchFamily="50" charset="-128"/>
                        </a:rPr>
                        <a:t>自然言語で指示</a:t>
                      </a:r>
                      <a:endParaRPr kumimoji="1" lang="en-US" altLang="ja-JP" sz="1400">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2603302509"/>
                  </a:ext>
                </a:extLst>
              </a:tr>
            </a:tbl>
          </a:graphicData>
        </a:graphic>
      </p:graphicFrame>
      <p:sp>
        <p:nvSpPr>
          <p:cNvPr id="18" name="正方形/長方形 17">
            <a:extLst>
              <a:ext uri="{FF2B5EF4-FFF2-40B4-BE49-F238E27FC236}">
                <a16:creationId xmlns:a16="http://schemas.microsoft.com/office/drawing/2014/main" id="{1544AB4B-718D-64CC-A4A4-95AFEC11B529}"/>
              </a:ext>
            </a:extLst>
          </p:cNvPr>
          <p:cNvSpPr/>
          <p:nvPr/>
        </p:nvSpPr>
        <p:spPr>
          <a:xfrm>
            <a:off x="5495857" y="1008015"/>
            <a:ext cx="6511094" cy="457200"/>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a:solidFill>
                  <a:schemeClr val="tx1"/>
                </a:solidFill>
                <a:latin typeface="メイリオ" panose="020B0604030504040204" pitchFamily="50" charset="-128"/>
                <a:ea typeface="メイリオ" panose="020B0604030504040204" pitchFamily="50" charset="-128"/>
              </a:rPr>
              <a:t>M365 Copilot </a:t>
            </a:r>
            <a:r>
              <a:rPr lang="ja-JP" altLang="en-US" b="1">
                <a:solidFill>
                  <a:schemeClr val="tx1"/>
                </a:solidFill>
                <a:latin typeface="メイリオ" panose="020B0604030504040204" pitchFamily="50" charset="-128"/>
                <a:ea typeface="メイリオ" panose="020B0604030504040204" pitchFamily="50" charset="-128"/>
              </a:rPr>
              <a:t>との違い</a:t>
            </a:r>
            <a:endParaRPr kumimoji="1" lang="ja-JP" altLang="en-US" b="1">
              <a:solidFill>
                <a:schemeClr val="tx1"/>
              </a:solidFill>
              <a:latin typeface="メイリオ" panose="020B0604030504040204" pitchFamily="50" charset="-128"/>
              <a:ea typeface="メイリオ" panose="020B0604030504040204" pitchFamily="50" charset="-128"/>
            </a:endParaRPr>
          </a:p>
        </p:txBody>
      </p:sp>
      <p:graphicFrame>
        <p:nvGraphicFramePr>
          <p:cNvPr id="20" name="表 19">
            <a:extLst>
              <a:ext uri="{FF2B5EF4-FFF2-40B4-BE49-F238E27FC236}">
                <a16:creationId xmlns:a16="http://schemas.microsoft.com/office/drawing/2014/main" id="{DD53D0B6-C392-7C1C-06FD-1B654C3DCBE4}"/>
              </a:ext>
            </a:extLst>
          </p:cNvPr>
          <p:cNvGraphicFramePr>
            <a:graphicFrameLocks noGrp="1"/>
          </p:cNvGraphicFramePr>
          <p:nvPr>
            <p:extLst>
              <p:ext uri="{D42A27DB-BD31-4B8C-83A1-F6EECF244321}">
                <p14:modId xmlns:p14="http://schemas.microsoft.com/office/powerpoint/2010/main" val="699771185"/>
              </p:ext>
            </p:extLst>
          </p:nvPr>
        </p:nvGraphicFramePr>
        <p:xfrm>
          <a:off x="5495856" y="1510631"/>
          <a:ext cx="6511093" cy="1188720"/>
        </p:xfrm>
        <a:graphic>
          <a:graphicData uri="http://schemas.openxmlformats.org/drawingml/2006/table">
            <a:tbl>
              <a:tblPr firstRow="1" bandRow="1">
                <a:tableStyleId>{5C22544A-7EE6-4342-B048-85BDC9FD1C3A}</a:tableStyleId>
              </a:tblPr>
              <a:tblGrid>
                <a:gridCol w="1394511">
                  <a:extLst>
                    <a:ext uri="{9D8B030D-6E8A-4147-A177-3AD203B41FA5}">
                      <a16:colId xmlns:a16="http://schemas.microsoft.com/office/drawing/2014/main" val="1714558132"/>
                    </a:ext>
                  </a:extLst>
                </a:gridCol>
                <a:gridCol w="2011001">
                  <a:extLst>
                    <a:ext uri="{9D8B030D-6E8A-4147-A177-3AD203B41FA5}">
                      <a16:colId xmlns:a16="http://schemas.microsoft.com/office/drawing/2014/main" val="480840800"/>
                    </a:ext>
                  </a:extLst>
                </a:gridCol>
                <a:gridCol w="3105581">
                  <a:extLst>
                    <a:ext uri="{9D8B030D-6E8A-4147-A177-3AD203B41FA5}">
                      <a16:colId xmlns:a16="http://schemas.microsoft.com/office/drawing/2014/main" val="1844808726"/>
                    </a:ext>
                  </a:extLst>
                </a:gridCol>
              </a:tblGrid>
              <a:tr h="179327">
                <a:tc>
                  <a:txBody>
                    <a:bodyPr/>
                    <a:lstStyle/>
                    <a:p>
                      <a:pPr algn="ctr"/>
                      <a:endParaRPr kumimoji="1" lang="ja-JP" altLang="en-US" sz="1200">
                        <a:latin typeface="メイリオ" panose="020B0604030504040204" pitchFamily="50" charset="-128"/>
                        <a:ea typeface="メイリオ" panose="020B0604030504040204" pitchFamily="50" charset="-128"/>
                      </a:endParaRPr>
                    </a:p>
                  </a:txBody>
                  <a:tcPr anchor="ctr"/>
                </a:tc>
                <a:tc>
                  <a:txBody>
                    <a:bodyPr/>
                    <a:lstStyle/>
                    <a:p>
                      <a:pPr algn="ctr"/>
                      <a:r>
                        <a:rPr kumimoji="1" lang="en-US" altLang="ja-JP" sz="1200">
                          <a:latin typeface="メイリオ" panose="020B0604030504040204" pitchFamily="50" charset="-128"/>
                          <a:ea typeface="メイリオ" panose="020B0604030504040204" pitchFamily="50" charset="-128"/>
                        </a:rPr>
                        <a:t>M365 Copilot</a:t>
                      </a:r>
                      <a:endParaRPr kumimoji="1" lang="ja-JP" altLang="en-US" sz="1200">
                        <a:latin typeface="メイリオ" panose="020B0604030504040204" pitchFamily="50" charset="-128"/>
                        <a:ea typeface="メイリオ" panose="020B0604030504040204" pitchFamily="50" charset="-128"/>
                      </a:endParaRPr>
                    </a:p>
                  </a:txBody>
                  <a:tcPr anchor="ctr"/>
                </a:tc>
                <a:tc>
                  <a:txBody>
                    <a:bodyPr/>
                    <a:lstStyle/>
                    <a:p>
                      <a:pPr algn="ctr"/>
                      <a:r>
                        <a:rPr kumimoji="1" lang="en-US" altLang="ja-JP" sz="1200">
                          <a:latin typeface="メイリオ" panose="020B0604030504040204" pitchFamily="50" charset="-128"/>
                          <a:ea typeface="メイリオ" panose="020B0604030504040204" pitchFamily="50" charset="-128"/>
                        </a:rPr>
                        <a:t>Claude Code</a:t>
                      </a:r>
                      <a:endParaRPr kumimoji="1" lang="ja-JP" altLang="en-US" sz="1200">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708897093"/>
                  </a:ext>
                </a:extLst>
              </a:tr>
              <a:tr h="311445">
                <a:tc>
                  <a:txBody>
                    <a:bodyPr/>
                    <a:lstStyle/>
                    <a:p>
                      <a:pPr algn="ctr"/>
                      <a:r>
                        <a:rPr kumimoji="1" lang="ja-JP" altLang="en-US" sz="1200">
                          <a:latin typeface="メイリオ" panose="020B0604030504040204" pitchFamily="50" charset="-128"/>
                          <a:ea typeface="メイリオ" panose="020B0604030504040204" pitchFamily="50" charset="-128"/>
                        </a:rPr>
                        <a:t>実行環境</a:t>
                      </a:r>
                    </a:p>
                  </a:txBody>
                  <a:tcPr anchor="ctr"/>
                </a:tc>
                <a:tc>
                  <a:txBody>
                    <a:bodyPr/>
                    <a:lstStyle/>
                    <a:p>
                      <a:pPr algn="ctr"/>
                      <a:r>
                        <a:rPr kumimoji="1" lang="ja-JP" altLang="en-US" sz="1200">
                          <a:latin typeface="メイリオ" panose="020B0604030504040204" pitchFamily="50" charset="-128"/>
                          <a:ea typeface="メイリオ" panose="020B0604030504040204" pitchFamily="50" charset="-128"/>
                        </a:rPr>
                        <a:t>各実行したアプリ内</a:t>
                      </a:r>
                      <a:endParaRPr kumimoji="1" lang="en-US" altLang="ja-JP" sz="1200">
                        <a:latin typeface="メイリオ" panose="020B0604030504040204" pitchFamily="50" charset="-128"/>
                        <a:ea typeface="メイリオ" panose="020B0604030504040204" pitchFamily="50" charset="-128"/>
                      </a:endParaRPr>
                    </a:p>
                    <a:p>
                      <a:pPr algn="ctr"/>
                      <a:r>
                        <a:rPr kumimoji="1" lang="en-US" altLang="ja-JP" sz="1200">
                          <a:latin typeface="メイリオ" panose="020B0604030504040204" pitchFamily="50" charset="-128"/>
                          <a:ea typeface="メイリオ" panose="020B0604030504040204" pitchFamily="50" charset="-128"/>
                        </a:rPr>
                        <a:t>(Word</a:t>
                      </a:r>
                      <a:r>
                        <a:rPr kumimoji="1" lang="ja-JP" altLang="en-US" sz="1200">
                          <a:latin typeface="メイリオ" panose="020B0604030504040204" pitchFamily="50" charset="-128"/>
                          <a:ea typeface="メイリオ" panose="020B0604030504040204" pitchFamily="50" charset="-128"/>
                        </a:rPr>
                        <a:t>、</a:t>
                      </a:r>
                      <a:r>
                        <a:rPr kumimoji="1" lang="en-US" altLang="ja-JP" sz="1200">
                          <a:latin typeface="メイリオ" panose="020B0604030504040204" pitchFamily="50" charset="-128"/>
                          <a:ea typeface="メイリオ" panose="020B0604030504040204" pitchFamily="50" charset="-128"/>
                        </a:rPr>
                        <a:t>Excel</a:t>
                      </a:r>
                      <a:r>
                        <a:rPr kumimoji="1" lang="ja-JP" altLang="en-US" sz="1200">
                          <a:latin typeface="メイリオ" panose="020B0604030504040204" pitchFamily="50" charset="-128"/>
                          <a:ea typeface="メイリオ" panose="020B0604030504040204" pitchFamily="50" charset="-128"/>
                        </a:rPr>
                        <a:t>等</a:t>
                      </a:r>
                      <a:r>
                        <a:rPr kumimoji="1" lang="en-US" altLang="ja-JP" sz="1200">
                          <a:latin typeface="メイリオ" panose="020B0604030504040204" pitchFamily="50" charset="-128"/>
                          <a:ea typeface="メイリオ" panose="020B0604030504040204" pitchFamily="50" charset="-128"/>
                        </a:rPr>
                        <a:t>)</a:t>
                      </a:r>
                      <a:endParaRPr kumimoji="1" lang="ja-JP" altLang="en-US" sz="1200">
                        <a:latin typeface="メイリオ" panose="020B0604030504040204" pitchFamily="50" charset="-128"/>
                        <a:ea typeface="メイリオ" panose="020B0604030504040204" pitchFamily="50" charset="-128"/>
                      </a:endParaRPr>
                    </a:p>
                  </a:txBody>
                  <a:tcPr anchor="ctr"/>
                </a:tc>
                <a:tc>
                  <a:txBody>
                    <a:bodyPr/>
                    <a:lstStyle/>
                    <a:p>
                      <a:pPr algn="ctr"/>
                      <a:r>
                        <a:rPr kumimoji="1" lang="ja-JP" altLang="en-US" sz="1200">
                          <a:latin typeface="メイリオ" panose="020B0604030504040204" pitchFamily="50" charset="-128"/>
                          <a:ea typeface="メイリオ" panose="020B0604030504040204" pitchFamily="50" charset="-128"/>
                        </a:rPr>
                        <a:t>実行</a:t>
                      </a:r>
                      <a:r>
                        <a:rPr kumimoji="1" lang="en-US" altLang="ja-JP" sz="1200">
                          <a:latin typeface="メイリオ" panose="020B0604030504040204" pitchFamily="50" charset="-128"/>
                          <a:ea typeface="メイリオ" panose="020B0604030504040204" pitchFamily="50" charset="-128"/>
                        </a:rPr>
                        <a:t>PC(※1) Or </a:t>
                      </a:r>
                      <a:r>
                        <a:rPr kumimoji="1" lang="en-US" altLang="ja-JP" sz="1200">
                          <a:latin typeface="メイリオ" panose="020B0604030504040204" pitchFamily="50" charset="-128"/>
                          <a:ea typeface="メイリオ" panose="020B0604030504040204" pitchFamily="50" charset="-128"/>
                          <a:hlinkClick r:id="rId4"/>
                        </a:rPr>
                        <a:t>Web</a:t>
                      </a:r>
                      <a:r>
                        <a:rPr kumimoji="1" lang="ja-JP" altLang="en-US" sz="1200">
                          <a:latin typeface="メイリオ" panose="020B0604030504040204" pitchFamily="50" charset="-128"/>
                          <a:ea typeface="メイリオ" panose="020B0604030504040204" pitchFamily="50" charset="-128"/>
                          <a:hlinkClick r:id="rId4"/>
                        </a:rPr>
                        <a:t>アプリ上</a:t>
                      </a:r>
                      <a:endParaRPr kumimoji="1" lang="ja-JP" altLang="en-US" sz="1200">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915160650"/>
                  </a:ext>
                </a:extLst>
              </a:tr>
              <a:tr h="298878">
                <a:tc>
                  <a:txBody>
                    <a:bodyPr/>
                    <a:lstStyle/>
                    <a:p>
                      <a:pPr algn="ctr"/>
                      <a:r>
                        <a:rPr kumimoji="1" lang="ja-JP" altLang="en-US" sz="1200">
                          <a:latin typeface="メイリオ" panose="020B0604030504040204" pitchFamily="50" charset="-128"/>
                          <a:ea typeface="メイリオ" panose="020B0604030504040204" pitchFamily="50" charset="-128"/>
                        </a:rPr>
                        <a:t>連携範囲</a:t>
                      </a:r>
                    </a:p>
                  </a:txBody>
                  <a:tcPr anchor="ctr"/>
                </a:tc>
                <a:tc>
                  <a:txBody>
                    <a:bodyPr/>
                    <a:lstStyle/>
                    <a:p>
                      <a:pPr algn="ctr"/>
                      <a:r>
                        <a:rPr kumimoji="1" lang="en-US" altLang="ja-JP" sz="1200">
                          <a:latin typeface="メイリオ" panose="020B0604030504040204" pitchFamily="50" charset="-128"/>
                          <a:ea typeface="メイリオ" panose="020B0604030504040204" pitchFamily="50" charset="-128"/>
                        </a:rPr>
                        <a:t>Web</a:t>
                      </a:r>
                      <a:r>
                        <a:rPr kumimoji="1" lang="ja-JP" altLang="en-US" sz="1200">
                          <a:latin typeface="メイリオ" panose="020B0604030504040204" pitchFamily="50" charset="-128"/>
                          <a:ea typeface="メイリオ" panose="020B0604030504040204" pitchFamily="50" charset="-128"/>
                        </a:rPr>
                        <a:t>検索、自社テナント内</a:t>
                      </a:r>
                      <a:r>
                        <a:rPr kumimoji="1" lang="en-US" altLang="ja-JP" sz="1200">
                          <a:latin typeface="メイリオ" panose="020B0604030504040204" pitchFamily="50" charset="-128"/>
                          <a:ea typeface="メイリオ" panose="020B0604030504040204" pitchFamily="50" charset="-128"/>
                        </a:rPr>
                        <a:t>(SharePoint</a:t>
                      </a:r>
                      <a:r>
                        <a:rPr kumimoji="1" lang="ja-JP" altLang="en-US" sz="1200">
                          <a:latin typeface="メイリオ" panose="020B0604030504040204" pitchFamily="50" charset="-128"/>
                          <a:ea typeface="メイリオ" panose="020B0604030504040204" pitchFamily="50" charset="-128"/>
                        </a:rPr>
                        <a:t>等</a:t>
                      </a:r>
                      <a:r>
                        <a:rPr kumimoji="1" lang="en-US" altLang="ja-JP" sz="1200">
                          <a:latin typeface="メイリオ" panose="020B0604030504040204" pitchFamily="50" charset="-128"/>
                          <a:ea typeface="メイリオ" panose="020B0604030504040204" pitchFamily="50" charset="-128"/>
                        </a:rPr>
                        <a:t>)</a:t>
                      </a:r>
                      <a:endParaRPr kumimoji="1" lang="ja-JP" altLang="en-US" sz="1200">
                        <a:latin typeface="メイリオ" panose="020B0604030504040204" pitchFamily="50" charset="-128"/>
                        <a:ea typeface="メイリオ" panose="020B0604030504040204" pitchFamily="50" charset="-128"/>
                      </a:endParaRPr>
                    </a:p>
                  </a:txBody>
                  <a:tcPr anchor="ctr"/>
                </a:tc>
                <a:tc>
                  <a:txBody>
                    <a:bodyPr/>
                    <a:lstStyle/>
                    <a:p>
                      <a:pPr algn="ctr"/>
                      <a:r>
                        <a:rPr kumimoji="1" lang="en-US" altLang="ja-JP" sz="1200">
                          <a:latin typeface="メイリオ" panose="020B0604030504040204" pitchFamily="50" charset="-128"/>
                          <a:ea typeface="メイリオ" panose="020B0604030504040204" pitchFamily="50" charset="-128"/>
                        </a:rPr>
                        <a:t>GitHub</a:t>
                      </a:r>
                      <a:r>
                        <a:rPr kumimoji="1" lang="ja-JP" altLang="en-US" sz="1200">
                          <a:latin typeface="メイリオ" panose="020B0604030504040204" pitchFamily="50" charset="-128"/>
                          <a:ea typeface="メイリオ" panose="020B0604030504040204" pitchFamily="50" charset="-128"/>
                        </a:rPr>
                        <a:t>、</a:t>
                      </a:r>
                      <a:r>
                        <a:rPr kumimoji="1" lang="en-US" altLang="ja-JP" sz="1200">
                          <a:latin typeface="メイリオ" panose="020B0604030504040204" pitchFamily="50" charset="-128"/>
                          <a:ea typeface="メイリオ" panose="020B0604030504040204" pitchFamily="50" charset="-128"/>
                        </a:rPr>
                        <a:t>API</a:t>
                      </a:r>
                      <a:r>
                        <a:rPr kumimoji="1" lang="ja-JP" altLang="en-US" sz="1200">
                          <a:latin typeface="メイリオ" panose="020B0604030504040204" pitchFamily="50" charset="-128"/>
                          <a:ea typeface="メイリオ" panose="020B0604030504040204" pitchFamily="50" charset="-128"/>
                        </a:rPr>
                        <a:t>、</a:t>
                      </a:r>
                      <a:r>
                        <a:rPr kumimoji="1" lang="en-US" altLang="ja-JP" sz="1200">
                          <a:latin typeface="メイリオ" panose="020B0604030504040204" pitchFamily="50" charset="-128"/>
                          <a:ea typeface="メイリオ" panose="020B0604030504040204" pitchFamily="50" charset="-128"/>
                        </a:rPr>
                        <a:t>Web</a:t>
                      </a:r>
                      <a:r>
                        <a:rPr kumimoji="1" lang="ja-JP" altLang="en-US" sz="1200">
                          <a:latin typeface="メイリオ" panose="020B0604030504040204" pitchFamily="50" charset="-128"/>
                          <a:ea typeface="メイリオ" panose="020B0604030504040204" pitchFamily="50" charset="-128"/>
                        </a:rPr>
                        <a:t>等の</a:t>
                      </a:r>
                      <a:endParaRPr kumimoji="1" lang="en-US" altLang="ja-JP" sz="1200">
                        <a:latin typeface="メイリオ" panose="020B0604030504040204" pitchFamily="50" charset="-128"/>
                        <a:ea typeface="メイリオ" panose="020B0604030504040204" pitchFamily="50" charset="-128"/>
                      </a:endParaRPr>
                    </a:p>
                    <a:p>
                      <a:pPr algn="ctr"/>
                      <a:r>
                        <a:rPr kumimoji="1" lang="ja-JP" altLang="en-US" sz="1200">
                          <a:latin typeface="メイリオ" panose="020B0604030504040204" pitchFamily="50" charset="-128"/>
                          <a:ea typeface="メイリオ" panose="020B0604030504040204" pitchFamily="50" charset="-128"/>
                        </a:rPr>
                        <a:t>プログラムで実行できる範囲</a:t>
                      </a:r>
                      <a:endParaRPr kumimoji="1" lang="en-US" altLang="ja-JP" sz="1200">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1551060320"/>
                  </a:ext>
                </a:extLst>
              </a:tr>
            </a:tbl>
          </a:graphicData>
        </a:graphic>
      </p:graphicFrame>
      <p:sp>
        <p:nvSpPr>
          <p:cNvPr id="24" name="テキスト ボックス 23">
            <a:extLst>
              <a:ext uri="{FF2B5EF4-FFF2-40B4-BE49-F238E27FC236}">
                <a16:creationId xmlns:a16="http://schemas.microsoft.com/office/drawing/2014/main" id="{428076EA-3616-DAED-B69D-2C0495BDB1EF}"/>
              </a:ext>
            </a:extLst>
          </p:cNvPr>
          <p:cNvSpPr txBox="1"/>
          <p:nvPr/>
        </p:nvSpPr>
        <p:spPr>
          <a:xfrm>
            <a:off x="5993245" y="3084429"/>
            <a:ext cx="1540667" cy="388568"/>
          </a:xfrm>
          <a:prstGeom prst="rect">
            <a:avLst/>
          </a:prstGeom>
          <a:noFill/>
        </p:spPr>
        <p:txBody>
          <a:bodyPr wrap="square" rtlCol="0">
            <a:spAutoFit/>
          </a:bodyPr>
          <a:lstStyle/>
          <a:p>
            <a:pPr algn="ctr">
              <a:lnSpc>
                <a:spcPct val="150000"/>
              </a:lnSpc>
            </a:pPr>
            <a:r>
              <a:rPr lang="en-US" altLang="ja-JP" sz="1400" b="1">
                <a:latin typeface="メイリオ" panose="020B0604030504040204" pitchFamily="50" charset="-128"/>
                <a:ea typeface="メイリオ" panose="020B0604030504040204" pitchFamily="50" charset="-128"/>
              </a:rPr>
              <a:t>M365 Copilot</a:t>
            </a:r>
            <a:endParaRPr kumimoji="1" lang="en-US" altLang="ja-JP" sz="1400">
              <a:latin typeface="メイリオ" panose="020B0604030504040204" pitchFamily="50" charset="-128"/>
              <a:ea typeface="メイリオ" panose="020B0604030504040204" pitchFamily="50" charset="-128"/>
            </a:endParaRPr>
          </a:p>
        </p:txBody>
      </p:sp>
      <p:sp>
        <p:nvSpPr>
          <p:cNvPr id="25" name="テキスト ボックス 24">
            <a:extLst>
              <a:ext uri="{FF2B5EF4-FFF2-40B4-BE49-F238E27FC236}">
                <a16:creationId xmlns:a16="http://schemas.microsoft.com/office/drawing/2014/main" id="{E48421DE-3227-2531-A86F-D2ECD881183A}"/>
              </a:ext>
            </a:extLst>
          </p:cNvPr>
          <p:cNvSpPr txBox="1"/>
          <p:nvPr/>
        </p:nvSpPr>
        <p:spPr>
          <a:xfrm>
            <a:off x="5588244" y="3893328"/>
            <a:ext cx="2350668" cy="623248"/>
          </a:xfrm>
          <a:prstGeom prst="rect">
            <a:avLst/>
          </a:prstGeom>
          <a:noFill/>
        </p:spPr>
        <p:txBody>
          <a:bodyPr wrap="square" rtlCol="0">
            <a:spAutoFit/>
          </a:bodyPr>
          <a:lstStyle/>
          <a:p>
            <a:pPr algn="ctr">
              <a:lnSpc>
                <a:spcPct val="150000"/>
              </a:lnSpc>
            </a:pPr>
            <a:r>
              <a:rPr kumimoji="1" lang="ja-JP" altLang="en-US" sz="1200">
                <a:latin typeface="メイリオ" panose="020B0604030504040204" pitchFamily="50" charset="-128"/>
                <a:ea typeface="メイリオ" panose="020B0604030504040204" pitchFamily="50" charset="-128"/>
              </a:rPr>
              <a:t>各アプリを箱として、</a:t>
            </a:r>
            <a:endParaRPr kumimoji="1" lang="en-US" altLang="ja-JP" sz="1200">
              <a:latin typeface="メイリオ" panose="020B0604030504040204" pitchFamily="50" charset="-128"/>
              <a:ea typeface="メイリオ" panose="020B0604030504040204" pitchFamily="50" charset="-128"/>
            </a:endParaRPr>
          </a:p>
          <a:p>
            <a:pPr algn="ctr">
              <a:lnSpc>
                <a:spcPct val="150000"/>
              </a:lnSpc>
            </a:pPr>
            <a:r>
              <a:rPr kumimoji="1" lang="ja-JP" altLang="en-US" sz="1200">
                <a:latin typeface="メイリオ" panose="020B0604030504040204" pitchFamily="50" charset="-128"/>
                <a:ea typeface="メイリオ" panose="020B0604030504040204" pitchFamily="50" charset="-128"/>
              </a:rPr>
              <a:t>その中で使える便利な</a:t>
            </a:r>
            <a:r>
              <a:rPr kumimoji="1" lang="en-US" altLang="ja-JP" sz="1200">
                <a:latin typeface="メイリオ" panose="020B0604030504040204" pitchFamily="50" charset="-128"/>
                <a:ea typeface="メイリオ" panose="020B0604030504040204" pitchFamily="50" charset="-128"/>
              </a:rPr>
              <a:t>AI</a:t>
            </a:r>
          </a:p>
        </p:txBody>
      </p:sp>
      <p:sp>
        <p:nvSpPr>
          <p:cNvPr id="41" name="二等辺三角形 40">
            <a:extLst>
              <a:ext uri="{FF2B5EF4-FFF2-40B4-BE49-F238E27FC236}">
                <a16:creationId xmlns:a16="http://schemas.microsoft.com/office/drawing/2014/main" id="{F1501687-E086-0EE7-2AFB-6BAB31C795FF}"/>
              </a:ext>
            </a:extLst>
          </p:cNvPr>
          <p:cNvSpPr/>
          <p:nvPr/>
        </p:nvSpPr>
        <p:spPr>
          <a:xfrm rot="5400000">
            <a:off x="7832033" y="3774059"/>
            <a:ext cx="775252" cy="238539"/>
          </a:xfrm>
          <a:prstGeom prst="triangl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4" name="テキスト ボックス 43">
            <a:extLst>
              <a:ext uri="{FF2B5EF4-FFF2-40B4-BE49-F238E27FC236}">
                <a16:creationId xmlns:a16="http://schemas.microsoft.com/office/drawing/2014/main" id="{64AB2BF4-EA79-786D-D4D6-C26F1AC75F19}"/>
              </a:ext>
            </a:extLst>
          </p:cNvPr>
          <p:cNvSpPr txBox="1"/>
          <p:nvPr/>
        </p:nvSpPr>
        <p:spPr>
          <a:xfrm>
            <a:off x="9477145" y="3085240"/>
            <a:ext cx="1540667" cy="388568"/>
          </a:xfrm>
          <a:prstGeom prst="rect">
            <a:avLst/>
          </a:prstGeom>
          <a:noFill/>
        </p:spPr>
        <p:txBody>
          <a:bodyPr wrap="square" rtlCol="0">
            <a:spAutoFit/>
          </a:bodyPr>
          <a:lstStyle/>
          <a:p>
            <a:pPr algn="ctr">
              <a:lnSpc>
                <a:spcPct val="150000"/>
              </a:lnSpc>
            </a:pPr>
            <a:r>
              <a:rPr lang="en-US" altLang="ja-JP" sz="1400" b="1">
                <a:latin typeface="メイリオ" panose="020B0604030504040204" pitchFamily="50" charset="-128"/>
                <a:ea typeface="メイリオ" panose="020B0604030504040204" pitchFamily="50" charset="-128"/>
              </a:rPr>
              <a:t>Claude Code</a:t>
            </a:r>
            <a:endParaRPr kumimoji="1" lang="en-US" altLang="ja-JP" sz="1400">
              <a:latin typeface="メイリオ" panose="020B0604030504040204" pitchFamily="50" charset="-128"/>
              <a:ea typeface="メイリオ" panose="020B0604030504040204" pitchFamily="50" charset="-128"/>
            </a:endParaRPr>
          </a:p>
        </p:txBody>
      </p:sp>
      <p:pic>
        <p:nvPicPr>
          <p:cNvPr id="22" name="図 21" descr="アイコン&#10;&#10;AI 生成コンテンツは誤りを含む可能性があります。">
            <a:extLst>
              <a:ext uri="{FF2B5EF4-FFF2-40B4-BE49-F238E27FC236}">
                <a16:creationId xmlns:a16="http://schemas.microsoft.com/office/drawing/2014/main" id="{30B6BEEF-853C-39B0-5F32-10B93CDB987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33780" y="3463219"/>
            <a:ext cx="431632" cy="401619"/>
          </a:xfrm>
          <a:prstGeom prst="rect">
            <a:avLst/>
          </a:prstGeom>
        </p:spPr>
      </p:pic>
      <p:pic>
        <p:nvPicPr>
          <p:cNvPr id="50" name="図 49" descr="グラフィカル ユーザー インターフェイス, アイコン&#10;&#10;AI 生成コンテンツは誤りを含む可能性があります。">
            <a:extLst>
              <a:ext uri="{FF2B5EF4-FFF2-40B4-BE49-F238E27FC236}">
                <a16:creationId xmlns:a16="http://schemas.microsoft.com/office/drawing/2014/main" id="{9EEBFD5B-6AC5-330C-E9F1-DE546DC40D1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055853" y="3397937"/>
            <a:ext cx="532184" cy="532184"/>
          </a:xfrm>
          <a:prstGeom prst="rect">
            <a:avLst/>
          </a:prstGeom>
        </p:spPr>
      </p:pic>
      <p:pic>
        <p:nvPicPr>
          <p:cNvPr id="53" name="グラフィックス 52" descr="ブラウザー ウィンドウ 枠線">
            <a:extLst>
              <a:ext uri="{FF2B5EF4-FFF2-40B4-BE49-F238E27FC236}">
                <a16:creationId xmlns:a16="http://schemas.microsoft.com/office/drawing/2014/main" id="{2E321925-B9DA-4E17-38BD-279F40B377A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972277" y="3451360"/>
            <a:ext cx="550507" cy="550507"/>
          </a:xfrm>
          <a:prstGeom prst="rect">
            <a:avLst/>
          </a:prstGeom>
        </p:spPr>
      </p:pic>
      <p:pic>
        <p:nvPicPr>
          <p:cNvPr id="55" name="グラフィックス 54" descr="紙 単色塗りつぶし">
            <a:extLst>
              <a:ext uri="{FF2B5EF4-FFF2-40B4-BE49-F238E27FC236}">
                <a16:creationId xmlns:a16="http://schemas.microsoft.com/office/drawing/2014/main" id="{B411DB0D-77EC-15F9-8515-DC4CC74E903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139029" y="3478751"/>
            <a:ext cx="477331" cy="477331"/>
          </a:xfrm>
          <a:prstGeom prst="rect">
            <a:avLst/>
          </a:prstGeom>
        </p:spPr>
      </p:pic>
      <p:pic>
        <p:nvPicPr>
          <p:cNvPr id="57" name="図 56" descr="図形&#10;&#10;AI 生成コンテンツは誤りを含む可能性があります。">
            <a:extLst>
              <a:ext uri="{FF2B5EF4-FFF2-40B4-BE49-F238E27FC236}">
                <a16:creationId xmlns:a16="http://schemas.microsoft.com/office/drawing/2014/main" id="{E91AD045-22BC-7DCF-401D-69EB6944C7CE}"/>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1017812" y="3537092"/>
            <a:ext cx="388568" cy="388568"/>
          </a:xfrm>
          <a:prstGeom prst="rect">
            <a:avLst/>
          </a:prstGeom>
        </p:spPr>
      </p:pic>
      <p:sp>
        <p:nvSpPr>
          <p:cNvPr id="62" name="テキスト ボックス 61">
            <a:extLst>
              <a:ext uri="{FF2B5EF4-FFF2-40B4-BE49-F238E27FC236}">
                <a16:creationId xmlns:a16="http://schemas.microsoft.com/office/drawing/2014/main" id="{85891717-A34B-D6BC-463C-2CCADEEAC599}"/>
              </a:ext>
            </a:extLst>
          </p:cNvPr>
          <p:cNvSpPr txBox="1"/>
          <p:nvPr/>
        </p:nvSpPr>
        <p:spPr>
          <a:xfrm>
            <a:off x="8946751" y="3876108"/>
            <a:ext cx="923654" cy="325089"/>
          </a:xfrm>
          <a:prstGeom prst="rect">
            <a:avLst/>
          </a:prstGeom>
          <a:noFill/>
        </p:spPr>
        <p:txBody>
          <a:bodyPr wrap="square" rtlCol="0">
            <a:spAutoFit/>
          </a:bodyPr>
          <a:lstStyle/>
          <a:p>
            <a:pPr algn="ctr">
              <a:lnSpc>
                <a:spcPct val="150000"/>
              </a:lnSpc>
            </a:pPr>
            <a:r>
              <a:rPr kumimoji="1" lang="ja-JP" altLang="en-US" sz="1100">
                <a:latin typeface="メイリオ" panose="020B0604030504040204" pitchFamily="50" charset="-128"/>
                <a:ea typeface="メイリオ" panose="020B0604030504040204" pitchFamily="50" charset="-128"/>
              </a:rPr>
              <a:t>ファイル</a:t>
            </a:r>
            <a:endParaRPr kumimoji="1" lang="en-US" altLang="ja-JP" sz="1100">
              <a:latin typeface="メイリオ" panose="020B0604030504040204" pitchFamily="50" charset="-128"/>
              <a:ea typeface="メイリオ" panose="020B0604030504040204" pitchFamily="50" charset="-128"/>
            </a:endParaRPr>
          </a:p>
        </p:txBody>
      </p:sp>
      <p:sp>
        <p:nvSpPr>
          <p:cNvPr id="63" name="テキスト ボックス 62">
            <a:extLst>
              <a:ext uri="{FF2B5EF4-FFF2-40B4-BE49-F238E27FC236}">
                <a16:creationId xmlns:a16="http://schemas.microsoft.com/office/drawing/2014/main" id="{049B6624-2F28-BFFC-4979-007674CCC9DD}"/>
              </a:ext>
            </a:extLst>
          </p:cNvPr>
          <p:cNvSpPr txBox="1"/>
          <p:nvPr/>
        </p:nvSpPr>
        <p:spPr>
          <a:xfrm>
            <a:off x="9785703" y="3876108"/>
            <a:ext cx="923654" cy="325089"/>
          </a:xfrm>
          <a:prstGeom prst="rect">
            <a:avLst/>
          </a:prstGeom>
          <a:noFill/>
        </p:spPr>
        <p:txBody>
          <a:bodyPr wrap="square" rtlCol="0">
            <a:spAutoFit/>
          </a:bodyPr>
          <a:lstStyle/>
          <a:p>
            <a:pPr algn="ctr">
              <a:lnSpc>
                <a:spcPct val="150000"/>
              </a:lnSpc>
            </a:pPr>
            <a:r>
              <a:rPr kumimoji="1" lang="ja-JP" altLang="en-US" sz="1100">
                <a:latin typeface="メイリオ" panose="020B0604030504040204" pitchFamily="50" charset="-128"/>
                <a:ea typeface="メイリオ" panose="020B0604030504040204" pitchFamily="50" charset="-128"/>
              </a:rPr>
              <a:t>ブラウザ</a:t>
            </a:r>
            <a:endParaRPr kumimoji="1" lang="en-US" altLang="ja-JP" sz="1100">
              <a:latin typeface="メイリオ" panose="020B0604030504040204" pitchFamily="50" charset="-128"/>
              <a:ea typeface="メイリオ" panose="020B0604030504040204" pitchFamily="50" charset="-128"/>
            </a:endParaRPr>
          </a:p>
        </p:txBody>
      </p:sp>
      <p:sp>
        <p:nvSpPr>
          <p:cNvPr id="64" name="テキスト ボックス 63">
            <a:extLst>
              <a:ext uri="{FF2B5EF4-FFF2-40B4-BE49-F238E27FC236}">
                <a16:creationId xmlns:a16="http://schemas.microsoft.com/office/drawing/2014/main" id="{F68F23EA-5709-1085-DA00-DE55597E4095}"/>
              </a:ext>
            </a:extLst>
          </p:cNvPr>
          <p:cNvSpPr txBox="1"/>
          <p:nvPr/>
        </p:nvSpPr>
        <p:spPr>
          <a:xfrm>
            <a:off x="10767193" y="3876108"/>
            <a:ext cx="923654" cy="325089"/>
          </a:xfrm>
          <a:prstGeom prst="rect">
            <a:avLst/>
          </a:prstGeom>
          <a:noFill/>
        </p:spPr>
        <p:txBody>
          <a:bodyPr wrap="square" rtlCol="0">
            <a:spAutoFit/>
          </a:bodyPr>
          <a:lstStyle/>
          <a:p>
            <a:pPr algn="ctr">
              <a:lnSpc>
                <a:spcPct val="150000"/>
              </a:lnSpc>
            </a:pPr>
            <a:r>
              <a:rPr kumimoji="1" lang="en-US" altLang="ja-JP" sz="1100">
                <a:latin typeface="メイリオ" panose="020B0604030504040204" pitchFamily="50" charset="-128"/>
                <a:ea typeface="メイリオ" panose="020B0604030504040204" pitchFamily="50" charset="-128"/>
              </a:rPr>
              <a:t>API</a:t>
            </a:r>
          </a:p>
        </p:txBody>
      </p:sp>
      <p:sp>
        <p:nvSpPr>
          <p:cNvPr id="65" name="テキスト ボックス 64">
            <a:extLst>
              <a:ext uri="{FF2B5EF4-FFF2-40B4-BE49-F238E27FC236}">
                <a16:creationId xmlns:a16="http://schemas.microsoft.com/office/drawing/2014/main" id="{0063E1D9-6580-4A06-AF58-1FEBAF12F55F}"/>
              </a:ext>
            </a:extLst>
          </p:cNvPr>
          <p:cNvSpPr txBox="1"/>
          <p:nvPr/>
        </p:nvSpPr>
        <p:spPr>
          <a:xfrm>
            <a:off x="8956983" y="4198805"/>
            <a:ext cx="2580995" cy="346249"/>
          </a:xfrm>
          <a:prstGeom prst="rect">
            <a:avLst/>
          </a:prstGeom>
          <a:noFill/>
        </p:spPr>
        <p:txBody>
          <a:bodyPr wrap="square" rtlCol="0">
            <a:spAutoFit/>
          </a:bodyPr>
          <a:lstStyle/>
          <a:p>
            <a:pPr algn="ctr">
              <a:lnSpc>
                <a:spcPct val="150000"/>
              </a:lnSpc>
            </a:pPr>
            <a:r>
              <a:rPr kumimoji="1" lang="en-US" altLang="ja-JP" sz="1200">
                <a:latin typeface="メイリオ" panose="020B0604030504040204" pitchFamily="50" charset="-128"/>
                <a:ea typeface="メイリオ" panose="020B0604030504040204" pitchFamily="50" charset="-128"/>
              </a:rPr>
              <a:t>PC</a:t>
            </a:r>
            <a:r>
              <a:rPr kumimoji="1" lang="ja-JP" altLang="en-US" sz="1200">
                <a:latin typeface="メイリオ" panose="020B0604030504040204" pitchFamily="50" charset="-128"/>
                <a:ea typeface="メイリオ" panose="020B0604030504040204" pitchFamily="50" charset="-128"/>
              </a:rPr>
              <a:t>全体を箱として操作可能</a:t>
            </a:r>
            <a:endParaRPr kumimoji="1" lang="en-US" altLang="ja-JP" sz="1200">
              <a:latin typeface="メイリオ" panose="020B0604030504040204" pitchFamily="50" charset="-128"/>
              <a:ea typeface="メイリオ" panose="020B0604030504040204" pitchFamily="50" charset="-128"/>
            </a:endParaRPr>
          </a:p>
        </p:txBody>
      </p:sp>
      <p:sp>
        <p:nvSpPr>
          <p:cNvPr id="66" name="テキスト ボックス 65">
            <a:extLst>
              <a:ext uri="{FF2B5EF4-FFF2-40B4-BE49-F238E27FC236}">
                <a16:creationId xmlns:a16="http://schemas.microsoft.com/office/drawing/2014/main" id="{6A7B16B8-6285-EBD4-5D8C-0309B3CB8B8D}"/>
              </a:ext>
            </a:extLst>
          </p:cNvPr>
          <p:cNvSpPr txBox="1"/>
          <p:nvPr/>
        </p:nvSpPr>
        <p:spPr>
          <a:xfrm>
            <a:off x="5495856" y="5783849"/>
            <a:ext cx="6511092" cy="984885"/>
          </a:xfrm>
          <a:prstGeom prst="rect">
            <a:avLst/>
          </a:prstGeom>
          <a:noFill/>
        </p:spPr>
        <p:txBody>
          <a:bodyPr wrap="square" rtlCol="0">
            <a:spAutoFit/>
          </a:bodyPr>
          <a:lstStyle/>
          <a:p>
            <a:r>
              <a:rPr lang="ja-JP" altLang="en-US" sz="1600" b="1">
                <a:latin typeface="メイリオ" panose="020B0604030504040204" pitchFamily="50" charset="-128"/>
                <a:ea typeface="メイリオ" panose="020B0604030504040204" pitchFamily="50" charset="-128"/>
              </a:rPr>
              <a:t>今までの</a:t>
            </a:r>
            <a:r>
              <a:rPr lang="en-US" altLang="ja-JP" sz="1600" b="1">
                <a:latin typeface="メイリオ" panose="020B0604030504040204" pitchFamily="50" charset="-128"/>
                <a:ea typeface="メイリオ" panose="020B0604030504040204" pitchFamily="50" charset="-128"/>
              </a:rPr>
              <a:t>BPO</a:t>
            </a:r>
            <a:r>
              <a:rPr lang="ja-JP" altLang="en-US" sz="1600" b="1">
                <a:latin typeface="メイリオ" panose="020B0604030504040204" pitchFamily="50" charset="-128"/>
                <a:ea typeface="メイリオ" panose="020B0604030504040204" pitchFamily="50" charset="-128"/>
              </a:rPr>
              <a:t>で扱っていた</a:t>
            </a:r>
            <a:r>
              <a:rPr lang="en-US" altLang="ja-JP" sz="1600" b="1">
                <a:latin typeface="メイリオ" panose="020B0604030504040204" pitchFamily="50" charset="-128"/>
                <a:ea typeface="メイリオ" panose="020B0604030504040204" pitchFamily="50" charset="-128"/>
              </a:rPr>
              <a:t>RPA</a:t>
            </a:r>
            <a:r>
              <a:rPr lang="ja-JP" altLang="en-US" sz="1600" b="1">
                <a:latin typeface="メイリオ" panose="020B0604030504040204" pitchFamily="50" charset="-128"/>
                <a:ea typeface="メイリオ" panose="020B0604030504040204" pitchFamily="50" charset="-128"/>
              </a:rPr>
              <a:t>の価値が変わる</a:t>
            </a:r>
            <a:endParaRPr lang="en-US" altLang="ja-JP" sz="1600" b="1">
              <a:latin typeface="メイリオ" panose="020B0604030504040204" pitchFamily="50" charset="-128"/>
              <a:ea typeface="メイリオ" panose="020B0604030504040204" pitchFamily="50" charset="-128"/>
            </a:endParaRPr>
          </a:p>
          <a:p>
            <a:pPr marL="171450" indent="-171450">
              <a:buFont typeface="Arial" panose="020B0604020202020204" pitchFamily="34" charset="0"/>
              <a:buChar char="•"/>
            </a:pPr>
            <a:r>
              <a:rPr lang="ja-JP" altLang="en-US" sz="1400">
                <a:latin typeface="メイリオ" panose="020B0604030504040204" pitchFamily="50" charset="-128"/>
                <a:ea typeface="メイリオ" panose="020B0604030504040204" pitchFamily="50" charset="-128"/>
              </a:rPr>
              <a:t>「</a:t>
            </a:r>
            <a:r>
              <a:rPr lang="en-US" altLang="ja-JP" sz="1400">
                <a:latin typeface="メイリオ" panose="020B0604030504040204" pitchFamily="50" charset="-128"/>
                <a:ea typeface="メイリオ" panose="020B0604030504040204" pitchFamily="50" charset="-128"/>
              </a:rPr>
              <a:t>Web</a:t>
            </a:r>
            <a:r>
              <a:rPr lang="ja-JP" altLang="en-US" sz="1400">
                <a:latin typeface="メイリオ" panose="020B0604030504040204" pitchFamily="50" charset="-128"/>
                <a:ea typeface="メイリオ" panose="020B0604030504040204" pitchFamily="50" charset="-128"/>
              </a:rPr>
              <a:t>システムへの入力作業」「定型的な</a:t>
            </a:r>
            <a:r>
              <a:rPr lang="en-US" altLang="ja-JP" sz="1400">
                <a:latin typeface="メイリオ" panose="020B0604030504040204" pitchFamily="50" charset="-128"/>
                <a:ea typeface="メイリオ" panose="020B0604030504040204" pitchFamily="50" charset="-128"/>
              </a:rPr>
              <a:t>PC</a:t>
            </a:r>
            <a:r>
              <a:rPr lang="ja-JP" altLang="en-US" sz="1400">
                <a:latin typeface="メイリオ" panose="020B0604030504040204" pitchFamily="50" charset="-128"/>
                <a:ea typeface="メイリオ" panose="020B0604030504040204" pitchFamily="50" charset="-128"/>
              </a:rPr>
              <a:t>操作」を、より柔軟に自動化できる。</a:t>
            </a:r>
            <a:endParaRPr lang="en-US" altLang="ja-JP" sz="1400">
              <a:latin typeface="メイリオ" panose="020B0604030504040204" pitchFamily="50" charset="-128"/>
              <a:ea typeface="メイリオ" panose="020B0604030504040204" pitchFamily="50" charset="-128"/>
            </a:endParaRPr>
          </a:p>
          <a:p>
            <a:pPr marL="171450" indent="-171450">
              <a:buFont typeface="Arial" panose="020B0604020202020204" pitchFamily="34" charset="0"/>
              <a:buChar char="•"/>
            </a:pPr>
            <a:r>
              <a:rPr kumimoji="1" lang="ja-JP" altLang="en-US" sz="1400">
                <a:latin typeface="メイリオ" panose="020B0604030504040204" pitchFamily="50" charset="-128"/>
                <a:ea typeface="メイリオ" panose="020B0604030504040204" pitchFamily="50" charset="-128"/>
              </a:rPr>
              <a:t>画面構成が変わっても止まらない。</a:t>
            </a:r>
            <a:endParaRPr kumimoji="1" lang="en-US" altLang="ja-JP" sz="1400">
              <a:latin typeface="メイリオ" panose="020B0604030504040204" pitchFamily="50" charset="-128"/>
              <a:ea typeface="メイリオ" panose="020B0604030504040204" pitchFamily="50" charset="-128"/>
            </a:endParaRPr>
          </a:p>
        </p:txBody>
      </p:sp>
      <p:sp>
        <p:nvSpPr>
          <p:cNvPr id="67" name="テキスト ボックス 66">
            <a:extLst>
              <a:ext uri="{FF2B5EF4-FFF2-40B4-BE49-F238E27FC236}">
                <a16:creationId xmlns:a16="http://schemas.microsoft.com/office/drawing/2014/main" id="{17F76B0E-1410-E30D-80E2-D4B7CA4D9ED0}"/>
              </a:ext>
            </a:extLst>
          </p:cNvPr>
          <p:cNvSpPr txBox="1"/>
          <p:nvPr/>
        </p:nvSpPr>
        <p:spPr>
          <a:xfrm>
            <a:off x="6619461" y="2679812"/>
            <a:ext cx="5551254" cy="346249"/>
          </a:xfrm>
          <a:prstGeom prst="rect">
            <a:avLst/>
          </a:prstGeom>
          <a:noFill/>
        </p:spPr>
        <p:txBody>
          <a:bodyPr wrap="square" rtlCol="0">
            <a:spAutoFit/>
          </a:bodyPr>
          <a:lstStyle/>
          <a:p>
            <a:pPr>
              <a:lnSpc>
                <a:spcPct val="150000"/>
              </a:lnSpc>
            </a:pPr>
            <a:r>
              <a:rPr kumimoji="1" lang="en-US" altLang="ja-JP" sz="1200">
                <a:latin typeface="メイリオ" panose="020B0604030504040204" pitchFamily="50" charset="-128"/>
                <a:ea typeface="メイリオ" panose="020B0604030504040204" pitchFamily="50" charset="-128"/>
              </a:rPr>
              <a:t>※1 </a:t>
            </a:r>
            <a:r>
              <a:rPr lang="ja-JP" altLang="en-US" sz="1200">
                <a:latin typeface="メイリオ" panose="020B0604030504040204" pitchFamily="50" charset="-128"/>
                <a:ea typeface="メイリオ" panose="020B0604030504040204" pitchFamily="50" charset="-128"/>
              </a:rPr>
              <a:t>実行</a:t>
            </a:r>
            <a:r>
              <a:rPr lang="en-US" altLang="ja-JP" sz="1200">
                <a:latin typeface="メイリオ" panose="020B0604030504040204" pitchFamily="50" charset="-128"/>
                <a:ea typeface="メイリオ" panose="020B0604030504040204" pitchFamily="50" charset="-128"/>
              </a:rPr>
              <a:t>PC</a:t>
            </a:r>
            <a:r>
              <a:rPr lang="ja-JP" altLang="en-US" sz="1200">
                <a:latin typeface="メイリオ" panose="020B0604030504040204" pitchFamily="50" charset="-128"/>
                <a:ea typeface="メイリオ" panose="020B0604030504040204" pitchFamily="50" charset="-128"/>
              </a:rPr>
              <a:t>版はターミナル、デスクトップアプリ、</a:t>
            </a:r>
            <a:r>
              <a:rPr lang="en-US" altLang="ja-JP" sz="1200">
                <a:latin typeface="メイリオ" panose="020B0604030504040204" pitchFamily="50" charset="-128"/>
                <a:ea typeface="メイリオ" panose="020B0604030504040204" pitchFamily="50" charset="-128"/>
              </a:rPr>
              <a:t>IDE</a:t>
            </a:r>
            <a:r>
              <a:rPr lang="ja-JP" altLang="en-US" sz="1200">
                <a:latin typeface="メイリオ" panose="020B0604030504040204" pitchFamily="50" charset="-128"/>
                <a:ea typeface="メイリオ" panose="020B0604030504040204" pitchFamily="50" charset="-128"/>
              </a:rPr>
              <a:t>拡張など複数形態あり</a:t>
            </a:r>
            <a:endParaRPr kumimoji="1" lang="en-US" altLang="ja-JP" sz="1200">
              <a:latin typeface="メイリオ" panose="020B0604030504040204" pitchFamily="50" charset="-128"/>
              <a:ea typeface="メイリオ" panose="020B0604030504040204" pitchFamily="50" charset="-128"/>
            </a:endParaRPr>
          </a:p>
        </p:txBody>
      </p:sp>
      <p:sp>
        <p:nvSpPr>
          <p:cNvPr id="68" name="矢印: 下 67">
            <a:extLst>
              <a:ext uri="{FF2B5EF4-FFF2-40B4-BE49-F238E27FC236}">
                <a16:creationId xmlns:a16="http://schemas.microsoft.com/office/drawing/2014/main" id="{E9217221-EAFD-758E-154D-97838230EB45}"/>
              </a:ext>
            </a:extLst>
          </p:cNvPr>
          <p:cNvSpPr/>
          <p:nvPr/>
        </p:nvSpPr>
        <p:spPr>
          <a:xfrm>
            <a:off x="6644308" y="4488218"/>
            <a:ext cx="238540" cy="291401"/>
          </a:xfrm>
          <a:prstGeom prst="down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テキスト ボックス 68">
            <a:extLst>
              <a:ext uri="{FF2B5EF4-FFF2-40B4-BE49-F238E27FC236}">
                <a16:creationId xmlns:a16="http://schemas.microsoft.com/office/drawing/2014/main" id="{D33F1468-3D5F-9C83-BE41-F6D084DA6D70}"/>
              </a:ext>
            </a:extLst>
          </p:cNvPr>
          <p:cNvSpPr txBox="1"/>
          <p:nvPr/>
        </p:nvSpPr>
        <p:spPr>
          <a:xfrm>
            <a:off x="5575852" y="4785777"/>
            <a:ext cx="6431096" cy="900246"/>
          </a:xfrm>
          <a:prstGeom prst="rect">
            <a:avLst/>
          </a:prstGeom>
          <a:noFill/>
        </p:spPr>
        <p:txBody>
          <a:bodyPr wrap="square" rtlCol="0">
            <a:spAutoFit/>
          </a:bodyPr>
          <a:lstStyle/>
          <a:p>
            <a:r>
              <a:rPr kumimoji="1" lang="ja-JP" altLang="en-US" sz="1050">
                <a:latin typeface="メイリオ" panose="020B0604030504040204" pitchFamily="50" charset="-128"/>
                <a:ea typeface="メイリオ" panose="020B0604030504040204" pitchFamily="50" charset="-128"/>
              </a:rPr>
              <a:t>アプリの中で使うので個人の作業効率化には有効だが、</a:t>
            </a:r>
            <a:r>
              <a:rPr kumimoji="1" lang="en-US" altLang="ja-JP" sz="1050">
                <a:latin typeface="メイリオ" panose="020B0604030504040204" pitchFamily="50" charset="-128"/>
                <a:ea typeface="メイリオ" panose="020B0604030504040204" pitchFamily="50" charset="-128"/>
              </a:rPr>
              <a:t>Microsoft</a:t>
            </a:r>
            <a:r>
              <a:rPr kumimoji="1" lang="ja-JP" altLang="en-US" sz="1050">
                <a:latin typeface="メイリオ" panose="020B0604030504040204" pitchFamily="50" charset="-128"/>
                <a:ea typeface="メイリオ" panose="020B0604030504040204" pitchFamily="50" charset="-128"/>
              </a:rPr>
              <a:t>自身が「</a:t>
            </a:r>
            <a:r>
              <a:rPr lang="en-US" altLang="ja-JP" sz="1050" b="1">
                <a:latin typeface="メイリオ" panose="020B0604030504040204" pitchFamily="50" charset="-128"/>
                <a:ea typeface="メイリオ" panose="020B0604030504040204" pitchFamily="50" charset="-128"/>
                <a:hlinkClick r:id="rId10"/>
              </a:rPr>
              <a:t>Copilot</a:t>
            </a:r>
            <a:r>
              <a:rPr lang="ja-JP" altLang="en-US" sz="1050" b="1">
                <a:latin typeface="メイリオ" panose="020B0604030504040204" pitchFamily="50" charset="-128"/>
                <a:ea typeface="メイリオ" panose="020B0604030504040204" pitchFamily="50" charset="-128"/>
                <a:hlinkClick r:id="rId10"/>
              </a:rPr>
              <a:t>だけでは組織固有のワークフロー・自動化ニーズに完全対応できない</a:t>
            </a:r>
            <a:r>
              <a:rPr lang="ja-JP" altLang="en-US" sz="1050">
                <a:latin typeface="メイリオ" panose="020B0604030504040204" pitchFamily="50" charset="-128"/>
                <a:ea typeface="メイリオ" panose="020B0604030504040204" pitchFamily="50" charset="-128"/>
              </a:rPr>
              <a:t>」と明記。</a:t>
            </a:r>
            <a:endParaRPr lang="en-US" altLang="ja-JP" sz="1050">
              <a:latin typeface="メイリオ" panose="020B0604030504040204" pitchFamily="50" charset="-128"/>
              <a:ea typeface="メイリオ" panose="020B0604030504040204" pitchFamily="50" charset="-128"/>
            </a:endParaRPr>
          </a:p>
          <a:p>
            <a:r>
              <a:rPr lang="ja-JP" altLang="en-US" sz="1050">
                <a:latin typeface="メイリオ" panose="020B0604030504040204" pitchFamily="50" charset="-128"/>
                <a:ea typeface="メイリオ" panose="020B0604030504040204" pitchFamily="50" charset="-128"/>
              </a:rPr>
              <a:t>複数システムを横断する定型業務やデータ連携など、業務フロー全体の自動化には</a:t>
            </a:r>
            <a:r>
              <a:rPr lang="en-US" altLang="ja-JP" sz="1050">
                <a:latin typeface="メイリオ" panose="020B0604030504040204" pitchFamily="50" charset="-128"/>
                <a:ea typeface="メイリオ" panose="020B0604030504040204" pitchFamily="50" charset="-128"/>
              </a:rPr>
              <a:t>AI</a:t>
            </a:r>
            <a:r>
              <a:rPr lang="ja-JP" altLang="en-US" sz="1050">
                <a:latin typeface="メイリオ" panose="020B0604030504040204" pitchFamily="50" charset="-128"/>
                <a:ea typeface="メイリオ" panose="020B0604030504040204" pitchFamily="50" charset="-128"/>
              </a:rPr>
              <a:t>エージェントが必要。</a:t>
            </a:r>
            <a:r>
              <a:rPr lang="en-US" altLang="ja-JP" sz="1050">
                <a:latin typeface="メイリオ" panose="020B0604030504040204" pitchFamily="50" charset="-128"/>
                <a:ea typeface="メイリオ" panose="020B0604030504040204" pitchFamily="50" charset="-128"/>
                <a:hlinkClick r:id="rId11"/>
              </a:rPr>
              <a:t>Anthropic</a:t>
            </a:r>
            <a:r>
              <a:rPr lang="ja-JP" altLang="en-US" sz="1050">
                <a:latin typeface="メイリオ" panose="020B0604030504040204" pitchFamily="50" charset="-128"/>
                <a:ea typeface="メイリオ" panose="020B0604030504040204" pitchFamily="50" charset="-128"/>
                <a:hlinkClick r:id="rId11"/>
              </a:rPr>
              <a:t>社内では非技術部門でもワークフロー自動化を実現</a:t>
            </a:r>
            <a:r>
              <a:rPr lang="ja-JP" altLang="en-US" sz="1050">
                <a:latin typeface="メイリオ" panose="020B0604030504040204" pitchFamily="50" charset="-128"/>
                <a:ea typeface="メイリオ" panose="020B0604030504040204" pitchFamily="50" charset="-128"/>
              </a:rPr>
              <a:t>。</a:t>
            </a:r>
            <a:endParaRPr lang="en-US" altLang="ja-JP" sz="1050">
              <a:latin typeface="メイリオ" panose="020B0604030504040204" pitchFamily="50" charset="-128"/>
              <a:ea typeface="メイリオ" panose="020B0604030504040204" pitchFamily="50" charset="-128"/>
            </a:endParaRPr>
          </a:p>
          <a:p>
            <a:r>
              <a:rPr lang="ja-JP" altLang="en-US" sz="1050" b="1">
                <a:latin typeface="メイリオ" panose="020B0604030504040204" pitchFamily="50" charset="-128"/>
                <a:ea typeface="メイリオ" panose="020B0604030504040204" pitchFamily="50" charset="-128"/>
              </a:rPr>
              <a:t>→ </a:t>
            </a:r>
            <a:r>
              <a:rPr lang="en-US" altLang="ja-JP" sz="1050" b="1">
                <a:latin typeface="メイリオ" panose="020B0604030504040204" pitchFamily="50" charset="-128"/>
                <a:ea typeface="メイリオ" panose="020B0604030504040204" pitchFamily="50" charset="-128"/>
              </a:rPr>
              <a:t>Copilot</a:t>
            </a:r>
            <a:r>
              <a:rPr lang="ja-JP" altLang="en-US" sz="1050" b="1">
                <a:latin typeface="メイリオ" panose="020B0604030504040204" pitchFamily="50" charset="-128"/>
                <a:ea typeface="メイリオ" panose="020B0604030504040204" pitchFamily="50" charset="-128"/>
              </a:rPr>
              <a:t>は「今の仕事を速くする」、エージェントは「仕事の仕組みを変える」</a:t>
            </a:r>
            <a:endParaRPr kumimoji="1" lang="en-US" altLang="ja-JP" sz="1050" b="1">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4988811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BBF782-F712-53F9-BCB6-7FB2B91E98DC}"/>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4C4B8077-6918-1F84-00A6-E8C0DFFBEECA}"/>
              </a:ext>
            </a:extLst>
          </p:cNvPr>
          <p:cNvSpPr txBox="1"/>
          <p:nvPr/>
        </p:nvSpPr>
        <p:spPr>
          <a:xfrm>
            <a:off x="443466" y="317212"/>
            <a:ext cx="11215133" cy="584775"/>
          </a:xfrm>
          <a:prstGeom prst="rect">
            <a:avLst/>
          </a:prstGeom>
          <a:noFill/>
        </p:spPr>
        <p:txBody>
          <a:bodyPr wrap="square" rtlCol="0">
            <a:spAutoFit/>
          </a:bodyPr>
          <a:lstStyle/>
          <a:p>
            <a:r>
              <a:rPr kumimoji="1" lang="en-US" altLang="ja-JP" sz="3200" b="1">
                <a:latin typeface="メイリオ" panose="020B0604030504040204" pitchFamily="50" charset="-128"/>
                <a:ea typeface="メイリオ" panose="020B0604030504040204" pitchFamily="50" charset="-128"/>
              </a:rPr>
              <a:t>Skills - </a:t>
            </a:r>
            <a:r>
              <a:rPr kumimoji="1" lang="ja-JP" altLang="en-US" sz="3200" b="1">
                <a:latin typeface="メイリオ" panose="020B0604030504040204" pitchFamily="50" charset="-128"/>
                <a:ea typeface="メイリオ" panose="020B0604030504040204" pitchFamily="50" charset="-128"/>
              </a:rPr>
              <a:t>業務ノウハウのパッケージ化</a:t>
            </a:r>
          </a:p>
        </p:txBody>
      </p:sp>
      <p:sp>
        <p:nvSpPr>
          <p:cNvPr id="2" name="テキスト ボックス 1">
            <a:extLst>
              <a:ext uri="{FF2B5EF4-FFF2-40B4-BE49-F238E27FC236}">
                <a16:creationId xmlns:a16="http://schemas.microsoft.com/office/drawing/2014/main" id="{63F7FBD5-2210-44D4-90FC-F12B2FBCBB61}"/>
              </a:ext>
            </a:extLst>
          </p:cNvPr>
          <p:cNvSpPr txBox="1"/>
          <p:nvPr/>
        </p:nvSpPr>
        <p:spPr>
          <a:xfrm>
            <a:off x="260898" y="901987"/>
            <a:ext cx="11670205" cy="711733"/>
          </a:xfrm>
          <a:prstGeom prst="rect">
            <a:avLst/>
          </a:prstGeom>
          <a:noFill/>
        </p:spPr>
        <p:txBody>
          <a:bodyPr wrap="square" rtlCol="0">
            <a:spAutoFit/>
          </a:bodyPr>
          <a:lstStyle/>
          <a:p>
            <a:pPr>
              <a:lnSpc>
                <a:spcPct val="150000"/>
              </a:lnSpc>
            </a:pPr>
            <a:r>
              <a:rPr kumimoji="1" lang="en-US" altLang="ja-JP" sz="1400" b="1">
                <a:latin typeface="メイリオ" panose="020B0604030504040204" pitchFamily="50" charset="-128"/>
                <a:ea typeface="メイリオ" panose="020B0604030504040204" pitchFamily="50" charset="-128"/>
              </a:rPr>
              <a:t>Skills</a:t>
            </a:r>
            <a:r>
              <a:rPr kumimoji="1" lang="ja-JP" altLang="en-US" sz="1400" b="1">
                <a:latin typeface="メイリオ" panose="020B0604030504040204" pitchFamily="50" charset="-128"/>
                <a:ea typeface="メイリオ" panose="020B0604030504040204" pitchFamily="50" charset="-128"/>
              </a:rPr>
              <a:t>とは</a:t>
            </a:r>
            <a:r>
              <a:rPr lang="ja-JP" altLang="en-US" sz="1400">
                <a:latin typeface="メイリオ" panose="020B0604030504040204" pitchFamily="50" charset="-128"/>
                <a:ea typeface="メイリオ" panose="020B0604030504040204" pitchFamily="50" charset="-128"/>
              </a:rPr>
              <a:t>：特定業務に必要な指示・テンプレート・ツール接続を「スキル」としてモジュール化する機能。</a:t>
            </a:r>
            <a:r>
              <a:rPr lang="en-US" altLang="ja-JP" sz="1400">
                <a:latin typeface="メイリオ" panose="020B0604030504040204" pitchFamily="50" charset="-128"/>
                <a:ea typeface="メイリオ" panose="020B0604030504040204" pitchFamily="50" charset="-128"/>
              </a:rPr>
              <a:t>Claude</a:t>
            </a:r>
            <a:r>
              <a:rPr lang="ja-JP" altLang="en-US" sz="1400">
                <a:latin typeface="メイリオ" panose="020B0604030504040204" pitchFamily="50" charset="-128"/>
                <a:ea typeface="メイリオ" panose="020B0604030504040204" pitchFamily="50" charset="-128"/>
              </a:rPr>
              <a:t>内に「</a:t>
            </a:r>
            <a:r>
              <a:rPr lang="en-US" altLang="ja-JP" sz="1400">
                <a:latin typeface="メイリオ" panose="020B0604030504040204" pitchFamily="50" charset="-128"/>
                <a:ea typeface="メイリオ" panose="020B0604030504040204" pitchFamily="50" charset="-128"/>
              </a:rPr>
              <a:t>Skill</a:t>
            </a:r>
            <a:r>
              <a:rPr lang="ja-JP" altLang="en-US" sz="1400">
                <a:latin typeface="メイリオ" panose="020B0604030504040204" pitchFamily="50" charset="-128"/>
                <a:ea typeface="メイリオ" panose="020B0604030504040204" pitchFamily="50" charset="-128"/>
              </a:rPr>
              <a:t>を作る</a:t>
            </a:r>
            <a:r>
              <a:rPr lang="en-US" altLang="ja-JP" sz="1400">
                <a:latin typeface="メイリオ" panose="020B0604030504040204" pitchFamily="50" charset="-128"/>
                <a:ea typeface="メイリオ" panose="020B0604030504040204" pitchFamily="50" charset="-128"/>
              </a:rPr>
              <a:t>Skill</a:t>
            </a:r>
            <a:r>
              <a:rPr lang="ja-JP" altLang="en-US" sz="1400">
                <a:latin typeface="メイリオ" panose="020B0604030504040204" pitchFamily="50" charset="-128"/>
                <a:ea typeface="メイリオ" panose="020B0604030504040204" pitchFamily="50" charset="-128"/>
              </a:rPr>
              <a:t>」があるため、会話するだけでスキルを作成可能。</a:t>
            </a:r>
            <a:r>
              <a:rPr lang="en-US" altLang="ja-JP" sz="1400">
                <a:latin typeface="メイリオ" panose="020B0604030504040204" pitchFamily="50" charset="-128"/>
                <a:ea typeface="メイリオ" panose="020B0604030504040204" pitchFamily="50" charset="-128"/>
              </a:rPr>
              <a:t>Claude</a:t>
            </a:r>
            <a:r>
              <a:rPr lang="ja-JP" altLang="en-US" sz="1400">
                <a:latin typeface="メイリオ" panose="020B0604030504040204" pitchFamily="50" charset="-128"/>
                <a:ea typeface="メイリオ" panose="020B0604030504040204" pitchFamily="50" charset="-128"/>
              </a:rPr>
              <a:t>と</a:t>
            </a:r>
            <a:r>
              <a:rPr lang="en-US" altLang="ja-JP" sz="1400">
                <a:latin typeface="メイリオ" panose="020B0604030504040204" pitchFamily="50" charset="-128"/>
                <a:ea typeface="メイリオ" panose="020B0604030504040204" pitchFamily="50" charset="-128"/>
              </a:rPr>
              <a:t>Claude Code</a:t>
            </a:r>
            <a:r>
              <a:rPr lang="ja-JP" altLang="en-US" sz="1400">
                <a:latin typeface="メイリオ" panose="020B0604030504040204" pitchFamily="50" charset="-128"/>
                <a:ea typeface="メイリオ" panose="020B0604030504040204" pitchFamily="50" charset="-128"/>
              </a:rPr>
              <a:t>のどちらでも利用可能。</a:t>
            </a:r>
          </a:p>
        </p:txBody>
      </p:sp>
      <p:sp>
        <p:nvSpPr>
          <p:cNvPr id="3" name="正方形/長方形 2">
            <a:extLst>
              <a:ext uri="{FF2B5EF4-FFF2-40B4-BE49-F238E27FC236}">
                <a16:creationId xmlns:a16="http://schemas.microsoft.com/office/drawing/2014/main" id="{73F0BAD2-E942-B780-B994-B332EBB7F34D}"/>
              </a:ext>
            </a:extLst>
          </p:cNvPr>
          <p:cNvSpPr/>
          <p:nvPr/>
        </p:nvSpPr>
        <p:spPr>
          <a:xfrm>
            <a:off x="85659" y="1685140"/>
            <a:ext cx="5221837" cy="457200"/>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a:solidFill>
                  <a:schemeClr val="tx1"/>
                </a:solidFill>
                <a:latin typeface="メイリオ" panose="020B0604030504040204" pitchFamily="50" charset="-128"/>
                <a:ea typeface="メイリオ" panose="020B0604030504040204" pitchFamily="50" charset="-128"/>
              </a:rPr>
              <a:t>RPA</a:t>
            </a:r>
            <a:r>
              <a:rPr lang="ja-JP" altLang="en-US" b="1">
                <a:solidFill>
                  <a:schemeClr val="tx1"/>
                </a:solidFill>
                <a:latin typeface="メイリオ" panose="020B0604030504040204" pitchFamily="50" charset="-128"/>
                <a:ea typeface="メイリオ" panose="020B0604030504040204" pitchFamily="50" charset="-128"/>
              </a:rPr>
              <a:t>との比較</a:t>
            </a:r>
            <a:endParaRPr kumimoji="1" lang="ja-JP" altLang="en-US" b="1">
              <a:solidFill>
                <a:schemeClr val="tx1"/>
              </a:solidFill>
              <a:latin typeface="メイリオ" panose="020B0604030504040204" pitchFamily="50" charset="-128"/>
              <a:ea typeface="メイリオ" panose="020B0604030504040204" pitchFamily="50" charset="-128"/>
            </a:endParaRPr>
          </a:p>
        </p:txBody>
      </p:sp>
      <p:graphicFrame>
        <p:nvGraphicFramePr>
          <p:cNvPr id="5" name="表 4">
            <a:extLst>
              <a:ext uri="{FF2B5EF4-FFF2-40B4-BE49-F238E27FC236}">
                <a16:creationId xmlns:a16="http://schemas.microsoft.com/office/drawing/2014/main" id="{C77D86F8-5836-6ADF-12F3-6454C145321E}"/>
              </a:ext>
            </a:extLst>
          </p:cNvPr>
          <p:cNvGraphicFramePr>
            <a:graphicFrameLocks noGrp="1"/>
          </p:cNvGraphicFramePr>
          <p:nvPr>
            <p:extLst>
              <p:ext uri="{D42A27DB-BD31-4B8C-83A1-F6EECF244321}">
                <p14:modId xmlns:p14="http://schemas.microsoft.com/office/powerpoint/2010/main" val="3256160584"/>
              </p:ext>
            </p:extLst>
          </p:nvPr>
        </p:nvGraphicFramePr>
        <p:xfrm>
          <a:off x="85659" y="2925493"/>
          <a:ext cx="5221837" cy="3200400"/>
        </p:xfrm>
        <a:graphic>
          <a:graphicData uri="http://schemas.openxmlformats.org/drawingml/2006/table">
            <a:tbl>
              <a:tblPr firstRow="1" bandRow="1">
                <a:tableStyleId>{5C22544A-7EE6-4342-B048-85BDC9FD1C3A}</a:tableStyleId>
              </a:tblPr>
              <a:tblGrid>
                <a:gridCol w="1310892">
                  <a:extLst>
                    <a:ext uri="{9D8B030D-6E8A-4147-A177-3AD203B41FA5}">
                      <a16:colId xmlns:a16="http://schemas.microsoft.com/office/drawing/2014/main" val="1714558132"/>
                    </a:ext>
                  </a:extLst>
                </a:gridCol>
                <a:gridCol w="1515614">
                  <a:extLst>
                    <a:ext uri="{9D8B030D-6E8A-4147-A177-3AD203B41FA5}">
                      <a16:colId xmlns:a16="http://schemas.microsoft.com/office/drawing/2014/main" val="480840800"/>
                    </a:ext>
                  </a:extLst>
                </a:gridCol>
                <a:gridCol w="2395331">
                  <a:extLst>
                    <a:ext uri="{9D8B030D-6E8A-4147-A177-3AD203B41FA5}">
                      <a16:colId xmlns:a16="http://schemas.microsoft.com/office/drawing/2014/main" val="1844808726"/>
                    </a:ext>
                  </a:extLst>
                </a:gridCol>
              </a:tblGrid>
              <a:tr h="192201">
                <a:tc>
                  <a:txBody>
                    <a:bodyPr/>
                    <a:lstStyle/>
                    <a:p>
                      <a:pPr algn="ctr"/>
                      <a:r>
                        <a:rPr kumimoji="1" lang="ja-JP" altLang="en-US" sz="1400">
                          <a:latin typeface="メイリオ" panose="020B0604030504040204" pitchFamily="50" charset="-128"/>
                          <a:ea typeface="メイリオ" panose="020B0604030504040204" pitchFamily="50" charset="-128"/>
                        </a:rPr>
                        <a:t>項目</a:t>
                      </a:r>
                    </a:p>
                  </a:txBody>
                  <a:tcPr anchor="ctr"/>
                </a:tc>
                <a:tc>
                  <a:txBody>
                    <a:bodyPr/>
                    <a:lstStyle/>
                    <a:p>
                      <a:pPr algn="ctr"/>
                      <a:r>
                        <a:rPr kumimoji="1" lang="ja-JP" altLang="en-US" sz="1400">
                          <a:latin typeface="メイリオ" panose="020B0604030504040204" pitchFamily="50" charset="-128"/>
                          <a:ea typeface="メイリオ" panose="020B0604030504040204" pitchFamily="50" charset="-128"/>
                        </a:rPr>
                        <a:t>従来の</a:t>
                      </a:r>
                      <a:r>
                        <a:rPr kumimoji="1" lang="en-US" altLang="ja-JP" sz="1400">
                          <a:latin typeface="メイリオ" panose="020B0604030504040204" pitchFamily="50" charset="-128"/>
                          <a:ea typeface="メイリオ" panose="020B0604030504040204" pitchFamily="50" charset="-128"/>
                        </a:rPr>
                        <a:t>RPA</a:t>
                      </a:r>
                      <a:endParaRPr kumimoji="1" lang="ja-JP" altLang="en-US" sz="1400">
                        <a:latin typeface="メイリオ" panose="020B0604030504040204" pitchFamily="50" charset="-128"/>
                        <a:ea typeface="メイリオ" panose="020B0604030504040204" pitchFamily="50" charset="-128"/>
                      </a:endParaRPr>
                    </a:p>
                  </a:txBody>
                  <a:tcPr anchor="ctr"/>
                </a:tc>
                <a:tc>
                  <a:txBody>
                    <a:bodyPr/>
                    <a:lstStyle/>
                    <a:p>
                      <a:pPr algn="ctr"/>
                      <a:r>
                        <a:rPr kumimoji="1" lang="en-US" altLang="ja-JP" sz="1400">
                          <a:latin typeface="メイリオ" panose="020B0604030504040204" pitchFamily="50" charset="-128"/>
                          <a:ea typeface="メイリオ" panose="020B0604030504040204" pitchFamily="50" charset="-128"/>
                        </a:rPr>
                        <a:t>AI</a:t>
                      </a:r>
                      <a:r>
                        <a:rPr kumimoji="1" lang="ja-JP" altLang="en-US" sz="1400">
                          <a:latin typeface="メイリオ" panose="020B0604030504040204" pitchFamily="50" charset="-128"/>
                          <a:ea typeface="メイリオ" panose="020B0604030504040204" pitchFamily="50" charset="-128"/>
                        </a:rPr>
                        <a:t>エージェント </a:t>
                      </a:r>
                      <a:r>
                        <a:rPr kumimoji="1" lang="en-US" altLang="ja-JP" sz="1400">
                          <a:latin typeface="メイリオ" panose="020B0604030504040204" pitchFamily="50" charset="-128"/>
                          <a:ea typeface="メイリオ" panose="020B0604030504040204" pitchFamily="50" charset="-128"/>
                        </a:rPr>
                        <a:t>+ Skills</a:t>
                      </a:r>
                      <a:endParaRPr kumimoji="1" lang="ja-JP" altLang="en-US" sz="1400">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708897093"/>
                  </a:ext>
                </a:extLst>
              </a:tr>
              <a:tr h="268556">
                <a:tc>
                  <a:txBody>
                    <a:bodyPr/>
                    <a:lstStyle/>
                    <a:p>
                      <a:pPr>
                        <a:buNone/>
                      </a:pPr>
                      <a:r>
                        <a:rPr lang="ja-JP" altLang="en-US" sz="1400">
                          <a:latin typeface="メイリオ" panose="020B0604030504040204" pitchFamily="50" charset="-128"/>
                          <a:ea typeface="メイリオ" panose="020B0604030504040204" pitchFamily="50" charset="-128"/>
                        </a:rPr>
                        <a:t>作り方</a:t>
                      </a:r>
                    </a:p>
                  </a:txBody>
                  <a:tcPr anchor="ctr"/>
                </a:tc>
                <a:tc>
                  <a:txBody>
                    <a:bodyPr/>
                    <a:lstStyle/>
                    <a:p>
                      <a:pPr>
                        <a:buNone/>
                      </a:pPr>
                      <a:r>
                        <a:rPr lang="ja-JP" altLang="en-US" sz="1400">
                          <a:latin typeface="メイリオ" panose="020B0604030504040204" pitchFamily="50" charset="-128"/>
                          <a:ea typeface="メイリオ" panose="020B0604030504040204" pitchFamily="50" charset="-128"/>
                        </a:rPr>
                        <a:t>画面操作を録画</a:t>
                      </a:r>
                    </a:p>
                  </a:txBody>
                  <a:tcPr anchor="ctr"/>
                </a:tc>
                <a:tc>
                  <a:txBody>
                    <a:bodyPr/>
                    <a:lstStyle/>
                    <a:p>
                      <a:pPr>
                        <a:buNone/>
                      </a:pPr>
                      <a:r>
                        <a:rPr lang="ja-JP" altLang="en-US" sz="1400" b="1">
                          <a:latin typeface="メイリオ" panose="020B0604030504040204" pitchFamily="50" charset="-128"/>
                          <a:ea typeface="メイリオ" panose="020B0604030504040204" pitchFamily="50" charset="-128"/>
                        </a:rPr>
                        <a:t>会話で業務を説明するだけ</a:t>
                      </a:r>
                      <a:endParaRPr lang="ja-JP" altLang="en-US" sz="1400">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915160650"/>
                  </a:ext>
                </a:extLst>
              </a:tr>
              <a:tr h="157974">
                <a:tc>
                  <a:txBody>
                    <a:bodyPr/>
                    <a:lstStyle/>
                    <a:p>
                      <a:pPr>
                        <a:buNone/>
                      </a:pPr>
                      <a:r>
                        <a:rPr lang="ja-JP" altLang="en-US" sz="1400">
                          <a:latin typeface="メイリオ" panose="020B0604030504040204" pitchFamily="50" charset="-128"/>
                          <a:ea typeface="メイリオ" panose="020B0604030504040204" pitchFamily="50" charset="-128"/>
                        </a:rPr>
                        <a:t>動作原理</a:t>
                      </a:r>
                    </a:p>
                  </a:txBody>
                  <a:tcPr anchor="ctr"/>
                </a:tc>
                <a:tc>
                  <a:txBody>
                    <a:bodyPr/>
                    <a:lstStyle/>
                    <a:p>
                      <a:pPr>
                        <a:buNone/>
                      </a:pPr>
                      <a:r>
                        <a:rPr lang="ja-JP" altLang="en-US" sz="1400">
                          <a:latin typeface="メイリオ" panose="020B0604030504040204" pitchFamily="50" charset="-128"/>
                          <a:ea typeface="メイリオ" panose="020B0604030504040204" pitchFamily="50" charset="-128"/>
                        </a:rPr>
                        <a:t>録画を再生</a:t>
                      </a:r>
                    </a:p>
                  </a:txBody>
                  <a:tcPr anchor="ctr"/>
                </a:tc>
                <a:tc>
                  <a:txBody>
                    <a:bodyPr/>
                    <a:lstStyle/>
                    <a:p>
                      <a:pPr>
                        <a:buNone/>
                      </a:pPr>
                      <a:r>
                        <a:rPr lang="ja-JP" altLang="en-US" sz="1400">
                          <a:latin typeface="メイリオ" panose="020B0604030504040204" pitchFamily="50" charset="-128"/>
                          <a:ea typeface="メイリオ" panose="020B0604030504040204" pitchFamily="50" charset="-128"/>
                        </a:rPr>
                        <a:t>目的を理解して自分で判断・実行</a:t>
                      </a:r>
                    </a:p>
                  </a:txBody>
                  <a:tcPr anchor="ctr"/>
                </a:tc>
                <a:extLst>
                  <a:ext uri="{0D108BD9-81ED-4DB2-BD59-A6C34878D82A}">
                    <a16:rowId xmlns:a16="http://schemas.microsoft.com/office/drawing/2014/main" val="1551060320"/>
                  </a:ext>
                </a:extLst>
              </a:tr>
              <a:tr h="152400">
                <a:tc>
                  <a:txBody>
                    <a:bodyPr/>
                    <a:lstStyle/>
                    <a:p>
                      <a:pPr>
                        <a:buNone/>
                      </a:pPr>
                      <a:r>
                        <a:rPr lang="ja-JP" altLang="en-US" sz="1400">
                          <a:latin typeface="メイリオ" panose="020B0604030504040204" pitchFamily="50" charset="-128"/>
                          <a:ea typeface="メイリオ" panose="020B0604030504040204" pitchFamily="50" charset="-128"/>
                        </a:rPr>
                        <a:t>例外処理</a:t>
                      </a:r>
                    </a:p>
                  </a:txBody>
                  <a:tcPr anchor="ctr"/>
                </a:tc>
                <a:tc>
                  <a:txBody>
                    <a:bodyPr/>
                    <a:lstStyle/>
                    <a:p>
                      <a:pPr>
                        <a:buNone/>
                      </a:pPr>
                      <a:r>
                        <a:rPr lang="ja-JP" altLang="en-US" sz="1400">
                          <a:latin typeface="メイリオ" panose="020B0604030504040204" pitchFamily="50" charset="-128"/>
                          <a:ea typeface="メイリオ" panose="020B0604030504040204" pitchFamily="50" charset="-128"/>
                        </a:rPr>
                        <a:t>止まる（人が対応）</a:t>
                      </a:r>
                    </a:p>
                  </a:txBody>
                  <a:tcPr anchor="ctr"/>
                </a:tc>
                <a:tc>
                  <a:txBody>
                    <a:bodyPr/>
                    <a:lstStyle/>
                    <a:p>
                      <a:pPr>
                        <a:buNone/>
                      </a:pPr>
                      <a:r>
                        <a:rPr lang="en-US" altLang="ja-JP" sz="1400">
                          <a:latin typeface="メイリオ" panose="020B0604030504040204" pitchFamily="50" charset="-128"/>
                          <a:ea typeface="メイリオ" panose="020B0604030504040204" pitchFamily="50" charset="-128"/>
                        </a:rPr>
                        <a:t>AI</a:t>
                      </a:r>
                      <a:r>
                        <a:rPr lang="ja-JP" altLang="en-US" sz="1400">
                          <a:latin typeface="メイリオ" panose="020B0604030504040204" pitchFamily="50" charset="-128"/>
                          <a:ea typeface="メイリオ" panose="020B0604030504040204" pitchFamily="50" charset="-128"/>
                        </a:rPr>
                        <a:t>が判断して対処、または人に確認</a:t>
                      </a:r>
                    </a:p>
                  </a:txBody>
                  <a:tcPr anchor="ctr"/>
                </a:tc>
                <a:extLst>
                  <a:ext uri="{0D108BD9-81ED-4DB2-BD59-A6C34878D82A}">
                    <a16:rowId xmlns:a16="http://schemas.microsoft.com/office/drawing/2014/main" val="2941166824"/>
                  </a:ext>
                </a:extLst>
              </a:tr>
              <a:tr h="152400">
                <a:tc>
                  <a:txBody>
                    <a:bodyPr/>
                    <a:lstStyle/>
                    <a:p>
                      <a:pPr>
                        <a:buNone/>
                      </a:pPr>
                      <a:r>
                        <a:rPr lang="ja-JP" altLang="en-US" sz="1400">
                          <a:latin typeface="メイリオ" panose="020B0604030504040204" pitchFamily="50" charset="-128"/>
                          <a:ea typeface="メイリオ" panose="020B0604030504040204" pitchFamily="50" charset="-128"/>
                        </a:rPr>
                        <a:t>業務変更時</a:t>
                      </a:r>
                    </a:p>
                  </a:txBody>
                  <a:tcPr anchor="ctr"/>
                </a:tc>
                <a:tc>
                  <a:txBody>
                    <a:bodyPr/>
                    <a:lstStyle/>
                    <a:p>
                      <a:pPr>
                        <a:buNone/>
                      </a:pPr>
                      <a:r>
                        <a:rPr lang="ja-JP" altLang="en-US" sz="1400">
                          <a:latin typeface="メイリオ" panose="020B0604030504040204" pitchFamily="50" charset="-128"/>
                          <a:ea typeface="メイリオ" panose="020B0604030504040204" pitchFamily="50" charset="-128"/>
                        </a:rPr>
                        <a:t>シナリオ作り直し</a:t>
                      </a:r>
                    </a:p>
                  </a:txBody>
                  <a:tcPr anchor="ctr"/>
                </a:tc>
                <a:tc>
                  <a:txBody>
                    <a:bodyPr/>
                    <a:lstStyle/>
                    <a:p>
                      <a:pPr>
                        <a:buNone/>
                      </a:pPr>
                      <a:r>
                        <a:rPr lang="ja-JP" altLang="en-US" sz="1400">
                          <a:latin typeface="メイリオ" panose="020B0604030504040204" pitchFamily="50" charset="-128"/>
                          <a:ea typeface="メイリオ" panose="020B0604030504040204" pitchFamily="50" charset="-128"/>
                        </a:rPr>
                        <a:t>スキルを更新するだけ</a:t>
                      </a:r>
                    </a:p>
                  </a:txBody>
                  <a:tcPr anchor="ctr"/>
                </a:tc>
                <a:extLst>
                  <a:ext uri="{0D108BD9-81ED-4DB2-BD59-A6C34878D82A}">
                    <a16:rowId xmlns:a16="http://schemas.microsoft.com/office/drawing/2014/main" val="2768557745"/>
                  </a:ext>
                </a:extLst>
              </a:tr>
              <a:tr h="152400">
                <a:tc>
                  <a:txBody>
                    <a:bodyPr/>
                    <a:lstStyle/>
                    <a:p>
                      <a:pPr>
                        <a:buNone/>
                      </a:pPr>
                      <a:r>
                        <a:rPr lang="ja-JP" altLang="en-US" sz="1400">
                          <a:latin typeface="メイリオ" panose="020B0604030504040204" pitchFamily="50" charset="-128"/>
                          <a:ea typeface="メイリオ" panose="020B0604030504040204" pitchFamily="50" charset="-128"/>
                        </a:rPr>
                        <a:t>引き継ぎ</a:t>
                      </a:r>
                    </a:p>
                  </a:txBody>
                  <a:tcPr anchor="ctr"/>
                </a:tc>
                <a:tc>
                  <a:txBody>
                    <a:bodyPr/>
                    <a:lstStyle/>
                    <a:p>
                      <a:pPr>
                        <a:buNone/>
                      </a:pPr>
                      <a:r>
                        <a:rPr lang="ja-JP" altLang="en-US" sz="1400">
                          <a:latin typeface="メイリオ" panose="020B0604030504040204" pitchFamily="50" charset="-128"/>
                          <a:ea typeface="メイリオ" panose="020B0604030504040204" pitchFamily="50" charset="-128"/>
                        </a:rPr>
                        <a:t>シナリオファイル＋マニュアル</a:t>
                      </a:r>
                    </a:p>
                  </a:txBody>
                  <a:tcPr anchor="ctr"/>
                </a:tc>
                <a:tc>
                  <a:txBody>
                    <a:bodyPr/>
                    <a:lstStyle/>
                    <a:p>
                      <a:pPr>
                        <a:buNone/>
                      </a:pPr>
                      <a:r>
                        <a:rPr lang="ja-JP" altLang="en-US" sz="1400" b="1">
                          <a:latin typeface="メイリオ" panose="020B0604030504040204" pitchFamily="50" charset="-128"/>
                          <a:ea typeface="メイリオ" panose="020B0604030504040204" pitchFamily="50" charset="-128"/>
                        </a:rPr>
                        <a:t>フォルダを渡すだけ</a:t>
                      </a:r>
                      <a:endParaRPr lang="ja-JP" altLang="en-US" sz="1400">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2603302509"/>
                  </a:ext>
                </a:extLst>
              </a:tr>
              <a:tr h="152400">
                <a:tc>
                  <a:txBody>
                    <a:bodyPr/>
                    <a:lstStyle/>
                    <a:p>
                      <a:pPr>
                        <a:buNone/>
                      </a:pPr>
                      <a:r>
                        <a:rPr lang="ja-JP" altLang="en-US" sz="1400">
                          <a:latin typeface="メイリオ" panose="020B0604030504040204" pitchFamily="50" charset="-128"/>
                          <a:ea typeface="メイリオ" panose="020B0604030504040204" pitchFamily="50" charset="-128"/>
                        </a:rPr>
                        <a:t>ノウハウ継承</a:t>
                      </a:r>
                    </a:p>
                  </a:txBody>
                  <a:tcPr anchor="ctr"/>
                </a:tc>
                <a:tc>
                  <a:txBody>
                    <a:bodyPr/>
                    <a:lstStyle/>
                    <a:p>
                      <a:pPr>
                        <a:buNone/>
                      </a:pPr>
                      <a:r>
                        <a:rPr lang="ja-JP" altLang="en-US" sz="1400">
                          <a:latin typeface="メイリオ" panose="020B0604030504040204" pitchFamily="50" charset="-128"/>
                          <a:ea typeface="メイリオ" panose="020B0604030504040204" pitchFamily="50" charset="-128"/>
                        </a:rPr>
                        <a:t>できない</a:t>
                      </a:r>
                    </a:p>
                  </a:txBody>
                  <a:tcPr anchor="ctr"/>
                </a:tc>
                <a:tc>
                  <a:txBody>
                    <a:bodyPr/>
                    <a:lstStyle/>
                    <a:p>
                      <a:pPr>
                        <a:buNone/>
                      </a:pPr>
                      <a:r>
                        <a:rPr lang="ja-JP" altLang="en-US" sz="1400" b="1">
                          <a:latin typeface="メイリオ" panose="020B0604030504040204" pitchFamily="50" charset="-128"/>
                          <a:ea typeface="メイリオ" panose="020B0604030504040204" pitchFamily="50" charset="-128"/>
                        </a:rPr>
                        <a:t>ベテランの暗黙知をパッケージ化</a:t>
                      </a:r>
                      <a:endParaRPr lang="ja-JP" altLang="en-US" sz="1400">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2976654656"/>
                  </a:ext>
                </a:extLst>
              </a:tr>
            </a:tbl>
          </a:graphicData>
        </a:graphic>
      </p:graphicFrame>
      <p:sp>
        <p:nvSpPr>
          <p:cNvPr id="10" name="テキスト ボックス 9">
            <a:extLst>
              <a:ext uri="{FF2B5EF4-FFF2-40B4-BE49-F238E27FC236}">
                <a16:creationId xmlns:a16="http://schemas.microsoft.com/office/drawing/2014/main" id="{F772D140-D7A7-BFD8-ADC9-E902395ACAD4}"/>
              </a:ext>
            </a:extLst>
          </p:cNvPr>
          <p:cNvSpPr txBox="1"/>
          <p:nvPr/>
        </p:nvSpPr>
        <p:spPr>
          <a:xfrm>
            <a:off x="85659" y="2142340"/>
            <a:ext cx="5321228" cy="1034899"/>
          </a:xfrm>
          <a:prstGeom prst="rect">
            <a:avLst/>
          </a:prstGeom>
          <a:noFill/>
        </p:spPr>
        <p:txBody>
          <a:bodyPr wrap="square" rtlCol="0">
            <a:spAutoFit/>
          </a:bodyPr>
          <a:lstStyle/>
          <a:p>
            <a:pPr>
              <a:lnSpc>
                <a:spcPct val="150000"/>
              </a:lnSpc>
            </a:pPr>
            <a:r>
              <a:rPr kumimoji="1" lang="en-US" altLang="ja-JP" sz="1400" b="1">
                <a:latin typeface="メイリオ" panose="020B0604030504040204" pitchFamily="50" charset="-128"/>
                <a:ea typeface="メイリオ" panose="020B0604030504040204" pitchFamily="50" charset="-128"/>
              </a:rPr>
              <a:t>Skills</a:t>
            </a:r>
            <a:r>
              <a:rPr kumimoji="1" lang="ja-JP" altLang="en-US" sz="1400" b="1">
                <a:latin typeface="メイリオ" panose="020B0604030504040204" pitchFamily="50" charset="-128"/>
                <a:ea typeface="メイリオ" panose="020B0604030504040204" pitchFamily="50" charset="-128"/>
              </a:rPr>
              <a:t>は部品。エージェントが必要に応じて呼び出して利用可能。</a:t>
            </a:r>
            <a:endParaRPr kumimoji="1" lang="en-US" altLang="ja-JP" sz="1400" b="1">
              <a:latin typeface="メイリオ" panose="020B0604030504040204" pitchFamily="50" charset="-128"/>
              <a:ea typeface="メイリオ" panose="020B0604030504040204" pitchFamily="50" charset="-128"/>
            </a:endParaRPr>
          </a:p>
          <a:p>
            <a:pPr>
              <a:lnSpc>
                <a:spcPct val="150000"/>
              </a:lnSpc>
            </a:pPr>
            <a:r>
              <a:rPr lang="ja-JP" altLang="en-US" sz="1400" b="1">
                <a:latin typeface="メイリオ" panose="020B0604030504040204" pitchFamily="50" charset="-128"/>
                <a:ea typeface="メイリオ" panose="020B0604030504040204" pitchFamily="50" charset="-128"/>
              </a:rPr>
              <a:t>頻繁に行う作業は</a:t>
            </a:r>
            <a:r>
              <a:rPr lang="en-US" altLang="ja-JP" sz="1400" b="1">
                <a:latin typeface="メイリオ" panose="020B0604030504040204" pitchFamily="50" charset="-128"/>
                <a:ea typeface="メイリオ" panose="020B0604030504040204" pitchFamily="50" charset="-128"/>
              </a:rPr>
              <a:t>Skill</a:t>
            </a:r>
            <a:r>
              <a:rPr lang="ja-JP" altLang="en-US" sz="1400" b="1">
                <a:latin typeface="メイリオ" panose="020B0604030504040204" pitchFamily="50" charset="-128"/>
                <a:ea typeface="メイリオ" panose="020B0604030504040204" pitchFamily="50" charset="-128"/>
              </a:rPr>
              <a:t>化しておくことで品質を担保できる。</a:t>
            </a:r>
            <a:endParaRPr kumimoji="1" lang="en-US" altLang="ja-JP" sz="1400" b="1">
              <a:latin typeface="メイリオ" panose="020B0604030504040204" pitchFamily="50" charset="-128"/>
              <a:ea typeface="メイリオ" panose="020B0604030504040204" pitchFamily="50" charset="-128"/>
            </a:endParaRPr>
          </a:p>
          <a:p>
            <a:pPr>
              <a:lnSpc>
                <a:spcPct val="150000"/>
              </a:lnSpc>
            </a:pPr>
            <a:endParaRPr lang="ja-JP" altLang="en-US" sz="1400">
              <a:latin typeface="メイリオ" panose="020B0604030504040204" pitchFamily="50" charset="-128"/>
              <a:ea typeface="メイリオ" panose="020B0604030504040204" pitchFamily="50" charset="-128"/>
            </a:endParaRPr>
          </a:p>
        </p:txBody>
      </p:sp>
      <p:sp>
        <p:nvSpPr>
          <p:cNvPr id="11" name="テキスト ボックス 10">
            <a:extLst>
              <a:ext uri="{FF2B5EF4-FFF2-40B4-BE49-F238E27FC236}">
                <a16:creationId xmlns:a16="http://schemas.microsoft.com/office/drawing/2014/main" id="{45BCE894-66E6-464E-3869-F88F44511450}"/>
              </a:ext>
            </a:extLst>
          </p:cNvPr>
          <p:cNvSpPr txBox="1"/>
          <p:nvPr/>
        </p:nvSpPr>
        <p:spPr>
          <a:xfrm>
            <a:off x="85659" y="6125893"/>
            <a:ext cx="5221837" cy="623248"/>
          </a:xfrm>
          <a:prstGeom prst="rect">
            <a:avLst/>
          </a:prstGeom>
          <a:noFill/>
        </p:spPr>
        <p:txBody>
          <a:bodyPr wrap="square" rtlCol="0">
            <a:spAutoFit/>
          </a:bodyPr>
          <a:lstStyle/>
          <a:p>
            <a:pPr>
              <a:lnSpc>
                <a:spcPct val="150000"/>
              </a:lnSpc>
            </a:pPr>
            <a:r>
              <a:rPr kumimoji="1" lang="en-US" altLang="ja-JP" sz="1200" b="1">
                <a:latin typeface="メイリオ" panose="020B0604030504040204" pitchFamily="50" charset="-128"/>
                <a:ea typeface="メイリオ" panose="020B0604030504040204" pitchFamily="50" charset="-128"/>
              </a:rPr>
              <a:t>RPA</a:t>
            </a:r>
            <a:r>
              <a:rPr kumimoji="1" lang="ja-JP" altLang="en-US" sz="1200" b="1">
                <a:latin typeface="メイリオ" panose="020B0604030504040204" pitchFamily="50" charset="-128"/>
                <a:ea typeface="メイリオ" panose="020B0604030504040204" pitchFamily="50" charset="-128"/>
              </a:rPr>
              <a:t>が「マニュアル通りにしか動けないパート従業員」なら、</a:t>
            </a:r>
            <a:endParaRPr kumimoji="1" lang="en-US" altLang="ja-JP" sz="1200" b="1">
              <a:latin typeface="メイリオ" panose="020B0604030504040204" pitchFamily="50" charset="-128"/>
              <a:ea typeface="メイリオ" panose="020B0604030504040204" pitchFamily="50" charset="-128"/>
            </a:endParaRPr>
          </a:p>
          <a:p>
            <a:pPr>
              <a:lnSpc>
                <a:spcPct val="150000"/>
              </a:lnSpc>
            </a:pPr>
            <a:r>
              <a:rPr lang="en-US" altLang="ja-JP" sz="1200" b="1">
                <a:latin typeface="メイリオ" panose="020B0604030504040204" pitchFamily="50" charset="-128"/>
                <a:ea typeface="メイリオ" panose="020B0604030504040204" pitchFamily="50" charset="-128"/>
              </a:rPr>
              <a:t>Skills</a:t>
            </a:r>
            <a:r>
              <a:rPr lang="ja-JP" altLang="en-US" sz="1200" b="1">
                <a:latin typeface="メイリオ" panose="020B0604030504040204" pitchFamily="50" charset="-128"/>
                <a:ea typeface="メイリオ" panose="020B0604030504040204" pitchFamily="50" charset="-128"/>
              </a:rPr>
              <a:t>は「業務マニュアルを渡したら自分で考えて動ける正社員」</a:t>
            </a:r>
            <a:endParaRPr lang="ja-JP" altLang="en-US" sz="1200">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86CB0CF2-20ED-46BE-CCD5-B134C1AB4E73}"/>
              </a:ext>
            </a:extLst>
          </p:cNvPr>
          <p:cNvSpPr/>
          <p:nvPr/>
        </p:nvSpPr>
        <p:spPr>
          <a:xfrm>
            <a:off x="5495859" y="1685140"/>
            <a:ext cx="6610482" cy="457200"/>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a:solidFill>
                  <a:schemeClr val="tx1"/>
                </a:solidFill>
                <a:latin typeface="メイリオ" panose="020B0604030504040204" pitchFamily="50" charset="-128"/>
                <a:ea typeface="メイリオ" panose="020B0604030504040204" pitchFamily="50" charset="-128"/>
              </a:rPr>
              <a:t>Skills</a:t>
            </a:r>
            <a:r>
              <a:rPr lang="ja-JP" altLang="en-US" b="1">
                <a:solidFill>
                  <a:schemeClr val="tx1"/>
                </a:solidFill>
                <a:latin typeface="メイリオ" panose="020B0604030504040204" pitchFamily="50" charset="-128"/>
                <a:ea typeface="メイリオ" panose="020B0604030504040204" pitchFamily="50" charset="-128"/>
              </a:rPr>
              <a:t>の</a:t>
            </a:r>
            <a:r>
              <a:rPr lang="en-US" altLang="ja-JP" b="1">
                <a:solidFill>
                  <a:schemeClr val="tx1"/>
                </a:solidFill>
                <a:latin typeface="メイリオ" panose="020B0604030504040204" pitchFamily="50" charset="-128"/>
                <a:ea typeface="メイリオ" panose="020B0604030504040204" pitchFamily="50" charset="-128"/>
              </a:rPr>
              <a:t>3</a:t>
            </a:r>
            <a:r>
              <a:rPr lang="ja-JP" altLang="en-US" b="1">
                <a:solidFill>
                  <a:schemeClr val="tx1"/>
                </a:solidFill>
                <a:latin typeface="メイリオ" panose="020B0604030504040204" pitchFamily="50" charset="-128"/>
                <a:ea typeface="メイリオ" panose="020B0604030504040204" pitchFamily="50" charset="-128"/>
              </a:rPr>
              <a:t>つの革新性</a:t>
            </a:r>
            <a:endParaRPr kumimoji="1" lang="ja-JP" altLang="en-US" b="1">
              <a:solidFill>
                <a:schemeClr val="tx1"/>
              </a:solidFill>
              <a:latin typeface="メイリオ" panose="020B0604030504040204" pitchFamily="50" charset="-128"/>
              <a:ea typeface="メイリオ" panose="020B0604030504040204" pitchFamily="50" charset="-128"/>
            </a:endParaRPr>
          </a:p>
        </p:txBody>
      </p:sp>
      <p:sp>
        <p:nvSpPr>
          <p:cNvPr id="13" name="テキスト ボックス 12">
            <a:extLst>
              <a:ext uri="{FF2B5EF4-FFF2-40B4-BE49-F238E27FC236}">
                <a16:creationId xmlns:a16="http://schemas.microsoft.com/office/drawing/2014/main" id="{FAD93C74-FE32-B621-D415-7DAFA1685F46}"/>
              </a:ext>
            </a:extLst>
          </p:cNvPr>
          <p:cNvSpPr txBox="1"/>
          <p:nvPr/>
        </p:nvSpPr>
        <p:spPr>
          <a:xfrm>
            <a:off x="5495859" y="2213760"/>
            <a:ext cx="6610482" cy="900246"/>
          </a:xfrm>
          <a:prstGeom prst="rect">
            <a:avLst/>
          </a:prstGeom>
          <a:noFill/>
        </p:spPr>
        <p:txBody>
          <a:bodyPr wrap="square" rtlCol="0">
            <a:spAutoFit/>
          </a:bodyPr>
          <a:lstStyle/>
          <a:p>
            <a:pPr marL="342900" indent="-342900">
              <a:lnSpc>
                <a:spcPct val="150000"/>
              </a:lnSpc>
              <a:buFont typeface="+mj-lt"/>
              <a:buAutoNum type="arabicPeriod"/>
            </a:pPr>
            <a:r>
              <a:rPr lang="ja-JP" altLang="en-US" sz="1200">
                <a:latin typeface="メイリオ" panose="020B0604030504040204" pitchFamily="50" charset="-128"/>
                <a:ea typeface="メイリオ" panose="020B0604030504040204" pitchFamily="50" charset="-128"/>
              </a:rPr>
              <a:t>ポータビリティ：業務引継ぎは「フォルダを渡すだけ」で完了</a:t>
            </a:r>
            <a:endParaRPr lang="en-US" altLang="ja-JP" sz="1200">
              <a:latin typeface="メイリオ" panose="020B0604030504040204" pitchFamily="50" charset="-128"/>
              <a:ea typeface="メイリオ" panose="020B0604030504040204" pitchFamily="50" charset="-128"/>
            </a:endParaRPr>
          </a:p>
          <a:p>
            <a:pPr marL="342900" indent="-342900">
              <a:lnSpc>
                <a:spcPct val="150000"/>
              </a:lnSpc>
              <a:buFont typeface="+mj-lt"/>
              <a:buAutoNum type="arabicPeriod"/>
            </a:pPr>
            <a:r>
              <a:rPr lang="ja-JP" altLang="en-US" sz="1200">
                <a:latin typeface="メイリオ" panose="020B0604030504040204" pitchFamily="50" charset="-128"/>
                <a:ea typeface="メイリオ" panose="020B0604030504040204" pitchFamily="50" charset="-128"/>
              </a:rPr>
              <a:t>ノウハウ継承：ベテランの暗黙知を</a:t>
            </a:r>
            <a:r>
              <a:rPr lang="en-US" altLang="ja-JP" sz="1200">
                <a:latin typeface="メイリオ" panose="020B0604030504040204" pitchFamily="50" charset="-128"/>
                <a:ea typeface="メイリオ" panose="020B0604030504040204" pitchFamily="50" charset="-128"/>
              </a:rPr>
              <a:t>AI</a:t>
            </a:r>
            <a:r>
              <a:rPr lang="ja-JP" altLang="en-US" sz="1200">
                <a:latin typeface="メイリオ" panose="020B0604030504040204" pitchFamily="50" charset="-128"/>
                <a:ea typeface="メイリオ" panose="020B0604030504040204" pitchFamily="50" charset="-128"/>
              </a:rPr>
              <a:t>に学習させ、新人でも同等パフォーマンス</a:t>
            </a:r>
            <a:endParaRPr lang="en-US" altLang="ja-JP" sz="1200">
              <a:latin typeface="メイリオ" panose="020B0604030504040204" pitchFamily="50" charset="-128"/>
              <a:ea typeface="メイリオ" panose="020B0604030504040204" pitchFamily="50" charset="-128"/>
            </a:endParaRPr>
          </a:p>
          <a:p>
            <a:pPr marL="342900" indent="-342900">
              <a:lnSpc>
                <a:spcPct val="150000"/>
              </a:lnSpc>
              <a:buFont typeface="+mj-lt"/>
              <a:buAutoNum type="arabicPeriod"/>
            </a:pPr>
            <a:r>
              <a:rPr lang="ja-JP" altLang="en-US" sz="1200">
                <a:latin typeface="メイリオ" panose="020B0604030504040204" pitchFamily="50" charset="-128"/>
                <a:ea typeface="メイリオ" panose="020B0604030504040204" pitchFamily="50" charset="-128"/>
              </a:rPr>
              <a:t>会話で作成可能：プログラミング不要、業務のやり方を</a:t>
            </a:r>
            <a:r>
              <a:rPr lang="en-US" altLang="ja-JP" sz="1200">
                <a:latin typeface="メイリオ" panose="020B0604030504040204" pitchFamily="50" charset="-128"/>
                <a:ea typeface="メイリオ" panose="020B0604030504040204" pitchFamily="50" charset="-128"/>
              </a:rPr>
              <a:t>AI</a:t>
            </a:r>
            <a:r>
              <a:rPr lang="ja-JP" altLang="en-US" sz="1200">
                <a:latin typeface="メイリオ" panose="020B0604030504040204" pitchFamily="50" charset="-128"/>
                <a:ea typeface="メイリオ" panose="020B0604030504040204" pitchFamily="50" charset="-128"/>
              </a:rPr>
              <a:t>と会話するだけでスキル化</a:t>
            </a:r>
          </a:p>
        </p:txBody>
      </p:sp>
      <p:sp>
        <p:nvSpPr>
          <p:cNvPr id="14" name="正方形/長方形 13">
            <a:extLst>
              <a:ext uri="{FF2B5EF4-FFF2-40B4-BE49-F238E27FC236}">
                <a16:creationId xmlns:a16="http://schemas.microsoft.com/office/drawing/2014/main" id="{EA6D808A-3012-ADE1-3315-08824A87B85F}"/>
              </a:ext>
            </a:extLst>
          </p:cNvPr>
          <p:cNvSpPr/>
          <p:nvPr/>
        </p:nvSpPr>
        <p:spPr>
          <a:xfrm>
            <a:off x="5495859" y="3159189"/>
            <a:ext cx="6610482" cy="457200"/>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a:solidFill>
                  <a:schemeClr val="tx1"/>
                </a:solidFill>
                <a:latin typeface="メイリオ" panose="020B0604030504040204" pitchFamily="50" charset="-128"/>
                <a:ea typeface="メイリオ" panose="020B0604030504040204" pitchFamily="50" charset="-128"/>
              </a:rPr>
              <a:t>活用事例</a:t>
            </a:r>
            <a:endParaRPr kumimoji="1" lang="ja-JP" altLang="en-US" b="1">
              <a:solidFill>
                <a:schemeClr val="tx1"/>
              </a:solidFill>
              <a:latin typeface="メイリオ" panose="020B0604030504040204" pitchFamily="50" charset="-128"/>
              <a:ea typeface="メイリオ" panose="020B0604030504040204" pitchFamily="50" charset="-128"/>
            </a:endParaRPr>
          </a:p>
        </p:txBody>
      </p:sp>
      <p:graphicFrame>
        <p:nvGraphicFramePr>
          <p:cNvPr id="15" name="表 14">
            <a:extLst>
              <a:ext uri="{FF2B5EF4-FFF2-40B4-BE49-F238E27FC236}">
                <a16:creationId xmlns:a16="http://schemas.microsoft.com/office/drawing/2014/main" id="{DE0B346F-5EF0-4B86-1AA2-6432E9CD2C94}"/>
              </a:ext>
            </a:extLst>
          </p:cNvPr>
          <p:cNvGraphicFramePr>
            <a:graphicFrameLocks noGrp="1"/>
          </p:cNvGraphicFramePr>
          <p:nvPr>
            <p:extLst>
              <p:ext uri="{D42A27DB-BD31-4B8C-83A1-F6EECF244321}">
                <p14:modId xmlns:p14="http://schemas.microsoft.com/office/powerpoint/2010/main" val="4238333516"/>
              </p:ext>
            </p:extLst>
          </p:nvPr>
        </p:nvGraphicFramePr>
        <p:xfrm>
          <a:off x="5495859" y="3661572"/>
          <a:ext cx="6610482" cy="1737360"/>
        </p:xfrm>
        <a:graphic>
          <a:graphicData uri="http://schemas.openxmlformats.org/drawingml/2006/table">
            <a:tbl>
              <a:tblPr firstRow="1" bandRow="1">
                <a:tableStyleId>{5C22544A-7EE6-4342-B048-85BDC9FD1C3A}</a:tableStyleId>
              </a:tblPr>
              <a:tblGrid>
                <a:gridCol w="2266602">
                  <a:extLst>
                    <a:ext uri="{9D8B030D-6E8A-4147-A177-3AD203B41FA5}">
                      <a16:colId xmlns:a16="http://schemas.microsoft.com/office/drawing/2014/main" val="2318932400"/>
                    </a:ext>
                  </a:extLst>
                </a:gridCol>
                <a:gridCol w="4343880">
                  <a:extLst>
                    <a:ext uri="{9D8B030D-6E8A-4147-A177-3AD203B41FA5}">
                      <a16:colId xmlns:a16="http://schemas.microsoft.com/office/drawing/2014/main" val="3640577625"/>
                    </a:ext>
                  </a:extLst>
                </a:gridCol>
              </a:tblGrid>
              <a:tr h="192201">
                <a:tc>
                  <a:txBody>
                    <a:bodyPr/>
                    <a:lstStyle/>
                    <a:p>
                      <a:pPr algn="ctr"/>
                      <a:r>
                        <a:rPr kumimoji="1" lang="ja-JP" altLang="en-US" sz="1400">
                          <a:latin typeface="メイリオ" panose="020B0604030504040204" pitchFamily="50" charset="-128"/>
                          <a:ea typeface="メイリオ" panose="020B0604030504040204" pitchFamily="50" charset="-128"/>
                        </a:rPr>
                        <a:t>企業・領域</a:t>
                      </a:r>
                    </a:p>
                  </a:txBody>
                  <a:tcPr anchor="ctr"/>
                </a:tc>
                <a:tc>
                  <a:txBody>
                    <a:bodyPr/>
                    <a:lstStyle/>
                    <a:p>
                      <a:pPr algn="ctr"/>
                      <a:r>
                        <a:rPr kumimoji="1" lang="ja-JP" altLang="en-US" sz="1400">
                          <a:latin typeface="メイリオ" panose="020B0604030504040204" pitchFamily="50" charset="-128"/>
                          <a:ea typeface="メイリオ" panose="020B0604030504040204" pitchFamily="50" charset="-128"/>
                        </a:rPr>
                        <a:t>活用内容</a:t>
                      </a:r>
                    </a:p>
                  </a:txBody>
                  <a:tcPr anchor="ctr"/>
                </a:tc>
                <a:extLst>
                  <a:ext uri="{0D108BD9-81ED-4DB2-BD59-A6C34878D82A}">
                    <a16:rowId xmlns:a16="http://schemas.microsoft.com/office/drawing/2014/main" val="2596534210"/>
                  </a:ext>
                </a:extLst>
              </a:tr>
              <a:tr h="268556">
                <a:tc>
                  <a:txBody>
                    <a:bodyPr/>
                    <a:lstStyle/>
                    <a:p>
                      <a:pPr>
                        <a:buNone/>
                      </a:pPr>
                      <a:r>
                        <a:rPr lang="ja-JP" altLang="en-US" sz="1400">
                          <a:latin typeface="メイリオ" panose="020B0604030504040204" pitchFamily="50" charset="-128"/>
                          <a:ea typeface="メイリオ" panose="020B0604030504040204" pitchFamily="50" charset="-128"/>
                        </a:rPr>
                        <a:t>自治体（北海道）</a:t>
                      </a:r>
                    </a:p>
                  </a:txBody>
                  <a:tcPr anchor="ctr"/>
                </a:tc>
                <a:tc>
                  <a:txBody>
                    <a:bodyPr/>
                    <a:lstStyle/>
                    <a:p>
                      <a:pPr>
                        <a:buNone/>
                      </a:pPr>
                      <a:r>
                        <a:rPr lang="ja-JP" altLang="en-US" sz="1400">
                          <a:latin typeface="メイリオ" panose="020B0604030504040204" pitchFamily="50" charset="-128"/>
                          <a:ea typeface="メイリオ" panose="020B0604030504040204" pitchFamily="50" charset="-128"/>
                          <a:hlinkClick r:id="rId2"/>
                        </a:rPr>
                        <a:t>水道トラブル対応の暗黙知を</a:t>
                      </a:r>
                      <a:r>
                        <a:rPr lang="en-US" altLang="ja-JP" sz="1400">
                          <a:latin typeface="メイリオ" panose="020B0604030504040204" pitchFamily="50" charset="-128"/>
                          <a:ea typeface="メイリオ" panose="020B0604030504040204" pitchFamily="50" charset="-128"/>
                          <a:hlinkClick r:id="rId2"/>
                        </a:rPr>
                        <a:t>AI</a:t>
                      </a:r>
                      <a:r>
                        <a:rPr lang="ja-JP" altLang="en-US" sz="1400">
                          <a:latin typeface="メイリオ" panose="020B0604030504040204" pitchFamily="50" charset="-128"/>
                          <a:ea typeface="メイリオ" panose="020B0604030504040204" pitchFamily="50" charset="-128"/>
                          <a:hlinkClick r:id="rId2"/>
                        </a:rPr>
                        <a:t>化 → 新人でも熟練と同等の対応</a:t>
                      </a:r>
                      <a:endParaRPr lang="ja-JP" altLang="en-US" sz="1400">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4270260975"/>
                  </a:ext>
                </a:extLst>
              </a:tr>
              <a:tr h="157974">
                <a:tc>
                  <a:txBody>
                    <a:bodyPr/>
                    <a:lstStyle/>
                    <a:p>
                      <a:pPr>
                        <a:buNone/>
                      </a:pPr>
                      <a:r>
                        <a:rPr lang="ja-JP" altLang="en-US" sz="1400">
                          <a:latin typeface="メイリオ" panose="020B0604030504040204" pitchFamily="50" charset="-128"/>
                          <a:ea typeface="メイリオ" panose="020B0604030504040204" pitchFamily="50" charset="-128"/>
                        </a:rPr>
                        <a:t>営業会社</a:t>
                      </a:r>
                    </a:p>
                  </a:txBody>
                  <a:tcPr anchor="ctr"/>
                </a:tc>
                <a:tc>
                  <a:txBody>
                    <a:bodyPr/>
                    <a:lstStyle/>
                    <a:p>
                      <a:pPr>
                        <a:buNone/>
                      </a:pPr>
                      <a:r>
                        <a:rPr lang="ja-JP" altLang="en-US" sz="1400">
                          <a:latin typeface="メイリオ" panose="020B0604030504040204" pitchFamily="50" charset="-128"/>
                          <a:ea typeface="メイリオ" panose="020B0604030504040204" pitchFamily="50" charset="-128"/>
                          <a:hlinkClick r:id="rId2"/>
                        </a:rPr>
                        <a:t>トップセールスのノウハウ継承</a:t>
                      </a:r>
                      <a:endParaRPr lang="ja-JP" altLang="en-US" sz="1400">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2912966937"/>
                  </a:ext>
                </a:extLst>
              </a:tr>
              <a:tr h="152400">
                <a:tc>
                  <a:txBody>
                    <a:bodyPr/>
                    <a:lstStyle/>
                    <a:p>
                      <a:pPr>
                        <a:buNone/>
                      </a:pPr>
                      <a:r>
                        <a:rPr lang="ja-JP" altLang="en-US" sz="1400">
                          <a:latin typeface="メイリオ" panose="020B0604030504040204" pitchFamily="50" charset="-128"/>
                          <a:ea typeface="メイリオ" panose="020B0604030504040204" pitchFamily="50" charset="-128"/>
                        </a:rPr>
                        <a:t>経理（エクスプラザ）</a:t>
                      </a:r>
                    </a:p>
                  </a:txBody>
                  <a:tcPr anchor="ctr"/>
                </a:tc>
                <a:tc>
                  <a:txBody>
                    <a:bodyPr/>
                    <a:lstStyle/>
                    <a:p>
                      <a:pPr>
                        <a:buNone/>
                      </a:pPr>
                      <a:r>
                        <a:rPr lang="ja-JP" altLang="en-US" sz="1400">
                          <a:latin typeface="メイリオ" panose="020B0604030504040204" pitchFamily="50" charset="-128"/>
                          <a:ea typeface="メイリオ" panose="020B0604030504040204" pitchFamily="50" charset="-128"/>
                          <a:hlinkClick r:id="rId3"/>
                        </a:rPr>
                        <a:t>領収書→仕訳</a:t>
                      </a:r>
                      <a:r>
                        <a:rPr lang="en-US" altLang="ja-JP" sz="1400">
                          <a:latin typeface="メイリオ" panose="020B0604030504040204" pitchFamily="50" charset="-128"/>
                          <a:ea typeface="メイリオ" panose="020B0604030504040204" pitchFamily="50" charset="-128"/>
                          <a:hlinkClick r:id="rId3"/>
                        </a:rPr>
                        <a:t>CSV</a:t>
                      </a:r>
                      <a:r>
                        <a:rPr lang="ja-JP" altLang="en-US" sz="1400">
                          <a:latin typeface="メイリオ" panose="020B0604030504040204" pitchFamily="50" charset="-128"/>
                          <a:ea typeface="メイリオ" panose="020B0604030504040204" pitchFamily="50" charset="-128"/>
                          <a:hlinkClick r:id="rId3"/>
                        </a:rPr>
                        <a:t>作成</a:t>
                      </a:r>
                      <a:r>
                        <a:rPr lang="en-US" altLang="ja-JP" sz="1400">
                          <a:latin typeface="メイリオ" panose="020B0604030504040204" pitchFamily="50" charset="-128"/>
                          <a:ea typeface="メイリオ" panose="020B0604030504040204" pitchFamily="50" charset="-128"/>
                          <a:hlinkClick r:id="rId3"/>
                        </a:rPr>
                        <a:t>Skill</a:t>
                      </a:r>
                      <a:r>
                        <a:rPr lang="ja-JP" altLang="en-US" sz="1400">
                          <a:latin typeface="メイリオ" panose="020B0604030504040204" pitchFamily="50" charset="-128"/>
                          <a:ea typeface="メイリオ" panose="020B0604030504040204" pitchFamily="50" charset="-128"/>
                          <a:hlinkClick r:id="rId3"/>
                        </a:rPr>
                        <a:t>化</a:t>
                      </a:r>
                      <a:endParaRPr lang="ja-JP" altLang="en-US" sz="1400">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691984798"/>
                  </a:ext>
                </a:extLst>
              </a:tr>
              <a:tr h="152400">
                <a:tc>
                  <a:txBody>
                    <a:bodyPr/>
                    <a:lstStyle/>
                    <a:p>
                      <a:pPr>
                        <a:buNone/>
                      </a:pPr>
                      <a:r>
                        <a:rPr lang="ja-JP" altLang="en-US" sz="1400">
                          <a:latin typeface="メイリオ" panose="020B0604030504040204" pitchFamily="50" charset="-128"/>
                          <a:ea typeface="メイリオ" panose="020B0604030504040204" pitchFamily="50" charset="-128"/>
                        </a:rPr>
                        <a:t>マーケター（ドコドア）</a:t>
                      </a:r>
                    </a:p>
                  </a:txBody>
                  <a:tcPr anchor="ctr"/>
                </a:tc>
                <a:tc>
                  <a:txBody>
                    <a:bodyPr/>
                    <a:lstStyle/>
                    <a:p>
                      <a:pPr>
                        <a:buNone/>
                      </a:pPr>
                      <a:r>
                        <a:rPr lang="ja-JP" altLang="en-US" sz="1400">
                          <a:latin typeface="メイリオ" panose="020B0604030504040204" pitchFamily="50" charset="-128"/>
                          <a:ea typeface="メイリオ" panose="020B0604030504040204" pitchFamily="50" charset="-128"/>
                          <a:hlinkClick r:id="rId4"/>
                        </a:rPr>
                        <a:t>週次</a:t>
                      </a:r>
                      <a:r>
                        <a:rPr lang="en-US" altLang="ja-JP" sz="1400">
                          <a:latin typeface="メイリオ" panose="020B0604030504040204" pitchFamily="50" charset="-128"/>
                          <a:ea typeface="メイリオ" panose="020B0604030504040204" pitchFamily="50" charset="-128"/>
                          <a:hlinkClick r:id="rId4"/>
                        </a:rPr>
                        <a:t>ROAS</a:t>
                      </a:r>
                      <a:r>
                        <a:rPr lang="ja-JP" altLang="en-US" sz="1400">
                          <a:latin typeface="メイリオ" panose="020B0604030504040204" pitchFamily="50" charset="-128"/>
                          <a:ea typeface="メイリオ" panose="020B0604030504040204" pitchFamily="50" charset="-128"/>
                          <a:hlinkClick r:id="rId4"/>
                        </a:rPr>
                        <a:t>・</a:t>
                      </a:r>
                      <a:r>
                        <a:rPr lang="en-US" altLang="ja-JP" sz="1400">
                          <a:latin typeface="メイリオ" panose="020B0604030504040204" pitchFamily="50" charset="-128"/>
                          <a:ea typeface="メイリオ" panose="020B0604030504040204" pitchFamily="50" charset="-128"/>
                          <a:hlinkClick r:id="rId4"/>
                        </a:rPr>
                        <a:t>KPI</a:t>
                      </a:r>
                      <a:r>
                        <a:rPr lang="ja-JP" altLang="en-US" sz="1400">
                          <a:latin typeface="メイリオ" panose="020B0604030504040204" pitchFamily="50" charset="-128"/>
                          <a:ea typeface="メイリオ" panose="020B0604030504040204" pitchFamily="50" charset="-128"/>
                          <a:hlinkClick r:id="rId4"/>
                        </a:rPr>
                        <a:t>レポート自動化</a:t>
                      </a:r>
                      <a:endParaRPr lang="ja-JP" altLang="en-US" sz="1400">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3967063229"/>
                  </a:ext>
                </a:extLst>
              </a:tr>
            </a:tbl>
          </a:graphicData>
        </a:graphic>
      </p:graphicFrame>
      <p:sp>
        <p:nvSpPr>
          <p:cNvPr id="16" name="テキスト ボックス 15">
            <a:extLst>
              <a:ext uri="{FF2B5EF4-FFF2-40B4-BE49-F238E27FC236}">
                <a16:creationId xmlns:a16="http://schemas.microsoft.com/office/drawing/2014/main" id="{9950F895-2669-6C6F-1A92-E31A802931A8}"/>
              </a:ext>
            </a:extLst>
          </p:cNvPr>
          <p:cNvSpPr txBox="1"/>
          <p:nvPr/>
        </p:nvSpPr>
        <p:spPr>
          <a:xfrm>
            <a:off x="5495856" y="5525729"/>
            <a:ext cx="6511092" cy="1354217"/>
          </a:xfrm>
          <a:prstGeom prst="rect">
            <a:avLst/>
          </a:prstGeom>
          <a:noFill/>
        </p:spPr>
        <p:txBody>
          <a:bodyPr wrap="square" rtlCol="0">
            <a:spAutoFit/>
          </a:bodyPr>
          <a:lstStyle/>
          <a:p>
            <a:r>
              <a:rPr lang="en-US" altLang="ja-JP" b="1">
                <a:latin typeface="メイリオ" panose="020B0604030504040204" pitchFamily="50" charset="-128"/>
                <a:ea typeface="メイリオ" panose="020B0604030504040204" pitchFamily="50" charset="-128"/>
              </a:rPr>
              <a:t>BPO</a:t>
            </a:r>
            <a:r>
              <a:rPr lang="ja-JP" altLang="en-US" b="1">
                <a:latin typeface="メイリオ" panose="020B0604030504040204" pitchFamily="50" charset="-128"/>
                <a:ea typeface="メイリオ" panose="020B0604030504040204" pitchFamily="50" charset="-128"/>
              </a:rPr>
              <a:t>業務視点ではどう変化する？</a:t>
            </a:r>
            <a:endParaRPr lang="en-US" altLang="ja-JP" b="1">
              <a:latin typeface="メイリオ" panose="020B0604030504040204" pitchFamily="50" charset="-128"/>
              <a:ea typeface="メイリオ" panose="020B0604030504040204" pitchFamily="50" charset="-128"/>
            </a:endParaRPr>
          </a:p>
          <a:p>
            <a:pPr marL="171450" indent="-171450">
              <a:buFont typeface="Arial" panose="020B0604020202020204" pitchFamily="34" charset="0"/>
              <a:buChar char="•"/>
            </a:pPr>
            <a:r>
              <a:rPr kumimoji="1" lang="ja-JP" altLang="en-US" sz="1600">
                <a:latin typeface="メイリオ" panose="020B0604030504040204" pitchFamily="50" charset="-128"/>
                <a:ea typeface="メイリオ" panose="020B0604030504040204" pitchFamily="50" charset="-128"/>
              </a:rPr>
              <a:t>属人化した業務知識の継承</a:t>
            </a:r>
            <a:endParaRPr kumimoji="1" lang="en-US" altLang="ja-JP" sz="1600">
              <a:latin typeface="メイリオ" panose="020B0604030504040204" pitchFamily="50" charset="-128"/>
              <a:ea typeface="メイリオ" panose="020B0604030504040204" pitchFamily="50" charset="-128"/>
            </a:endParaRPr>
          </a:p>
          <a:p>
            <a:pPr marL="171450" indent="-171450">
              <a:buFont typeface="Arial" panose="020B0604020202020204" pitchFamily="34" charset="0"/>
              <a:buChar char="•"/>
            </a:pPr>
            <a:r>
              <a:rPr lang="ja-JP" altLang="en-US" sz="1600">
                <a:latin typeface="メイリオ" panose="020B0604030504040204" pitchFamily="50" charset="-128"/>
                <a:ea typeface="メイリオ" panose="020B0604030504040204" pitchFamily="50" charset="-128"/>
              </a:rPr>
              <a:t>引継ぎコストの削減</a:t>
            </a:r>
            <a:endParaRPr lang="en-US" altLang="ja-JP" sz="1600">
              <a:latin typeface="メイリオ" panose="020B0604030504040204" pitchFamily="50" charset="-128"/>
              <a:ea typeface="メイリオ" panose="020B0604030504040204" pitchFamily="50" charset="-128"/>
            </a:endParaRPr>
          </a:p>
          <a:p>
            <a:pPr marL="171450" indent="-171450">
              <a:buFont typeface="Arial" panose="020B0604020202020204" pitchFamily="34" charset="0"/>
              <a:buChar char="•"/>
            </a:pPr>
            <a:r>
              <a:rPr kumimoji="1" lang="ja-JP" altLang="en-US" sz="1600">
                <a:latin typeface="メイリオ" panose="020B0604030504040204" pitchFamily="50" charset="-128"/>
                <a:ea typeface="メイリオ" panose="020B0604030504040204" pitchFamily="50" charset="-128"/>
              </a:rPr>
              <a:t>クライアント提案の差別化（「</a:t>
            </a:r>
            <a:r>
              <a:rPr kumimoji="1" lang="en-US" altLang="ja-JP" sz="1600">
                <a:latin typeface="メイリオ" panose="020B0604030504040204" pitchFamily="50" charset="-128"/>
                <a:ea typeface="メイリオ" panose="020B0604030504040204" pitchFamily="50" charset="-128"/>
              </a:rPr>
              <a:t>Skills</a:t>
            </a:r>
            <a:r>
              <a:rPr lang="ja-JP" altLang="en-US" sz="1600">
                <a:latin typeface="メイリオ" panose="020B0604030504040204" pitchFamily="50" charset="-128"/>
                <a:ea typeface="メイリオ" panose="020B0604030504040204" pitchFamily="50" charset="-128"/>
              </a:rPr>
              <a:t>化した業務改善</a:t>
            </a:r>
            <a:r>
              <a:rPr kumimoji="1" lang="ja-JP" altLang="en-US" sz="1600">
                <a:latin typeface="メイリオ" panose="020B0604030504040204" pitchFamily="50" charset="-128"/>
                <a:ea typeface="メイリオ" panose="020B0604030504040204" pitchFamily="50" charset="-128"/>
              </a:rPr>
              <a:t>」を提案に組み込める）</a:t>
            </a:r>
            <a:endParaRPr kumimoji="1" lang="en-US" altLang="ja-JP" sz="160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9010459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9BE63E-48DE-46BD-A0F1-F75A4883DB67}"/>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287793A3-C588-FC3F-3786-1CE1CBFDAC4A}"/>
              </a:ext>
            </a:extLst>
          </p:cNvPr>
          <p:cNvSpPr txBox="1"/>
          <p:nvPr/>
        </p:nvSpPr>
        <p:spPr>
          <a:xfrm>
            <a:off x="443466" y="317212"/>
            <a:ext cx="11215133" cy="584775"/>
          </a:xfrm>
          <a:prstGeom prst="rect">
            <a:avLst/>
          </a:prstGeom>
          <a:noFill/>
        </p:spPr>
        <p:txBody>
          <a:bodyPr wrap="square" rtlCol="0">
            <a:spAutoFit/>
          </a:bodyPr>
          <a:lstStyle/>
          <a:p>
            <a:r>
              <a:rPr kumimoji="1" lang="ja-JP" altLang="en-US" sz="3200" b="1">
                <a:latin typeface="メイリオ" panose="020B0604030504040204" pitchFamily="50" charset="-128"/>
                <a:ea typeface="メイリオ" panose="020B0604030504040204" pitchFamily="50" charset="-128"/>
              </a:rPr>
              <a:t>非エンジニアも使い始めている理由 ➡ ただし環境が必要</a:t>
            </a:r>
          </a:p>
        </p:txBody>
      </p:sp>
      <p:sp>
        <p:nvSpPr>
          <p:cNvPr id="6" name="正方形/長方形 5">
            <a:extLst>
              <a:ext uri="{FF2B5EF4-FFF2-40B4-BE49-F238E27FC236}">
                <a16:creationId xmlns:a16="http://schemas.microsoft.com/office/drawing/2014/main" id="{C503231F-9BC4-C3FF-FA45-B0D34E7AF822}"/>
              </a:ext>
            </a:extLst>
          </p:cNvPr>
          <p:cNvSpPr/>
          <p:nvPr/>
        </p:nvSpPr>
        <p:spPr>
          <a:xfrm>
            <a:off x="185048" y="1008015"/>
            <a:ext cx="5679039" cy="457200"/>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a:solidFill>
                  <a:schemeClr val="tx1"/>
                </a:solidFill>
                <a:latin typeface="メイリオ" panose="020B0604030504040204" pitchFamily="50" charset="-128"/>
                <a:ea typeface="メイリオ" panose="020B0604030504040204" pitchFamily="50" charset="-128"/>
              </a:rPr>
              <a:t>Claude</a:t>
            </a:r>
            <a:r>
              <a:rPr lang="ja-JP" altLang="en-US" b="1">
                <a:solidFill>
                  <a:schemeClr val="tx1"/>
                </a:solidFill>
                <a:latin typeface="メイリオ" panose="020B0604030504040204" pitchFamily="50" charset="-128"/>
                <a:ea typeface="メイリオ" panose="020B0604030504040204" pitchFamily="50" charset="-128"/>
              </a:rPr>
              <a:t>で広がる可能性</a:t>
            </a:r>
            <a:endParaRPr kumimoji="1" lang="ja-JP" altLang="en-US" b="1">
              <a:solidFill>
                <a:schemeClr val="tx1"/>
              </a:solidFill>
              <a:latin typeface="メイリオ" panose="020B0604030504040204" pitchFamily="50" charset="-128"/>
              <a:ea typeface="メイリオ" panose="020B0604030504040204" pitchFamily="50" charset="-128"/>
            </a:endParaRPr>
          </a:p>
        </p:txBody>
      </p:sp>
      <p:graphicFrame>
        <p:nvGraphicFramePr>
          <p:cNvPr id="7" name="表 6">
            <a:extLst>
              <a:ext uri="{FF2B5EF4-FFF2-40B4-BE49-F238E27FC236}">
                <a16:creationId xmlns:a16="http://schemas.microsoft.com/office/drawing/2014/main" id="{CC8069A0-210A-4A9E-74B2-C2D5EC2950B7}"/>
              </a:ext>
            </a:extLst>
          </p:cNvPr>
          <p:cNvGraphicFramePr>
            <a:graphicFrameLocks noGrp="1"/>
          </p:cNvGraphicFramePr>
          <p:nvPr>
            <p:extLst>
              <p:ext uri="{D42A27DB-BD31-4B8C-83A1-F6EECF244321}">
                <p14:modId xmlns:p14="http://schemas.microsoft.com/office/powerpoint/2010/main" val="2896879498"/>
              </p:ext>
            </p:extLst>
          </p:nvPr>
        </p:nvGraphicFramePr>
        <p:xfrm>
          <a:off x="172076" y="1571243"/>
          <a:ext cx="5692011" cy="2199640"/>
        </p:xfrm>
        <a:graphic>
          <a:graphicData uri="http://schemas.openxmlformats.org/drawingml/2006/table">
            <a:tbl>
              <a:tblPr firstRow="1" bandRow="1">
                <a:tableStyleId>{5C22544A-7EE6-4342-B048-85BDC9FD1C3A}</a:tableStyleId>
              </a:tblPr>
              <a:tblGrid>
                <a:gridCol w="951046">
                  <a:extLst>
                    <a:ext uri="{9D8B030D-6E8A-4147-A177-3AD203B41FA5}">
                      <a16:colId xmlns:a16="http://schemas.microsoft.com/office/drawing/2014/main" val="1166856973"/>
                    </a:ext>
                  </a:extLst>
                </a:gridCol>
                <a:gridCol w="208280">
                  <a:extLst>
                    <a:ext uri="{9D8B030D-6E8A-4147-A177-3AD203B41FA5}">
                      <a16:colId xmlns:a16="http://schemas.microsoft.com/office/drawing/2014/main" val="2895650728"/>
                    </a:ext>
                  </a:extLst>
                </a:gridCol>
                <a:gridCol w="1389660">
                  <a:extLst>
                    <a:ext uri="{9D8B030D-6E8A-4147-A177-3AD203B41FA5}">
                      <a16:colId xmlns:a16="http://schemas.microsoft.com/office/drawing/2014/main" val="2168024439"/>
                    </a:ext>
                  </a:extLst>
                </a:gridCol>
                <a:gridCol w="208280">
                  <a:extLst>
                    <a:ext uri="{9D8B030D-6E8A-4147-A177-3AD203B41FA5}">
                      <a16:colId xmlns:a16="http://schemas.microsoft.com/office/drawing/2014/main" val="476826760"/>
                    </a:ext>
                  </a:extLst>
                </a:gridCol>
                <a:gridCol w="2934745">
                  <a:extLst>
                    <a:ext uri="{9D8B030D-6E8A-4147-A177-3AD203B41FA5}">
                      <a16:colId xmlns:a16="http://schemas.microsoft.com/office/drawing/2014/main" val="2778055396"/>
                    </a:ext>
                  </a:extLst>
                </a:gridCol>
              </a:tblGrid>
              <a:tr h="370840">
                <a:tc>
                  <a:txBody>
                    <a:bodyPr/>
                    <a:lstStyle/>
                    <a:p>
                      <a:pPr algn="ctr"/>
                      <a:r>
                        <a:rPr kumimoji="1" lang="ja-JP" altLang="en-US" sz="1200">
                          <a:latin typeface="メイリオ" panose="020B0604030504040204" pitchFamily="50" charset="-128"/>
                          <a:ea typeface="メイリオ" panose="020B0604030504040204" pitchFamily="50" charset="-128"/>
                        </a:rPr>
                        <a:t>できること</a:t>
                      </a:r>
                      <a:endParaRPr kumimoji="1" lang="en-US" altLang="ja-JP" sz="1200">
                        <a:latin typeface="メイリオ" panose="020B0604030504040204" pitchFamily="50" charset="-128"/>
                        <a:ea typeface="メイリオ" panose="020B0604030504040204" pitchFamily="50" charset="-128"/>
                      </a:endParaRPr>
                    </a:p>
                  </a:txBody>
                  <a:tcPr anchor="ctr"/>
                </a:tc>
                <a:tc>
                  <a:txBody>
                    <a:bodyPr/>
                    <a:lstStyle/>
                    <a:p>
                      <a:pPr algn="ctr"/>
                      <a:endParaRPr kumimoji="1" lang="ja-JP" altLang="en-US" sz="1200">
                        <a:latin typeface="メイリオ" panose="020B0604030504040204" pitchFamily="50" charset="-128"/>
                        <a:ea typeface="メイリオ" panose="020B0604030504040204" pitchFamily="50" charset="-128"/>
                      </a:endParaRPr>
                    </a:p>
                  </a:txBody>
                  <a:tcPr anchor="ctr">
                    <a:solidFill>
                      <a:schemeClr val="bg1"/>
                    </a:solidFill>
                  </a:tcPr>
                </a:tc>
                <a:tc>
                  <a:txBody>
                    <a:bodyPr/>
                    <a:lstStyle/>
                    <a:p>
                      <a:pPr algn="ctr"/>
                      <a:r>
                        <a:rPr kumimoji="1" lang="ja-JP" altLang="en-US" sz="1200">
                          <a:latin typeface="メイリオ" panose="020B0604030504040204" pitchFamily="50" charset="-128"/>
                          <a:ea typeface="メイリオ" panose="020B0604030504040204" pitchFamily="50" charset="-128"/>
                        </a:rPr>
                        <a:t>ということは</a:t>
                      </a:r>
                    </a:p>
                  </a:txBody>
                  <a:tcPr anchor="ctr"/>
                </a:tc>
                <a:tc>
                  <a:txBody>
                    <a:bodyPr/>
                    <a:lstStyle/>
                    <a:p>
                      <a:pPr algn="ctr"/>
                      <a:endParaRPr kumimoji="1" lang="ja-JP" altLang="en-US" sz="1200">
                        <a:latin typeface="メイリオ" panose="020B0604030504040204" pitchFamily="50" charset="-128"/>
                        <a:ea typeface="メイリオ" panose="020B0604030504040204" pitchFamily="50" charset="-128"/>
                      </a:endParaRPr>
                    </a:p>
                  </a:txBody>
                  <a:tcPr anchor="ctr">
                    <a:solidFill>
                      <a:schemeClr val="bg1"/>
                    </a:solidFill>
                  </a:tcPr>
                </a:tc>
                <a:tc>
                  <a:txBody>
                    <a:bodyPr/>
                    <a:lstStyle/>
                    <a:p>
                      <a:pPr algn="ctr"/>
                      <a:r>
                        <a:rPr kumimoji="1" lang="ja-JP" altLang="en-US" sz="1200">
                          <a:latin typeface="メイリオ" panose="020B0604030504040204" pitchFamily="50" charset="-128"/>
                          <a:ea typeface="メイリオ" panose="020B0604030504040204" pitchFamily="50" charset="-128"/>
                        </a:rPr>
                        <a:t>さらに言うと</a:t>
                      </a:r>
                    </a:p>
                  </a:txBody>
                  <a:tcPr anchor="ctr"/>
                </a:tc>
                <a:extLst>
                  <a:ext uri="{0D108BD9-81ED-4DB2-BD59-A6C34878D82A}">
                    <a16:rowId xmlns:a16="http://schemas.microsoft.com/office/drawing/2014/main" val="2454523292"/>
                  </a:ext>
                </a:extLst>
              </a:tr>
              <a:tr h="370840">
                <a:tc>
                  <a:txBody>
                    <a:bodyPr/>
                    <a:lstStyle/>
                    <a:p>
                      <a:r>
                        <a:rPr kumimoji="1" lang="ja-JP" altLang="en-US" sz="1200">
                          <a:latin typeface="メイリオ" panose="020B0604030504040204" pitchFamily="50" charset="-128"/>
                          <a:ea typeface="メイリオ" panose="020B0604030504040204" pitchFamily="50" charset="-128"/>
                        </a:rPr>
                        <a:t>ターミナルで動く</a:t>
                      </a:r>
                    </a:p>
                  </a:txBody>
                  <a:tcPr anchor="ctr"/>
                </a:tc>
                <a:tc>
                  <a:txBody>
                    <a:bodyPr/>
                    <a:lstStyle/>
                    <a:p>
                      <a:pPr algn="ctr"/>
                      <a:r>
                        <a:rPr kumimoji="1" lang="ja-JP" altLang="en-US" sz="1200">
                          <a:latin typeface="メイリオ" panose="020B0604030504040204" pitchFamily="50" charset="-128"/>
                          <a:ea typeface="メイリオ" panose="020B0604030504040204" pitchFamily="50" charset="-128"/>
                        </a:rPr>
                        <a:t>➡</a:t>
                      </a:r>
                    </a:p>
                  </a:txBody>
                  <a:tcPr anchor="ctr">
                    <a:solidFill>
                      <a:schemeClr val="bg1"/>
                    </a:solidFill>
                  </a:tcPr>
                </a:tc>
                <a:tc>
                  <a:txBody>
                    <a:bodyPr/>
                    <a:lstStyle/>
                    <a:p>
                      <a:r>
                        <a:rPr kumimoji="1" lang="en-US" altLang="ja-JP" sz="1200">
                          <a:latin typeface="メイリオ" panose="020B0604030504040204" pitchFamily="50" charset="-128"/>
                          <a:ea typeface="メイリオ" panose="020B0604030504040204" pitchFamily="50" charset="-128"/>
                        </a:rPr>
                        <a:t>PC</a:t>
                      </a:r>
                      <a:r>
                        <a:rPr kumimoji="1" lang="ja-JP" altLang="en-US" sz="1200">
                          <a:latin typeface="メイリオ" panose="020B0604030504040204" pitchFamily="50" charset="-128"/>
                          <a:ea typeface="メイリオ" panose="020B0604030504040204" pitchFamily="50" charset="-128"/>
                        </a:rPr>
                        <a:t>操作ができる</a:t>
                      </a:r>
                    </a:p>
                  </a:txBody>
                  <a:tcPr anchor="ctr"/>
                </a:tc>
                <a:tc>
                  <a:txBody>
                    <a:bodyPr/>
                    <a:lstStyle/>
                    <a:p>
                      <a:pPr algn="ctr"/>
                      <a:r>
                        <a:rPr kumimoji="1" lang="ja-JP" altLang="en-US" sz="1200">
                          <a:latin typeface="メイリオ" panose="020B0604030504040204" pitchFamily="50" charset="-128"/>
                          <a:ea typeface="メイリオ" panose="020B0604030504040204" pitchFamily="50" charset="-128"/>
                        </a:rPr>
                        <a:t>➡</a:t>
                      </a:r>
                    </a:p>
                  </a:txBody>
                  <a:tcPr anchor="ctr">
                    <a:solidFill>
                      <a:schemeClr val="bg1"/>
                    </a:solidFill>
                  </a:tcPr>
                </a:tc>
                <a:tc>
                  <a:txBody>
                    <a:bodyPr/>
                    <a:lstStyle/>
                    <a:p>
                      <a:r>
                        <a:rPr lang="ja-JP" altLang="en-US" sz="1200">
                          <a:latin typeface="メイリオ" panose="020B0604030504040204" pitchFamily="50" charset="-128"/>
                          <a:ea typeface="メイリオ" panose="020B0604030504040204" pitchFamily="50" charset="-128"/>
                        </a:rPr>
                        <a:t>ファイル一括リネーム、フォルダ整理、請求書</a:t>
                      </a:r>
                      <a:r>
                        <a:rPr lang="en-US" altLang="ja-JP" sz="1200">
                          <a:latin typeface="メイリオ" panose="020B0604030504040204" pitchFamily="50" charset="-128"/>
                          <a:ea typeface="メイリオ" panose="020B0604030504040204" pitchFamily="50" charset="-128"/>
                        </a:rPr>
                        <a:t>PDF</a:t>
                      </a:r>
                      <a:r>
                        <a:rPr lang="ja-JP" altLang="en-US" sz="1200">
                          <a:latin typeface="メイリオ" panose="020B0604030504040204" pitchFamily="50" charset="-128"/>
                          <a:ea typeface="メイリオ" panose="020B0604030504040204" pitchFamily="50" charset="-128"/>
                        </a:rPr>
                        <a:t>一括生成など</a:t>
                      </a:r>
                      <a:endParaRPr kumimoji="1" lang="ja-JP" altLang="en-US" sz="1200">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806381128"/>
                  </a:ext>
                </a:extLst>
              </a:tr>
              <a:tr h="370840">
                <a:tc>
                  <a:txBody>
                    <a:bodyPr/>
                    <a:lstStyle/>
                    <a:p>
                      <a:r>
                        <a:rPr kumimoji="1" lang="en-US" altLang="ja-JP" sz="1200">
                          <a:latin typeface="メイリオ" panose="020B0604030504040204" pitchFamily="50" charset="-128"/>
                          <a:ea typeface="メイリオ" panose="020B0604030504040204" pitchFamily="50" charset="-128"/>
                        </a:rPr>
                        <a:t>Python</a:t>
                      </a:r>
                      <a:r>
                        <a:rPr kumimoji="1" lang="ja-JP" altLang="en-US" sz="1200">
                          <a:latin typeface="メイリオ" panose="020B0604030504040204" pitchFamily="50" charset="-128"/>
                          <a:ea typeface="メイリオ" panose="020B0604030504040204" pitchFamily="50" charset="-128"/>
                        </a:rPr>
                        <a:t>を実行できる</a:t>
                      </a:r>
                    </a:p>
                  </a:txBody>
                  <a:tcPr anchor="ctr"/>
                </a:tc>
                <a:tc>
                  <a:txBody>
                    <a:bodyPr/>
                    <a:lstStyle/>
                    <a:p>
                      <a:pPr algn="ctr"/>
                      <a:r>
                        <a:rPr kumimoji="1" lang="ja-JP" altLang="en-US" sz="1200">
                          <a:latin typeface="メイリオ" panose="020B0604030504040204" pitchFamily="50" charset="-128"/>
                          <a:ea typeface="メイリオ" panose="020B0604030504040204" pitchFamily="50" charset="-128"/>
                        </a:rPr>
                        <a:t>➡</a:t>
                      </a:r>
                    </a:p>
                  </a:txBody>
                  <a:tcPr anchor="ctr">
                    <a:solidFill>
                      <a:schemeClr val="bg1"/>
                    </a:solidFill>
                  </a:tcPr>
                </a:tc>
                <a:tc>
                  <a:txBody>
                    <a:bodyPr/>
                    <a:lstStyle/>
                    <a:p>
                      <a:r>
                        <a:rPr kumimoji="1" lang="en-US" altLang="ja-JP" sz="1200">
                          <a:latin typeface="メイリオ" panose="020B0604030504040204" pitchFamily="50" charset="-128"/>
                          <a:ea typeface="メイリオ" panose="020B0604030504040204" pitchFamily="50" charset="-128"/>
                        </a:rPr>
                        <a:t>Python</a:t>
                      </a:r>
                      <a:r>
                        <a:rPr kumimoji="1" lang="ja-JP" altLang="en-US" sz="1200">
                          <a:latin typeface="メイリオ" panose="020B0604030504040204" pitchFamily="50" charset="-128"/>
                          <a:ea typeface="メイリオ" panose="020B0604030504040204" pitchFamily="50" charset="-128"/>
                        </a:rPr>
                        <a:t>のライブラリが使える</a:t>
                      </a:r>
                    </a:p>
                  </a:txBody>
                  <a:tcPr anchor="ctr"/>
                </a:tc>
                <a:tc>
                  <a:txBody>
                    <a:bodyPr/>
                    <a:lstStyle/>
                    <a:p>
                      <a:pPr algn="ctr"/>
                      <a:r>
                        <a:rPr kumimoji="1" lang="ja-JP" altLang="en-US" sz="1200">
                          <a:latin typeface="メイリオ" panose="020B0604030504040204" pitchFamily="50" charset="-128"/>
                          <a:ea typeface="メイリオ" panose="020B0604030504040204" pitchFamily="50" charset="-128"/>
                        </a:rPr>
                        <a:t>➡</a:t>
                      </a:r>
                    </a:p>
                  </a:txBody>
                  <a:tcPr anchor="ctr">
                    <a:solidFill>
                      <a:schemeClr val="bg1"/>
                    </a:solidFill>
                  </a:tcPr>
                </a:tc>
                <a:tc>
                  <a:txBody>
                    <a:bodyPr/>
                    <a:lstStyle/>
                    <a:p>
                      <a:r>
                        <a:rPr lang="ja-JP" altLang="en-US" sz="1200">
                          <a:latin typeface="メイリオ" panose="020B0604030504040204" pitchFamily="50" charset="-128"/>
                          <a:ea typeface="メイリオ" panose="020B0604030504040204" pitchFamily="50" charset="-128"/>
                          <a:hlinkClick r:id="rId2"/>
                        </a:rPr>
                        <a:t>動画編集</a:t>
                      </a:r>
                      <a:r>
                        <a:rPr lang="ja-JP" altLang="en-US" sz="1200">
                          <a:latin typeface="メイリオ" panose="020B0604030504040204" pitchFamily="50" charset="-128"/>
                          <a:ea typeface="メイリオ" panose="020B0604030504040204" pitchFamily="50" charset="-128"/>
                        </a:rPr>
                        <a:t>、画像の一括加工、音声文字起こし、</a:t>
                      </a:r>
                      <a:r>
                        <a:rPr lang="ja-JP" altLang="en-US" sz="1200">
                          <a:latin typeface="メイリオ" panose="020B0604030504040204" pitchFamily="50" charset="-128"/>
                          <a:ea typeface="メイリオ" panose="020B0604030504040204" pitchFamily="50" charset="-128"/>
                          <a:hlinkClick r:id="rId3"/>
                        </a:rPr>
                        <a:t>資料作成</a:t>
                      </a:r>
                      <a:r>
                        <a:rPr kumimoji="1" lang="ja-JP" altLang="en-US" sz="1200">
                          <a:latin typeface="メイリオ" panose="020B0604030504040204" pitchFamily="50" charset="-128"/>
                          <a:ea typeface="メイリオ" panose="020B0604030504040204" pitchFamily="50" charset="-128"/>
                        </a:rPr>
                        <a:t>など</a:t>
                      </a:r>
                    </a:p>
                  </a:txBody>
                  <a:tcPr anchor="ctr"/>
                </a:tc>
                <a:extLst>
                  <a:ext uri="{0D108BD9-81ED-4DB2-BD59-A6C34878D82A}">
                    <a16:rowId xmlns:a16="http://schemas.microsoft.com/office/drawing/2014/main" val="3645702937"/>
                  </a:ext>
                </a:extLst>
              </a:tr>
              <a:tr h="370840">
                <a:tc>
                  <a:txBody>
                    <a:bodyPr/>
                    <a:lstStyle/>
                    <a:p>
                      <a:r>
                        <a:rPr kumimoji="1" lang="en-US" altLang="ja-JP" sz="1200">
                          <a:latin typeface="メイリオ" panose="020B0604030504040204" pitchFamily="50" charset="-128"/>
                          <a:ea typeface="メイリオ" panose="020B0604030504040204" pitchFamily="50" charset="-128"/>
                        </a:rPr>
                        <a:t>Chrome</a:t>
                      </a:r>
                      <a:r>
                        <a:rPr kumimoji="1" lang="ja-JP" altLang="en-US" sz="1200">
                          <a:latin typeface="メイリオ" panose="020B0604030504040204" pitchFamily="50" charset="-128"/>
                          <a:ea typeface="メイリオ" panose="020B0604030504040204" pitchFamily="50" charset="-128"/>
                        </a:rPr>
                        <a:t>拡張が入る</a:t>
                      </a:r>
                    </a:p>
                  </a:txBody>
                  <a:tcPr anchor="ctr"/>
                </a:tc>
                <a:tc>
                  <a:txBody>
                    <a:bodyPr/>
                    <a:lstStyle/>
                    <a:p>
                      <a:pPr algn="ctr"/>
                      <a:r>
                        <a:rPr kumimoji="1" lang="ja-JP" altLang="en-US" sz="1200">
                          <a:latin typeface="メイリオ" panose="020B0604030504040204" pitchFamily="50" charset="-128"/>
                          <a:ea typeface="メイリオ" panose="020B0604030504040204" pitchFamily="50" charset="-128"/>
                        </a:rPr>
                        <a:t>➡</a:t>
                      </a:r>
                    </a:p>
                  </a:txBody>
                  <a:tcPr anchor="ctr">
                    <a:solidFill>
                      <a:schemeClr val="bg1"/>
                    </a:solidFill>
                  </a:tcPr>
                </a:tc>
                <a:tc>
                  <a:txBody>
                    <a:bodyPr/>
                    <a:lstStyle/>
                    <a:p>
                      <a:r>
                        <a:rPr kumimoji="1" lang="ja-JP" altLang="en-US" sz="1200">
                          <a:latin typeface="メイリオ" panose="020B0604030504040204" pitchFamily="50" charset="-128"/>
                          <a:ea typeface="メイリオ" panose="020B0604030504040204" pitchFamily="50" charset="-128"/>
                        </a:rPr>
                        <a:t>ブラウザ操作できる</a:t>
                      </a:r>
                    </a:p>
                  </a:txBody>
                  <a:tcPr anchor="ctr"/>
                </a:tc>
                <a:tc>
                  <a:txBody>
                    <a:bodyPr/>
                    <a:lstStyle/>
                    <a:p>
                      <a:pPr algn="ctr"/>
                      <a:r>
                        <a:rPr kumimoji="1" lang="ja-JP" altLang="en-US" sz="1200">
                          <a:latin typeface="メイリオ" panose="020B0604030504040204" pitchFamily="50" charset="-128"/>
                          <a:ea typeface="メイリオ" panose="020B0604030504040204" pitchFamily="50" charset="-128"/>
                        </a:rPr>
                        <a:t>➡</a:t>
                      </a:r>
                    </a:p>
                  </a:txBody>
                  <a:tcPr anchor="ctr">
                    <a:solidFill>
                      <a:schemeClr val="bg1"/>
                    </a:solidFill>
                  </a:tcPr>
                </a:tc>
                <a:tc>
                  <a:txBody>
                    <a:bodyPr/>
                    <a:lstStyle/>
                    <a:p>
                      <a:r>
                        <a:rPr kumimoji="1" lang="en-US" altLang="ja-JP" sz="1200">
                          <a:latin typeface="メイリオ" panose="020B0604030504040204" pitchFamily="50" charset="-128"/>
                          <a:ea typeface="メイリオ" panose="020B0604030504040204" pitchFamily="50" charset="-128"/>
                          <a:hlinkClick r:id="rId4"/>
                        </a:rPr>
                        <a:t>Web</a:t>
                      </a:r>
                      <a:r>
                        <a:rPr kumimoji="1" lang="ja-JP" altLang="en-US" sz="1200">
                          <a:latin typeface="メイリオ" panose="020B0604030504040204" pitchFamily="50" charset="-128"/>
                          <a:ea typeface="メイリオ" panose="020B0604030504040204" pitchFamily="50" charset="-128"/>
                          <a:hlinkClick r:id="rId4"/>
                        </a:rPr>
                        <a:t>システム入力、情報収集など</a:t>
                      </a:r>
                      <a:endParaRPr kumimoji="1" lang="ja-JP" altLang="en-US" sz="1200">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3373128756"/>
                  </a:ext>
                </a:extLst>
              </a:tr>
              <a:tr h="370840">
                <a:tc>
                  <a:txBody>
                    <a:bodyPr/>
                    <a:lstStyle/>
                    <a:p>
                      <a:r>
                        <a:rPr kumimoji="1" lang="en-US" altLang="ja-JP" sz="1200">
                          <a:latin typeface="メイリオ" panose="020B0604030504040204" pitchFamily="50" charset="-128"/>
                          <a:ea typeface="メイリオ" panose="020B0604030504040204" pitchFamily="50" charset="-128"/>
                        </a:rPr>
                        <a:t>MCP</a:t>
                      </a:r>
                      <a:r>
                        <a:rPr kumimoji="1" lang="ja-JP" altLang="en-US" sz="1200">
                          <a:latin typeface="メイリオ" panose="020B0604030504040204" pitchFamily="50" charset="-128"/>
                          <a:ea typeface="メイリオ" panose="020B0604030504040204" pitchFamily="50" charset="-128"/>
                        </a:rPr>
                        <a:t>で外部連携</a:t>
                      </a:r>
                    </a:p>
                  </a:txBody>
                  <a:tcPr anchor="ctr"/>
                </a:tc>
                <a:tc>
                  <a:txBody>
                    <a:bodyPr/>
                    <a:lstStyle/>
                    <a:p>
                      <a:pPr algn="ctr"/>
                      <a:r>
                        <a:rPr kumimoji="1" lang="ja-JP" altLang="en-US" sz="1200">
                          <a:latin typeface="メイリオ" panose="020B0604030504040204" pitchFamily="50" charset="-128"/>
                          <a:ea typeface="メイリオ" panose="020B0604030504040204" pitchFamily="50" charset="-128"/>
                        </a:rPr>
                        <a:t>➡</a:t>
                      </a:r>
                    </a:p>
                  </a:txBody>
                  <a:tcPr anchor="ctr">
                    <a:solidFill>
                      <a:schemeClr val="bg1"/>
                    </a:solidFill>
                  </a:tcPr>
                </a:tc>
                <a:tc>
                  <a:txBody>
                    <a:bodyPr/>
                    <a:lstStyle/>
                    <a:p>
                      <a:r>
                        <a:rPr kumimoji="1" lang="ja-JP" altLang="en-US" sz="1200">
                          <a:latin typeface="メイリオ" panose="020B0604030504040204" pitchFamily="50" charset="-128"/>
                          <a:ea typeface="メイリオ" panose="020B0604030504040204" pitchFamily="50" charset="-128"/>
                        </a:rPr>
                        <a:t>業務</a:t>
                      </a:r>
                      <a:r>
                        <a:rPr kumimoji="1" lang="en-US" altLang="ja-JP" sz="1200">
                          <a:latin typeface="メイリオ" panose="020B0604030504040204" pitchFamily="50" charset="-128"/>
                          <a:ea typeface="メイリオ" panose="020B0604030504040204" pitchFamily="50" charset="-128"/>
                        </a:rPr>
                        <a:t>SaaS</a:t>
                      </a:r>
                      <a:r>
                        <a:rPr kumimoji="1" lang="ja-JP" altLang="en-US" sz="1200">
                          <a:latin typeface="メイリオ" panose="020B0604030504040204" pitchFamily="50" charset="-128"/>
                          <a:ea typeface="メイリオ" panose="020B0604030504040204" pitchFamily="50" charset="-128"/>
                        </a:rPr>
                        <a:t>と繋がる</a:t>
                      </a:r>
                    </a:p>
                  </a:txBody>
                  <a:tcPr anchor="ctr"/>
                </a:tc>
                <a:tc>
                  <a:txBody>
                    <a:bodyPr/>
                    <a:lstStyle/>
                    <a:p>
                      <a:pPr algn="ctr"/>
                      <a:r>
                        <a:rPr kumimoji="1" lang="ja-JP" altLang="en-US" sz="1200">
                          <a:latin typeface="メイリオ" panose="020B0604030504040204" pitchFamily="50" charset="-128"/>
                          <a:ea typeface="メイリオ" panose="020B0604030504040204" pitchFamily="50" charset="-128"/>
                        </a:rPr>
                        <a:t>➡</a:t>
                      </a:r>
                    </a:p>
                  </a:txBody>
                  <a:tcPr anchor="ctr">
                    <a:solidFill>
                      <a:schemeClr val="bg1"/>
                    </a:solidFill>
                  </a:tcPr>
                </a:tc>
                <a:tc>
                  <a:txBody>
                    <a:bodyPr/>
                    <a:lstStyle/>
                    <a:p>
                      <a:r>
                        <a:rPr lang="en-US" altLang="ja-JP" sz="1200">
                          <a:latin typeface="メイリオ" panose="020B0604030504040204" pitchFamily="50" charset="-128"/>
                          <a:ea typeface="メイリオ" panose="020B0604030504040204" pitchFamily="50" charset="-128"/>
                        </a:rPr>
                        <a:t>freee</a:t>
                      </a:r>
                      <a:r>
                        <a:rPr lang="ja-JP" altLang="en-US" sz="1200">
                          <a:latin typeface="メイリオ" panose="020B0604030504040204" pitchFamily="50" charset="-128"/>
                          <a:ea typeface="メイリオ" panose="020B0604030504040204" pitchFamily="50" charset="-128"/>
                        </a:rPr>
                        <a:t>会計で仕訳作成、</a:t>
                      </a:r>
                      <a:r>
                        <a:rPr lang="en-US" altLang="ja-JP" sz="1200">
                          <a:latin typeface="メイリオ" panose="020B0604030504040204" pitchFamily="50" charset="-128"/>
                          <a:ea typeface="メイリオ" panose="020B0604030504040204" pitchFamily="50" charset="-128"/>
                        </a:rPr>
                        <a:t>kintone</a:t>
                      </a:r>
                      <a:r>
                        <a:rPr lang="ja-JP" altLang="en-US" sz="1200">
                          <a:latin typeface="メイリオ" panose="020B0604030504040204" pitchFamily="50" charset="-128"/>
                          <a:ea typeface="メイリオ" panose="020B0604030504040204" pitchFamily="50" charset="-128"/>
                        </a:rPr>
                        <a:t>でデータ操作、</a:t>
                      </a:r>
                      <a:r>
                        <a:rPr lang="en-US" altLang="ja-JP" sz="1200">
                          <a:latin typeface="メイリオ" panose="020B0604030504040204" pitchFamily="50" charset="-128"/>
                          <a:ea typeface="メイリオ" panose="020B0604030504040204" pitchFamily="50" charset="-128"/>
                        </a:rPr>
                        <a:t>Salesforce</a:t>
                      </a:r>
                      <a:r>
                        <a:rPr lang="ja-JP" altLang="en-US" sz="1200">
                          <a:latin typeface="メイリオ" panose="020B0604030504040204" pitchFamily="50" charset="-128"/>
                          <a:ea typeface="メイリオ" panose="020B0604030504040204" pitchFamily="50" charset="-128"/>
                        </a:rPr>
                        <a:t>で顧客管理など</a:t>
                      </a:r>
                      <a:endParaRPr kumimoji="1" lang="ja-JP" altLang="en-US" sz="1200">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3767664732"/>
                  </a:ext>
                </a:extLst>
              </a:tr>
            </a:tbl>
          </a:graphicData>
        </a:graphic>
      </p:graphicFrame>
      <p:sp>
        <p:nvSpPr>
          <p:cNvPr id="2" name="正方形/長方形 1">
            <a:extLst>
              <a:ext uri="{FF2B5EF4-FFF2-40B4-BE49-F238E27FC236}">
                <a16:creationId xmlns:a16="http://schemas.microsoft.com/office/drawing/2014/main" id="{38AF5F06-959D-9E91-2370-6731F21C3BFC}"/>
              </a:ext>
            </a:extLst>
          </p:cNvPr>
          <p:cNvSpPr/>
          <p:nvPr/>
        </p:nvSpPr>
        <p:spPr>
          <a:xfrm>
            <a:off x="6327913" y="1008015"/>
            <a:ext cx="5679039" cy="457200"/>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a:solidFill>
                  <a:schemeClr val="tx1"/>
                </a:solidFill>
                <a:latin typeface="メイリオ" panose="020B0604030504040204" pitchFamily="50" charset="-128"/>
                <a:ea typeface="メイリオ" panose="020B0604030504040204" pitchFamily="50" charset="-128"/>
              </a:rPr>
              <a:t>「～ということは」の裏側</a:t>
            </a:r>
            <a:endParaRPr kumimoji="1" lang="ja-JP" altLang="en-US" b="1">
              <a:solidFill>
                <a:schemeClr val="tx1"/>
              </a:solidFill>
              <a:latin typeface="メイリオ" panose="020B0604030504040204" pitchFamily="50" charset="-128"/>
              <a:ea typeface="メイリオ" panose="020B0604030504040204" pitchFamily="50" charset="-128"/>
            </a:endParaRPr>
          </a:p>
        </p:txBody>
      </p:sp>
      <p:graphicFrame>
        <p:nvGraphicFramePr>
          <p:cNvPr id="3" name="表 2">
            <a:extLst>
              <a:ext uri="{FF2B5EF4-FFF2-40B4-BE49-F238E27FC236}">
                <a16:creationId xmlns:a16="http://schemas.microsoft.com/office/drawing/2014/main" id="{A27170B4-7BF2-AB1D-3113-009043979AFD}"/>
              </a:ext>
            </a:extLst>
          </p:cNvPr>
          <p:cNvGraphicFramePr>
            <a:graphicFrameLocks noGrp="1"/>
          </p:cNvGraphicFramePr>
          <p:nvPr>
            <p:extLst>
              <p:ext uri="{D42A27DB-BD31-4B8C-83A1-F6EECF244321}">
                <p14:modId xmlns:p14="http://schemas.microsoft.com/office/powerpoint/2010/main" val="1092922063"/>
              </p:ext>
            </p:extLst>
          </p:nvPr>
        </p:nvGraphicFramePr>
        <p:xfrm>
          <a:off x="6327911" y="1606726"/>
          <a:ext cx="5679038" cy="1749610"/>
        </p:xfrm>
        <a:graphic>
          <a:graphicData uri="http://schemas.openxmlformats.org/drawingml/2006/table">
            <a:tbl>
              <a:tblPr firstRow="1" bandRow="1">
                <a:tableStyleId>{5C22544A-7EE6-4342-B048-85BDC9FD1C3A}</a:tableStyleId>
              </a:tblPr>
              <a:tblGrid>
                <a:gridCol w="1802296">
                  <a:extLst>
                    <a:ext uri="{9D8B030D-6E8A-4147-A177-3AD203B41FA5}">
                      <a16:colId xmlns:a16="http://schemas.microsoft.com/office/drawing/2014/main" val="1166856973"/>
                    </a:ext>
                  </a:extLst>
                </a:gridCol>
                <a:gridCol w="1789043">
                  <a:extLst>
                    <a:ext uri="{9D8B030D-6E8A-4147-A177-3AD203B41FA5}">
                      <a16:colId xmlns:a16="http://schemas.microsoft.com/office/drawing/2014/main" val="2168024439"/>
                    </a:ext>
                  </a:extLst>
                </a:gridCol>
                <a:gridCol w="2087699">
                  <a:extLst>
                    <a:ext uri="{9D8B030D-6E8A-4147-A177-3AD203B41FA5}">
                      <a16:colId xmlns:a16="http://schemas.microsoft.com/office/drawing/2014/main" val="2778055396"/>
                    </a:ext>
                  </a:extLst>
                </a:gridCol>
              </a:tblGrid>
              <a:tr h="530410">
                <a:tc>
                  <a:txBody>
                    <a:bodyPr/>
                    <a:lstStyle/>
                    <a:p>
                      <a:pPr algn="ctr"/>
                      <a:r>
                        <a:rPr kumimoji="1" lang="ja-JP" altLang="en-US" sz="1400">
                          <a:latin typeface="メイリオ" panose="020B0604030504040204" pitchFamily="50" charset="-128"/>
                          <a:ea typeface="メイリオ" panose="020B0604030504040204" pitchFamily="50" charset="-128"/>
                        </a:rPr>
                        <a:t>できること</a:t>
                      </a:r>
                      <a:endParaRPr kumimoji="1" lang="en-US" altLang="ja-JP" sz="1400">
                        <a:latin typeface="メイリオ" panose="020B0604030504040204" pitchFamily="50" charset="-128"/>
                        <a:ea typeface="メイリオ" panose="020B0604030504040204" pitchFamily="50" charset="-128"/>
                      </a:endParaRPr>
                    </a:p>
                  </a:txBody>
                  <a:tcPr anchor="ctr"/>
                </a:tc>
                <a:tc>
                  <a:txBody>
                    <a:bodyPr/>
                    <a:lstStyle/>
                    <a:p>
                      <a:pPr algn="ctr"/>
                      <a:r>
                        <a:rPr kumimoji="1" lang="ja-JP" altLang="en-US" sz="1400">
                          <a:latin typeface="メイリオ" panose="020B0604030504040204" pitchFamily="50" charset="-128"/>
                          <a:ea typeface="メイリオ" panose="020B0604030504040204" pitchFamily="50" charset="-128"/>
                        </a:rPr>
                        <a:t>必要な環境</a:t>
                      </a:r>
                    </a:p>
                  </a:txBody>
                  <a:tcPr anchor="ctr"/>
                </a:tc>
                <a:tc>
                  <a:txBody>
                    <a:bodyPr/>
                    <a:lstStyle/>
                    <a:p>
                      <a:pPr algn="ctr"/>
                      <a:r>
                        <a:rPr kumimoji="1" lang="ja-JP" altLang="en-US" sz="1400">
                          <a:latin typeface="メイリオ" panose="020B0604030504040204" pitchFamily="50" charset="-128"/>
                          <a:ea typeface="メイリオ" panose="020B0604030504040204" pitchFamily="50" charset="-128"/>
                        </a:rPr>
                        <a:t>企業のよくある</a:t>
                      </a:r>
                      <a:endParaRPr kumimoji="1" lang="en-US" altLang="ja-JP" sz="1400">
                        <a:latin typeface="メイリオ" panose="020B0604030504040204" pitchFamily="50" charset="-128"/>
                        <a:ea typeface="メイリオ" panose="020B0604030504040204" pitchFamily="50" charset="-128"/>
                      </a:endParaRPr>
                    </a:p>
                    <a:p>
                      <a:pPr algn="ctr"/>
                      <a:r>
                        <a:rPr kumimoji="1" lang="ja-JP" altLang="en-US" sz="1400">
                          <a:latin typeface="メイリオ" panose="020B0604030504040204" pitchFamily="50" charset="-128"/>
                          <a:ea typeface="メイリオ" panose="020B0604030504040204" pitchFamily="50" charset="-128"/>
                        </a:rPr>
                        <a:t>セキュリティルール</a:t>
                      </a:r>
                    </a:p>
                  </a:txBody>
                  <a:tcPr anchor="ctr">
                    <a:solidFill>
                      <a:schemeClr val="accent2">
                        <a:lumMod val="75000"/>
                      </a:schemeClr>
                    </a:solidFill>
                  </a:tcPr>
                </a:tc>
                <a:extLst>
                  <a:ext uri="{0D108BD9-81ED-4DB2-BD59-A6C34878D82A}">
                    <a16:rowId xmlns:a16="http://schemas.microsoft.com/office/drawing/2014/main" val="2454523292"/>
                  </a:ext>
                </a:extLst>
              </a:tr>
              <a:tr h="0">
                <a:tc>
                  <a:txBody>
                    <a:bodyPr/>
                    <a:lstStyle/>
                    <a:p>
                      <a:r>
                        <a:rPr kumimoji="1" lang="en-US" altLang="ja-JP" sz="1400">
                          <a:latin typeface="メイリオ" panose="020B0604030504040204" pitchFamily="50" charset="-128"/>
                          <a:ea typeface="メイリオ" panose="020B0604030504040204" pitchFamily="50" charset="-128"/>
                        </a:rPr>
                        <a:t>Python</a:t>
                      </a:r>
                      <a:r>
                        <a:rPr kumimoji="1" lang="ja-JP" altLang="en-US" sz="1400">
                          <a:latin typeface="メイリオ" panose="020B0604030504040204" pitchFamily="50" charset="-128"/>
                          <a:ea typeface="メイリオ" panose="020B0604030504040204" pitchFamily="50" charset="-128"/>
                        </a:rPr>
                        <a:t>が書ける</a:t>
                      </a:r>
                    </a:p>
                  </a:txBody>
                  <a:tcPr anchor="ctr"/>
                </a:tc>
                <a:tc>
                  <a:txBody>
                    <a:bodyPr/>
                    <a:lstStyle/>
                    <a:p>
                      <a:r>
                        <a:rPr kumimoji="1" lang="en-US" altLang="ja-JP" sz="1400">
                          <a:latin typeface="メイリオ" panose="020B0604030504040204" pitchFamily="50" charset="-128"/>
                          <a:ea typeface="メイリオ" panose="020B0604030504040204" pitchFamily="50" charset="-128"/>
                        </a:rPr>
                        <a:t>Python</a:t>
                      </a:r>
                      <a:r>
                        <a:rPr kumimoji="1" lang="ja-JP" altLang="en-US" sz="1400">
                          <a:latin typeface="メイリオ" panose="020B0604030504040204" pitchFamily="50" charset="-128"/>
                          <a:ea typeface="メイリオ" panose="020B0604030504040204" pitchFamily="50" charset="-128"/>
                        </a:rPr>
                        <a:t>実行環境</a:t>
                      </a:r>
                    </a:p>
                  </a:txBody>
                  <a:tcPr anchor="ctr"/>
                </a:tc>
                <a:tc>
                  <a:txBody>
                    <a:bodyPr/>
                    <a:lstStyle/>
                    <a:p>
                      <a:r>
                        <a:rPr kumimoji="1" lang="ja-JP" altLang="en-US" sz="1400">
                          <a:latin typeface="メイリオ" panose="020B0604030504040204" pitchFamily="50" charset="-128"/>
                          <a:ea typeface="メイリオ" panose="020B0604030504040204" pitchFamily="50" charset="-128"/>
                        </a:rPr>
                        <a:t>開発ツール禁止</a:t>
                      </a:r>
                    </a:p>
                  </a:txBody>
                  <a:tcPr anchor="ctr">
                    <a:solidFill>
                      <a:schemeClr val="accent2">
                        <a:lumMod val="20000"/>
                        <a:lumOff val="80000"/>
                      </a:schemeClr>
                    </a:solidFill>
                  </a:tcPr>
                </a:tc>
                <a:extLst>
                  <a:ext uri="{0D108BD9-81ED-4DB2-BD59-A6C34878D82A}">
                    <a16:rowId xmlns:a16="http://schemas.microsoft.com/office/drawing/2014/main" val="806381128"/>
                  </a:ext>
                </a:extLst>
              </a:tr>
              <a:tr h="0">
                <a:tc>
                  <a:txBody>
                    <a:bodyPr/>
                    <a:lstStyle/>
                    <a:p>
                      <a:r>
                        <a:rPr kumimoji="1" lang="ja-JP" altLang="en-US" sz="1400">
                          <a:latin typeface="メイリオ" panose="020B0604030504040204" pitchFamily="50" charset="-128"/>
                          <a:ea typeface="メイリオ" panose="020B0604030504040204" pitchFamily="50" charset="-128"/>
                        </a:rPr>
                        <a:t>ライブラリが使える</a:t>
                      </a:r>
                    </a:p>
                  </a:txBody>
                  <a:tcPr anchor="ctr"/>
                </a:tc>
                <a:tc>
                  <a:txBody>
                    <a:bodyPr/>
                    <a:lstStyle/>
                    <a:p>
                      <a:r>
                        <a:rPr kumimoji="1" lang="en-US" altLang="ja-JP" sz="1400">
                          <a:latin typeface="メイリオ" panose="020B0604030504040204" pitchFamily="50" charset="-128"/>
                          <a:ea typeface="メイリオ" panose="020B0604030504040204" pitchFamily="50" charset="-128"/>
                        </a:rPr>
                        <a:t>pip install</a:t>
                      </a:r>
                      <a:endParaRPr kumimoji="1" lang="ja-JP" altLang="en-US" sz="1400">
                        <a:latin typeface="メイリオ" panose="020B0604030504040204" pitchFamily="50" charset="-128"/>
                        <a:ea typeface="メイリオ" panose="020B0604030504040204" pitchFamily="50" charset="-128"/>
                      </a:endParaRPr>
                    </a:p>
                  </a:txBody>
                  <a:tcPr anchor="ctr"/>
                </a:tc>
                <a:tc>
                  <a:txBody>
                    <a:bodyPr/>
                    <a:lstStyle/>
                    <a:p>
                      <a:r>
                        <a:rPr kumimoji="1" lang="ja-JP" altLang="en-US" sz="1400">
                          <a:latin typeface="メイリオ" panose="020B0604030504040204" pitchFamily="50" charset="-128"/>
                          <a:ea typeface="メイリオ" panose="020B0604030504040204" pitchFamily="50" charset="-128"/>
                        </a:rPr>
                        <a:t>未承認ソフト禁止</a:t>
                      </a:r>
                    </a:p>
                  </a:txBody>
                  <a:tcPr anchor="ctr">
                    <a:solidFill>
                      <a:schemeClr val="accent2">
                        <a:lumMod val="40000"/>
                        <a:lumOff val="60000"/>
                      </a:schemeClr>
                    </a:solidFill>
                  </a:tcPr>
                </a:tc>
                <a:extLst>
                  <a:ext uri="{0D108BD9-81ED-4DB2-BD59-A6C34878D82A}">
                    <a16:rowId xmlns:a16="http://schemas.microsoft.com/office/drawing/2014/main" val="3645702937"/>
                  </a:ext>
                </a:extLst>
              </a:tr>
              <a:tr h="0">
                <a:tc>
                  <a:txBody>
                    <a:bodyPr/>
                    <a:lstStyle/>
                    <a:p>
                      <a:r>
                        <a:rPr kumimoji="1" lang="en-US" altLang="ja-JP" sz="1400">
                          <a:latin typeface="メイリオ" panose="020B0604030504040204" pitchFamily="50" charset="-128"/>
                          <a:ea typeface="メイリオ" panose="020B0604030504040204" pitchFamily="50" charset="-128"/>
                        </a:rPr>
                        <a:t>MCP</a:t>
                      </a:r>
                      <a:r>
                        <a:rPr kumimoji="1" lang="ja-JP" altLang="en-US" sz="1400">
                          <a:latin typeface="メイリオ" panose="020B0604030504040204" pitchFamily="50" charset="-128"/>
                          <a:ea typeface="メイリオ" panose="020B0604030504040204" pitchFamily="50" charset="-128"/>
                        </a:rPr>
                        <a:t>連携できる</a:t>
                      </a:r>
                    </a:p>
                  </a:txBody>
                  <a:tcPr anchor="ctr"/>
                </a:tc>
                <a:tc>
                  <a:txBody>
                    <a:bodyPr/>
                    <a:lstStyle/>
                    <a:p>
                      <a:r>
                        <a:rPr kumimoji="1" lang="en-US" altLang="ja-JP" sz="1400">
                          <a:latin typeface="メイリオ" panose="020B0604030504040204" pitchFamily="50" charset="-128"/>
                          <a:ea typeface="メイリオ" panose="020B0604030504040204" pitchFamily="50" charset="-128"/>
                        </a:rPr>
                        <a:t>npm install</a:t>
                      </a:r>
                      <a:endParaRPr kumimoji="1" lang="ja-JP" altLang="en-US" sz="1400">
                        <a:latin typeface="メイリオ" panose="020B0604030504040204" pitchFamily="50" charset="-128"/>
                        <a:ea typeface="メイリオ" panose="020B0604030504040204" pitchFamily="50" charset="-128"/>
                      </a:endParaRPr>
                    </a:p>
                  </a:txBody>
                  <a:tcPr anchor="ctr"/>
                </a:tc>
                <a:tc>
                  <a:txBody>
                    <a:bodyPr/>
                    <a:lstStyle/>
                    <a:p>
                      <a:r>
                        <a:rPr kumimoji="1" lang="ja-JP" altLang="en-US" sz="1400">
                          <a:latin typeface="メイリオ" panose="020B0604030504040204" pitchFamily="50" charset="-128"/>
                          <a:ea typeface="メイリオ" panose="020B0604030504040204" pitchFamily="50" charset="-128"/>
                        </a:rPr>
                        <a:t>未承認ソフト禁止</a:t>
                      </a:r>
                    </a:p>
                  </a:txBody>
                  <a:tcPr anchor="ctr">
                    <a:solidFill>
                      <a:schemeClr val="accent2">
                        <a:lumMod val="20000"/>
                        <a:lumOff val="80000"/>
                      </a:schemeClr>
                    </a:solidFill>
                  </a:tcPr>
                </a:tc>
                <a:extLst>
                  <a:ext uri="{0D108BD9-81ED-4DB2-BD59-A6C34878D82A}">
                    <a16:rowId xmlns:a16="http://schemas.microsoft.com/office/drawing/2014/main" val="3373128756"/>
                  </a:ext>
                </a:extLst>
              </a:tr>
              <a:tr h="0">
                <a:tc>
                  <a:txBody>
                    <a:bodyPr/>
                    <a:lstStyle/>
                    <a:p>
                      <a:r>
                        <a:rPr kumimoji="1" lang="ja-JP" altLang="en-US" sz="1400">
                          <a:latin typeface="メイリオ" panose="020B0604030504040204" pitchFamily="50" charset="-128"/>
                          <a:ea typeface="メイリオ" panose="020B0604030504040204" pitchFamily="50" charset="-128"/>
                        </a:rPr>
                        <a:t>ファイル操作</a:t>
                      </a:r>
                    </a:p>
                  </a:txBody>
                  <a:tcPr anchor="ctr"/>
                </a:tc>
                <a:tc>
                  <a:txBody>
                    <a:bodyPr/>
                    <a:lstStyle/>
                    <a:p>
                      <a:r>
                        <a:rPr kumimoji="1" lang="ja-JP" altLang="en-US" sz="1400">
                          <a:latin typeface="メイリオ" panose="020B0604030504040204" pitchFamily="50" charset="-128"/>
                          <a:ea typeface="メイリオ" panose="020B0604030504040204" pitchFamily="50" charset="-128"/>
                        </a:rPr>
                        <a:t>ローカル権限</a:t>
                      </a:r>
                    </a:p>
                  </a:txBody>
                  <a:tcPr anchor="ctr"/>
                </a:tc>
                <a:tc>
                  <a:txBody>
                    <a:bodyPr/>
                    <a:lstStyle/>
                    <a:p>
                      <a:r>
                        <a:rPr kumimoji="1" lang="ja-JP" altLang="en-US" sz="1400">
                          <a:latin typeface="メイリオ" panose="020B0604030504040204" pitchFamily="50" charset="-128"/>
                          <a:ea typeface="メイリオ" panose="020B0604030504040204" pitchFamily="50" charset="-128"/>
                        </a:rPr>
                        <a:t>アクセス制限</a:t>
                      </a:r>
                    </a:p>
                  </a:txBody>
                  <a:tcPr anchor="ctr">
                    <a:solidFill>
                      <a:schemeClr val="accent2">
                        <a:lumMod val="40000"/>
                        <a:lumOff val="60000"/>
                      </a:schemeClr>
                    </a:solidFill>
                  </a:tcPr>
                </a:tc>
                <a:extLst>
                  <a:ext uri="{0D108BD9-81ED-4DB2-BD59-A6C34878D82A}">
                    <a16:rowId xmlns:a16="http://schemas.microsoft.com/office/drawing/2014/main" val="3767664732"/>
                  </a:ext>
                </a:extLst>
              </a:tr>
            </a:tbl>
          </a:graphicData>
        </a:graphic>
      </p:graphicFrame>
      <p:sp>
        <p:nvSpPr>
          <p:cNvPr id="11" name="正方形/長方形 10">
            <a:extLst>
              <a:ext uri="{FF2B5EF4-FFF2-40B4-BE49-F238E27FC236}">
                <a16:creationId xmlns:a16="http://schemas.microsoft.com/office/drawing/2014/main" id="{5CEAA898-BC26-F2A1-254D-1FE7CDBBFBD8}"/>
              </a:ext>
            </a:extLst>
          </p:cNvPr>
          <p:cNvSpPr/>
          <p:nvPr/>
        </p:nvSpPr>
        <p:spPr>
          <a:xfrm>
            <a:off x="6327912" y="3903282"/>
            <a:ext cx="5679038" cy="449719"/>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a:solidFill>
                  <a:schemeClr val="bg1"/>
                </a:solidFill>
                <a:latin typeface="メイリオ" panose="020B0604030504040204" pitchFamily="50" charset="-128"/>
                <a:ea typeface="メイリオ" panose="020B0604030504040204" pitchFamily="50" charset="-128"/>
              </a:rPr>
              <a:t>Claude Code</a:t>
            </a:r>
            <a:r>
              <a:rPr lang="ja-JP" altLang="en-US" b="1">
                <a:solidFill>
                  <a:schemeClr val="bg1"/>
                </a:solidFill>
                <a:latin typeface="メイリオ" panose="020B0604030504040204" pitchFamily="50" charset="-128"/>
                <a:ea typeface="メイリオ" panose="020B0604030504040204" pitchFamily="50" charset="-128"/>
              </a:rPr>
              <a:t>「だけ」を使えるようにしても</a:t>
            </a:r>
            <a:endParaRPr kumimoji="1" lang="ja-JP" altLang="en-US" b="1">
              <a:solidFill>
                <a:schemeClr val="bg1"/>
              </a:solidFill>
              <a:latin typeface="メイリオ" panose="020B0604030504040204" pitchFamily="50" charset="-128"/>
              <a:ea typeface="メイリオ" panose="020B0604030504040204" pitchFamily="50" charset="-128"/>
            </a:endParaRPr>
          </a:p>
        </p:txBody>
      </p:sp>
      <p:sp>
        <p:nvSpPr>
          <p:cNvPr id="13" name="テキスト ボックス 12">
            <a:extLst>
              <a:ext uri="{FF2B5EF4-FFF2-40B4-BE49-F238E27FC236}">
                <a16:creationId xmlns:a16="http://schemas.microsoft.com/office/drawing/2014/main" id="{E77A5E95-0E55-26FF-E146-E5F2E7DADE3D}"/>
              </a:ext>
            </a:extLst>
          </p:cNvPr>
          <p:cNvSpPr txBox="1"/>
          <p:nvPr/>
        </p:nvSpPr>
        <p:spPr>
          <a:xfrm>
            <a:off x="6327911" y="4386870"/>
            <a:ext cx="5679038" cy="2192908"/>
          </a:xfrm>
          <a:prstGeom prst="rect">
            <a:avLst/>
          </a:prstGeom>
          <a:noFill/>
        </p:spPr>
        <p:txBody>
          <a:bodyPr wrap="square" rtlCol="0">
            <a:spAutoFit/>
          </a:bodyPr>
          <a:lstStyle/>
          <a:p>
            <a:pPr>
              <a:lnSpc>
                <a:spcPct val="200000"/>
              </a:lnSpc>
            </a:pPr>
            <a:r>
              <a:rPr lang="ja-JP" altLang="en-US" sz="1400">
                <a:latin typeface="メイリオ" panose="020B0604030504040204" pitchFamily="50" charset="-128"/>
                <a:ea typeface="メイリオ" panose="020B0604030504040204" pitchFamily="50" charset="-128"/>
              </a:rPr>
              <a:t>他のセキュリティルールを解決せずに</a:t>
            </a:r>
            <a:r>
              <a:rPr lang="en-US" altLang="ja-JP" sz="1400">
                <a:latin typeface="メイリオ" panose="020B0604030504040204" pitchFamily="50" charset="-128"/>
                <a:ea typeface="メイリオ" panose="020B0604030504040204" pitchFamily="50" charset="-128"/>
              </a:rPr>
              <a:t>Claude Code</a:t>
            </a:r>
            <a:r>
              <a:rPr lang="ja-JP" altLang="en-US" sz="1400">
                <a:latin typeface="メイリオ" panose="020B0604030504040204" pitchFamily="50" charset="-128"/>
                <a:ea typeface="メイリオ" panose="020B0604030504040204" pitchFamily="50" charset="-128"/>
              </a:rPr>
              <a:t>だけを導入しても「ただのチャット</a:t>
            </a:r>
            <a:r>
              <a:rPr lang="en-US" altLang="ja-JP" sz="1400">
                <a:latin typeface="メイリオ" panose="020B0604030504040204" pitchFamily="50" charset="-128"/>
                <a:ea typeface="メイリオ" panose="020B0604030504040204" pitchFamily="50" charset="-128"/>
              </a:rPr>
              <a:t>AI</a:t>
            </a:r>
            <a:r>
              <a:rPr lang="ja-JP" altLang="en-US" sz="1400">
                <a:latin typeface="メイリオ" panose="020B0604030504040204" pitchFamily="50" charset="-128"/>
                <a:ea typeface="メイリオ" panose="020B0604030504040204" pitchFamily="50" charset="-128"/>
              </a:rPr>
              <a:t>」程度の価値に制限される。</a:t>
            </a:r>
            <a:endParaRPr lang="en-US" altLang="ja-JP" sz="1400">
              <a:latin typeface="メイリオ" panose="020B0604030504040204" pitchFamily="50" charset="-128"/>
              <a:ea typeface="メイリオ" panose="020B0604030504040204" pitchFamily="50" charset="-128"/>
            </a:endParaRPr>
          </a:p>
          <a:p>
            <a:pPr>
              <a:lnSpc>
                <a:spcPct val="200000"/>
              </a:lnSpc>
            </a:pPr>
            <a:r>
              <a:rPr lang="ja-JP" altLang="en-US" sz="1400">
                <a:latin typeface="メイリオ" panose="020B0604030504040204" pitchFamily="50" charset="-128"/>
                <a:ea typeface="メイリオ" panose="020B0604030504040204" pitchFamily="50" charset="-128"/>
              </a:rPr>
              <a:t>スクリプト実行も外部連携もできず、前頁までの例を実行する可能性が閉じる。</a:t>
            </a:r>
            <a:endParaRPr lang="en-US" altLang="ja-JP" sz="1400">
              <a:latin typeface="メイリオ" panose="020B0604030504040204" pitchFamily="50" charset="-128"/>
              <a:ea typeface="メイリオ" panose="020B0604030504040204" pitchFamily="50" charset="-128"/>
            </a:endParaRPr>
          </a:p>
          <a:p>
            <a:pPr>
              <a:lnSpc>
                <a:spcPct val="200000"/>
              </a:lnSpc>
            </a:pPr>
            <a:r>
              <a:rPr lang="ja-JP" altLang="en-US" sz="1400">
                <a:latin typeface="メイリオ" panose="020B0604030504040204" pitchFamily="50" charset="-128"/>
                <a:ea typeface="メイリオ" panose="020B0604030504040204" pitchFamily="50" charset="-128"/>
              </a:rPr>
              <a:t>ルールを確認して「試せる環境を作る」ことが大事になる。</a:t>
            </a:r>
          </a:p>
        </p:txBody>
      </p:sp>
      <p:sp>
        <p:nvSpPr>
          <p:cNvPr id="15" name="二等辺三角形 14">
            <a:extLst>
              <a:ext uri="{FF2B5EF4-FFF2-40B4-BE49-F238E27FC236}">
                <a16:creationId xmlns:a16="http://schemas.microsoft.com/office/drawing/2014/main" id="{2D74A0F6-774F-CBE9-0322-852E6AB13850}"/>
              </a:ext>
            </a:extLst>
          </p:cNvPr>
          <p:cNvSpPr/>
          <p:nvPr/>
        </p:nvSpPr>
        <p:spPr>
          <a:xfrm rot="10800000">
            <a:off x="8647001" y="3543613"/>
            <a:ext cx="1040860" cy="218660"/>
          </a:xfrm>
          <a:prstGeom prst="triangl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正方形/長方形 11">
            <a:extLst>
              <a:ext uri="{FF2B5EF4-FFF2-40B4-BE49-F238E27FC236}">
                <a16:creationId xmlns:a16="http://schemas.microsoft.com/office/drawing/2014/main" id="{226F918C-2B6C-0166-AA78-3A6E2F5C1517}"/>
              </a:ext>
            </a:extLst>
          </p:cNvPr>
          <p:cNvSpPr/>
          <p:nvPr/>
        </p:nvSpPr>
        <p:spPr>
          <a:xfrm>
            <a:off x="185048" y="3950121"/>
            <a:ext cx="5679039" cy="527229"/>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b="1">
                <a:latin typeface="メイリオ" panose="020B0604030504040204" pitchFamily="50" charset="-128"/>
                <a:ea typeface="メイリオ" panose="020B0604030504040204" pitchFamily="50" charset="-128"/>
              </a:rPr>
              <a:t>テック企業・スタートアップなどの</a:t>
            </a:r>
          </a:p>
          <a:p>
            <a:pPr algn="ctr"/>
            <a:r>
              <a:rPr lang="ja-JP" altLang="en-US" sz="1400" b="1">
                <a:solidFill>
                  <a:schemeClr val="bg1"/>
                </a:solidFill>
                <a:latin typeface="メイリオ" panose="020B0604030504040204" pitchFamily="50" charset="-128"/>
                <a:ea typeface="メイリオ" panose="020B0604030504040204" pitchFamily="50" charset="-128"/>
              </a:rPr>
              <a:t>フットワークの軽い企業は既に利用している</a:t>
            </a:r>
            <a:endParaRPr kumimoji="1" lang="ja-JP" altLang="en-US" sz="1400" b="1">
              <a:solidFill>
                <a:schemeClr val="bg1"/>
              </a:solidFill>
              <a:latin typeface="メイリオ" panose="020B0604030504040204" pitchFamily="50" charset="-128"/>
              <a:ea typeface="メイリオ" panose="020B0604030504040204" pitchFamily="50" charset="-128"/>
            </a:endParaRPr>
          </a:p>
        </p:txBody>
      </p:sp>
      <p:graphicFrame>
        <p:nvGraphicFramePr>
          <p:cNvPr id="17" name="表 16">
            <a:extLst>
              <a:ext uri="{FF2B5EF4-FFF2-40B4-BE49-F238E27FC236}">
                <a16:creationId xmlns:a16="http://schemas.microsoft.com/office/drawing/2014/main" id="{90F2E913-1465-06ED-F33D-D53F948C6ACC}"/>
              </a:ext>
            </a:extLst>
          </p:cNvPr>
          <p:cNvGraphicFramePr>
            <a:graphicFrameLocks noGrp="1"/>
          </p:cNvGraphicFramePr>
          <p:nvPr>
            <p:extLst>
              <p:ext uri="{D42A27DB-BD31-4B8C-83A1-F6EECF244321}">
                <p14:modId xmlns:p14="http://schemas.microsoft.com/office/powerpoint/2010/main" val="1568237393"/>
              </p:ext>
            </p:extLst>
          </p:nvPr>
        </p:nvGraphicFramePr>
        <p:xfrm>
          <a:off x="185048" y="4583378"/>
          <a:ext cx="5679038" cy="1681229"/>
        </p:xfrm>
        <a:graphic>
          <a:graphicData uri="http://schemas.openxmlformats.org/drawingml/2006/table">
            <a:tbl>
              <a:tblPr firstRow="1" bandRow="1">
                <a:tableStyleId>{5C22544A-7EE6-4342-B048-85BDC9FD1C3A}</a:tableStyleId>
              </a:tblPr>
              <a:tblGrid>
                <a:gridCol w="1763022">
                  <a:extLst>
                    <a:ext uri="{9D8B030D-6E8A-4147-A177-3AD203B41FA5}">
                      <a16:colId xmlns:a16="http://schemas.microsoft.com/office/drawing/2014/main" val="3037731002"/>
                    </a:ext>
                  </a:extLst>
                </a:gridCol>
                <a:gridCol w="3916016">
                  <a:extLst>
                    <a:ext uri="{9D8B030D-6E8A-4147-A177-3AD203B41FA5}">
                      <a16:colId xmlns:a16="http://schemas.microsoft.com/office/drawing/2014/main" val="1864579049"/>
                    </a:ext>
                  </a:extLst>
                </a:gridCol>
              </a:tblGrid>
              <a:tr h="406749">
                <a:tc>
                  <a:txBody>
                    <a:bodyPr/>
                    <a:lstStyle/>
                    <a:p>
                      <a:pPr algn="ctr">
                        <a:buNone/>
                      </a:pPr>
                      <a:r>
                        <a:rPr lang="ja-JP" altLang="en-US" sz="1400">
                          <a:latin typeface="メイリオ" panose="020B0604030504040204" pitchFamily="50" charset="-128"/>
                          <a:ea typeface="メイリオ" panose="020B0604030504040204" pitchFamily="50" charset="-128"/>
                        </a:rPr>
                        <a:t>企業</a:t>
                      </a:r>
                    </a:p>
                  </a:txBody>
                  <a:tcPr anchor="ctr"/>
                </a:tc>
                <a:tc>
                  <a:txBody>
                    <a:bodyPr/>
                    <a:lstStyle/>
                    <a:p>
                      <a:pPr algn="ctr">
                        <a:buNone/>
                      </a:pPr>
                      <a:r>
                        <a:rPr lang="ja-JP" altLang="en-US" sz="1400">
                          <a:latin typeface="メイリオ" panose="020B0604030504040204" pitchFamily="50" charset="-128"/>
                          <a:ea typeface="メイリオ" panose="020B0604030504040204" pitchFamily="50" charset="-128"/>
                        </a:rPr>
                        <a:t>内容</a:t>
                      </a:r>
                    </a:p>
                  </a:txBody>
                  <a:tcPr anchor="ctr"/>
                </a:tc>
                <a:extLst>
                  <a:ext uri="{0D108BD9-81ED-4DB2-BD59-A6C34878D82A}">
                    <a16:rowId xmlns:a16="http://schemas.microsoft.com/office/drawing/2014/main" val="3677036342"/>
                  </a:ext>
                </a:extLst>
              </a:tr>
              <a:tr h="406749">
                <a:tc>
                  <a:txBody>
                    <a:bodyPr/>
                    <a:lstStyle/>
                    <a:p>
                      <a:pPr>
                        <a:buNone/>
                      </a:pPr>
                      <a:r>
                        <a:rPr lang="ja-JP" altLang="en-US" sz="1400">
                          <a:latin typeface="メイリオ" panose="020B0604030504040204" pitchFamily="50" charset="-128"/>
                          <a:ea typeface="メイリオ" panose="020B0604030504040204" pitchFamily="50" charset="-128"/>
                        </a:rPr>
                        <a:t>楽天</a:t>
                      </a:r>
                    </a:p>
                  </a:txBody>
                  <a:tcPr anchor="ctr"/>
                </a:tc>
                <a:tc>
                  <a:txBody>
                    <a:bodyPr/>
                    <a:lstStyle/>
                    <a:p>
                      <a:pPr>
                        <a:buNone/>
                      </a:pPr>
                      <a:r>
                        <a:rPr lang="ja-JP" altLang="en-US" sz="1400">
                          <a:latin typeface="メイリオ" panose="020B0604030504040204" pitchFamily="50" charset="-128"/>
                          <a:ea typeface="メイリオ" panose="020B0604030504040204" pitchFamily="50" charset="-128"/>
                          <a:hlinkClick r:id="rId5"/>
                        </a:rPr>
                        <a:t>開発期間</a:t>
                      </a:r>
                      <a:r>
                        <a:rPr lang="en-US" altLang="ja-JP" sz="1400">
                          <a:latin typeface="メイリオ" panose="020B0604030504040204" pitchFamily="50" charset="-128"/>
                          <a:ea typeface="メイリオ" panose="020B0604030504040204" pitchFamily="50" charset="-128"/>
                          <a:hlinkClick r:id="rId5"/>
                        </a:rPr>
                        <a:t>79%</a:t>
                      </a:r>
                      <a:r>
                        <a:rPr lang="ja-JP" altLang="en-US" sz="1400">
                          <a:latin typeface="メイリオ" panose="020B0604030504040204" pitchFamily="50" charset="-128"/>
                          <a:ea typeface="メイリオ" panose="020B0604030504040204" pitchFamily="50" charset="-128"/>
                          <a:hlinkClick r:id="rId5"/>
                        </a:rPr>
                        <a:t>短縮</a:t>
                      </a:r>
                      <a:endParaRPr lang="ja-JP" altLang="en-US" sz="1400">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1406549550"/>
                  </a:ext>
                </a:extLst>
              </a:tr>
              <a:tr h="46098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400">
                          <a:latin typeface="メイリオ" panose="020B0604030504040204" pitchFamily="50" charset="-128"/>
                          <a:ea typeface="メイリオ" panose="020B0604030504040204" pitchFamily="50" charset="-128"/>
                        </a:rPr>
                        <a:t>READYFOR</a:t>
                      </a:r>
                      <a:endParaRPr lang="ja-JP" altLang="en-US" sz="1400">
                        <a:latin typeface="メイリオ" panose="020B0604030504040204" pitchFamily="50" charset="-128"/>
                        <a:ea typeface="メイリオ" panose="020B0604030504040204" pitchFamily="50" charset="-128"/>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400">
                          <a:latin typeface="メイリオ" panose="020B0604030504040204" pitchFamily="50" charset="-128"/>
                          <a:ea typeface="メイリオ" panose="020B0604030504040204" pitchFamily="50" charset="-128"/>
                          <a:hlinkClick r:id="rId6"/>
                        </a:rPr>
                        <a:t>83%</a:t>
                      </a:r>
                      <a:r>
                        <a:rPr lang="ja-JP" altLang="en-US" sz="1400">
                          <a:latin typeface="メイリオ" panose="020B0604030504040204" pitchFamily="50" charset="-128"/>
                          <a:ea typeface="メイリオ" panose="020B0604030504040204" pitchFamily="50" charset="-128"/>
                          <a:hlinkClick r:id="rId6"/>
                        </a:rPr>
                        <a:t>が生産性向上実感</a:t>
                      </a:r>
                      <a:endParaRPr lang="ja-JP" altLang="en-US" sz="1400">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1442126384"/>
                  </a:ext>
                </a:extLst>
              </a:tr>
              <a:tr h="40674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400">
                          <a:latin typeface="メイリオ" panose="020B0604030504040204" pitchFamily="50" charset="-128"/>
                          <a:ea typeface="メイリオ" panose="020B0604030504040204" pitchFamily="50" charset="-128"/>
                        </a:rPr>
                        <a:t>GMO</a:t>
                      </a:r>
                      <a:r>
                        <a:rPr lang="ja-JP" altLang="en-US" sz="1400">
                          <a:latin typeface="メイリオ" panose="020B0604030504040204" pitchFamily="50" charset="-128"/>
                          <a:ea typeface="メイリオ" panose="020B0604030504040204" pitchFamily="50" charset="-128"/>
                        </a:rPr>
                        <a:t>デザインワン</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400">
                          <a:latin typeface="メイリオ" panose="020B0604030504040204" pitchFamily="50" charset="-128"/>
                          <a:ea typeface="メイリオ" panose="020B0604030504040204" pitchFamily="50" charset="-128"/>
                          <a:hlinkClick r:id="rId7"/>
                        </a:rPr>
                        <a:t>全エンジニア導入（効率</a:t>
                      </a:r>
                      <a:r>
                        <a:rPr lang="en-US" altLang="ja-JP" sz="1400">
                          <a:latin typeface="メイリオ" panose="020B0604030504040204" pitchFamily="50" charset="-128"/>
                          <a:ea typeface="メイリオ" panose="020B0604030504040204" pitchFamily="50" charset="-128"/>
                          <a:hlinkClick r:id="rId7"/>
                        </a:rPr>
                        <a:t>50%</a:t>
                      </a:r>
                      <a:r>
                        <a:rPr lang="ja-JP" altLang="en-US" sz="1400">
                          <a:latin typeface="メイリオ" panose="020B0604030504040204" pitchFamily="50" charset="-128"/>
                          <a:ea typeface="メイリオ" panose="020B0604030504040204" pitchFamily="50" charset="-128"/>
                          <a:hlinkClick r:id="rId7"/>
                        </a:rPr>
                        <a:t>向上目指す）</a:t>
                      </a:r>
                      <a:endParaRPr lang="ja-JP" altLang="en-US" sz="1400">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1380712108"/>
                  </a:ext>
                </a:extLst>
              </a:tr>
            </a:tbl>
          </a:graphicData>
        </a:graphic>
      </p:graphicFrame>
      <p:sp>
        <p:nvSpPr>
          <p:cNvPr id="18" name="二等辺三角形 17">
            <a:extLst>
              <a:ext uri="{FF2B5EF4-FFF2-40B4-BE49-F238E27FC236}">
                <a16:creationId xmlns:a16="http://schemas.microsoft.com/office/drawing/2014/main" id="{BD70DA43-B865-34AC-29F0-B404E876AB95}"/>
              </a:ext>
            </a:extLst>
          </p:cNvPr>
          <p:cNvSpPr/>
          <p:nvPr/>
        </p:nvSpPr>
        <p:spPr>
          <a:xfrm rot="5400000">
            <a:off x="5575569" y="2561733"/>
            <a:ext cx="1040860" cy="218660"/>
          </a:xfrm>
          <a:prstGeom prst="triangl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矢印: 右 15">
            <a:extLst>
              <a:ext uri="{FF2B5EF4-FFF2-40B4-BE49-F238E27FC236}">
                <a16:creationId xmlns:a16="http://schemas.microsoft.com/office/drawing/2014/main" id="{8990D795-895E-3D30-5F11-D331FCD991F4}"/>
              </a:ext>
            </a:extLst>
          </p:cNvPr>
          <p:cNvSpPr/>
          <p:nvPr/>
        </p:nvSpPr>
        <p:spPr>
          <a:xfrm>
            <a:off x="185048" y="6264607"/>
            <a:ext cx="5679038" cy="593392"/>
          </a:xfrm>
          <a:prstGeom prst="rightArrow">
            <a:avLst>
              <a:gd name="adj1" fmla="val 50000"/>
              <a:gd name="adj2" fmla="val 59714"/>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b="1">
                <a:latin typeface="メイリオ" panose="020B0604030504040204" pitchFamily="50" charset="-128"/>
                <a:ea typeface="メイリオ" panose="020B0604030504040204" pitchFamily="50" charset="-128"/>
              </a:rPr>
              <a:t>➡ この生産性の差は時間が経つほど更に広がる</a:t>
            </a:r>
          </a:p>
        </p:txBody>
      </p:sp>
    </p:spTree>
    <p:extLst>
      <p:ext uri="{BB962C8B-B14F-4D97-AF65-F5344CB8AC3E}">
        <p14:creationId xmlns:p14="http://schemas.microsoft.com/office/powerpoint/2010/main" val="40119407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80A0B-ADEE-5342-2E09-8D18577603A2}"/>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2EDF1249-4ABB-A939-009F-9E739CAE8ED7}"/>
              </a:ext>
            </a:extLst>
          </p:cNvPr>
          <p:cNvSpPr txBox="1"/>
          <p:nvPr/>
        </p:nvSpPr>
        <p:spPr>
          <a:xfrm>
            <a:off x="443466" y="317212"/>
            <a:ext cx="11215133" cy="584775"/>
          </a:xfrm>
          <a:prstGeom prst="rect">
            <a:avLst/>
          </a:prstGeom>
          <a:noFill/>
        </p:spPr>
        <p:txBody>
          <a:bodyPr wrap="square" rtlCol="0">
            <a:spAutoFit/>
          </a:bodyPr>
          <a:lstStyle/>
          <a:p>
            <a:r>
              <a:rPr lang="en-US" altLang="ja-JP" sz="3200" b="1">
                <a:latin typeface="メイリオ" panose="020B0604030504040204" pitchFamily="50" charset="-128"/>
                <a:ea typeface="メイリオ" panose="020B0604030504040204" pitchFamily="50" charset="-128"/>
              </a:rPr>
              <a:t>BPO</a:t>
            </a:r>
            <a:r>
              <a:rPr lang="ja-JP" altLang="en-US" sz="3200" b="1">
                <a:latin typeface="メイリオ" panose="020B0604030504040204" pitchFamily="50" charset="-128"/>
                <a:ea typeface="メイリオ" panose="020B0604030504040204" pitchFamily="50" charset="-128"/>
              </a:rPr>
              <a:t>市場に上位レイヤーが降りてくる</a:t>
            </a:r>
            <a:endParaRPr kumimoji="1" lang="ja-JP" altLang="en-US" sz="3200" b="1">
              <a:latin typeface="メイリオ" panose="020B0604030504040204" pitchFamily="50" charset="-128"/>
              <a:ea typeface="メイリオ" panose="020B0604030504040204" pitchFamily="50" charset="-128"/>
            </a:endParaRPr>
          </a:p>
        </p:txBody>
      </p:sp>
      <p:sp>
        <p:nvSpPr>
          <p:cNvPr id="9" name="正方形/長方形 8">
            <a:extLst>
              <a:ext uri="{FF2B5EF4-FFF2-40B4-BE49-F238E27FC236}">
                <a16:creationId xmlns:a16="http://schemas.microsoft.com/office/drawing/2014/main" id="{C0F86B2D-21A9-CEB3-D403-69B171721435}"/>
              </a:ext>
            </a:extLst>
          </p:cNvPr>
          <p:cNvSpPr/>
          <p:nvPr/>
        </p:nvSpPr>
        <p:spPr>
          <a:xfrm>
            <a:off x="370095" y="901988"/>
            <a:ext cx="5420623" cy="340403"/>
          </a:xfrm>
          <a:prstGeom prst="rect">
            <a:avLst/>
          </a:prstGeom>
          <a:solidFill>
            <a:srgbClr val="002060"/>
          </a:solidFill>
          <a:ln>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b="1">
                <a:latin typeface="メイリオ" panose="020B0604030504040204" pitchFamily="50" charset="-128"/>
                <a:ea typeface="メイリオ" panose="020B0604030504040204" pitchFamily="50" charset="-128"/>
              </a:rPr>
              <a:t>アクセンチュアの動き</a:t>
            </a:r>
            <a:endParaRPr kumimoji="1" lang="ja-JP" altLang="en-US" sz="1400" b="1">
              <a:solidFill>
                <a:schemeClr val="bg1"/>
              </a:solidFill>
              <a:latin typeface="メイリオ" panose="020B0604030504040204" pitchFamily="50" charset="-128"/>
              <a:ea typeface="メイリオ" panose="020B0604030504040204" pitchFamily="50" charset="-128"/>
            </a:endParaRPr>
          </a:p>
        </p:txBody>
      </p:sp>
      <p:graphicFrame>
        <p:nvGraphicFramePr>
          <p:cNvPr id="14" name="表 13">
            <a:extLst>
              <a:ext uri="{FF2B5EF4-FFF2-40B4-BE49-F238E27FC236}">
                <a16:creationId xmlns:a16="http://schemas.microsoft.com/office/drawing/2014/main" id="{44778E8B-23B9-15AC-76FC-FA2358088063}"/>
              </a:ext>
            </a:extLst>
          </p:cNvPr>
          <p:cNvGraphicFramePr>
            <a:graphicFrameLocks noGrp="1"/>
          </p:cNvGraphicFramePr>
          <p:nvPr>
            <p:extLst>
              <p:ext uri="{D42A27DB-BD31-4B8C-83A1-F6EECF244321}">
                <p14:modId xmlns:p14="http://schemas.microsoft.com/office/powerpoint/2010/main" val="1306993687"/>
              </p:ext>
            </p:extLst>
          </p:nvPr>
        </p:nvGraphicFramePr>
        <p:xfrm>
          <a:off x="370094" y="1253795"/>
          <a:ext cx="5420624" cy="2301240"/>
        </p:xfrm>
        <a:graphic>
          <a:graphicData uri="http://schemas.openxmlformats.org/drawingml/2006/table">
            <a:tbl>
              <a:tblPr firstRow="1" bandRow="1">
                <a:tableStyleId>{5C22544A-7EE6-4342-B048-85BDC9FD1C3A}</a:tableStyleId>
              </a:tblPr>
              <a:tblGrid>
                <a:gridCol w="1782901">
                  <a:extLst>
                    <a:ext uri="{9D8B030D-6E8A-4147-A177-3AD203B41FA5}">
                      <a16:colId xmlns:a16="http://schemas.microsoft.com/office/drawing/2014/main" val="2611708119"/>
                    </a:ext>
                  </a:extLst>
                </a:gridCol>
                <a:gridCol w="1749287">
                  <a:extLst>
                    <a:ext uri="{9D8B030D-6E8A-4147-A177-3AD203B41FA5}">
                      <a16:colId xmlns:a16="http://schemas.microsoft.com/office/drawing/2014/main" val="3939045994"/>
                    </a:ext>
                  </a:extLst>
                </a:gridCol>
                <a:gridCol w="1888436">
                  <a:extLst>
                    <a:ext uri="{9D8B030D-6E8A-4147-A177-3AD203B41FA5}">
                      <a16:colId xmlns:a16="http://schemas.microsoft.com/office/drawing/2014/main" val="2614363451"/>
                    </a:ext>
                  </a:extLst>
                </a:gridCol>
              </a:tblGrid>
              <a:tr h="370840">
                <a:tc>
                  <a:txBody>
                    <a:bodyPr/>
                    <a:lstStyle/>
                    <a:p>
                      <a:pPr algn="ctr"/>
                      <a:r>
                        <a:rPr kumimoji="1" lang="ja-JP" altLang="en-US" sz="1400">
                          <a:latin typeface="メイリオ" panose="020B0604030504040204" pitchFamily="50" charset="-128"/>
                          <a:ea typeface="メイリオ" panose="020B0604030504040204" pitchFamily="50" charset="-128"/>
                        </a:rPr>
                        <a:t>指標</a:t>
                      </a:r>
                    </a:p>
                  </a:txBody>
                  <a:tcPr anchor="ctr"/>
                </a:tc>
                <a:tc>
                  <a:txBody>
                    <a:bodyPr/>
                    <a:lstStyle/>
                    <a:p>
                      <a:pPr algn="ctr"/>
                      <a:r>
                        <a:rPr kumimoji="1" lang="ja-JP" altLang="en-US" sz="1400">
                          <a:latin typeface="メイリオ" panose="020B0604030504040204" pitchFamily="50" charset="-128"/>
                          <a:ea typeface="メイリオ" panose="020B0604030504040204" pitchFamily="50" charset="-128"/>
                        </a:rPr>
                        <a:t>グローバル</a:t>
                      </a:r>
                    </a:p>
                  </a:txBody>
                  <a:tcPr anchor="ctr"/>
                </a:tc>
                <a:tc>
                  <a:txBody>
                    <a:bodyPr/>
                    <a:lstStyle/>
                    <a:p>
                      <a:pPr algn="ctr"/>
                      <a:r>
                        <a:rPr kumimoji="1" lang="ja-JP" altLang="en-US" sz="1400">
                          <a:latin typeface="メイリオ" panose="020B0604030504040204" pitchFamily="50" charset="-128"/>
                          <a:ea typeface="メイリオ" panose="020B0604030504040204" pitchFamily="50" charset="-128"/>
                        </a:rPr>
                        <a:t>日本国内</a:t>
                      </a:r>
                    </a:p>
                  </a:txBody>
                  <a:tcPr anchor="ctr"/>
                </a:tc>
                <a:extLst>
                  <a:ext uri="{0D108BD9-81ED-4DB2-BD59-A6C34878D82A}">
                    <a16:rowId xmlns:a16="http://schemas.microsoft.com/office/drawing/2014/main" val="1237221228"/>
                  </a:ext>
                </a:extLst>
              </a:tr>
              <a:tr h="370840">
                <a:tc>
                  <a:txBody>
                    <a:bodyPr/>
                    <a:lstStyle/>
                    <a:p>
                      <a:pPr algn="ctr"/>
                      <a:r>
                        <a:rPr kumimoji="1" lang="ja-JP" altLang="en-US" sz="1200">
                          <a:latin typeface="メイリオ" panose="020B0604030504040204" pitchFamily="50" charset="-128"/>
                          <a:ea typeface="メイリオ" panose="020B0604030504040204" pitchFamily="50" charset="-128"/>
                        </a:rPr>
                        <a:t>全社売上</a:t>
                      </a:r>
                    </a:p>
                  </a:txBody>
                  <a:tcPr anchor="ctr"/>
                </a:tc>
                <a:tc>
                  <a:txBody>
                    <a:bodyPr/>
                    <a:lstStyle/>
                    <a:p>
                      <a:pPr algn="ctr"/>
                      <a:r>
                        <a:rPr kumimoji="1" lang="en-US" altLang="ja-JP" sz="1200">
                          <a:latin typeface="メイリオ" panose="020B0604030504040204" pitchFamily="50" charset="-128"/>
                          <a:ea typeface="メイリオ" panose="020B0604030504040204" pitchFamily="50" charset="-128"/>
                        </a:rPr>
                        <a:t>697</a:t>
                      </a:r>
                      <a:r>
                        <a:rPr kumimoji="1" lang="ja-JP" altLang="en-US" sz="1200">
                          <a:latin typeface="メイリオ" panose="020B0604030504040204" pitchFamily="50" charset="-128"/>
                          <a:ea typeface="メイリオ" panose="020B0604030504040204" pitchFamily="50" charset="-128"/>
                        </a:rPr>
                        <a:t>億ドル</a:t>
                      </a:r>
                      <a:r>
                        <a:rPr kumimoji="1" lang="en-US" altLang="ja-JP" sz="1200">
                          <a:latin typeface="メイリオ" panose="020B0604030504040204" pitchFamily="50" charset="-128"/>
                          <a:ea typeface="メイリオ" panose="020B0604030504040204" pitchFamily="50" charset="-128"/>
                        </a:rPr>
                        <a:t>(</a:t>
                      </a:r>
                      <a:r>
                        <a:rPr kumimoji="1" lang="ja-JP" altLang="en-US" sz="1200">
                          <a:latin typeface="メイリオ" panose="020B0604030504040204" pitchFamily="50" charset="-128"/>
                          <a:ea typeface="メイリオ" panose="020B0604030504040204" pitchFamily="50" charset="-128"/>
                        </a:rPr>
                        <a:t>約</a:t>
                      </a:r>
                      <a:r>
                        <a:rPr kumimoji="1" lang="en-US" altLang="ja-JP" sz="1200">
                          <a:latin typeface="メイリオ" panose="020B0604030504040204" pitchFamily="50" charset="-128"/>
                          <a:ea typeface="メイリオ" panose="020B0604030504040204" pitchFamily="50" charset="-128"/>
                        </a:rPr>
                        <a:t>10</a:t>
                      </a:r>
                      <a:r>
                        <a:rPr kumimoji="1" lang="ja-JP" altLang="en-US" sz="1200">
                          <a:latin typeface="メイリオ" panose="020B0604030504040204" pitchFamily="50" charset="-128"/>
                          <a:ea typeface="メイリオ" panose="020B0604030504040204" pitchFamily="50" charset="-128"/>
                        </a:rPr>
                        <a:t>兆円</a:t>
                      </a:r>
                      <a:r>
                        <a:rPr kumimoji="1" lang="en-US" altLang="ja-JP" sz="1200">
                          <a:latin typeface="メイリオ" panose="020B0604030504040204" pitchFamily="50" charset="-128"/>
                          <a:ea typeface="メイリオ" panose="020B0604030504040204" pitchFamily="50" charset="-128"/>
                        </a:rPr>
                        <a:t>)</a:t>
                      </a:r>
                      <a:endParaRPr kumimoji="1" lang="ja-JP" altLang="en-US" sz="1200">
                        <a:latin typeface="メイリオ" panose="020B0604030504040204" pitchFamily="50" charset="-128"/>
                        <a:ea typeface="メイリオ" panose="020B0604030504040204" pitchFamily="50" charset="-128"/>
                      </a:endParaRPr>
                    </a:p>
                  </a:txBody>
                  <a:tcPr anchor="ctr"/>
                </a:tc>
                <a:tc>
                  <a:txBody>
                    <a:bodyPr/>
                    <a:lstStyle/>
                    <a:p>
                      <a:pPr algn="ctr"/>
                      <a:r>
                        <a:rPr kumimoji="1" lang="en-US" altLang="ja-JP" sz="1200">
                          <a:latin typeface="メイリオ" panose="020B0604030504040204" pitchFamily="50" charset="-128"/>
                          <a:ea typeface="メイリオ" panose="020B0604030504040204" pitchFamily="50" charset="-128"/>
                        </a:rPr>
                        <a:t>7,175</a:t>
                      </a:r>
                      <a:r>
                        <a:rPr kumimoji="1" lang="ja-JP" altLang="en-US" sz="1200">
                          <a:latin typeface="メイリオ" panose="020B0604030504040204" pitchFamily="50" charset="-128"/>
                          <a:ea typeface="メイリオ" panose="020B0604030504040204" pitchFamily="50" charset="-128"/>
                        </a:rPr>
                        <a:t>億円</a:t>
                      </a:r>
                      <a:r>
                        <a:rPr kumimoji="1" lang="en-US" altLang="ja-JP" sz="1050">
                          <a:latin typeface="メイリオ" panose="020B0604030504040204" pitchFamily="50" charset="-128"/>
                          <a:ea typeface="メイリオ" panose="020B0604030504040204" pitchFamily="50" charset="-128"/>
                        </a:rPr>
                        <a:t>(2024</a:t>
                      </a:r>
                      <a:r>
                        <a:rPr kumimoji="1" lang="ja-JP" altLang="en-US" sz="1050">
                          <a:latin typeface="メイリオ" panose="020B0604030504040204" pitchFamily="50" charset="-128"/>
                          <a:ea typeface="メイリオ" panose="020B0604030504040204" pitchFamily="50" charset="-128"/>
                        </a:rPr>
                        <a:t>年</a:t>
                      </a:r>
                      <a:r>
                        <a:rPr kumimoji="1" lang="en-US" altLang="ja-JP" sz="1050">
                          <a:latin typeface="メイリオ" panose="020B0604030504040204" pitchFamily="50" charset="-128"/>
                          <a:ea typeface="メイリオ" panose="020B0604030504040204" pitchFamily="50" charset="-128"/>
                        </a:rPr>
                        <a:t>8</a:t>
                      </a:r>
                      <a:r>
                        <a:rPr kumimoji="1" lang="ja-JP" altLang="en-US" sz="1050">
                          <a:latin typeface="メイリオ" panose="020B0604030504040204" pitchFamily="50" charset="-128"/>
                          <a:ea typeface="メイリオ" panose="020B0604030504040204" pitchFamily="50" charset="-128"/>
                        </a:rPr>
                        <a:t>月期</a:t>
                      </a:r>
                      <a:r>
                        <a:rPr kumimoji="1" lang="en-US" altLang="ja-JP" sz="1050">
                          <a:latin typeface="メイリオ" panose="020B0604030504040204" pitchFamily="50" charset="-128"/>
                          <a:ea typeface="メイリオ" panose="020B0604030504040204" pitchFamily="50" charset="-128"/>
                        </a:rPr>
                        <a:t>)</a:t>
                      </a:r>
                      <a:endParaRPr kumimoji="1" lang="ja-JP" altLang="en-US" sz="1200">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2566563899"/>
                  </a:ext>
                </a:extLst>
              </a:tr>
              <a:tr h="370840">
                <a:tc>
                  <a:txBody>
                    <a:bodyPr/>
                    <a:lstStyle/>
                    <a:p>
                      <a:pPr algn="ctr"/>
                      <a:r>
                        <a:rPr kumimoji="1" lang="ja-JP" altLang="en-US" sz="1200">
                          <a:latin typeface="メイリオ" panose="020B0604030504040204" pitchFamily="50" charset="-128"/>
                          <a:ea typeface="メイリオ" panose="020B0604030504040204" pitchFamily="50" charset="-128"/>
                        </a:rPr>
                        <a:t>マネージドサービス</a:t>
                      </a:r>
                      <a:br>
                        <a:rPr kumimoji="1" lang="en-US" altLang="ja-JP" sz="1200">
                          <a:latin typeface="メイリオ" panose="020B0604030504040204" pitchFamily="50" charset="-128"/>
                          <a:ea typeface="メイリオ" panose="020B0604030504040204" pitchFamily="50" charset="-128"/>
                        </a:rPr>
                      </a:br>
                      <a:r>
                        <a:rPr kumimoji="1" lang="en-US" altLang="ja-JP" sz="1200">
                          <a:latin typeface="メイリオ" panose="020B0604030504040204" pitchFamily="50" charset="-128"/>
                          <a:ea typeface="メイリオ" panose="020B0604030504040204" pitchFamily="50" charset="-128"/>
                        </a:rPr>
                        <a:t>(IT</a:t>
                      </a:r>
                      <a:r>
                        <a:rPr kumimoji="1" lang="ja-JP" altLang="en-US" sz="1200">
                          <a:latin typeface="メイリオ" panose="020B0604030504040204" pitchFamily="50" charset="-128"/>
                          <a:ea typeface="メイリオ" panose="020B0604030504040204" pitchFamily="50" charset="-128"/>
                        </a:rPr>
                        <a:t>運用 </a:t>
                      </a:r>
                      <a:r>
                        <a:rPr kumimoji="1" lang="en-US" altLang="ja-JP" sz="1200">
                          <a:latin typeface="メイリオ" panose="020B0604030504040204" pitchFamily="50" charset="-128"/>
                          <a:ea typeface="メイリオ" panose="020B0604030504040204" pitchFamily="50" charset="-128"/>
                        </a:rPr>
                        <a:t>+ BPO)</a:t>
                      </a:r>
                      <a:endParaRPr kumimoji="1" lang="ja-JP" altLang="en-US" sz="1200">
                        <a:latin typeface="メイリオ" panose="020B0604030504040204" pitchFamily="50" charset="-128"/>
                        <a:ea typeface="メイリオ" panose="020B0604030504040204" pitchFamily="50" charset="-128"/>
                      </a:endParaRPr>
                    </a:p>
                  </a:txBody>
                  <a:tcPr anchor="ctr"/>
                </a:tc>
                <a:tc>
                  <a:txBody>
                    <a:bodyPr/>
                    <a:lstStyle/>
                    <a:p>
                      <a:pPr algn="ctr"/>
                      <a:r>
                        <a:rPr kumimoji="1" lang="ja-JP" altLang="en-US" sz="1200">
                          <a:latin typeface="メイリオ" panose="020B0604030504040204" pitchFamily="50" charset="-128"/>
                          <a:ea typeface="メイリオ" panose="020B0604030504040204" pitchFamily="50" charset="-128"/>
                        </a:rPr>
                        <a:t>約</a:t>
                      </a:r>
                      <a:r>
                        <a:rPr kumimoji="1" lang="en-US" altLang="ja-JP" sz="1200">
                          <a:latin typeface="メイリオ" panose="020B0604030504040204" pitchFamily="50" charset="-128"/>
                          <a:ea typeface="メイリオ" panose="020B0604030504040204" pitchFamily="50" charset="-128"/>
                        </a:rPr>
                        <a:t>49</a:t>
                      </a:r>
                      <a:r>
                        <a:rPr kumimoji="1" lang="ja-JP" altLang="en-US" sz="1200">
                          <a:latin typeface="メイリオ" panose="020B0604030504040204" pitchFamily="50" charset="-128"/>
                          <a:ea typeface="メイリオ" panose="020B0604030504040204" pitchFamily="50" charset="-128"/>
                        </a:rPr>
                        <a:t>％</a:t>
                      </a:r>
                      <a:r>
                        <a:rPr kumimoji="1" lang="en-US" altLang="ja-JP" sz="1200">
                          <a:latin typeface="メイリオ" panose="020B0604030504040204" pitchFamily="50" charset="-128"/>
                          <a:ea typeface="メイリオ" panose="020B0604030504040204" pitchFamily="50" charset="-128"/>
                        </a:rPr>
                        <a:t>(</a:t>
                      </a:r>
                      <a:r>
                        <a:rPr kumimoji="1" lang="ja-JP" altLang="en-US" sz="1200">
                          <a:latin typeface="メイリオ" panose="020B0604030504040204" pitchFamily="50" charset="-128"/>
                          <a:ea typeface="メイリオ" panose="020B0604030504040204" pitchFamily="50" charset="-128"/>
                        </a:rPr>
                        <a:t>約</a:t>
                      </a:r>
                      <a:r>
                        <a:rPr kumimoji="1" lang="en-US" altLang="ja-JP" sz="1200">
                          <a:latin typeface="メイリオ" panose="020B0604030504040204" pitchFamily="50" charset="-128"/>
                          <a:ea typeface="メイリオ" panose="020B0604030504040204" pitchFamily="50" charset="-128"/>
                        </a:rPr>
                        <a:t>5</a:t>
                      </a:r>
                      <a:r>
                        <a:rPr kumimoji="1" lang="ja-JP" altLang="en-US" sz="1200">
                          <a:latin typeface="メイリオ" panose="020B0604030504040204" pitchFamily="50" charset="-128"/>
                          <a:ea typeface="メイリオ" panose="020B0604030504040204" pitchFamily="50" charset="-128"/>
                        </a:rPr>
                        <a:t>兆円</a:t>
                      </a:r>
                      <a:r>
                        <a:rPr kumimoji="1" lang="en-US" altLang="ja-JP" sz="1200">
                          <a:latin typeface="メイリオ" panose="020B0604030504040204" pitchFamily="50" charset="-128"/>
                          <a:ea typeface="メイリオ" panose="020B0604030504040204" pitchFamily="50" charset="-128"/>
                        </a:rPr>
                        <a:t>)</a:t>
                      </a:r>
                      <a:endParaRPr kumimoji="1" lang="ja-JP" altLang="en-US" sz="1200">
                        <a:latin typeface="メイリオ" panose="020B0604030504040204" pitchFamily="50" charset="-128"/>
                        <a:ea typeface="メイリオ" panose="020B0604030504040204" pitchFamily="50" charset="-128"/>
                      </a:endParaRPr>
                    </a:p>
                  </a:txBody>
                  <a:tcPr anchor="ctr"/>
                </a:tc>
                <a:tc>
                  <a:txBody>
                    <a:bodyPr/>
                    <a:lstStyle/>
                    <a:p>
                      <a:pPr algn="ctr"/>
                      <a:r>
                        <a:rPr kumimoji="1" lang="ja-JP" altLang="en-US" sz="1200">
                          <a:latin typeface="メイリオ" panose="020B0604030504040204" pitchFamily="50" charset="-128"/>
                          <a:ea typeface="メイリオ" panose="020B0604030504040204" pitchFamily="50" charset="-128"/>
                        </a:rPr>
                        <a:t>推定約</a:t>
                      </a:r>
                      <a:r>
                        <a:rPr kumimoji="1" lang="en-US" altLang="ja-JP" sz="1200">
                          <a:latin typeface="メイリオ" panose="020B0604030504040204" pitchFamily="50" charset="-128"/>
                          <a:ea typeface="メイリオ" panose="020B0604030504040204" pitchFamily="50" charset="-128"/>
                        </a:rPr>
                        <a:t>3,500</a:t>
                      </a:r>
                      <a:r>
                        <a:rPr kumimoji="1" lang="ja-JP" altLang="en-US" sz="1200">
                          <a:latin typeface="メイリオ" panose="020B0604030504040204" pitchFamily="50" charset="-128"/>
                          <a:ea typeface="メイリオ" panose="020B0604030504040204" pitchFamily="50" charset="-128"/>
                        </a:rPr>
                        <a:t>億円</a:t>
                      </a:r>
                    </a:p>
                  </a:txBody>
                  <a:tcPr anchor="ctr"/>
                </a:tc>
                <a:extLst>
                  <a:ext uri="{0D108BD9-81ED-4DB2-BD59-A6C34878D82A}">
                    <a16:rowId xmlns:a16="http://schemas.microsoft.com/office/drawing/2014/main" val="4065324594"/>
                  </a:ext>
                </a:extLst>
              </a:tr>
              <a:tr h="259080">
                <a:tc>
                  <a:txBody>
                    <a:bodyPr/>
                    <a:lstStyle/>
                    <a:p>
                      <a:pPr algn="ctr"/>
                      <a:r>
                        <a:rPr kumimoji="1" lang="ja-JP" altLang="en-US" sz="1200">
                          <a:latin typeface="メイリオ" panose="020B0604030504040204" pitchFamily="50" charset="-128"/>
                          <a:ea typeface="メイリオ" panose="020B0604030504040204" pitchFamily="50" charset="-128"/>
                        </a:rPr>
                        <a:t>うちオペレーションズ</a:t>
                      </a:r>
                    </a:p>
                  </a:txBody>
                  <a:tcPr anchor="ctr"/>
                </a:tc>
                <a:tc>
                  <a:txBody>
                    <a:bodyPr/>
                    <a:lstStyle/>
                    <a:p>
                      <a:pPr algn="ctr"/>
                      <a:r>
                        <a:rPr kumimoji="1" lang="ja-JP" altLang="en-US" sz="1200">
                          <a:latin typeface="メイリオ" panose="020B0604030504040204" pitchFamily="50" charset="-128"/>
                          <a:ea typeface="メイリオ" panose="020B0604030504040204" pitchFamily="50" charset="-128"/>
                        </a:rPr>
                        <a:t>約</a:t>
                      </a:r>
                      <a:r>
                        <a:rPr kumimoji="1" lang="en-US" altLang="ja-JP" sz="1200">
                          <a:latin typeface="メイリオ" panose="020B0604030504040204" pitchFamily="50" charset="-128"/>
                          <a:ea typeface="メイリオ" panose="020B0604030504040204" pitchFamily="50" charset="-128"/>
                        </a:rPr>
                        <a:t>14%(</a:t>
                      </a:r>
                      <a:r>
                        <a:rPr kumimoji="1" lang="ja-JP" altLang="en-US" sz="1200">
                          <a:latin typeface="メイリオ" panose="020B0604030504040204" pitchFamily="50" charset="-128"/>
                          <a:ea typeface="メイリオ" panose="020B0604030504040204" pitchFamily="50" charset="-128"/>
                        </a:rPr>
                        <a:t>約</a:t>
                      </a:r>
                      <a:r>
                        <a:rPr kumimoji="1" lang="en-US" altLang="ja-JP" sz="1200">
                          <a:latin typeface="メイリオ" panose="020B0604030504040204" pitchFamily="50" charset="-128"/>
                          <a:ea typeface="メイリオ" panose="020B0604030504040204" pitchFamily="50" charset="-128"/>
                        </a:rPr>
                        <a:t>1.5</a:t>
                      </a:r>
                      <a:r>
                        <a:rPr kumimoji="1" lang="ja-JP" altLang="en-US" sz="1200">
                          <a:latin typeface="メイリオ" panose="020B0604030504040204" pitchFamily="50" charset="-128"/>
                          <a:ea typeface="メイリオ" panose="020B0604030504040204" pitchFamily="50" charset="-128"/>
                        </a:rPr>
                        <a:t>兆円</a:t>
                      </a:r>
                      <a:r>
                        <a:rPr kumimoji="1" lang="en-US" altLang="ja-JP" sz="1200">
                          <a:latin typeface="メイリオ" panose="020B0604030504040204" pitchFamily="50" charset="-128"/>
                          <a:ea typeface="メイリオ" panose="020B0604030504040204" pitchFamily="50" charset="-128"/>
                        </a:rPr>
                        <a:t>)</a:t>
                      </a:r>
                      <a:endParaRPr kumimoji="1" lang="ja-JP" altLang="en-US" sz="1200">
                        <a:latin typeface="メイリオ" panose="020B0604030504040204" pitchFamily="50" charset="-128"/>
                        <a:ea typeface="メイリオ" panose="020B0604030504040204" pitchFamily="50" charset="-128"/>
                      </a:endParaRPr>
                    </a:p>
                  </a:txBody>
                  <a:tcPr anchor="ctr"/>
                </a:tc>
                <a:tc>
                  <a:txBody>
                    <a:bodyPr/>
                    <a:lstStyle/>
                    <a:p>
                      <a:pPr algn="ctr"/>
                      <a:r>
                        <a:rPr kumimoji="1" lang="ja-JP" altLang="en-US" sz="1200">
                          <a:latin typeface="メイリオ" panose="020B0604030504040204" pitchFamily="50" charset="-128"/>
                          <a:ea typeface="メイリオ" panose="020B0604030504040204" pitchFamily="50" charset="-128"/>
                        </a:rPr>
                        <a:t>推定約</a:t>
                      </a:r>
                      <a:r>
                        <a:rPr kumimoji="1" lang="en-US" altLang="ja-JP" sz="1200">
                          <a:latin typeface="メイリオ" panose="020B0604030504040204" pitchFamily="50" charset="-128"/>
                          <a:ea typeface="メイリオ" panose="020B0604030504040204" pitchFamily="50" charset="-128"/>
                        </a:rPr>
                        <a:t>1,000</a:t>
                      </a:r>
                      <a:r>
                        <a:rPr kumimoji="1" lang="ja-JP" altLang="en-US" sz="1200">
                          <a:latin typeface="メイリオ" panose="020B0604030504040204" pitchFamily="50" charset="-128"/>
                          <a:ea typeface="メイリオ" panose="020B0604030504040204" pitchFamily="50" charset="-128"/>
                        </a:rPr>
                        <a:t>億円</a:t>
                      </a:r>
                    </a:p>
                  </a:txBody>
                  <a:tcPr anchor="ctr"/>
                </a:tc>
                <a:extLst>
                  <a:ext uri="{0D108BD9-81ED-4DB2-BD59-A6C34878D82A}">
                    <a16:rowId xmlns:a16="http://schemas.microsoft.com/office/drawing/2014/main" val="3043037330"/>
                  </a:ext>
                </a:extLst>
              </a:tr>
              <a:tr h="259080">
                <a:tc>
                  <a:txBody>
                    <a:bodyPr/>
                    <a:lstStyle/>
                    <a:p>
                      <a:pPr algn="ctr"/>
                      <a:r>
                        <a:rPr kumimoji="1" lang="ja-JP" altLang="en-US" sz="1200">
                          <a:latin typeface="メイリオ" panose="020B0604030504040204" pitchFamily="50" charset="-128"/>
                          <a:ea typeface="メイリオ" panose="020B0604030504040204" pitchFamily="50" charset="-128"/>
                        </a:rPr>
                        <a:t>市場シェア</a:t>
                      </a:r>
                    </a:p>
                  </a:txBody>
                  <a:tcPr anchor="ctr"/>
                </a:tc>
                <a:tc>
                  <a:txBody>
                    <a:bodyPr/>
                    <a:lstStyle/>
                    <a:p>
                      <a:pPr algn="ctr"/>
                      <a:r>
                        <a:rPr kumimoji="1" lang="ja-JP" altLang="en-US" sz="1200">
                          <a:latin typeface="メイリオ" panose="020B0604030504040204" pitchFamily="50" charset="-128"/>
                          <a:ea typeface="メイリオ" panose="020B0604030504040204" pitchFamily="50" charset="-128"/>
                        </a:rPr>
                        <a:t>世界</a:t>
                      </a:r>
                      <a:r>
                        <a:rPr kumimoji="1" lang="en-US" altLang="ja-JP" sz="1200">
                          <a:latin typeface="メイリオ" panose="020B0604030504040204" pitchFamily="50" charset="-128"/>
                          <a:ea typeface="メイリオ" panose="020B0604030504040204" pitchFamily="50" charset="-128"/>
                        </a:rPr>
                        <a:t>1</a:t>
                      </a:r>
                      <a:r>
                        <a:rPr kumimoji="1" lang="ja-JP" altLang="en-US" sz="1200">
                          <a:latin typeface="メイリオ" panose="020B0604030504040204" pitchFamily="50" charset="-128"/>
                          <a:ea typeface="メイリオ" panose="020B0604030504040204" pitchFamily="50" charset="-128"/>
                        </a:rPr>
                        <a:t>位</a:t>
                      </a:r>
                      <a:r>
                        <a:rPr kumimoji="1" lang="en-US" altLang="ja-JP" sz="1200">
                          <a:latin typeface="メイリオ" panose="020B0604030504040204" pitchFamily="50" charset="-128"/>
                          <a:ea typeface="メイリオ" panose="020B0604030504040204" pitchFamily="50" charset="-128"/>
                        </a:rPr>
                        <a:t>(10.24%)</a:t>
                      </a:r>
                      <a:endParaRPr kumimoji="1" lang="ja-JP" altLang="en-US" sz="1200">
                        <a:latin typeface="メイリオ" panose="020B0604030504040204" pitchFamily="50" charset="-128"/>
                        <a:ea typeface="メイリオ" panose="020B0604030504040204" pitchFamily="50" charset="-128"/>
                      </a:endParaRPr>
                    </a:p>
                  </a:txBody>
                  <a:tcPr anchor="ctr"/>
                </a:tc>
                <a:tc>
                  <a:txBody>
                    <a:bodyPr/>
                    <a:lstStyle/>
                    <a:p>
                      <a:pPr algn="ctr"/>
                      <a:r>
                        <a:rPr kumimoji="1" lang="ja-JP" altLang="en-US" sz="1200">
                          <a:latin typeface="メイリオ" panose="020B0604030504040204" pitchFamily="50" charset="-128"/>
                          <a:ea typeface="メイリオ" panose="020B0604030504040204" pitchFamily="50" charset="-128"/>
                        </a:rPr>
                        <a:t>国別売上</a:t>
                      </a:r>
                      <a:r>
                        <a:rPr kumimoji="1" lang="en-US" altLang="ja-JP" sz="1200">
                          <a:latin typeface="メイリオ" panose="020B0604030504040204" pitchFamily="50" charset="-128"/>
                          <a:ea typeface="メイリオ" panose="020B0604030504040204" pitchFamily="50" charset="-128"/>
                        </a:rPr>
                        <a:t>2</a:t>
                      </a:r>
                      <a:r>
                        <a:rPr kumimoji="1" lang="ja-JP" altLang="en-US" sz="1200">
                          <a:latin typeface="メイリオ" panose="020B0604030504040204" pitchFamily="50" charset="-128"/>
                          <a:ea typeface="メイリオ" panose="020B0604030504040204" pitchFamily="50" charset="-128"/>
                        </a:rPr>
                        <a:t>位</a:t>
                      </a:r>
                      <a:endParaRPr kumimoji="1" lang="en-US" altLang="ja-JP" sz="1200">
                        <a:latin typeface="メイリオ" panose="020B0604030504040204" pitchFamily="50" charset="-128"/>
                        <a:ea typeface="メイリオ" panose="020B0604030504040204" pitchFamily="50" charset="-128"/>
                      </a:endParaRPr>
                    </a:p>
                    <a:p>
                      <a:pPr algn="ctr"/>
                      <a:r>
                        <a:rPr kumimoji="1" lang="en-US" altLang="ja-JP" sz="1200">
                          <a:latin typeface="メイリオ" panose="020B0604030504040204" pitchFamily="50" charset="-128"/>
                          <a:ea typeface="メイリオ" panose="020B0604030504040204" pitchFamily="50" charset="-128"/>
                        </a:rPr>
                        <a:t>(</a:t>
                      </a:r>
                      <a:r>
                        <a:rPr kumimoji="1" lang="ja-JP" altLang="en-US" sz="1200">
                          <a:latin typeface="メイリオ" panose="020B0604030504040204" pitchFamily="50" charset="-128"/>
                          <a:ea typeface="メイリオ" panose="020B0604030504040204" pitchFamily="50" charset="-128"/>
                        </a:rPr>
                        <a:t>米国に次ぐ</a:t>
                      </a:r>
                      <a:r>
                        <a:rPr kumimoji="1" lang="en-US" altLang="ja-JP" sz="1200">
                          <a:latin typeface="メイリオ" panose="020B0604030504040204" pitchFamily="50" charset="-128"/>
                          <a:ea typeface="メイリオ" panose="020B0604030504040204" pitchFamily="50" charset="-128"/>
                        </a:rPr>
                        <a:t>)</a:t>
                      </a:r>
                      <a:endParaRPr kumimoji="1" lang="ja-JP" altLang="en-US" sz="1200">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333260440"/>
                  </a:ext>
                </a:extLst>
              </a:tr>
              <a:tr h="370840">
                <a:tc>
                  <a:txBody>
                    <a:bodyPr/>
                    <a:lstStyle/>
                    <a:p>
                      <a:pPr algn="ctr"/>
                      <a:r>
                        <a:rPr kumimoji="1" lang="en-US" altLang="ja-JP" sz="1200">
                          <a:latin typeface="メイリオ" panose="020B0604030504040204" pitchFamily="50" charset="-128"/>
                          <a:ea typeface="メイリオ" panose="020B0604030504040204" pitchFamily="50" charset="-128"/>
                        </a:rPr>
                        <a:t>BPO</a:t>
                      </a:r>
                      <a:r>
                        <a:rPr kumimoji="1" lang="ja-JP" altLang="en-US" sz="1200">
                          <a:latin typeface="メイリオ" panose="020B0604030504040204" pitchFamily="50" charset="-128"/>
                          <a:ea typeface="メイリオ" panose="020B0604030504040204" pitchFamily="50" charset="-128"/>
                        </a:rPr>
                        <a:t>従事者</a:t>
                      </a:r>
                    </a:p>
                  </a:txBody>
                  <a:tcPr anchor="ctr"/>
                </a:tc>
                <a:tc>
                  <a:txBody>
                    <a:bodyPr/>
                    <a:lstStyle/>
                    <a:p>
                      <a:pPr algn="ctr"/>
                      <a:r>
                        <a:rPr kumimoji="1" lang="en-US" altLang="ja-JP" sz="1200">
                          <a:latin typeface="メイリオ" panose="020B0604030504040204" pitchFamily="50" charset="-128"/>
                          <a:ea typeface="メイリオ" panose="020B0604030504040204" pitchFamily="50" charset="-128"/>
                        </a:rPr>
                        <a:t>21.9</a:t>
                      </a:r>
                      <a:r>
                        <a:rPr kumimoji="1" lang="ja-JP" altLang="en-US" sz="1200">
                          <a:latin typeface="メイリオ" panose="020B0604030504040204" pitchFamily="50" charset="-128"/>
                          <a:ea typeface="メイリオ" panose="020B0604030504040204" pitchFamily="50" charset="-128"/>
                        </a:rPr>
                        <a:t>万人</a:t>
                      </a:r>
                    </a:p>
                  </a:txBody>
                  <a:tcPr anchor="ctr"/>
                </a:tc>
                <a:tc>
                  <a:txBody>
                    <a:bodyPr/>
                    <a:lstStyle/>
                    <a:p>
                      <a:pPr algn="ctr"/>
                      <a:r>
                        <a:rPr kumimoji="1" lang="en-US" altLang="ja-JP" sz="1200">
                          <a:latin typeface="メイリオ" panose="020B0604030504040204" pitchFamily="50" charset="-128"/>
                          <a:ea typeface="メイリオ" panose="020B0604030504040204" pitchFamily="50" charset="-128"/>
                        </a:rPr>
                        <a:t>2.3</a:t>
                      </a:r>
                      <a:r>
                        <a:rPr kumimoji="1" lang="ja-JP" altLang="en-US" sz="1200">
                          <a:latin typeface="メイリオ" panose="020B0604030504040204" pitchFamily="50" charset="-128"/>
                          <a:ea typeface="メイリオ" panose="020B0604030504040204" pitchFamily="50" charset="-128"/>
                        </a:rPr>
                        <a:t>万人</a:t>
                      </a:r>
                    </a:p>
                  </a:txBody>
                  <a:tcPr anchor="ctr"/>
                </a:tc>
                <a:extLst>
                  <a:ext uri="{0D108BD9-81ED-4DB2-BD59-A6C34878D82A}">
                    <a16:rowId xmlns:a16="http://schemas.microsoft.com/office/drawing/2014/main" val="562444929"/>
                  </a:ext>
                </a:extLst>
              </a:tr>
            </a:tbl>
          </a:graphicData>
        </a:graphic>
      </p:graphicFrame>
      <p:sp>
        <p:nvSpPr>
          <p:cNvPr id="19" name="テキスト ボックス 18">
            <a:extLst>
              <a:ext uri="{FF2B5EF4-FFF2-40B4-BE49-F238E27FC236}">
                <a16:creationId xmlns:a16="http://schemas.microsoft.com/office/drawing/2014/main" id="{41B5D906-D697-6942-07E0-90AAF0A47B1E}"/>
              </a:ext>
            </a:extLst>
          </p:cNvPr>
          <p:cNvSpPr txBox="1"/>
          <p:nvPr/>
        </p:nvSpPr>
        <p:spPr>
          <a:xfrm>
            <a:off x="370095" y="3566439"/>
            <a:ext cx="5616092" cy="623248"/>
          </a:xfrm>
          <a:prstGeom prst="rect">
            <a:avLst/>
          </a:prstGeom>
          <a:noFill/>
        </p:spPr>
        <p:txBody>
          <a:bodyPr wrap="square" rtlCol="0">
            <a:spAutoFit/>
          </a:bodyPr>
          <a:lstStyle/>
          <a:p>
            <a:pPr>
              <a:lnSpc>
                <a:spcPct val="150000"/>
              </a:lnSpc>
            </a:pPr>
            <a:r>
              <a:rPr lang="ja-JP" altLang="en-US" sz="1200" b="1">
                <a:latin typeface="メイリオ" panose="020B0604030504040204" pitchFamily="50" charset="-128"/>
                <a:ea typeface="メイリオ" panose="020B0604030504040204" pitchFamily="50" charset="-128"/>
              </a:rPr>
              <a:t>➡ マネージドサービス推定約</a:t>
            </a:r>
            <a:r>
              <a:rPr lang="en-US" altLang="ja-JP" sz="1200" b="1">
                <a:latin typeface="メイリオ" panose="020B0604030504040204" pitchFamily="50" charset="-128"/>
                <a:ea typeface="メイリオ" panose="020B0604030504040204" pitchFamily="50" charset="-128"/>
              </a:rPr>
              <a:t>3,500</a:t>
            </a:r>
            <a:r>
              <a:rPr lang="ja-JP" altLang="en-US" sz="1200" b="1">
                <a:latin typeface="メイリオ" panose="020B0604030504040204" pitchFamily="50" charset="-128"/>
                <a:ea typeface="メイリオ" panose="020B0604030504040204" pitchFamily="50" charset="-128"/>
              </a:rPr>
              <a:t>億円は</a:t>
            </a:r>
            <a:r>
              <a:rPr lang="ja-JP" altLang="en-US" sz="1200" b="1">
                <a:latin typeface="メイリオ" panose="020B0604030504040204" pitchFamily="50" charset="-128"/>
                <a:ea typeface="メイリオ" panose="020B0604030504040204" pitchFamily="50" charset="-128"/>
                <a:hlinkClick r:id="rId2"/>
              </a:rPr>
              <a:t>トランスコスモス</a:t>
            </a:r>
            <a:r>
              <a:rPr lang="en-US" altLang="ja-JP" sz="1200" b="1">
                <a:latin typeface="メイリオ" panose="020B0604030504040204" pitchFamily="50" charset="-128"/>
                <a:ea typeface="メイリオ" panose="020B0604030504040204" pitchFamily="50" charset="-128"/>
                <a:hlinkClick r:id="rId2"/>
              </a:rPr>
              <a:t>(2025</a:t>
            </a:r>
            <a:r>
              <a:rPr lang="ja-JP" altLang="en-US" sz="1200" b="1">
                <a:latin typeface="メイリオ" panose="020B0604030504040204" pitchFamily="50" charset="-128"/>
                <a:ea typeface="メイリオ" panose="020B0604030504040204" pitchFamily="50" charset="-128"/>
                <a:hlinkClick r:id="rId2"/>
              </a:rPr>
              <a:t>年</a:t>
            </a:r>
            <a:r>
              <a:rPr lang="en-US" altLang="ja-JP" sz="1200" b="1">
                <a:latin typeface="メイリオ" panose="020B0604030504040204" pitchFamily="50" charset="-128"/>
                <a:ea typeface="メイリオ" panose="020B0604030504040204" pitchFamily="50" charset="-128"/>
                <a:hlinkClick r:id="rId2"/>
              </a:rPr>
              <a:t>3</a:t>
            </a:r>
            <a:r>
              <a:rPr lang="ja-JP" altLang="en-US" sz="1200" b="1">
                <a:latin typeface="メイリオ" panose="020B0604030504040204" pitchFamily="50" charset="-128"/>
                <a:ea typeface="メイリオ" panose="020B0604030504040204" pitchFamily="50" charset="-128"/>
                <a:hlinkClick r:id="rId2"/>
              </a:rPr>
              <a:t>月期</a:t>
            </a:r>
            <a:r>
              <a:rPr lang="en-US" altLang="ja-JP" sz="1200" b="1">
                <a:latin typeface="メイリオ" panose="020B0604030504040204" pitchFamily="50" charset="-128"/>
                <a:ea typeface="メイリオ" panose="020B0604030504040204" pitchFamily="50" charset="-128"/>
                <a:hlinkClick r:id="rId2"/>
              </a:rPr>
              <a:t>)</a:t>
            </a:r>
            <a:r>
              <a:rPr lang="ja-JP" altLang="en-US" sz="1200" b="1">
                <a:latin typeface="メイリオ" panose="020B0604030504040204" pitchFamily="50" charset="-128"/>
                <a:ea typeface="メイリオ" panose="020B0604030504040204" pitchFamily="50" charset="-128"/>
                <a:hlinkClick r:id="rId2"/>
              </a:rPr>
              <a:t>連結売上</a:t>
            </a:r>
            <a:r>
              <a:rPr lang="en-US" altLang="ja-JP" sz="1200" b="1">
                <a:latin typeface="メイリオ" panose="020B0604030504040204" pitchFamily="50" charset="-128"/>
                <a:ea typeface="メイリオ" panose="020B0604030504040204" pitchFamily="50" charset="-128"/>
                <a:hlinkClick r:id="rId2"/>
              </a:rPr>
              <a:t>(</a:t>
            </a:r>
            <a:r>
              <a:rPr lang="ja-JP" altLang="en-US" sz="1200" b="1">
                <a:latin typeface="メイリオ" panose="020B0604030504040204" pitchFamily="50" charset="-128"/>
                <a:ea typeface="メイリオ" panose="020B0604030504040204" pitchFamily="50" charset="-128"/>
                <a:hlinkClick r:id="rId2"/>
              </a:rPr>
              <a:t>約</a:t>
            </a:r>
            <a:r>
              <a:rPr lang="en-US" altLang="ja-JP" sz="1200" b="1">
                <a:latin typeface="メイリオ" panose="020B0604030504040204" pitchFamily="50" charset="-128"/>
                <a:ea typeface="メイリオ" panose="020B0604030504040204" pitchFamily="50" charset="-128"/>
                <a:hlinkClick r:id="rId2"/>
              </a:rPr>
              <a:t>3,758</a:t>
            </a:r>
            <a:r>
              <a:rPr lang="ja-JP" altLang="en-US" sz="1200" b="1">
                <a:latin typeface="メイリオ" panose="020B0604030504040204" pitchFamily="50" charset="-128"/>
                <a:ea typeface="メイリオ" panose="020B0604030504040204" pitchFamily="50" charset="-128"/>
                <a:hlinkClick r:id="rId2"/>
              </a:rPr>
              <a:t>億円</a:t>
            </a:r>
            <a:r>
              <a:rPr lang="en-US" altLang="ja-JP" sz="1200" b="1">
                <a:latin typeface="メイリオ" panose="020B0604030504040204" pitchFamily="50" charset="-128"/>
                <a:ea typeface="メイリオ" panose="020B0604030504040204" pitchFamily="50" charset="-128"/>
                <a:hlinkClick r:id="rId2"/>
              </a:rPr>
              <a:t>)</a:t>
            </a:r>
            <a:r>
              <a:rPr lang="ja-JP" altLang="en-US" sz="1200" b="1">
                <a:latin typeface="メイリオ" panose="020B0604030504040204" pitchFamily="50" charset="-128"/>
                <a:ea typeface="メイリオ" panose="020B0604030504040204" pitchFamily="50" charset="-128"/>
              </a:rPr>
              <a:t>と同規模　</a:t>
            </a:r>
            <a:r>
              <a:rPr kumimoji="1" lang="en-US" altLang="ja-JP" sz="1000">
                <a:latin typeface="メイリオ" panose="020B0604030504040204" pitchFamily="50" charset="-128"/>
                <a:ea typeface="メイリオ" panose="020B0604030504040204" pitchFamily="50" charset="-128"/>
              </a:rPr>
              <a:t>※</a:t>
            </a:r>
            <a:r>
              <a:rPr kumimoji="1" lang="ja-JP" altLang="en-US" sz="1000">
                <a:latin typeface="メイリオ" panose="020B0604030504040204" pitchFamily="50" charset="-128"/>
                <a:ea typeface="メイリオ" panose="020B0604030504040204" pitchFamily="50" charset="-128"/>
              </a:rPr>
              <a:t>事業構成は異なる（</a:t>
            </a:r>
            <a:r>
              <a:rPr kumimoji="1" lang="en-US" altLang="ja-JP" sz="1000">
                <a:latin typeface="メイリオ" panose="020B0604030504040204" pitchFamily="50" charset="-128"/>
                <a:ea typeface="メイリオ" panose="020B0604030504040204" pitchFamily="50" charset="-128"/>
              </a:rPr>
              <a:t>CX 7</a:t>
            </a:r>
            <a:r>
              <a:rPr kumimoji="1" lang="ja-JP" altLang="en-US" sz="1000">
                <a:latin typeface="メイリオ" panose="020B0604030504040204" pitchFamily="50" charset="-128"/>
                <a:ea typeface="メイリオ" panose="020B0604030504040204" pitchFamily="50" charset="-128"/>
              </a:rPr>
              <a:t>割：</a:t>
            </a:r>
            <a:r>
              <a:rPr kumimoji="1" lang="en-US" altLang="ja-JP" sz="1000">
                <a:latin typeface="メイリオ" panose="020B0604030504040204" pitchFamily="50" charset="-128"/>
                <a:ea typeface="メイリオ" panose="020B0604030504040204" pitchFamily="50" charset="-128"/>
              </a:rPr>
              <a:t>BPO 3</a:t>
            </a:r>
            <a:r>
              <a:rPr kumimoji="1" lang="ja-JP" altLang="en-US" sz="1000">
                <a:latin typeface="メイリオ" panose="020B0604030504040204" pitchFamily="50" charset="-128"/>
                <a:ea typeface="メイリオ" panose="020B0604030504040204" pitchFamily="50" charset="-128"/>
              </a:rPr>
              <a:t>割）</a:t>
            </a:r>
            <a:endParaRPr kumimoji="1" lang="en-US" altLang="ja-JP" sz="1200">
              <a:latin typeface="メイリオ" panose="020B0604030504040204" pitchFamily="50" charset="-128"/>
              <a:ea typeface="メイリオ" panose="020B0604030504040204" pitchFamily="50" charset="-128"/>
            </a:endParaRPr>
          </a:p>
        </p:txBody>
      </p:sp>
      <p:sp>
        <p:nvSpPr>
          <p:cNvPr id="20" name="テキスト ボックス 19">
            <a:extLst>
              <a:ext uri="{FF2B5EF4-FFF2-40B4-BE49-F238E27FC236}">
                <a16:creationId xmlns:a16="http://schemas.microsoft.com/office/drawing/2014/main" id="{33414942-2D23-06A3-0217-2F30C5D69DC9}"/>
              </a:ext>
            </a:extLst>
          </p:cNvPr>
          <p:cNvSpPr txBox="1"/>
          <p:nvPr/>
        </p:nvSpPr>
        <p:spPr>
          <a:xfrm>
            <a:off x="267388" y="4466523"/>
            <a:ext cx="5718796" cy="1953420"/>
          </a:xfrm>
          <a:prstGeom prst="rect">
            <a:avLst/>
          </a:prstGeom>
          <a:noFill/>
        </p:spPr>
        <p:txBody>
          <a:bodyPr wrap="square" rtlCol="0">
            <a:spAutoFit/>
          </a:bodyPr>
          <a:lstStyle/>
          <a:p>
            <a:pPr>
              <a:lnSpc>
                <a:spcPct val="150000"/>
              </a:lnSpc>
            </a:pPr>
            <a:r>
              <a:rPr lang="ja-JP" altLang="en-US" sz="1400" b="1">
                <a:latin typeface="メイリオ" panose="020B0604030504040204" pitchFamily="50" charset="-128"/>
                <a:ea typeface="メイリオ" panose="020B0604030504040204" pitchFamily="50" charset="-128"/>
              </a:rPr>
              <a:t>アクセンチュアの</a:t>
            </a:r>
            <a:r>
              <a:rPr lang="en-US" altLang="ja-JP" sz="1400" b="1">
                <a:latin typeface="メイリオ" panose="020B0604030504040204" pitchFamily="50" charset="-128"/>
                <a:ea typeface="メイリオ" panose="020B0604030504040204" pitchFamily="50" charset="-128"/>
              </a:rPr>
              <a:t>AI</a:t>
            </a:r>
            <a:r>
              <a:rPr lang="ja-JP" altLang="en-US" sz="1400" b="1">
                <a:latin typeface="メイリオ" panose="020B0604030504040204" pitchFamily="50" charset="-128"/>
                <a:ea typeface="メイリオ" panose="020B0604030504040204" pitchFamily="50" charset="-128"/>
              </a:rPr>
              <a:t>戦略：</a:t>
            </a:r>
            <a:endParaRPr lang="en-US" altLang="ja-JP" sz="1400" b="1">
              <a:latin typeface="メイリオ" panose="020B0604030504040204" pitchFamily="50" charset="-128"/>
              <a:ea typeface="メイリオ" panose="020B0604030504040204" pitchFamily="50" charset="-128"/>
            </a:endParaRPr>
          </a:p>
          <a:p>
            <a:pPr marL="171450" indent="-171450">
              <a:lnSpc>
                <a:spcPct val="150000"/>
              </a:lnSpc>
              <a:buFont typeface="Arial" panose="020B0604020202020204" pitchFamily="34" charset="0"/>
              <a:buChar char="•"/>
            </a:pPr>
            <a:r>
              <a:rPr lang="en-US" altLang="ja-JP" sz="1200">
                <a:latin typeface="メイリオ" panose="020B0604030504040204" pitchFamily="50" charset="-128"/>
                <a:ea typeface="メイリオ" panose="020B0604030504040204" pitchFamily="50" charset="-128"/>
                <a:hlinkClick r:id="rId3"/>
              </a:rPr>
              <a:t>50</a:t>
            </a:r>
            <a:r>
              <a:rPr lang="ja-JP" altLang="en-US" sz="1200">
                <a:latin typeface="メイリオ" panose="020B0604030504040204" pitchFamily="50" charset="-128"/>
                <a:ea typeface="メイリオ" panose="020B0604030504040204" pitchFamily="50" charset="-128"/>
                <a:hlinkClick r:id="rId3"/>
              </a:rPr>
              <a:t>万人に</a:t>
            </a:r>
            <a:r>
              <a:rPr lang="en-US" altLang="ja-JP" sz="1200">
                <a:latin typeface="メイリオ" panose="020B0604030504040204" pitchFamily="50" charset="-128"/>
                <a:ea typeface="メイリオ" panose="020B0604030504040204" pitchFamily="50" charset="-128"/>
                <a:hlinkClick r:id="rId3"/>
              </a:rPr>
              <a:t>AI</a:t>
            </a:r>
            <a:r>
              <a:rPr lang="ja-JP" altLang="en-US" sz="1200">
                <a:latin typeface="メイリオ" panose="020B0604030504040204" pitchFamily="50" charset="-128"/>
                <a:ea typeface="メイリオ" panose="020B0604030504040204" pitchFamily="50" charset="-128"/>
                <a:hlinkClick r:id="rId3"/>
              </a:rPr>
              <a:t>研修実施（</a:t>
            </a:r>
            <a:r>
              <a:rPr lang="en-US" altLang="ja-JP" sz="1200">
                <a:latin typeface="メイリオ" panose="020B0604030504040204" pitchFamily="50" charset="-128"/>
                <a:ea typeface="メイリオ" panose="020B0604030504040204" pitchFamily="50" charset="-128"/>
                <a:hlinkClick r:id="rId3"/>
              </a:rPr>
              <a:t>2025</a:t>
            </a:r>
            <a:r>
              <a:rPr lang="ja-JP" altLang="en-US" sz="1200">
                <a:latin typeface="メイリオ" panose="020B0604030504040204" pitchFamily="50" charset="-128"/>
                <a:ea typeface="メイリオ" panose="020B0604030504040204" pitchFamily="50" charset="-128"/>
                <a:hlinkClick r:id="rId3"/>
              </a:rPr>
              <a:t>年</a:t>
            </a:r>
            <a:r>
              <a:rPr lang="en-US" altLang="ja-JP" sz="1200">
                <a:latin typeface="メイリオ" panose="020B0604030504040204" pitchFamily="50" charset="-128"/>
                <a:ea typeface="メイリオ" panose="020B0604030504040204" pitchFamily="50" charset="-128"/>
                <a:hlinkClick r:id="rId3"/>
              </a:rPr>
              <a:t>6</a:t>
            </a:r>
            <a:r>
              <a:rPr lang="ja-JP" altLang="en-US" sz="1200">
                <a:latin typeface="メイリオ" panose="020B0604030504040204" pitchFamily="50" charset="-128"/>
                <a:ea typeface="メイリオ" panose="020B0604030504040204" pitchFamily="50" charset="-128"/>
                <a:hlinkClick r:id="rId3"/>
              </a:rPr>
              <a:t>月） </a:t>
            </a:r>
            <a:endParaRPr lang="en-US" altLang="ja-JP" sz="1200">
              <a:latin typeface="メイリオ" panose="020B0604030504040204" pitchFamily="50" charset="-128"/>
              <a:ea typeface="メイリオ" panose="020B0604030504040204" pitchFamily="50" charset="-128"/>
            </a:endParaRPr>
          </a:p>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hlinkClick r:id="rId4"/>
              </a:rPr>
              <a:t>「数年内に</a:t>
            </a:r>
            <a:r>
              <a:rPr lang="en-US" altLang="ja-JP" sz="1200">
                <a:latin typeface="メイリオ" panose="020B0604030504040204" pitchFamily="50" charset="-128"/>
                <a:ea typeface="メイリオ" panose="020B0604030504040204" pitchFamily="50" charset="-128"/>
                <a:hlinkClick r:id="rId4"/>
              </a:rPr>
              <a:t>AI</a:t>
            </a:r>
            <a:r>
              <a:rPr lang="ja-JP" altLang="en-US" sz="1200">
                <a:latin typeface="メイリオ" panose="020B0604030504040204" pitchFamily="50" charset="-128"/>
                <a:ea typeface="メイリオ" panose="020B0604030504040204" pitchFamily="50" charset="-128"/>
                <a:hlinkClick r:id="rId4"/>
              </a:rPr>
              <a:t>・データ関連を売上の</a:t>
            </a:r>
            <a:r>
              <a:rPr lang="en-US" altLang="ja-JP" sz="1200">
                <a:latin typeface="メイリオ" panose="020B0604030504040204" pitchFamily="50" charset="-128"/>
                <a:ea typeface="メイリオ" panose="020B0604030504040204" pitchFamily="50" charset="-128"/>
                <a:hlinkClick r:id="rId4"/>
              </a:rPr>
              <a:t>8</a:t>
            </a:r>
            <a:r>
              <a:rPr lang="ja-JP" altLang="en-US" sz="1200">
                <a:latin typeface="メイリオ" panose="020B0604030504040204" pitchFamily="50" charset="-128"/>
                <a:ea typeface="メイリオ" panose="020B0604030504040204" pitchFamily="50" charset="-128"/>
                <a:hlinkClick r:id="rId4"/>
              </a:rPr>
              <a:t>割へ」（江川社長発言）（</a:t>
            </a:r>
            <a:r>
              <a:rPr lang="en-US" altLang="ja-JP" sz="1200">
                <a:latin typeface="メイリオ" panose="020B0604030504040204" pitchFamily="50" charset="-128"/>
                <a:ea typeface="メイリオ" panose="020B0604030504040204" pitchFamily="50" charset="-128"/>
                <a:hlinkClick r:id="rId4"/>
              </a:rPr>
              <a:t>2025</a:t>
            </a:r>
            <a:r>
              <a:rPr lang="ja-JP" altLang="en-US" sz="1200">
                <a:latin typeface="メイリオ" panose="020B0604030504040204" pitchFamily="50" charset="-128"/>
                <a:ea typeface="メイリオ" panose="020B0604030504040204" pitchFamily="50" charset="-128"/>
                <a:hlinkClick r:id="rId4"/>
              </a:rPr>
              <a:t>年</a:t>
            </a:r>
            <a:r>
              <a:rPr lang="en-US" altLang="ja-JP" sz="1200">
                <a:latin typeface="メイリオ" panose="020B0604030504040204" pitchFamily="50" charset="-128"/>
                <a:ea typeface="メイリオ" panose="020B0604030504040204" pitchFamily="50" charset="-128"/>
                <a:hlinkClick r:id="rId4"/>
              </a:rPr>
              <a:t>9</a:t>
            </a:r>
            <a:r>
              <a:rPr lang="ja-JP" altLang="en-US" sz="1200">
                <a:latin typeface="メイリオ" panose="020B0604030504040204" pitchFamily="50" charset="-128"/>
                <a:ea typeface="メイリオ" panose="020B0604030504040204" pitchFamily="50" charset="-128"/>
                <a:hlinkClick r:id="rId4"/>
              </a:rPr>
              <a:t>月）</a:t>
            </a:r>
            <a:endParaRPr lang="en-US" altLang="ja-JP" sz="1200">
              <a:latin typeface="メイリオ" panose="020B0604030504040204" pitchFamily="50" charset="-128"/>
              <a:ea typeface="メイリオ" panose="020B0604030504040204" pitchFamily="50" charset="-128"/>
            </a:endParaRPr>
          </a:p>
          <a:p>
            <a:pPr marL="171450" indent="-171450">
              <a:lnSpc>
                <a:spcPct val="150000"/>
              </a:lnSpc>
              <a:buFont typeface="Arial" panose="020B0604020202020204" pitchFamily="34" charset="0"/>
              <a:buChar char="•"/>
            </a:pPr>
            <a:r>
              <a:rPr lang="en-US" altLang="ja-JP" sz="1200" b="1">
                <a:latin typeface="メイリオ" panose="020B0604030504040204" pitchFamily="50" charset="-128"/>
                <a:ea typeface="メイリオ" panose="020B0604030504040204" pitchFamily="50" charset="-128"/>
                <a:hlinkClick r:id="rId4"/>
              </a:rPr>
              <a:t>Anthropic</a:t>
            </a:r>
            <a:r>
              <a:rPr lang="ja-JP" altLang="en-US" sz="1200" b="1">
                <a:latin typeface="メイリオ" panose="020B0604030504040204" pitchFamily="50" charset="-128"/>
                <a:ea typeface="メイリオ" panose="020B0604030504040204" pitchFamily="50" charset="-128"/>
                <a:hlinkClick r:id="rId4"/>
              </a:rPr>
              <a:t>提携（</a:t>
            </a:r>
            <a:r>
              <a:rPr lang="en-US" altLang="ja-JP" sz="1200" b="1">
                <a:latin typeface="メイリオ" panose="020B0604030504040204" pitchFamily="50" charset="-128"/>
                <a:ea typeface="メイリオ" panose="020B0604030504040204" pitchFamily="50" charset="-128"/>
                <a:hlinkClick r:id="rId4"/>
              </a:rPr>
              <a:t>Claude</a:t>
            </a:r>
            <a:r>
              <a:rPr lang="ja-JP" altLang="en-US" sz="1200" b="1">
                <a:latin typeface="メイリオ" panose="020B0604030504040204" pitchFamily="50" charset="-128"/>
                <a:ea typeface="メイリオ" panose="020B0604030504040204" pitchFamily="50" charset="-128"/>
                <a:hlinkClick r:id="rId4"/>
              </a:rPr>
              <a:t>専門家</a:t>
            </a:r>
            <a:r>
              <a:rPr lang="en-US" altLang="ja-JP" sz="1200" b="1">
                <a:latin typeface="メイリオ" panose="020B0604030504040204" pitchFamily="50" charset="-128"/>
                <a:ea typeface="メイリオ" panose="020B0604030504040204" pitchFamily="50" charset="-128"/>
                <a:hlinkClick r:id="rId4"/>
              </a:rPr>
              <a:t>3</a:t>
            </a:r>
            <a:r>
              <a:rPr lang="ja-JP" altLang="en-US" sz="1200" b="1">
                <a:latin typeface="メイリオ" panose="020B0604030504040204" pitchFamily="50" charset="-128"/>
                <a:ea typeface="メイリオ" panose="020B0604030504040204" pitchFamily="50" charset="-128"/>
                <a:hlinkClick r:id="rId4"/>
              </a:rPr>
              <a:t>万人育成）（</a:t>
            </a:r>
            <a:r>
              <a:rPr lang="en-US" altLang="ja-JP" sz="1200" b="1">
                <a:latin typeface="メイリオ" panose="020B0604030504040204" pitchFamily="50" charset="-128"/>
                <a:ea typeface="メイリオ" panose="020B0604030504040204" pitchFamily="50" charset="-128"/>
                <a:hlinkClick r:id="rId4"/>
              </a:rPr>
              <a:t>2025</a:t>
            </a:r>
            <a:r>
              <a:rPr lang="ja-JP" altLang="en-US" sz="1200" b="1">
                <a:latin typeface="メイリオ" panose="020B0604030504040204" pitchFamily="50" charset="-128"/>
                <a:ea typeface="メイリオ" panose="020B0604030504040204" pitchFamily="50" charset="-128"/>
                <a:hlinkClick r:id="rId4"/>
              </a:rPr>
              <a:t>年</a:t>
            </a:r>
            <a:r>
              <a:rPr lang="en-US" altLang="ja-JP" sz="1200" b="1">
                <a:latin typeface="メイリオ" panose="020B0604030504040204" pitchFamily="50" charset="-128"/>
                <a:ea typeface="メイリオ" panose="020B0604030504040204" pitchFamily="50" charset="-128"/>
                <a:hlinkClick r:id="rId4"/>
              </a:rPr>
              <a:t>12</a:t>
            </a:r>
            <a:r>
              <a:rPr lang="ja-JP" altLang="en-US" sz="1200" b="1">
                <a:latin typeface="メイリオ" panose="020B0604030504040204" pitchFamily="50" charset="-128"/>
                <a:ea typeface="メイリオ" panose="020B0604030504040204" pitchFamily="50" charset="-128"/>
                <a:hlinkClick r:id="rId4"/>
              </a:rPr>
              <a:t>月）</a:t>
            </a:r>
            <a:endParaRPr lang="en-US" altLang="ja-JP" sz="1200" b="1">
              <a:latin typeface="メイリオ" panose="020B0604030504040204" pitchFamily="50" charset="-128"/>
              <a:ea typeface="メイリオ" panose="020B0604030504040204" pitchFamily="50" charset="-128"/>
            </a:endParaRPr>
          </a:p>
          <a:p>
            <a:pPr marL="628650" lvl="1" indent="-171450">
              <a:lnSpc>
                <a:spcPct val="150000"/>
              </a:lnSpc>
              <a:buFont typeface="Arial" panose="020B0604020202020204" pitchFamily="34" charset="0"/>
              <a:buChar char="•"/>
            </a:pPr>
            <a:r>
              <a:rPr lang="en-US" altLang="ja-JP" sz="1050" b="1">
                <a:latin typeface="メイリオ" panose="020B0604030504040204" pitchFamily="50" charset="-128"/>
                <a:ea typeface="メイリオ" panose="020B0604030504040204" pitchFamily="50" charset="-128"/>
              </a:rPr>
              <a:t>Claude Code</a:t>
            </a:r>
            <a:r>
              <a:rPr lang="ja-JP" altLang="en-US" sz="1050" b="1">
                <a:latin typeface="メイリオ" panose="020B0604030504040204" pitchFamily="50" charset="-128"/>
                <a:ea typeface="メイリオ" panose="020B0604030504040204" pitchFamily="50" charset="-128"/>
              </a:rPr>
              <a:t>のプレミアパートナーに</a:t>
            </a:r>
            <a:endParaRPr lang="en-US" altLang="ja-JP" sz="1050" b="1">
              <a:latin typeface="メイリオ" panose="020B0604030504040204" pitchFamily="50" charset="-128"/>
              <a:ea typeface="メイリオ" panose="020B0604030504040204" pitchFamily="50" charset="-128"/>
            </a:endParaRPr>
          </a:p>
          <a:p>
            <a:pPr marL="628650" lvl="1" indent="-171450">
              <a:lnSpc>
                <a:spcPct val="150000"/>
              </a:lnSpc>
              <a:buFont typeface="Arial" panose="020B0604020202020204" pitchFamily="34" charset="0"/>
              <a:buChar char="•"/>
            </a:pPr>
            <a:r>
              <a:rPr lang="en-US" altLang="ja-JP" sz="1050">
                <a:latin typeface="メイリオ" panose="020B0604030504040204" pitchFamily="50" charset="-128"/>
                <a:ea typeface="メイリオ" panose="020B0604030504040204" pitchFamily="50" charset="-128"/>
              </a:rPr>
              <a:t>CIO</a:t>
            </a:r>
            <a:r>
              <a:rPr lang="ja-JP" altLang="en-US" sz="1050">
                <a:latin typeface="メイリオ" panose="020B0604030504040204" pitchFamily="50" charset="-128"/>
                <a:ea typeface="メイリオ" panose="020B0604030504040204" pitchFamily="50" charset="-128"/>
              </a:rPr>
              <a:t>向け共同ソリューション</a:t>
            </a:r>
            <a:endParaRPr lang="en-US" altLang="ja-JP" sz="1050">
              <a:latin typeface="メイリオ" panose="020B0604030504040204" pitchFamily="50" charset="-128"/>
              <a:ea typeface="メイリオ" panose="020B0604030504040204" pitchFamily="50" charset="-128"/>
            </a:endParaRPr>
          </a:p>
          <a:p>
            <a:pPr marL="628650" lvl="1" indent="-171450">
              <a:lnSpc>
                <a:spcPct val="150000"/>
              </a:lnSpc>
              <a:buFont typeface="Arial" panose="020B0604020202020204" pitchFamily="34" charset="0"/>
              <a:buChar char="•"/>
            </a:pPr>
            <a:r>
              <a:rPr lang="ja-JP" altLang="en-US" sz="1050">
                <a:latin typeface="メイリオ" panose="020B0604030504040204" pitchFamily="50" charset="-128"/>
                <a:ea typeface="メイリオ" panose="020B0604030504040204" pitchFamily="50" charset="-128"/>
              </a:rPr>
              <a:t>規制産業向けソリューションを共同開発（金融、ヘルスケア、公共など）</a:t>
            </a:r>
            <a:endParaRPr lang="en-US" altLang="ja-JP" sz="1050">
              <a:latin typeface="メイリオ" panose="020B0604030504040204" pitchFamily="50" charset="-128"/>
              <a:ea typeface="メイリオ" panose="020B0604030504040204" pitchFamily="50" charset="-128"/>
            </a:endParaRPr>
          </a:p>
        </p:txBody>
      </p:sp>
      <p:sp>
        <p:nvSpPr>
          <p:cNvPr id="21" name="正方形/長方形 20">
            <a:extLst>
              <a:ext uri="{FF2B5EF4-FFF2-40B4-BE49-F238E27FC236}">
                <a16:creationId xmlns:a16="http://schemas.microsoft.com/office/drawing/2014/main" id="{7F4FA10A-30B9-0EF8-3D44-64AE506D6A02}"/>
              </a:ext>
            </a:extLst>
          </p:cNvPr>
          <p:cNvSpPr/>
          <p:nvPr/>
        </p:nvSpPr>
        <p:spPr>
          <a:xfrm>
            <a:off x="5986186" y="900750"/>
            <a:ext cx="5857457" cy="340403"/>
          </a:xfrm>
          <a:prstGeom prst="rect">
            <a:avLst/>
          </a:prstGeom>
          <a:solidFill>
            <a:srgbClr val="002060"/>
          </a:solidFill>
          <a:ln>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b="1">
                <a:latin typeface="メイリオ" panose="020B0604030504040204" pitchFamily="50" charset="-128"/>
                <a:ea typeface="メイリオ" panose="020B0604030504040204" pitchFamily="50" charset="-128"/>
              </a:rPr>
              <a:t>なぜ上位レイヤーが</a:t>
            </a:r>
            <a:r>
              <a:rPr lang="en-US" altLang="ja-JP" sz="1400" b="1">
                <a:latin typeface="メイリオ" panose="020B0604030504040204" pitchFamily="50" charset="-128"/>
                <a:ea typeface="メイリオ" panose="020B0604030504040204" pitchFamily="50" charset="-128"/>
              </a:rPr>
              <a:t>BPO</a:t>
            </a:r>
            <a:r>
              <a:rPr lang="ja-JP" altLang="en-US" sz="1400" b="1">
                <a:latin typeface="メイリオ" panose="020B0604030504040204" pitchFamily="50" charset="-128"/>
                <a:ea typeface="メイリオ" panose="020B0604030504040204" pitchFamily="50" charset="-128"/>
              </a:rPr>
              <a:t>市場に来るのか</a:t>
            </a:r>
            <a:endParaRPr kumimoji="1" lang="ja-JP" altLang="en-US" sz="1400" b="1">
              <a:solidFill>
                <a:schemeClr val="bg1"/>
              </a:solidFill>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6CE313A9-525C-D09B-F9CB-356549B146B9}"/>
              </a:ext>
            </a:extLst>
          </p:cNvPr>
          <p:cNvSpPr/>
          <p:nvPr/>
        </p:nvSpPr>
        <p:spPr>
          <a:xfrm>
            <a:off x="5986187" y="1315323"/>
            <a:ext cx="2527850" cy="340403"/>
          </a:xfrm>
          <a:prstGeom prst="rect">
            <a:avLst/>
          </a:prstGeom>
          <a:solidFill>
            <a:schemeClr val="bg1">
              <a:lumMod val="65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メイリオ" panose="020B0604030504040204" pitchFamily="50" charset="-128"/>
                <a:ea typeface="メイリオ" panose="020B0604030504040204" pitchFamily="50" charset="-128"/>
              </a:rPr>
              <a:t>従来</a:t>
            </a:r>
          </a:p>
        </p:txBody>
      </p:sp>
      <p:sp>
        <p:nvSpPr>
          <p:cNvPr id="23" name="正方形/長方形 22">
            <a:extLst>
              <a:ext uri="{FF2B5EF4-FFF2-40B4-BE49-F238E27FC236}">
                <a16:creationId xmlns:a16="http://schemas.microsoft.com/office/drawing/2014/main" id="{C4F21C9F-00B0-3933-110A-47CA17584583}"/>
              </a:ext>
            </a:extLst>
          </p:cNvPr>
          <p:cNvSpPr/>
          <p:nvPr/>
        </p:nvSpPr>
        <p:spPr>
          <a:xfrm>
            <a:off x="5986187" y="1655726"/>
            <a:ext cx="2527850" cy="1296196"/>
          </a:xfrm>
          <a:prstGeom prst="rect">
            <a:avLst/>
          </a:prstGeom>
          <a:no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24" name="テキスト ボックス 23">
            <a:extLst>
              <a:ext uri="{FF2B5EF4-FFF2-40B4-BE49-F238E27FC236}">
                <a16:creationId xmlns:a16="http://schemas.microsoft.com/office/drawing/2014/main" id="{DB69CF5B-EA71-1D27-85B4-472880383B75}"/>
              </a:ext>
            </a:extLst>
          </p:cNvPr>
          <p:cNvSpPr txBox="1"/>
          <p:nvPr/>
        </p:nvSpPr>
        <p:spPr>
          <a:xfrm>
            <a:off x="5986187" y="1715201"/>
            <a:ext cx="2527851" cy="1177245"/>
          </a:xfrm>
          <a:prstGeom prst="rect">
            <a:avLst/>
          </a:prstGeom>
          <a:noFill/>
        </p:spPr>
        <p:txBody>
          <a:bodyPr wrap="square" rtlCol="0">
            <a:spAutoFit/>
          </a:bodyPr>
          <a:lstStyle/>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「人を大量に回す」ビジネス → 参入障壁高い</a:t>
            </a:r>
            <a:endParaRPr lang="en-US" altLang="ja-JP" sz="1200">
              <a:latin typeface="メイリオ" panose="020B0604030504040204" pitchFamily="50" charset="-128"/>
              <a:ea typeface="メイリオ" panose="020B0604030504040204" pitchFamily="50" charset="-128"/>
            </a:endParaRPr>
          </a:p>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コンサル</a:t>
            </a:r>
            <a:r>
              <a:rPr lang="en-US" altLang="ja-JP" sz="1200">
                <a:latin typeface="メイリオ" panose="020B0604030504040204" pitchFamily="50" charset="-128"/>
                <a:ea typeface="メイリオ" panose="020B0604030504040204" pitchFamily="50" charset="-128"/>
              </a:rPr>
              <a:t>/SIer</a:t>
            </a:r>
            <a:r>
              <a:rPr lang="ja-JP" altLang="en-US" sz="1200">
                <a:latin typeface="メイリオ" panose="020B0604030504040204" pitchFamily="50" charset="-128"/>
                <a:ea typeface="メイリオ" panose="020B0604030504040204" pitchFamily="50" charset="-128"/>
              </a:rPr>
              <a:t>にとって「利益率が低い」領域</a:t>
            </a:r>
            <a:endParaRPr kumimoji="1" lang="en-US" altLang="ja-JP" sz="1200">
              <a:latin typeface="メイリオ" panose="020B0604030504040204" pitchFamily="50" charset="-128"/>
              <a:ea typeface="メイリオ" panose="020B0604030504040204" pitchFamily="50" charset="-128"/>
            </a:endParaRPr>
          </a:p>
        </p:txBody>
      </p:sp>
      <p:sp>
        <p:nvSpPr>
          <p:cNvPr id="25" name="正方形/長方形 24">
            <a:extLst>
              <a:ext uri="{FF2B5EF4-FFF2-40B4-BE49-F238E27FC236}">
                <a16:creationId xmlns:a16="http://schemas.microsoft.com/office/drawing/2014/main" id="{94E1EB04-E533-41DE-6AEB-2ED2FFDF4FF8}"/>
              </a:ext>
            </a:extLst>
          </p:cNvPr>
          <p:cNvSpPr/>
          <p:nvPr/>
        </p:nvSpPr>
        <p:spPr>
          <a:xfrm>
            <a:off x="9077254" y="1315323"/>
            <a:ext cx="2766391" cy="340403"/>
          </a:xfrm>
          <a:prstGeom prst="rect">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a:latin typeface="メイリオ" panose="020B0604030504040204" pitchFamily="50" charset="-128"/>
                <a:ea typeface="メイリオ" panose="020B0604030504040204" pitchFamily="50" charset="-128"/>
              </a:rPr>
              <a:t>AI</a:t>
            </a:r>
            <a:r>
              <a:rPr kumimoji="1" lang="ja-JP" altLang="en-US">
                <a:latin typeface="メイリオ" panose="020B0604030504040204" pitchFamily="50" charset="-128"/>
                <a:ea typeface="メイリオ" panose="020B0604030504040204" pitchFamily="50" charset="-128"/>
              </a:rPr>
              <a:t>時代</a:t>
            </a:r>
          </a:p>
        </p:txBody>
      </p:sp>
      <p:sp>
        <p:nvSpPr>
          <p:cNvPr id="26" name="正方形/長方形 25">
            <a:extLst>
              <a:ext uri="{FF2B5EF4-FFF2-40B4-BE49-F238E27FC236}">
                <a16:creationId xmlns:a16="http://schemas.microsoft.com/office/drawing/2014/main" id="{4E7CD3BA-1060-1D4E-745A-3440FD667B2D}"/>
              </a:ext>
            </a:extLst>
          </p:cNvPr>
          <p:cNvSpPr/>
          <p:nvPr/>
        </p:nvSpPr>
        <p:spPr>
          <a:xfrm>
            <a:off x="9077254" y="1655726"/>
            <a:ext cx="2766391" cy="1296196"/>
          </a:xfrm>
          <a:prstGeom prst="rect">
            <a:avLst/>
          </a:prstGeom>
          <a:no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27" name="テキスト ボックス 26">
            <a:extLst>
              <a:ext uri="{FF2B5EF4-FFF2-40B4-BE49-F238E27FC236}">
                <a16:creationId xmlns:a16="http://schemas.microsoft.com/office/drawing/2014/main" id="{709C3B86-D269-17A5-531C-D23AEA27CB25}"/>
              </a:ext>
            </a:extLst>
          </p:cNvPr>
          <p:cNvSpPr txBox="1"/>
          <p:nvPr/>
        </p:nvSpPr>
        <p:spPr>
          <a:xfrm>
            <a:off x="9077253" y="1715201"/>
            <a:ext cx="2766392" cy="1177245"/>
          </a:xfrm>
          <a:prstGeom prst="rect">
            <a:avLst/>
          </a:prstGeom>
          <a:noFill/>
        </p:spPr>
        <p:txBody>
          <a:bodyPr wrap="square" rtlCol="0">
            <a:spAutoFit/>
          </a:bodyPr>
          <a:lstStyle/>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少人数・高利益率で運用可能に</a:t>
            </a:r>
            <a:endParaRPr lang="en-US" altLang="ja-JP" sz="1200">
              <a:latin typeface="メイリオ" panose="020B0604030504040204" pitchFamily="50" charset="-128"/>
              <a:ea typeface="メイリオ" panose="020B0604030504040204" pitchFamily="50" charset="-128"/>
            </a:endParaRPr>
          </a:p>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継続収益（ストック型）が取れる</a:t>
            </a:r>
            <a:endParaRPr lang="en-US" altLang="ja-JP" sz="1200">
              <a:latin typeface="メイリオ" panose="020B0604030504040204" pitchFamily="50" charset="-128"/>
              <a:ea typeface="メイリオ" panose="020B0604030504040204" pitchFamily="50" charset="-128"/>
            </a:endParaRPr>
          </a:p>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戦略→実行→運用まで一気通貫で囲い込める</a:t>
            </a:r>
            <a:endParaRPr kumimoji="1" lang="en-US" altLang="ja-JP" sz="1200">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C135E682-E384-B2EB-3CCC-5B90127A0CF8}"/>
              </a:ext>
            </a:extLst>
          </p:cNvPr>
          <p:cNvSpPr txBox="1"/>
          <p:nvPr/>
        </p:nvSpPr>
        <p:spPr>
          <a:xfrm>
            <a:off x="5986186" y="2979937"/>
            <a:ext cx="5857457" cy="346249"/>
          </a:xfrm>
          <a:prstGeom prst="rect">
            <a:avLst/>
          </a:prstGeom>
          <a:noFill/>
        </p:spPr>
        <p:txBody>
          <a:bodyPr wrap="square" rtlCol="0">
            <a:spAutoFit/>
          </a:bodyPr>
          <a:lstStyle/>
          <a:p>
            <a:pPr>
              <a:lnSpc>
                <a:spcPct val="150000"/>
              </a:lnSpc>
            </a:pPr>
            <a:r>
              <a:rPr lang="ja-JP" altLang="en-US" sz="1200" b="1">
                <a:latin typeface="メイリオ" panose="020B0604030504040204" pitchFamily="50" charset="-128"/>
                <a:ea typeface="メイリオ" panose="020B0604030504040204" pitchFamily="50" charset="-128"/>
              </a:rPr>
              <a:t>➡ </a:t>
            </a:r>
            <a:r>
              <a:rPr lang="en-US" altLang="ja-JP" sz="1200" b="1">
                <a:latin typeface="メイリオ" panose="020B0604030504040204" pitchFamily="50" charset="-128"/>
                <a:ea typeface="メイリオ" panose="020B0604030504040204" pitchFamily="50" charset="-128"/>
              </a:rPr>
              <a:t>AI</a:t>
            </a:r>
            <a:r>
              <a:rPr lang="ja-JP" altLang="en-US" sz="1200" b="1">
                <a:latin typeface="メイリオ" panose="020B0604030504040204" pitchFamily="50" charset="-128"/>
                <a:ea typeface="メイリオ" panose="020B0604030504040204" pitchFamily="50" charset="-128"/>
              </a:rPr>
              <a:t>が</a:t>
            </a:r>
            <a:r>
              <a:rPr lang="en-US" altLang="ja-JP" sz="1200" b="1">
                <a:latin typeface="メイリオ" panose="020B0604030504040204" pitchFamily="50" charset="-128"/>
                <a:ea typeface="メイリオ" panose="020B0604030504040204" pitchFamily="50" charset="-128"/>
              </a:rPr>
              <a:t>BPO</a:t>
            </a:r>
            <a:r>
              <a:rPr lang="ja-JP" altLang="en-US" sz="1200" b="1">
                <a:latin typeface="メイリオ" panose="020B0604030504040204" pitchFamily="50" charset="-128"/>
                <a:ea typeface="メイリオ" panose="020B0604030504040204" pitchFamily="50" charset="-128"/>
              </a:rPr>
              <a:t>の収益構造を変えた ＝ 上位レイヤーにとって「参入すべき市場」に</a:t>
            </a:r>
            <a:endParaRPr kumimoji="1" lang="en-US" altLang="ja-JP" sz="1200">
              <a:latin typeface="メイリオ" panose="020B0604030504040204" pitchFamily="50" charset="-128"/>
              <a:ea typeface="メイリオ" panose="020B0604030504040204" pitchFamily="50" charset="-128"/>
            </a:endParaRPr>
          </a:p>
        </p:txBody>
      </p:sp>
      <p:sp>
        <p:nvSpPr>
          <p:cNvPr id="31" name="二等辺三角形 30">
            <a:extLst>
              <a:ext uri="{FF2B5EF4-FFF2-40B4-BE49-F238E27FC236}">
                <a16:creationId xmlns:a16="http://schemas.microsoft.com/office/drawing/2014/main" id="{D9E7CEC8-070E-F375-A04F-3F66578D4E35}"/>
              </a:ext>
            </a:extLst>
          </p:cNvPr>
          <p:cNvSpPr/>
          <p:nvPr/>
        </p:nvSpPr>
        <p:spPr>
          <a:xfrm rot="5400000">
            <a:off x="8321597" y="2024292"/>
            <a:ext cx="1040860" cy="218660"/>
          </a:xfrm>
          <a:prstGeom prst="triangl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正方形/長方形 32">
            <a:extLst>
              <a:ext uri="{FF2B5EF4-FFF2-40B4-BE49-F238E27FC236}">
                <a16:creationId xmlns:a16="http://schemas.microsoft.com/office/drawing/2014/main" id="{E3A7F712-79B7-D329-057F-32C5664951D5}"/>
              </a:ext>
            </a:extLst>
          </p:cNvPr>
          <p:cNvSpPr/>
          <p:nvPr/>
        </p:nvSpPr>
        <p:spPr>
          <a:xfrm>
            <a:off x="5986186" y="3413677"/>
            <a:ext cx="5857456" cy="340403"/>
          </a:xfrm>
          <a:prstGeom prst="rect">
            <a:avLst/>
          </a:prstGeom>
          <a:solidFill>
            <a:srgbClr val="002060"/>
          </a:solidFill>
          <a:ln>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latin typeface="メイリオ" panose="020B0604030504040204" pitchFamily="50" charset="-128"/>
                <a:ea typeface="メイリオ" panose="020B0604030504040204" pitchFamily="50" charset="-128"/>
              </a:rPr>
              <a:t>AI</a:t>
            </a:r>
            <a:r>
              <a:rPr lang="ja-JP" altLang="en-US" sz="1400" b="1">
                <a:latin typeface="メイリオ" panose="020B0604030504040204" pitchFamily="50" charset="-128"/>
                <a:ea typeface="メイリオ" panose="020B0604030504040204" pitchFamily="50" charset="-128"/>
              </a:rPr>
              <a:t>時代の</a:t>
            </a:r>
            <a:r>
              <a:rPr lang="en-US" altLang="ja-JP" sz="1400" b="1">
                <a:latin typeface="メイリオ" panose="020B0604030504040204" pitchFamily="50" charset="-128"/>
                <a:ea typeface="メイリオ" panose="020B0604030504040204" pitchFamily="50" charset="-128"/>
              </a:rPr>
              <a:t>BPO</a:t>
            </a:r>
            <a:r>
              <a:rPr lang="ja-JP" altLang="en-US" sz="1400" b="1">
                <a:latin typeface="メイリオ" panose="020B0604030504040204" pitchFamily="50" charset="-128"/>
                <a:ea typeface="メイリオ" panose="020B0604030504040204" pitchFamily="50" charset="-128"/>
              </a:rPr>
              <a:t>市場の競争環境</a:t>
            </a:r>
            <a:endParaRPr kumimoji="1" lang="ja-JP" altLang="en-US" sz="1400" b="1">
              <a:solidFill>
                <a:schemeClr val="bg1"/>
              </a:solidFill>
              <a:latin typeface="メイリオ" panose="020B0604030504040204" pitchFamily="50" charset="-128"/>
              <a:ea typeface="メイリオ" panose="020B0604030504040204" pitchFamily="50" charset="-128"/>
            </a:endParaRPr>
          </a:p>
        </p:txBody>
      </p:sp>
      <p:sp>
        <p:nvSpPr>
          <p:cNvPr id="35" name="矢印: 左右 34">
            <a:extLst>
              <a:ext uri="{FF2B5EF4-FFF2-40B4-BE49-F238E27FC236}">
                <a16:creationId xmlns:a16="http://schemas.microsoft.com/office/drawing/2014/main" id="{381F4762-A4AC-BB41-756E-21CC896797D3}"/>
              </a:ext>
            </a:extLst>
          </p:cNvPr>
          <p:cNvSpPr/>
          <p:nvPr/>
        </p:nvSpPr>
        <p:spPr>
          <a:xfrm>
            <a:off x="5986186" y="3782254"/>
            <a:ext cx="2667000" cy="623248"/>
          </a:xfrm>
          <a:prstGeom prst="leftRigh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a:latin typeface="メイリオ" panose="020B0604030504040204" pitchFamily="50" charset="-128"/>
                <a:ea typeface="メイリオ" panose="020B0604030504040204" pitchFamily="50" charset="-128"/>
              </a:rPr>
              <a:t>横の競争</a:t>
            </a:r>
          </a:p>
        </p:txBody>
      </p:sp>
      <p:sp>
        <p:nvSpPr>
          <p:cNvPr id="36" name="テキスト ボックス 35">
            <a:extLst>
              <a:ext uri="{FF2B5EF4-FFF2-40B4-BE49-F238E27FC236}">
                <a16:creationId xmlns:a16="http://schemas.microsoft.com/office/drawing/2014/main" id="{9DA8DB12-61BA-EF2A-1B81-9F9CBEFEDD0E}"/>
              </a:ext>
            </a:extLst>
          </p:cNvPr>
          <p:cNvSpPr txBox="1"/>
          <p:nvPr/>
        </p:nvSpPr>
        <p:spPr>
          <a:xfrm>
            <a:off x="5888451" y="4426504"/>
            <a:ext cx="2862470" cy="830997"/>
          </a:xfrm>
          <a:prstGeom prst="rect">
            <a:avLst/>
          </a:prstGeom>
          <a:noFill/>
        </p:spPr>
        <p:txBody>
          <a:bodyPr wrap="square" rtlCol="0">
            <a:spAutoFit/>
          </a:bodyPr>
          <a:lstStyle/>
          <a:p>
            <a:r>
              <a:rPr lang="en-US" altLang="ja-JP" sz="1200">
                <a:latin typeface="メイリオ" panose="020B0604030504040204" pitchFamily="50" charset="-128"/>
                <a:ea typeface="メイリオ" panose="020B0604030504040204" pitchFamily="50" charset="-128"/>
              </a:rPr>
              <a:t>BPO</a:t>
            </a:r>
            <a:r>
              <a:rPr lang="ja-JP" altLang="en-US" sz="1200">
                <a:latin typeface="メイリオ" panose="020B0604030504040204" pitchFamily="50" charset="-128"/>
                <a:ea typeface="メイリオ" panose="020B0604030504040204" pitchFamily="50" charset="-128"/>
              </a:rPr>
              <a:t>同業も生成</a:t>
            </a:r>
            <a:r>
              <a:rPr lang="en-US" altLang="ja-JP" sz="1200">
                <a:latin typeface="メイリオ" panose="020B0604030504040204" pitchFamily="50" charset="-128"/>
                <a:ea typeface="メイリオ" panose="020B0604030504040204" pitchFamily="50" charset="-128"/>
              </a:rPr>
              <a:t>AI</a:t>
            </a:r>
            <a:r>
              <a:rPr lang="ja-JP" altLang="en-US" sz="1200">
                <a:latin typeface="メイリオ" panose="020B0604030504040204" pitchFamily="50" charset="-128"/>
                <a:ea typeface="メイリオ" panose="020B0604030504040204" pitchFamily="50" charset="-128"/>
              </a:rPr>
              <a:t>活用推進中（コールセンター領域の自動化が急速に進行）</a:t>
            </a:r>
            <a:endParaRPr lang="en-US" altLang="ja-JP" sz="1200">
              <a:latin typeface="メイリオ" panose="020B0604030504040204" pitchFamily="50" charset="-128"/>
              <a:ea typeface="メイリオ" panose="020B0604030504040204" pitchFamily="50" charset="-128"/>
            </a:endParaRPr>
          </a:p>
          <a:p>
            <a:pPr marL="171450" indent="-171450">
              <a:buFont typeface="Arial" panose="020B0604020202020204" pitchFamily="34" charset="0"/>
              <a:buChar char="•"/>
            </a:pPr>
            <a:r>
              <a:rPr kumimoji="1" lang="ja-JP" altLang="en-US" sz="1200">
                <a:latin typeface="メイリオ" panose="020B0604030504040204" pitchFamily="50" charset="-128"/>
                <a:ea typeface="メイリオ" panose="020B0604030504040204" pitchFamily="50" charset="-128"/>
                <a:hlinkClick r:id="rId5"/>
              </a:rPr>
              <a:t>トランス・コスモス</a:t>
            </a:r>
            <a:endParaRPr kumimoji="1" lang="en-US" altLang="ja-JP" sz="1200">
              <a:latin typeface="メイリオ" panose="020B0604030504040204" pitchFamily="50" charset="-128"/>
              <a:ea typeface="メイリオ" panose="020B0604030504040204" pitchFamily="50" charset="-128"/>
            </a:endParaRPr>
          </a:p>
          <a:p>
            <a:pPr marL="171450" indent="-171450">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hlinkClick r:id="rId6"/>
              </a:rPr>
              <a:t>ベルシステム</a:t>
            </a:r>
            <a:r>
              <a:rPr lang="en-US" altLang="ja-JP" sz="1200">
                <a:latin typeface="メイリオ" panose="020B0604030504040204" pitchFamily="50" charset="-128"/>
                <a:ea typeface="メイリオ" panose="020B0604030504040204" pitchFamily="50" charset="-128"/>
                <a:hlinkClick r:id="rId6"/>
              </a:rPr>
              <a:t>24</a:t>
            </a:r>
            <a:endParaRPr kumimoji="1" lang="en-US" altLang="ja-JP" sz="1200">
              <a:latin typeface="メイリオ" panose="020B0604030504040204" pitchFamily="50" charset="-128"/>
              <a:ea typeface="メイリオ" panose="020B0604030504040204" pitchFamily="50" charset="-128"/>
            </a:endParaRPr>
          </a:p>
        </p:txBody>
      </p:sp>
      <p:sp>
        <p:nvSpPr>
          <p:cNvPr id="37" name="矢印: 下 36">
            <a:extLst>
              <a:ext uri="{FF2B5EF4-FFF2-40B4-BE49-F238E27FC236}">
                <a16:creationId xmlns:a16="http://schemas.microsoft.com/office/drawing/2014/main" id="{C95E3954-6ACB-DEF8-EC21-82D042CBEDC9}"/>
              </a:ext>
            </a:extLst>
          </p:cNvPr>
          <p:cNvSpPr/>
          <p:nvPr/>
        </p:nvSpPr>
        <p:spPr>
          <a:xfrm>
            <a:off x="8951357" y="3806758"/>
            <a:ext cx="755377" cy="1425211"/>
          </a:xfrm>
          <a:prstGeom prst="down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a:latin typeface="メイリオ" panose="020B0604030504040204" pitchFamily="50" charset="-128"/>
                <a:ea typeface="メイリオ" panose="020B0604030504040204" pitchFamily="50" charset="-128"/>
              </a:rPr>
              <a:t>上からの参入</a:t>
            </a:r>
          </a:p>
        </p:txBody>
      </p:sp>
      <p:sp>
        <p:nvSpPr>
          <p:cNvPr id="38" name="テキスト ボックス 37">
            <a:extLst>
              <a:ext uri="{FF2B5EF4-FFF2-40B4-BE49-F238E27FC236}">
                <a16:creationId xmlns:a16="http://schemas.microsoft.com/office/drawing/2014/main" id="{5A0B3C18-4329-A3D1-E2A7-186FF7EC5FD9}"/>
              </a:ext>
            </a:extLst>
          </p:cNvPr>
          <p:cNvSpPr txBox="1"/>
          <p:nvPr/>
        </p:nvSpPr>
        <p:spPr>
          <a:xfrm>
            <a:off x="9664149" y="3881749"/>
            <a:ext cx="2527851" cy="1177245"/>
          </a:xfrm>
          <a:prstGeom prst="rect">
            <a:avLst/>
          </a:prstGeom>
          <a:noFill/>
        </p:spPr>
        <p:txBody>
          <a:bodyPr wrap="square" rtlCol="0">
            <a:spAutoFit/>
          </a:bodyPr>
          <a:lstStyle/>
          <a:p>
            <a:pPr>
              <a:lnSpc>
                <a:spcPct val="150000"/>
              </a:lnSpc>
            </a:pPr>
            <a:r>
              <a:rPr lang="ja-JP" altLang="en-US" sz="1200">
                <a:latin typeface="メイリオ" panose="020B0604030504040204" pitchFamily="50" charset="-128"/>
                <a:ea typeface="メイリオ" panose="020B0604030504040204" pitchFamily="50" charset="-128"/>
              </a:rPr>
              <a:t>コンサル</a:t>
            </a:r>
            <a:r>
              <a:rPr lang="en-US" altLang="ja-JP" sz="1200">
                <a:latin typeface="メイリオ" panose="020B0604030504040204" pitchFamily="50" charset="-128"/>
                <a:ea typeface="メイリオ" panose="020B0604030504040204" pitchFamily="50" charset="-128"/>
              </a:rPr>
              <a:t>/SIer</a:t>
            </a:r>
            <a:r>
              <a:rPr lang="ja-JP" altLang="en-US" sz="1200">
                <a:latin typeface="メイリオ" panose="020B0604030504040204" pitchFamily="50" charset="-128"/>
                <a:ea typeface="メイリオ" panose="020B0604030504040204" pitchFamily="50" charset="-128"/>
              </a:rPr>
              <a:t>が</a:t>
            </a:r>
            <a:r>
              <a:rPr lang="en-US" altLang="ja-JP" sz="1200">
                <a:latin typeface="メイリオ" panose="020B0604030504040204" pitchFamily="50" charset="-128"/>
                <a:ea typeface="メイリオ" panose="020B0604030504040204" pitchFamily="50" charset="-128"/>
              </a:rPr>
              <a:t>AI</a:t>
            </a:r>
            <a:r>
              <a:rPr lang="ja-JP" altLang="en-US" sz="1200">
                <a:latin typeface="メイリオ" panose="020B0604030504040204" pitchFamily="50" charset="-128"/>
                <a:ea typeface="メイリオ" panose="020B0604030504040204" pitchFamily="50" charset="-128"/>
              </a:rPr>
              <a:t>武装して</a:t>
            </a:r>
            <a:r>
              <a:rPr lang="en-US" altLang="ja-JP" sz="1200">
                <a:latin typeface="メイリオ" panose="020B0604030504040204" pitchFamily="50" charset="-128"/>
                <a:ea typeface="メイリオ" panose="020B0604030504040204" pitchFamily="50" charset="-128"/>
              </a:rPr>
              <a:t>BPO</a:t>
            </a:r>
            <a:r>
              <a:rPr lang="ja-JP" altLang="en-US" sz="1200">
                <a:latin typeface="メイリオ" panose="020B0604030504040204" pitchFamily="50" charset="-128"/>
                <a:ea typeface="メイリオ" panose="020B0604030504040204" pitchFamily="50" charset="-128"/>
              </a:rPr>
              <a:t>市場に本格参入（</a:t>
            </a:r>
            <a:r>
              <a:rPr lang="en-US" altLang="ja-JP" sz="1200">
                <a:latin typeface="メイリオ" panose="020B0604030504040204" pitchFamily="50" charset="-128"/>
                <a:ea typeface="メイリオ" panose="020B0604030504040204" pitchFamily="50" charset="-128"/>
                <a:hlinkClick r:id="rId7"/>
              </a:rPr>
              <a:t>NTT</a:t>
            </a:r>
            <a:r>
              <a:rPr lang="ja-JP" altLang="en-US" sz="1200">
                <a:latin typeface="メイリオ" panose="020B0604030504040204" pitchFamily="50" charset="-128"/>
                <a:ea typeface="メイリオ" panose="020B0604030504040204" pitchFamily="50" charset="-128"/>
                <a:hlinkClick r:id="rId7"/>
              </a:rPr>
              <a:t>データも「コンサルから</a:t>
            </a:r>
            <a:r>
              <a:rPr lang="en-US" altLang="ja-JP" sz="1200">
                <a:latin typeface="メイリオ" panose="020B0604030504040204" pitchFamily="50" charset="-128"/>
                <a:ea typeface="メイリオ" panose="020B0604030504040204" pitchFamily="50" charset="-128"/>
                <a:hlinkClick r:id="rId7"/>
              </a:rPr>
              <a:t>BPO</a:t>
            </a:r>
            <a:r>
              <a:rPr lang="ja-JP" altLang="en-US" sz="1200">
                <a:latin typeface="メイリオ" panose="020B0604030504040204" pitchFamily="50" charset="-128"/>
                <a:ea typeface="メイリオ" panose="020B0604030504040204" pitchFamily="50" charset="-128"/>
                <a:hlinkClick r:id="rId7"/>
              </a:rPr>
              <a:t>までフルスタック提供」を明言</a:t>
            </a:r>
            <a:r>
              <a:rPr lang="ja-JP" altLang="en-US" sz="1200">
                <a:latin typeface="メイリオ" panose="020B0604030504040204" pitchFamily="50" charset="-128"/>
                <a:ea typeface="メイリオ" panose="020B0604030504040204" pitchFamily="50" charset="-128"/>
              </a:rPr>
              <a:t>）</a:t>
            </a:r>
            <a:endParaRPr kumimoji="1" lang="en-US" altLang="ja-JP" sz="1200">
              <a:latin typeface="メイリオ" panose="020B0604030504040204" pitchFamily="50" charset="-128"/>
              <a:ea typeface="メイリオ" panose="020B0604030504040204" pitchFamily="50" charset="-128"/>
            </a:endParaRPr>
          </a:p>
        </p:txBody>
      </p:sp>
      <p:grpSp>
        <p:nvGrpSpPr>
          <p:cNvPr id="43" name="グループ化 42">
            <a:extLst>
              <a:ext uri="{FF2B5EF4-FFF2-40B4-BE49-F238E27FC236}">
                <a16:creationId xmlns:a16="http://schemas.microsoft.com/office/drawing/2014/main" id="{831CB74D-6F12-713A-764D-A49FCD49A07A}"/>
              </a:ext>
            </a:extLst>
          </p:cNvPr>
          <p:cNvGrpSpPr/>
          <p:nvPr/>
        </p:nvGrpSpPr>
        <p:grpSpPr>
          <a:xfrm>
            <a:off x="5986186" y="5267265"/>
            <a:ext cx="5857456" cy="966937"/>
            <a:chOff x="5801139" y="5501027"/>
            <a:chExt cx="5857456" cy="966937"/>
          </a:xfrm>
        </p:grpSpPr>
        <p:sp>
          <p:nvSpPr>
            <p:cNvPr id="39" name="正方形/長方形 38">
              <a:extLst>
                <a:ext uri="{FF2B5EF4-FFF2-40B4-BE49-F238E27FC236}">
                  <a16:creationId xmlns:a16="http://schemas.microsoft.com/office/drawing/2014/main" id="{C68FD3EA-F9C7-0B09-2E5E-08BBC43FD142}"/>
                </a:ext>
              </a:extLst>
            </p:cNvPr>
            <p:cNvSpPr/>
            <p:nvPr/>
          </p:nvSpPr>
          <p:spPr>
            <a:xfrm>
              <a:off x="5801140" y="5501027"/>
              <a:ext cx="1275521" cy="958768"/>
            </a:xfrm>
            <a:prstGeom prst="rect">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a:latin typeface="メイリオ" panose="020B0604030504040204" pitchFamily="50" charset="-128"/>
                  <a:ea typeface="メイリオ" panose="020B0604030504040204" pitchFamily="50" charset="-128"/>
                </a:rPr>
                <a:t>アクセンチュア</a:t>
              </a:r>
              <a:endParaRPr kumimoji="1" lang="en-US" altLang="ja-JP" sz="1200" b="1">
                <a:latin typeface="メイリオ" panose="020B0604030504040204" pitchFamily="50" charset="-128"/>
                <a:ea typeface="メイリオ" panose="020B0604030504040204" pitchFamily="50" charset="-128"/>
              </a:endParaRPr>
            </a:p>
            <a:p>
              <a:pPr algn="ctr"/>
              <a:r>
                <a:rPr kumimoji="1" lang="ja-JP" altLang="en-US" sz="1200" b="1">
                  <a:latin typeface="メイリオ" panose="020B0604030504040204" pitchFamily="50" charset="-128"/>
                  <a:ea typeface="メイリオ" panose="020B0604030504040204" pitchFamily="50" charset="-128"/>
                </a:rPr>
                <a:t>の強み</a:t>
              </a:r>
            </a:p>
          </p:txBody>
        </p:sp>
        <p:sp>
          <p:nvSpPr>
            <p:cNvPr id="41" name="正方形/長方形 40">
              <a:extLst>
                <a:ext uri="{FF2B5EF4-FFF2-40B4-BE49-F238E27FC236}">
                  <a16:creationId xmlns:a16="http://schemas.microsoft.com/office/drawing/2014/main" id="{000115DD-43C8-CC22-0D31-B724D4BB4660}"/>
                </a:ext>
              </a:extLst>
            </p:cNvPr>
            <p:cNvSpPr/>
            <p:nvPr/>
          </p:nvSpPr>
          <p:spPr>
            <a:xfrm>
              <a:off x="5801139" y="5509196"/>
              <a:ext cx="5857456" cy="958768"/>
            </a:xfrm>
            <a:prstGeom prst="rect">
              <a:avLst/>
            </a:prstGeom>
            <a:no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2" name="テキスト ボックス 41">
              <a:extLst>
                <a:ext uri="{FF2B5EF4-FFF2-40B4-BE49-F238E27FC236}">
                  <a16:creationId xmlns:a16="http://schemas.microsoft.com/office/drawing/2014/main" id="{EFAA538B-45F1-2191-2665-59BF4583D64A}"/>
                </a:ext>
              </a:extLst>
            </p:cNvPr>
            <p:cNvSpPr txBox="1"/>
            <p:nvPr/>
          </p:nvSpPr>
          <p:spPr>
            <a:xfrm>
              <a:off x="7166114" y="5534270"/>
              <a:ext cx="3955768" cy="900246"/>
            </a:xfrm>
            <a:prstGeom prst="rect">
              <a:avLst/>
            </a:prstGeom>
            <a:noFill/>
          </p:spPr>
          <p:txBody>
            <a:bodyPr wrap="square" rtlCol="0">
              <a:spAutoFit/>
            </a:bodyPr>
            <a:lstStyle/>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戦略策定→実行→</a:t>
              </a:r>
              <a:r>
                <a:rPr lang="en-US" altLang="ja-JP" sz="1200">
                  <a:latin typeface="メイリオ" panose="020B0604030504040204" pitchFamily="50" charset="-128"/>
                  <a:ea typeface="メイリオ" panose="020B0604030504040204" pitchFamily="50" charset="-128"/>
                </a:rPr>
                <a:t>IT</a:t>
              </a:r>
              <a:r>
                <a:rPr lang="ja-JP" altLang="en-US" sz="1200">
                  <a:latin typeface="メイリオ" panose="020B0604030504040204" pitchFamily="50" charset="-128"/>
                  <a:ea typeface="メイリオ" panose="020B0604030504040204" pitchFamily="50" charset="-128"/>
                </a:rPr>
                <a:t>運用→</a:t>
              </a:r>
              <a:r>
                <a:rPr lang="en-US" altLang="ja-JP" sz="1200">
                  <a:latin typeface="メイリオ" panose="020B0604030504040204" pitchFamily="50" charset="-128"/>
                  <a:ea typeface="メイリオ" panose="020B0604030504040204" pitchFamily="50" charset="-128"/>
                </a:rPr>
                <a:t>BPO</a:t>
              </a:r>
              <a:r>
                <a:rPr lang="ja-JP" altLang="en-US" sz="1200">
                  <a:latin typeface="メイリオ" panose="020B0604030504040204" pitchFamily="50" charset="-128"/>
                  <a:ea typeface="メイリオ" panose="020B0604030504040204" pitchFamily="50" charset="-128"/>
                </a:rPr>
                <a:t>まで一気通貫</a:t>
              </a:r>
              <a:endParaRPr lang="en-US" altLang="ja-JP" sz="1200">
                <a:latin typeface="メイリオ" panose="020B0604030504040204" pitchFamily="50" charset="-128"/>
                <a:ea typeface="メイリオ" panose="020B0604030504040204" pitchFamily="50" charset="-128"/>
              </a:endParaRPr>
            </a:p>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経営層との関係性を既に保有</a:t>
              </a:r>
              <a:endParaRPr lang="en-US" altLang="ja-JP" sz="1200">
                <a:latin typeface="メイリオ" panose="020B0604030504040204" pitchFamily="50" charset="-128"/>
                <a:ea typeface="メイリオ" panose="020B0604030504040204" pitchFamily="50" charset="-128"/>
              </a:endParaRPr>
            </a:p>
            <a:p>
              <a:pPr marL="171450" indent="-171450">
                <a:lnSpc>
                  <a:spcPct val="150000"/>
                </a:lnSpc>
                <a:buFont typeface="Arial" panose="020B0604020202020204" pitchFamily="34" charset="0"/>
                <a:buChar char="•"/>
              </a:pPr>
              <a:r>
                <a:rPr lang="en-US" altLang="ja-JP" sz="1200">
                  <a:latin typeface="メイリオ" panose="020B0604030504040204" pitchFamily="50" charset="-128"/>
                  <a:ea typeface="メイリオ" panose="020B0604030504040204" pitchFamily="50" charset="-128"/>
                </a:rPr>
                <a:t>IT</a:t>
              </a:r>
              <a:r>
                <a:rPr lang="ja-JP" altLang="en-US" sz="1200">
                  <a:latin typeface="メイリオ" panose="020B0604030504040204" pitchFamily="50" charset="-128"/>
                  <a:ea typeface="メイリオ" panose="020B0604030504040204" pitchFamily="50" charset="-128"/>
                </a:rPr>
                <a:t>運用の顧客基盤から</a:t>
              </a:r>
              <a:r>
                <a:rPr lang="en-US" altLang="ja-JP" sz="1200">
                  <a:latin typeface="メイリオ" panose="020B0604030504040204" pitchFamily="50" charset="-128"/>
                  <a:ea typeface="メイリオ" panose="020B0604030504040204" pitchFamily="50" charset="-128"/>
                </a:rPr>
                <a:t>BPO</a:t>
              </a:r>
              <a:r>
                <a:rPr lang="ja-JP" altLang="en-US" sz="1200">
                  <a:latin typeface="メイリオ" panose="020B0604030504040204" pitchFamily="50" charset="-128"/>
                  <a:ea typeface="メイリオ" panose="020B0604030504040204" pitchFamily="50" charset="-128"/>
                </a:rPr>
                <a:t>領域へ展開可能</a:t>
              </a:r>
              <a:endParaRPr kumimoji="1" lang="en-US" altLang="ja-JP" sz="1200">
                <a:latin typeface="メイリオ" panose="020B0604030504040204" pitchFamily="50" charset="-128"/>
                <a:ea typeface="メイリオ" panose="020B0604030504040204" pitchFamily="50" charset="-128"/>
              </a:endParaRPr>
            </a:p>
          </p:txBody>
        </p:sp>
      </p:grpSp>
      <p:sp>
        <p:nvSpPr>
          <p:cNvPr id="44" name="テキスト ボックス 43">
            <a:extLst>
              <a:ext uri="{FF2B5EF4-FFF2-40B4-BE49-F238E27FC236}">
                <a16:creationId xmlns:a16="http://schemas.microsoft.com/office/drawing/2014/main" id="{ECF8D856-8905-3E03-8727-1CA77A4DEA5B}"/>
              </a:ext>
            </a:extLst>
          </p:cNvPr>
          <p:cNvSpPr txBox="1"/>
          <p:nvPr/>
        </p:nvSpPr>
        <p:spPr>
          <a:xfrm>
            <a:off x="5986185" y="6259276"/>
            <a:ext cx="5857457" cy="584775"/>
          </a:xfrm>
          <a:prstGeom prst="rect">
            <a:avLst/>
          </a:prstGeom>
          <a:noFill/>
        </p:spPr>
        <p:txBody>
          <a:bodyPr wrap="square" rtlCol="0">
            <a:spAutoFit/>
          </a:bodyPr>
          <a:lstStyle/>
          <a:p>
            <a:pPr algn="ctr"/>
            <a:r>
              <a:rPr lang="ja-JP" altLang="en-US" sz="1600" b="1">
                <a:latin typeface="メイリオ" panose="020B0604030504040204" pitchFamily="50" charset="-128"/>
                <a:ea typeface="メイリオ" panose="020B0604030504040204" pitchFamily="50" charset="-128"/>
              </a:rPr>
              <a:t>➡ </a:t>
            </a:r>
            <a:r>
              <a:rPr lang="ja-JP" altLang="en-US" sz="1600" b="1"/>
              <a:t>既存</a:t>
            </a:r>
            <a:r>
              <a:rPr lang="en-US" altLang="ja-JP" sz="1600" b="1"/>
              <a:t>BPO</a:t>
            </a:r>
            <a:r>
              <a:rPr lang="ja-JP" altLang="en-US" sz="1600" b="1"/>
              <a:t>企業との競争に加え、上位レイヤーも参入</a:t>
            </a:r>
            <a:endParaRPr lang="en-US" altLang="ja-JP" sz="1600" b="1"/>
          </a:p>
          <a:p>
            <a:pPr algn="ctr"/>
            <a:r>
              <a:rPr lang="ja-JP" altLang="en-US" sz="1600" b="1"/>
              <a:t>→ 「動かない」という選択肢が最もリスクが高い</a:t>
            </a:r>
            <a:endParaRPr kumimoji="1" lang="en-US" altLang="ja-JP" sz="1600">
              <a:latin typeface="メイリオ" panose="020B0604030504040204" pitchFamily="50" charset="-128"/>
              <a:ea typeface="メイリオ" panose="020B0604030504040204" pitchFamily="50" charset="-128"/>
            </a:endParaRPr>
          </a:p>
        </p:txBody>
      </p:sp>
      <p:pic>
        <p:nvPicPr>
          <p:cNvPr id="8" name="図 7" descr="黒い背景に白い文字がある&#10;&#10;AI 生成コンテンツは誤りを含む可能性があります。">
            <a:extLst>
              <a:ext uri="{FF2B5EF4-FFF2-40B4-BE49-F238E27FC236}">
                <a16:creationId xmlns:a16="http://schemas.microsoft.com/office/drawing/2014/main" id="{5120D4A8-926B-7057-0355-795B899A7CF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479102" y="181067"/>
            <a:ext cx="2082229" cy="548754"/>
          </a:xfrm>
          <a:prstGeom prst="rect">
            <a:avLst/>
          </a:prstGeom>
        </p:spPr>
      </p:pic>
    </p:spTree>
    <p:extLst>
      <p:ext uri="{BB962C8B-B14F-4D97-AF65-F5344CB8AC3E}">
        <p14:creationId xmlns:p14="http://schemas.microsoft.com/office/powerpoint/2010/main" val="15704335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15891E-883A-E973-8F19-3EE5A2BBEF71}"/>
            </a:ext>
          </a:extLst>
        </p:cNvPr>
        <p:cNvGrpSpPr/>
        <p:nvPr/>
      </p:nvGrpSpPr>
      <p:grpSpPr>
        <a:xfrm>
          <a:off x="0" y="0"/>
          <a:ext cx="0" cy="0"/>
          <a:chOff x="0" y="0"/>
          <a:chExt cx="0" cy="0"/>
        </a:xfrm>
      </p:grpSpPr>
    </p:spTree>
    <p:extLst>
      <p:ext uri="{BB962C8B-B14F-4D97-AF65-F5344CB8AC3E}">
        <p14:creationId xmlns:p14="http://schemas.microsoft.com/office/powerpoint/2010/main" val="36296117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E515DD-C3F2-509E-73FC-D51D0FE18CE6}"/>
            </a:ext>
          </a:extLst>
        </p:cNvPr>
        <p:cNvGrpSpPr/>
        <p:nvPr/>
      </p:nvGrpSpPr>
      <p:grpSpPr>
        <a:xfrm>
          <a:off x="0" y="0"/>
          <a:ext cx="0" cy="0"/>
          <a:chOff x="0" y="0"/>
          <a:chExt cx="0" cy="0"/>
        </a:xfrm>
      </p:grpSpPr>
      <p:sp>
        <p:nvSpPr>
          <p:cNvPr id="31" name="正方形/長方形 30">
            <a:extLst>
              <a:ext uri="{FF2B5EF4-FFF2-40B4-BE49-F238E27FC236}">
                <a16:creationId xmlns:a16="http://schemas.microsoft.com/office/drawing/2014/main" id="{622C9CC9-63CD-523B-5D4F-D2504639D99A}"/>
              </a:ext>
            </a:extLst>
          </p:cNvPr>
          <p:cNvSpPr/>
          <p:nvPr/>
        </p:nvSpPr>
        <p:spPr>
          <a:xfrm>
            <a:off x="2166251" y="4277238"/>
            <a:ext cx="1732909" cy="234234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正方形/長方形 29">
            <a:extLst>
              <a:ext uri="{FF2B5EF4-FFF2-40B4-BE49-F238E27FC236}">
                <a16:creationId xmlns:a16="http://schemas.microsoft.com/office/drawing/2014/main" id="{4270E02C-2641-5591-D5F7-2E284B23014B}"/>
              </a:ext>
            </a:extLst>
          </p:cNvPr>
          <p:cNvSpPr/>
          <p:nvPr/>
        </p:nvSpPr>
        <p:spPr>
          <a:xfrm>
            <a:off x="281300" y="4277238"/>
            <a:ext cx="1732909" cy="2342340"/>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D5306D65-994D-1FB0-5C86-9BC458D0E9FE}"/>
              </a:ext>
            </a:extLst>
          </p:cNvPr>
          <p:cNvSpPr txBox="1"/>
          <p:nvPr/>
        </p:nvSpPr>
        <p:spPr>
          <a:xfrm>
            <a:off x="443466" y="317212"/>
            <a:ext cx="11215133" cy="584775"/>
          </a:xfrm>
          <a:prstGeom prst="rect">
            <a:avLst/>
          </a:prstGeom>
          <a:noFill/>
        </p:spPr>
        <p:txBody>
          <a:bodyPr wrap="square" rtlCol="0">
            <a:spAutoFit/>
          </a:bodyPr>
          <a:lstStyle/>
          <a:p>
            <a:r>
              <a:rPr lang="en-US" altLang="ja-JP" sz="3200" b="1">
                <a:latin typeface="メイリオ" panose="020B0604030504040204" pitchFamily="50" charset="-128"/>
                <a:ea typeface="メイリオ" panose="020B0604030504040204" pitchFamily="50" charset="-128"/>
              </a:rPr>
              <a:t>1. </a:t>
            </a:r>
            <a:r>
              <a:rPr lang="en-US" altLang="ja-JP" sz="3200" b="1">
                <a:latin typeface="メイリオ" panose="020B0604030504040204" pitchFamily="50" charset="-128"/>
                <a:ea typeface="メイリオ" panose="020B0604030504040204" pitchFamily="50" charset="-128"/>
                <a:hlinkClick r:id="rId3"/>
              </a:rPr>
              <a:t>OpenClaw</a:t>
            </a:r>
            <a:r>
              <a:rPr lang="ja-JP" altLang="en-US" sz="3200" b="1">
                <a:latin typeface="メイリオ" panose="020B0604030504040204" pitchFamily="50" charset="-128"/>
                <a:ea typeface="メイリオ" panose="020B0604030504040204" pitchFamily="50" charset="-128"/>
                <a:hlinkClick r:id="rId3"/>
              </a:rPr>
              <a:t>とは何か</a:t>
            </a:r>
            <a:endParaRPr kumimoji="1" lang="ja-JP" altLang="en-US" sz="3200" b="1">
              <a:latin typeface="メイリオ" panose="020B0604030504040204" pitchFamily="50" charset="-128"/>
              <a:ea typeface="メイリオ" panose="020B0604030504040204" pitchFamily="50" charset="-128"/>
            </a:endParaRPr>
          </a:p>
        </p:txBody>
      </p:sp>
      <p:sp>
        <p:nvSpPr>
          <p:cNvPr id="3" name="テキスト ボックス 2">
            <a:extLst>
              <a:ext uri="{FF2B5EF4-FFF2-40B4-BE49-F238E27FC236}">
                <a16:creationId xmlns:a16="http://schemas.microsoft.com/office/drawing/2014/main" id="{66C2D553-1674-CF48-48CD-83D7F41DDC1E}"/>
              </a:ext>
            </a:extLst>
          </p:cNvPr>
          <p:cNvSpPr txBox="1"/>
          <p:nvPr/>
        </p:nvSpPr>
        <p:spPr>
          <a:xfrm>
            <a:off x="185049" y="2532834"/>
            <a:ext cx="3816523" cy="1034899"/>
          </a:xfrm>
          <a:prstGeom prst="rect">
            <a:avLst/>
          </a:prstGeom>
          <a:noFill/>
        </p:spPr>
        <p:txBody>
          <a:bodyPr wrap="square" rtlCol="0" anchor="ctr">
            <a:spAutoFit/>
          </a:bodyPr>
          <a:lstStyle/>
          <a:p>
            <a:pPr marL="285750" indent="-285750">
              <a:lnSpc>
                <a:spcPct val="150000"/>
              </a:lnSpc>
              <a:buFont typeface="Arial" panose="020B0604020202020204" pitchFamily="34" charset="0"/>
              <a:buChar char="•"/>
            </a:pPr>
            <a:r>
              <a:rPr lang="ja-JP" altLang="en-US" sz="1400" b="1">
                <a:latin typeface="メイリオ" panose="020B0604030504040204" pitchFamily="50" charset="-128"/>
                <a:ea typeface="メイリオ" panose="020B0604030504040204" pitchFamily="50" charset="-128"/>
              </a:rPr>
              <a:t>オープンソースの自律型</a:t>
            </a:r>
            <a:r>
              <a:rPr lang="en-US" altLang="ja-JP" sz="1400" b="1">
                <a:latin typeface="メイリオ" panose="020B0604030504040204" pitchFamily="50" charset="-128"/>
                <a:ea typeface="メイリオ" panose="020B0604030504040204" pitchFamily="50" charset="-128"/>
              </a:rPr>
              <a:t>AI</a:t>
            </a:r>
            <a:r>
              <a:rPr lang="ja-JP" altLang="en-US" sz="1400" b="1">
                <a:latin typeface="メイリオ" panose="020B0604030504040204" pitchFamily="50" charset="-128"/>
                <a:ea typeface="メイリオ" panose="020B0604030504040204" pitchFamily="50" charset="-128"/>
              </a:rPr>
              <a:t>エージェント</a:t>
            </a:r>
            <a:endParaRPr lang="en-US" altLang="ja-JP" sz="1400" b="1">
              <a:latin typeface="メイリオ" panose="020B0604030504040204" pitchFamily="50" charset="-128"/>
              <a:ea typeface="メイリオ" panose="020B0604030504040204" pitchFamily="50" charset="-128"/>
            </a:endParaRPr>
          </a:p>
          <a:p>
            <a:pPr marL="285750" indent="-285750">
              <a:lnSpc>
                <a:spcPct val="150000"/>
              </a:lnSpc>
              <a:buFont typeface="Arial" panose="020B0604020202020204" pitchFamily="34" charset="0"/>
              <a:buChar char="•"/>
            </a:pPr>
            <a:r>
              <a:rPr kumimoji="1" lang="en-US" altLang="ja-JP" sz="1400" b="1">
                <a:latin typeface="メイリオ" panose="020B0604030504040204" pitchFamily="50" charset="-128"/>
                <a:ea typeface="メイリオ" panose="020B0604030504040204" pitchFamily="50" charset="-128"/>
              </a:rPr>
              <a:t>LLM</a:t>
            </a:r>
            <a:r>
              <a:rPr kumimoji="1" lang="ja-JP" altLang="en-US" sz="1400" b="1">
                <a:latin typeface="メイリオ" panose="020B0604030504040204" pitchFamily="50" charset="-128"/>
                <a:ea typeface="メイリオ" panose="020B0604030504040204" pitchFamily="50" charset="-128"/>
              </a:rPr>
              <a:t>に自分の</a:t>
            </a:r>
            <a:r>
              <a:rPr kumimoji="1" lang="en-US" altLang="ja-JP" sz="1400" b="1">
                <a:latin typeface="メイリオ" panose="020B0604030504040204" pitchFamily="50" charset="-128"/>
                <a:ea typeface="メイリオ" panose="020B0604030504040204" pitchFamily="50" charset="-128"/>
              </a:rPr>
              <a:t>PC</a:t>
            </a:r>
            <a:r>
              <a:rPr kumimoji="1" lang="ja-JP" altLang="en-US" sz="1400" b="1">
                <a:latin typeface="メイリオ" panose="020B0604030504040204" pitchFamily="50" charset="-128"/>
                <a:ea typeface="メイリオ" panose="020B0604030504040204" pitchFamily="50" charset="-128"/>
              </a:rPr>
              <a:t>の権限を渡して自動操縦させる仕組み</a:t>
            </a:r>
            <a:endParaRPr kumimoji="1" lang="en-US" altLang="ja-JP" sz="1400">
              <a:latin typeface="メイリオ" panose="020B0604030504040204" pitchFamily="50" charset="-128"/>
              <a:ea typeface="メイリオ" panose="020B0604030504040204" pitchFamily="50" charset="-128"/>
            </a:endParaRPr>
          </a:p>
        </p:txBody>
      </p:sp>
      <p:sp>
        <p:nvSpPr>
          <p:cNvPr id="2" name="正方形/長方形 1">
            <a:extLst>
              <a:ext uri="{FF2B5EF4-FFF2-40B4-BE49-F238E27FC236}">
                <a16:creationId xmlns:a16="http://schemas.microsoft.com/office/drawing/2014/main" id="{8750085F-0792-92A8-8173-201BC92F05CF}"/>
              </a:ext>
            </a:extLst>
          </p:cNvPr>
          <p:cNvSpPr/>
          <p:nvPr/>
        </p:nvSpPr>
        <p:spPr>
          <a:xfrm>
            <a:off x="185049" y="1995076"/>
            <a:ext cx="3816523" cy="45720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a:solidFill>
                  <a:schemeClr val="tx1"/>
                </a:solidFill>
                <a:latin typeface="メイリオ" panose="020B0604030504040204" pitchFamily="50" charset="-128"/>
                <a:ea typeface="メイリオ" panose="020B0604030504040204" pitchFamily="50" charset="-128"/>
              </a:rPr>
              <a:t>OpenClaw</a:t>
            </a:r>
            <a:r>
              <a:rPr lang="ja-JP" altLang="en-US" b="1">
                <a:solidFill>
                  <a:schemeClr val="tx1"/>
                </a:solidFill>
                <a:latin typeface="メイリオ" panose="020B0604030504040204" pitchFamily="50" charset="-128"/>
                <a:ea typeface="メイリオ" panose="020B0604030504040204" pitchFamily="50" charset="-128"/>
              </a:rPr>
              <a:t>の定義</a:t>
            </a:r>
            <a:endParaRPr kumimoji="1" lang="ja-JP" altLang="en-US" b="1">
              <a:solidFill>
                <a:schemeClr val="tx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2A086A69-30DE-CE30-B561-F090C923DF94}"/>
              </a:ext>
            </a:extLst>
          </p:cNvPr>
          <p:cNvSpPr/>
          <p:nvPr/>
        </p:nvSpPr>
        <p:spPr>
          <a:xfrm>
            <a:off x="4373907" y="1995076"/>
            <a:ext cx="7633044" cy="45720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a:solidFill>
                  <a:schemeClr val="tx1"/>
                </a:solidFill>
                <a:latin typeface="メイリオ" panose="020B0604030504040204" pitchFamily="50" charset="-128"/>
                <a:ea typeface="メイリオ" panose="020B0604030504040204" pitchFamily="50" charset="-128"/>
              </a:rPr>
              <a:t>市場の影響とブーム</a:t>
            </a:r>
            <a:endParaRPr kumimoji="1" lang="ja-JP" altLang="en-US" b="1">
              <a:solidFill>
                <a:schemeClr val="tx1"/>
              </a:solidFill>
              <a:latin typeface="メイリオ" panose="020B0604030504040204" pitchFamily="50" charset="-128"/>
              <a:ea typeface="メイリオ" panose="020B0604030504040204" pitchFamily="50" charset="-128"/>
            </a:endParaRPr>
          </a:p>
        </p:txBody>
      </p:sp>
      <p:sp>
        <p:nvSpPr>
          <p:cNvPr id="8" name="テキスト ボックス 7">
            <a:extLst>
              <a:ext uri="{FF2B5EF4-FFF2-40B4-BE49-F238E27FC236}">
                <a16:creationId xmlns:a16="http://schemas.microsoft.com/office/drawing/2014/main" id="{802BBA0E-BF4C-434A-9572-703275593202}"/>
              </a:ext>
            </a:extLst>
          </p:cNvPr>
          <p:cNvSpPr txBox="1"/>
          <p:nvPr/>
        </p:nvSpPr>
        <p:spPr>
          <a:xfrm>
            <a:off x="354254" y="901987"/>
            <a:ext cx="11483492" cy="1034899"/>
          </a:xfrm>
          <a:prstGeom prst="rect">
            <a:avLst/>
          </a:prstGeom>
          <a:noFill/>
        </p:spPr>
        <p:txBody>
          <a:bodyPr wrap="square" rtlCol="0">
            <a:spAutoFit/>
          </a:bodyPr>
          <a:lstStyle/>
          <a:p>
            <a:pPr>
              <a:lnSpc>
                <a:spcPct val="150000"/>
              </a:lnSpc>
            </a:pPr>
            <a:r>
              <a:rPr kumimoji="1" lang="en-US" altLang="ja-JP" sz="1400" b="1">
                <a:latin typeface="メイリオ" panose="020B0604030504040204" pitchFamily="50" charset="-128"/>
                <a:ea typeface="メイリオ" panose="020B0604030504040204" pitchFamily="50" charset="-128"/>
              </a:rPr>
              <a:t>OpenClaw</a:t>
            </a:r>
            <a:r>
              <a:rPr kumimoji="1" lang="ja-JP" altLang="en-US" sz="1400">
                <a:latin typeface="メイリオ" panose="020B0604030504040204" pitchFamily="50" charset="-128"/>
                <a:ea typeface="メイリオ" panose="020B0604030504040204" pitchFamily="50" charset="-128"/>
              </a:rPr>
              <a:t>（旧</a:t>
            </a:r>
            <a:r>
              <a:rPr kumimoji="1" lang="en-US" altLang="ja-JP" sz="1400">
                <a:latin typeface="メイリオ" panose="020B0604030504040204" pitchFamily="50" charset="-128"/>
                <a:ea typeface="メイリオ" panose="020B0604030504040204" pitchFamily="50" charset="-128"/>
              </a:rPr>
              <a:t>Clawdbot / </a:t>
            </a:r>
            <a:r>
              <a:rPr kumimoji="1" lang="ja-JP" altLang="en-US" sz="1400">
                <a:latin typeface="メイリオ" panose="020B0604030504040204" pitchFamily="50" charset="-128"/>
                <a:ea typeface="メイリオ" panose="020B0604030504040204" pitchFamily="50" charset="-128"/>
              </a:rPr>
              <a:t>旧</a:t>
            </a:r>
            <a:r>
              <a:rPr kumimoji="1" lang="en-US" altLang="ja-JP" sz="1400">
                <a:latin typeface="メイリオ" panose="020B0604030504040204" pitchFamily="50" charset="-128"/>
                <a:ea typeface="メイリオ" panose="020B0604030504040204" pitchFamily="50" charset="-128"/>
              </a:rPr>
              <a:t>Moltbot</a:t>
            </a:r>
            <a:r>
              <a:rPr kumimoji="1" lang="ja-JP" altLang="en-US" sz="1400">
                <a:latin typeface="メイリオ" panose="020B0604030504040204" pitchFamily="50" charset="-128"/>
                <a:ea typeface="メイリオ" panose="020B0604030504040204" pitchFamily="50" charset="-128"/>
              </a:rPr>
              <a:t>）：１月下旬ごろから話題になり始めた</a:t>
            </a:r>
            <a:r>
              <a:rPr kumimoji="1" lang="en-US" altLang="ja-JP" sz="1400">
                <a:latin typeface="メイリオ" panose="020B0604030504040204" pitchFamily="50" charset="-128"/>
                <a:ea typeface="メイリオ" panose="020B0604030504040204" pitchFamily="50" charset="-128"/>
              </a:rPr>
              <a:t>AI</a:t>
            </a:r>
            <a:r>
              <a:rPr kumimoji="1" lang="ja-JP" altLang="en-US" sz="1400">
                <a:latin typeface="メイリオ" panose="020B0604030504040204" pitchFamily="50" charset="-128"/>
                <a:ea typeface="メイリオ" panose="020B0604030504040204" pitchFamily="50" charset="-128"/>
              </a:rPr>
              <a:t>アシスタント。また、「</a:t>
            </a:r>
            <a:r>
              <a:rPr kumimoji="1" lang="en-US" altLang="ja-JP" sz="1400">
                <a:latin typeface="メイリオ" panose="020B0604030504040204" pitchFamily="50" charset="-128"/>
                <a:ea typeface="メイリオ" panose="020B0604030504040204" pitchFamily="50" charset="-128"/>
              </a:rPr>
              <a:t>Moltbook</a:t>
            </a:r>
            <a:r>
              <a:rPr kumimoji="1" lang="ja-JP" altLang="en-US" sz="1400">
                <a:latin typeface="メイリオ" panose="020B0604030504040204" pitchFamily="50" charset="-128"/>
                <a:ea typeface="メイリオ" panose="020B0604030504040204" pitchFamily="50" charset="-128"/>
              </a:rPr>
              <a:t>」という</a:t>
            </a:r>
            <a:r>
              <a:rPr kumimoji="1" lang="en-US" altLang="ja-JP" sz="1400">
                <a:latin typeface="メイリオ" panose="020B0604030504040204" pitchFamily="50" charset="-128"/>
                <a:ea typeface="メイリオ" panose="020B0604030504040204" pitchFamily="50" charset="-128"/>
              </a:rPr>
              <a:t>AI</a:t>
            </a:r>
            <a:r>
              <a:rPr kumimoji="1" lang="ja-JP" altLang="en-US" sz="1400">
                <a:latin typeface="メイリオ" panose="020B0604030504040204" pitchFamily="50" charset="-128"/>
                <a:ea typeface="メイリオ" panose="020B0604030504040204" pitchFamily="50" charset="-128"/>
              </a:rPr>
              <a:t>エージェント専用の</a:t>
            </a:r>
            <a:r>
              <a:rPr kumimoji="1" lang="en-US" altLang="ja-JP" sz="1400">
                <a:latin typeface="メイリオ" panose="020B0604030504040204" pitchFamily="50" charset="-128"/>
                <a:ea typeface="メイリオ" panose="020B0604030504040204" pitchFamily="50" charset="-128"/>
              </a:rPr>
              <a:t>Reddit</a:t>
            </a:r>
            <a:r>
              <a:rPr kumimoji="1" lang="ja-JP" altLang="en-US" sz="1400">
                <a:latin typeface="メイリオ" panose="020B0604030504040204" pitchFamily="50" charset="-128"/>
                <a:ea typeface="メイリオ" panose="020B0604030504040204" pitchFamily="50" charset="-128"/>
              </a:rPr>
              <a:t>（海外の掲示板サイト）風の</a:t>
            </a:r>
            <a:r>
              <a:rPr kumimoji="1" lang="en-US" altLang="ja-JP" sz="1400">
                <a:latin typeface="メイリオ" panose="020B0604030504040204" pitchFamily="50" charset="-128"/>
                <a:ea typeface="メイリオ" panose="020B0604030504040204" pitchFamily="50" charset="-128"/>
              </a:rPr>
              <a:t>SNS</a:t>
            </a:r>
            <a:r>
              <a:rPr kumimoji="1" lang="ja-JP" altLang="en-US" sz="1400">
                <a:latin typeface="メイリオ" panose="020B0604030504040204" pitchFamily="50" charset="-128"/>
                <a:ea typeface="メイリオ" panose="020B0604030504040204" pitchFamily="50" charset="-128"/>
              </a:rPr>
              <a:t>で、人間は投稿できず「観察のみ」という設計のサービスも話題となった。</a:t>
            </a:r>
            <a:endParaRPr kumimoji="1" lang="en-US" altLang="ja-JP" sz="1400">
              <a:latin typeface="メイリオ" panose="020B0604030504040204" pitchFamily="50" charset="-128"/>
              <a:ea typeface="メイリオ" panose="020B0604030504040204" pitchFamily="50" charset="-128"/>
            </a:endParaRPr>
          </a:p>
          <a:p>
            <a:pPr>
              <a:lnSpc>
                <a:spcPct val="150000"/>
              </a:lnSpc>
            </a:pPr>
            <a:r>
              <a:rPr lang="ja-JP" altLang="en-US" sz="1400">
                <a:latin typeface="メイリオ" panose="020B0604030504040204" pitchFamily="50" charset="-128"/>
                <a:ea typeface="メイリオ" panose="020B0604030504040204" pitchFamily="50" charset="-128"/>
                <a:hlinkClick r:id="rId4"/>
              </a:rPr>
              <a:t>開発者が</a:t>
            </a:r>
            <a:r>
              <a:rPr lang="en-US" altLang="ja-JP" sz="1400">
                <a:latin typeface="メイリオ" panose="020B0604030504040204" pitchFamily="50" charset="-128"/>
                <a:ea typeface="メイリオ" panose="020B0604030504040204" pitchFamily="50" charset="-128"/>
                <a:hlinkClick r:id="rId4"/>
              </a:rPr>
              <a:t>2</a:t>
            </a:r>
            <a:r>
              <a:rPr lang="ja-JP" altLang="en-US" sz="1400">
                <a:latin typeface="メイリオ" panose="020B0604030504040204" pitchFamily="50" charset="-128"/>
                <a:ea typeface="メイリオ" panose="020B0604030504040204" pitchFamily="50" charset="-128"/>
                <a:hlinkClick r:id="rId4"/>
              </a:rPr>
              <a:t>月中旬に</a:t>
            </a:r>
            <a:r>
              <a:rPr lang="en-US" altLang="ja-JP" sz="1400">
                <a:latin typeface="メイリオ" panose="020B0604030504040204" pitchFamily="50" charset="-128"/>
                <a:ea typeface="メイリオ" panose="020B0604030504040204" pitchFamily="50" charset="-128"/>
                <a:hlinkClick r:id="rId4"/>
              </a:rPr>
              <a:t>OpenAI</a:t>
            </a:r>
            <a:r>
              <a:rPr lang="ja-JP" altLang="en-US" sz="1400">
                <a:latin typeface="メイリオ" panose="020B0604030504040204" pitchFamily="50" charset="-128"/>
                <a:ea typeface="メイリオ" panose="020B0604030504040204" pitchFamily="50" charset="-128"/>
                <a:hlinkClick r:id="rId4"/>
              </a:rPr>
              <a:t>に参加すると発表し、</a:t>
            </a:r>
            <a:r>
              <a:rPr lang="en-US" altLang="ja-JP" sz="1400">
                <a:latin typeface="メイリオ" panose="020B0604030504040204" pitchFamily="50" charset="-128"/>
                <a:ea typeface="メイリオ" panose="020B0604030504040204" pitchFamily="50" charset="-128"/>
                <a:hlinkClick r:id="rId4"/>
              </a:rPr>
              <a:t>OpenClaw</a:t>
            </a:r>
            <a:r>
              <a:rPr lang="ja-JP" altLang="en-US" sz="1400">
                <a:latin typeface="メイリオ" panose="020B0604030504040204" pitchFamily="50" charset="-128"/>
                <a:ea typeface="メイリオ" panose="020B0604030504040204" pitchFamily="50" charset="-128"/>
                <a:hlinkClick r:id="rId4"/>
              </a:rPr>
              <a:t>は引き続きオープンソースとして、</a:t>
            </a:r>
            <a:r>
              <a:rPr lang="en-US" altLang="ja-JP" sz="1400">
                <a:latin typeface="メイリオ" panose="020B0604030504040204" pitchFamily="50" charset="-128"/>
                <a:ea typeface="メイリオ" panose="020B0604030504040204" pitchFamily="50" charset="-128"/>
                <a:hlinkClick r:id="rId4"/>
              </a:rPr>
              <a:t>OpenAI</a:t>
            </a:r>
            <a:r>
              <a:rPr lang="ja-JP" altLang="en-US" sz="1400">
                <a:latin typeface="メイリオ" panose="020B0604030504040204" pitchFamily="50" charset="-128"/>
                <a:ea typeface="メイリオ" panose="020B0604030504040204" pitchFamily="50" charset="-128"/>
                <a:hlinkClick r:id="rId4"/>
              </a:rPr>
              <a:t>のプロダクトの中核になるとのこと。</a:t>
            </a:r>
            <a:endParaRPr kumimoji="1" lang="en-US" altLang="ja-JP" sz="1400">
              <a:latin typeface="メイリオ" panose="020B0604030504040204" pitchFamily="50" charset="-128"/>
              <a:ea typeface="メイリオ" panose="020B0604030504040204" pitchFamily="50" charset="-128"/>
            </a:endParaRPr>
          </a:p>
        </p:txBody>
      </p:sp>
      <p:grpSp>
        <p:nvGrpSpPr>
          <p:cNvPr id="13" name="グループ化 12">
            <a:extLst>
              <a:ext uri="{FF2B5EF4-FFF2-40B4-BE49-F238E27FC236}">
                <a16:creationId xmlns:a16="http://schemas.microsoft.com/office/drawing/2014/main" id="{5C714A4B-ED2B-136D-0093-49A2EDA18DC3}"/>
              </a:ext>
            </a:extLst>
          </p:cNvPr>
          <p:cNvGrpSpPr/>
          <p:nvPr/>
        </p:nvGrpSpPr>
        <p:grpSpPr>
          <a:xfrm>
            <a:off x="8305237" y="170207"/>
            <a:ext cx="3353361" cy="725098"/>
            <a:chOff x="4140743" y="2092499"/>
            <a:chExt cx="4158431" cy="899179"/>
          </a:xfrm>
        </p:grpSpPr>
        <p:sp>
          <p:nvSpPr>
            <p:cNvPr id="12" name="正方形/長方形 11">
              <a:extLst>
                <a:ext uri="{FF2B5EF4-FFF2-40B4-BE49-F238E27FC236}">
                  <a16:creationId xmlns:a16="http://schemas.microsoft.com/office/drawing/2014/main" id="{40BB1BAA-23D4-896B-F5BF-BF4A733731FB}"/>
                </a:ext>
              </a:extLst>
            </p:cNvPr>
            <p:cNvSpPr/>
            <p:nvPr/>
          </p:nvSpPr>
          <p:spPr>
            <a:xfrm>
              <a:off x="4140743" y="2092499"/>
              <a:ext cx="4158431" cy="899179"/>
            </a:xfrm>
            <a:prstGeom prst="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 name="図 9">
              <a:extLst>
                <a:ext uri="{FF2B5EF4-FFF2-40B4-BE49-F238E27FC236}">
                  <a16:creationId xmlns:a16="http://schemas.microsoft.com/office/drawing/2014/main" id="{4D5F04F2-7794-9F82-819E-D24D03538E3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276219" y="2143006"/>
              <a:ext cx="3887478" cy="798164"/>
            </a:xfrm>
            <a:prstGeom prst="rect">
              <a:avLst/>
            </a:prstGeom>
          </p:spPr>
        </p:pic>
      </p:grpSp>
      <p:sp>
        <p:nvSpPr>
          <p:cNvPr id="14" name="正方形/長方形 13">
            <a:extLst>
              <a:ext uri="{FF2B5EF4-FFF2-40B4-BE49-F238E27FC236}">
                <a16:creationId xmlns:a16="http://schemas.microsoft.com/office/drawing/2014/main" id="{54E0347B-31C1-7E7C-1465-6E2BEE1614E3}"/>
              </a:ext>
            </a:extLst>
          </p:cNvPr>
          <p:cNvSpPr/>
          <p:nvPr/>
        </p:nvSpPr>
        <p:spPr>
          <a:xfrm>
            <a:off x="185049" y="3737134"/>
            <a:ext cx="3816523" cy="45720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a:solidFill>
                  <a:schemeClr val="tx1"/>
                </a:solidFill>
                <a:latin typeface="メイリオ" panose="020B0604030504040204" pitchFamily="50" charset="-128"/>
                <a:ea typeface="メイリオ" panose="020B0604030504040204" pitchFamily="50" charset="-128"/>
              </a:rPr>
              <a:t>従来ツール </a:t>
            </a:r>
            <a:r>
              <a:rPr lang="en-US" altLang="ja-JP" b="1">
                <a:solidFill>
                  <a:schemeClr val="tx1"/>
                </a:solidFill>
                <a:latin typeface="メイリオ" panose="020B0604030504040204" pitchFamily="50" charset="-128"/>
                <a:ea typeface="メイリオ" panose="020B0604030504040204" pitchFamily="50" charset="-128"/>
              </a:rPr>
              <a:t>vs OpenClaw</a:t>
            </a:r>
            <a:endParaRPr kumimoji="1" lang="ja-JP" altLang="en-US" b="1">
              <a:solidFill>
                <a:schemeClr val="tx1"/>
              </a:solidFill>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81C991D8-9152-FD48-5302-2A30E8191A73}"/>
              </a:ext>
            </a:extLst>
          </p:cNvPr>
          <p:cNvSpPr txBox="1"/>
          <p:nvPr/>
        </p:nvSpPr>
        <p:spPr>
          <a:xfrm>
            <a:off x="362175" y="4927945"/>
            <a:ext cx="1571157" cy="1177245"/>
          </a:xfrm>
          <a:prstGeom prst="rect">
            <a:avLst/>
          </a:prstGeom>
          <a:noFill/>
        </p:spPr>
        <p:txBody>
          <a:bodyPr wrap="square" rtlCol="0" anchor="ctr">
            <a:spAutoFit/>
          </a:bodyPr>
          <a:lstStyle/>
          <a:p>
            <a:pPr algn="ctr">
              <a:lnSpc>
                <a:spcPct val="150000"/>
              </a:lnSpc>
            </a:pPr>
            <a:r>
              <a:rPr lang="en-US" altLang="ja-JP" sz="1200" b="1">
                <a:latin typeface="メイリオ" panose="020B0604030504040204" pitchFamily="50" charset="-128"/>
                <a:ea typeface="メイリオ" panose="020B0604030504040204" pitchFamily="50" charset="-128"/>
              </a:rPr>
              <a:t>Claude Code / Codex</a:t>
            </a:r>
            <a:r>
              <a:rPr lang="ja-JP" altLang="en-US" sz="1200" b="1">
                <a:latin typeface="メイリオ" panose="020B0604030504040204" pitchFamily="50" charset="-128"/>
                <a:ea typeface="メイリオ" panose="020B0604030504040204" pitchFamily="50" charset="-128"/>
              </a:rPr>
              <a:t>など：</a:t>
            </a:r>
            <a:endParaRPr lang="en-US" altLang="ja-JP" sz="1200" b="1">
              <a:latin typeface="メイリオ" panose="020B0604030504040204" pitchFamily="50" charset="-128"/>
              <a:ea typeface="メイリオ" panose="020B0604030504040204" pitchFamily="50" charset="-128"/>
            </a:endParaRPr>
          </a:p>
          <a:p>
            <a:pPr algn="ctr">
              <a:lnSpc>
                <a:spcPct val="150000"/>
              </a:lnSpc>
            </a:pPr>
            <a:r>
              <a:rPr lang="ja-JP" altLang="en-US" sz="1200" b="1">
                <a:latin typeface="メイリオ" panose="020B0604030504040204" pitchFamily="50" charset="-128"/>
                <a:ea typeface="メイリオ" panose="020B0604030504040204" pitchFamily="50" charset="-128"/>
              </a:rPr>
              <a:t>ユーザーが起動して</a:t>
            </a:r>
            <a:endParaRPr lang="en-US" altLang="ja-JP" sz="1200" b="1">
              <a:latin typeface="メイリオ" panose="020B0604030504040204" pitchFamily="50" charset="-128"/>
              <a:ea typeface="メイリオ" panose="020B0604030504040204" pitchFamily="50" charset="-128"/>
            </a:endParaRPr>
          </a:p>
          <a:p>
            <a:pPr algn="ctr">
              <a:lnSpc>
                <a:spcPct val="150000"/>
              </a:lnSpc>
            </a:pPr>
            <a:r>
              <a:rPr kumimoji="1" lang="ja-JP" altLang="en-US" sz="1200" b="1">
                <a:latin typeface="メイリオ" panose="020B0604030504040204" pitchFamily="50" charset="-128"/>
                <a:ea typeface="メイリオ" panose="020B0604030504040204" pitchFamily="50" charset="-128"/>
              </a:rPr>
              <a:t>対話するツール</a:t>
            </a:r>
            <a:endParaRPr kumimoji="1" lang="en-US" altLang="ja-JP" sz="1200">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F6E011A8-3C3D-863B-5821-396C320A52E7}"/>
              </a:ext>
            </a:extLst>
          </p:cNvPr>
          <p:cNvSpPr txBox="1"/>
          <p:nvPr/>
        </p:nvSpPr>
        <p:spPr>
          <a:xfrm>
            <a:off x="2247127" y="4868441"/>
            <a:ext cx="1571157" cy="900246"/>
          </a:xfrm>
          <a:prstGeom prst="rect">
            <a:avLst/>
          </a:prstGeom>
          <a:noFill/>
        </p:spPr>
        <p:txBody>
          <a:bodyPr wrap="square" rtlCol="0" anchor="ctr">
            <a:spAutoFit/>
          </a:bodyPr>
          <a:lstStyle/>
          <a:p>
            <a:pPr algn="ctr">
              <a:lnSpc>
                <a:spcPct val="150000"/>
              </a:lnSpc>
            </a:pPr>
            <a:r>
              <a:rPr lang="en-US" altLang="ja-JP" sz="1200" b="1">
                <a:latin typeface="メイリオ" panose="020B0604030504040204" pitchFamily="50" charset="-128"/>
                <a:ea typeface="メイリオ" panose="020B0604030504040204" pitchFamily="50" charset="-128"/>
              </a:rPr>
              <a:t>OpenClaw</a:t>
            </a:r>
            <a:r>
              <a:rPr lang="ja-JP" altLang="en-US" sz="1200" b="1">
                <a:latin typeface="メイリオ" panose="020B0604030504040204" pitchFamily="50" charset="-128"/>
                <a:ea typeface="メイリオ" panose="020B0604030504040204" pitchFamily="50" charset="-128"/>
              </a:rPr>
              <a:t>：</a:t>
            </a:r>
            <a:endParaRPr lang="en-US" altLang="ja-JP" sz="1200" b="1">
              <a:latin typeface="メイリオ" panose="020B0604030504040204" pitchFamily="50" charset="-128"/>
              <a:ea typeface="メイリオ" panose="020B0604030504040204" pitchFamily="50" charset="-128"/>
            </a:endParaRPr>
          </a:p>
          <a:p>
            <a:pPr algn="ctr">
              <a:lnSpc>
                <a:spcPct val="150000"/>
              </a:lnSpc>
            </a:pPr>
            <a:r>
              <a:rPr kumimoji="1" lang="ja-JP" altLang="en-US" sz="1200" b="1">
                <a:latin typeface="メイリオ" panose="020B0604030504040204" pitchFamily="50" charset="-128"/>
                <a:ea typeface="メイリオ" panose="020B0604030504040204" pitchFamily="50" charset="-128"/>
              </a:rPr>
              <a:t>エージェントが常駐して自分から動く</a:t>
            </a:r>
            <a:endParaRPr kumimoji="1" lang="en-US" altLang="ja-JP" sz="1200">
              <a:latin typeface="メイリオ" panose="020B0604030504040204" pitchFamily="50" charset="-128"/>
              <a:ea typeface="メイリオ" panose="020B0604030504040204" pitchFamily="50" charset="-128"/>
            </a:endParaRPr>
          </a:p>
        </p:txBody>
      </p:sp>
      <p:pic>
        <p:nvPicPr>
          <p:cNvPr id="21" name="図 20">
            <a:extLst>
              <a:ext uri="{FF2B5EF4-FFF2-40B4-BE49-F238E27FC236}">
                <a16:creationId xmlns:a16="http://schemas.microsoft.com/office/drawing/2014/main" id="{E9A6E7BE-0AA1-5328-6471-F0AAB91D717C}"/>
              </a:ext>
            </a:extLst>
          </p:cNvPr>
          <p:cNvPicPr>
            <a:picLocks noChangeAspect="1"/>
          </p:cNvPicPr>
          <p:nvPr/>
        </p:nvPicPr>
        <p:blipFill>
          <a:blip r:embed="rId6"/>
          <a:stretch>
            <a:fillRect/>
          </a:stretch>
        </p:blipFill>
        <p:spPr>
          <a:xfrm>
            <a:off x="2650153" y="4319517"/>
            <a:ext cx="765105" cy="577371"/>
          </a:xfrm>
          <a:prstGeom prst="rect">
            <a:avLst/>
          </a:prstGeom>
        </p:spPr>
      </p:pic>
      <p:pic>
        <p:nvPicPr>
          <p:cNvPr id="23" name="図 22">
            <a:extLst>
              <a:ext uri="{FF2B5EF4-FFF2-40B4-BE49-F238E27FC236}">
                <a16:creationId xmlns:a16="http://schemas.microsoft.com/office/drawing/2014/main" id="{0EF22DC6-ACCD-A1E6-6FEA-20BA0578B094}"/>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32643" y="4340567"/>
            <a:ext cx="864822" cy="486462"/>
          </a:xfrm>
          <a:prstGeom prst="rect">
            <a:avLst/>
          </a:prstGeom>
        </p:spPr>
      </p:pic>
      <p:pic>
        <p:nvPicPr>
          <p:cNvPr id="25" name="図 24">
            <a:extLst>
              <a:ext uri="{FF2B5EF4-FFF2-40B4-BE49-F238E27FC236}">
                <a16:creationId xmlns:a16="http://schemas.microsoft.com/office/drawing/2014/main" id="{B3879B52-AA5F-DB7F-5CC7-EFB58AD72DEB}"/>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43053" y="4406540"/>
            <a:ext cx="375172" cy="375172"/>
          </a:xfrm>
          <a:prstGeom prst="rect">
            <a:avLst/>
          </a:prstGeom>
        </p:spPr>
      </p:pic>
      <p:sp>
        <p:nvSpPr>
          <p:cNvPr id="26" name="二等辺三角形 25">
            <a:extLst>
              <a:ext uri="{FF2B5EF4-FFF2-40B4-BE49-F238E27FC236}">
                <a16:creationId xmlns:a16="http://schemas.microsoft.com/office/drawing/2014/main" id="{F5584888-0C13-52DA-BB45-E6D6B536CF24}"/>
              </a:ext>
            </a:extLst>
          </p:cNvPr>
          <p:cNvSpPr/>
          <p:nvPr/>
        </p:nvSpPr>
        <p:spPr>
          <a:xfrm rot="10800000">
            <a:off x="2650153" y="5781855"/>
            <a:ext cx="765104" cy="214473"/>
          </a:xfrm>
          <a:prstGeom prst="triangle">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91CD9176-726B-89BB-77D7-7D841AB820D3}"/>
              </a:ext>
            </a:extLst>
          </p:cNvPr>
          <p:cNvSpPr txBox="1"/>
          <p:nvPr/>
        </p:nvSpPr>
        <p:spPr>
          <a:xfrm>
            <a:off x="2247127" y="5996329"/>
            <a:ext cx="1571157" cy="623248"/>
          </a:xfrm>
          <a:prstGeom prst="rect">
            <a:avLst/>
          </a:prstGeom>
          <a:noFill/>
        </p:spPr>
        <p:txBody>
          <a:bodyPr wrap="square" rtlCol="0" anchor="ctr">
            <a:spAutoFit/>
          </a:bodyPr>
          <a:lstStyle/>
          <a:p>
            <a:pPr algn="ctr">
              <a:lnSpc>
                <a:spcPct val="150000"/>
              </a:lnSpc>
            </a:pPr>
            <a:r>
              <a:rPr kumimoji="1" lang="ja-JP" altLang="en-US" sz="1200" b="1">
                <a:latin typeface="メイリオ" panose="020B0604030504040204" pitchFamily="50" charset="-128"/>
                <a:ea typeface="メイリオ" panose="020B0604030504040204" pitchFamily="50" charset="-128"/>
              </a:rPr>
              <a:t>常駐型・一段上の</a:t>
            </a:r>
            <a:endParaRPr kumimoji="1" lang="en-US" altLang="ja-JP" sz="1200" b="1">
              <a:latin typeface="メイリオ" panose="020B0604030504040204" pitchFamily="50" charset="-128"/>
              <a:ea typeface="メイリオ" panose="020B0604030504040204" pitchFamily="50" charset="-128"/>
            </a:endParaRPr>
          </a:p>
          <a:p>
            <a:pPr algn="ctr">
              <a:lnSpc>
                <a:spcPct val="150000"/>
              </a:lnSpc>
            </a:pPr>
            <a:r>
              <a:rPr kumimoji="1" lang="ja-JP" altLang="en-US" sz="1200" b="1">
                <a:latin typeface="メイリオ" panose="020B0604030504040204" pitchFamily="50" charset="-128"/>
                <a:ea typeface="メイリオ" panose="020B0604030504040204" pitchFamily="50" charset="-128"/>
              </a:rPr>
              <a:t>レイヤー</a:t>
            </a:r>
            <a:endParaRPr kumimoji="1" lang="en-US" altLang="ja-JP" sz="1200" b="1">
              <a:latin typeface="メイリオ" panose="020B0604030504040204" pitchFamily="50" charset="-128"/>
              <a:ea typeface="メイリオ" panose="020B0604030504040204" pitchFamily="50" charset="-128"/>
            </a:endParaRPr>
          </a:p>
        </p:txBody>
      </p:sp>
      <p:sp>
        <p:nvSpPr>
          <p:cNvPr id="33" name="テキスト ボックス 32">
            <a:extLst>
              <a:ext uri="{FF2B5EF4-FFF2-40B4-BE49-F238E27FC236}">
                <a16:creationId xmlns:a16="http://schemas.microsoft.com/office/drawing/2014/main" id="{92D61A21-E713-C0C1-4E39-C0E272DF3E18}"/>
              </a:ext>
            </a:extLst>
          </p:cNvPr>
          <p:cNvSpPr txBox="1"/>
          <p:nvPr/>
        </p:nvSpPr>
        <p:spPr>
          <a:xfrm>
            <a:off x="4420650" y="2633901"/>
            <a:ext cx="2931354" cy="2973891"/>
          </a:xfrm>
          <a:prstGeom prst="rect">
            <a:avLst/>
          </a:prstGeom>
          <a:noFill/>
        </p:spPr>
        <p:txBody>
          <a:bodyPr wrap="square" rtlCol="0">
            <a:spAutoFit/>
          </a:bodyPr>
          <a:lstStyle/>
          <a:p>
            <a:pPr>
              <a:lnSpc>
                <a:spcPct val="150000"/>
              </a:lnSpc>
            </a:pPr>
            <a:r>
              <a:rPr kumimoji="1" lang="ja-JP" altLang="en-US" sz="1400" b="1">
                <a:latin typeface="メイリオ" panose="020B0604030504040204" pitchFamily="50" charset="-128"/>
                <a:ea typeface="メイリオ" panose="020B0604030504040204" pitchFamily="50" charset="-128"/>
              </a:rPr>
              <a:t>常時稼働させるための環境として、一部のユーザーが</a:t>
            </a:r>
            <a:r>
              <a:rPr kumimoji="1" lang="en-US" altLang="ja-JP" sz="1400" b="1">
                <a:latin typeface="メイリオ" panose="020B0604030504040204" pitchFamily="50" charset="-128"/>
                <a:ea typeface="メイリオ" panose="020B0604030504040204" pitchFamily="50" charset="-128"/>
              </a:rPr>
              <a:t>Mac mini</a:t>
            </a:r>
            <a:r>
              <a:rPr kumimoji="1" lang="ja-JP" altLang="en-US" sz="1400" b="1">
                <a:latin typeface="メイリオ" panose="020B0604030504040204" pitchFamily="50" charset="-128"/>
                <a:ea typeface="メイリオ" panose="020B0604030504040204" pitchFamily="50" charset="-128"/>
              </a:rPr>
              <a:t>を複数購入し、世界的に品薄となる。</a:t>
            </a:r>
            <a:endParaRPr kumimoji="1" lang="en-US" altLang="ja-JP" sz="1400" b="1">
              <a:latin typeface="メイリオ" panose="020B0604030504040204" pitchFamily="50" charset="-128"/>
              <a:ea typeface="メイリオ" panose="020B0604030504040204" pitchFamily="50" charset="-128"/>
            </a:endParaRPr>
          </a:p>
          <a:p>
            <a:pPr>
              <a:lnSpc>
                <a:spcPct val="150000"/>
              </a:lnSpc>
            </a:pPr>
            <a:r>
              <a:rPr kumimoji="1" lang="ja-JP" altLang="en-US" sz="1400">
                <a:latin typeface="メイリオ" panose="020B0604030504040204" pitchFamily="50" charset="-128"/>
                <a:ea typeface="メイリオ" panose="020B0604030504040204" pitchFamily="50" charset="-128"/>
              </a:rPr>
              <a:t>→ </a:t>
            </a:r>
            <a:r>
              <a:rPr kumimoji="1" lang="en-US" altLang="ja-JP" sz="1400">
                <a:latin typeface="メイリオ" panose="020B0604030504040204" pitchFamily="50" charset="-128"/>
                <a:ea typeface="メイリオ" panose="020B0604030504040204" pitchFamily="50" charset="-128"/>
              </a:rPr>
              <a:t>Mac mini</a:t>
            </a:r>
            <a:r>
              <a:rPr kumimoji="1" lang="ja-JP" altLang="en-US" sz="1400">
                <a:latin typeface="メイリオ" panose="020B0604030504040204" pitchFamily="50" charset="-128"/>
                <a:ea typeface="メイリオ" panose="020B0604030504040204" pitchFamily="50" charset="-128"/>
              </a:rPr>
              <a:t>じゃなくても動くが、</a:t>
            </a:r>
            <a:endParaRPr kumimoji="1" lang="en-US" altLang="ja-JP" sz="1400">
              <a:latin typeface="メイリオ" panose="020B0604030504040204" pitchFamily="50" charset="-128"/>
              <a:ea typeface="メイリオ" panose="020B0604030504040204" pitchFamily="50" charset="-128"/>
            </a:endParaRPr>
          </a:p>
          <a:p>
            <a:pPr marL="285750" indent="-285750">
              <a:lnSpc>
                <a:spcPct val="150000"/>
              </a:lnSpc>
              <a:buFont typeface="Arial" panose="020B0604020202020204" pitchFamily="34" charset="0"/>
              <a:buChar char="•"/>
            </a:pPr>
            <a:r>
              <a:rPr lang="ja-JP" altLang="en-US" sz="1400">
                <a:latin typeface="メイリオ" panose="020B0604030504040204" pitchFamily="50" charset="-128"/>
                <a:ea typeface="メイリオ" panose="020B0604030504040204" pitchFamily="50" charset="-128"/>
              </a:rPr>
              <a:t>メインの</a:t>
            </a:r>
            <a:r>
              <a:rPr lang="en-US" altLang="ja-JP" sz="1400">
                <a:latin typeface="メイリオ" panose="020B0604030504040204" pitchFamily="50" charset="-128"/>
                <a:ea typeface="メイリオ" panose="020B0604030504040204" pitchFamily="50" charset="-128"/>
              </a:rPr>
              <a:t>PC</a:t>
            </a:r>
            <a:r>
              <a:rPr lang="ja-JP" altLang="en-US" sz="1400">
                <a:latin typeface="メイリオ" panose="020B0604030504040204" pitchFamily="50" charset="-128"/>
                <a:ea typeface="メイリオ" panose="020B0604030504040204" pitchFamily="50" charset="-128"/>
              </a:rPr>
              <a:t>だとセキュリティ上入れたくない</a:t>
            </a:r>
            <a:endParaRPr lang="en-US" altLang="ja-JP" sz="1400">
              <a:latin typeface="メイリオ" panose="020B0604030504040204" pitchFamily="50" charset="-128"/>
              <a:ea typeface="メイリオ" panose="020B0604030504040204" pitchFamily="50" charset="-128"/>
            </a:endParaRPr>
          </a:p>
          <a:p>
            <a:pPr marL="285750" indent="-285750">
              <a:lnSpc>
                <a:spcPct val="150000"/>
              </a:lnSpc>
              <a:buFont typeface="Arial" panose="020B0604020202020204" pitchFamily="34" charset="0"/>
              <a:buChar char="•"/>
            </a:pPr>
            <a:r>
              <a:rPr kumimoji="1" lang="ja-JP" altLang="en-US" sz="1400">
                <a:latin typeface="メイリオ" panose="020B0604030504040204" pitchFamily="50" charset="-128"/>
                <a:ea typeface="メイリオ" panose="020B0604030504040204" pitchFamily="50" charset="-128"/>
              </a:rPr>
              <a:t>ローカル</a:t>
            </a:r>
            <a:r>
              <a:rPr kumimoji="1" lang="en-US" altLang="ja-JP" sz="1400">
                <a:latin typeface="メイリオ" panose="020B0604030504040204" pitchFamily="50" charset="-128"/>
                <a:ea typeface="メイリオ" panose="020B0604030504040204" pitchFamily="50" charset="-128"/>
              </a:rPr>
              <a:t>LLM</a:t>
            </a:r>
            <a:r>
              <a:rPr kumimoji="1" lang="ja-JP" altLang="en-US" sz="1400">
                <a:latin typeface="メイリオ" panose="020B0604030504040204" pitchFamily="50" charset="-128"/>
                <a:ea typeface="メイリオ" panose="020B0604030504040204" pitchFamily="50" charset="-128"/>
              </a:rPr>
              <a:t>を利用したいためある程度のスペックがある</a:t>
            </a:r>
            <a:r>
              <a:rPr kumimoji="1" lang="en-US" altLang="ja-JP" sz="1400">
                <a:latin typeface="メイリオ" panose="020B0604030504040204" pitchFamily="50" charset="-128"/>
                <a:ea typeface="メイリオ" panose="020B0604030504040204" pitchFamily="50" charset="-128"/>
              </a:rPr>
              <a:t>PC</a:t>
            </a:r>
            <a:r>
              <a:rPr kumimoji="1" lang="ja-JP" altLang="en-US" sz="1400">
                <a:latin typeface="メイリオ" panose="020B0604030504040204" pitchFamily="50" charset="-128"/>
                <a:ea typeface="メイリオ" panose="020B0604030504040204" pitchFamily="50" charset="-128"/>
              </a:rPr>
              <a:t>を利用したい等の需要あり。</a:t>
            </a:r>
            <a:endParaRPr kumimoji="1" lang="en-US" altLang="ja-JP" sz="1400">
              <a:latin typeface="メイリオ" panose="020B0604030504040204" pitchFamily="50" charset="-128"/>
              <a:ea typeface="メイリオ" panose="020B0604030504040204" pitchFamily="50" charset="-128"/>
            </a:endParaRPr>
          </a:p>
        </p:txBody>
      </p:sp>
      <p:pic>
        <p:nvPicPr>
          <p:cNvPr id="35" name="図 34">
            <a:hlinkClick r:id="rId9"/>
            <a:extLst>
              <a:ext uri="{FF2B5EF4-FFF2-40B4-BE49-F238E27FC236}">
                <a16:creationId xmlns:a16="http://schemas.microsoft.com/office/drawing/2014/main" id="{9F351DE9-E676-ABA5-7FBB-9F0059A4BBF6}"/>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7668670" y="2633901"/>
            <a:ext cx="4161155" cy="3120866"/>
          </a:xfrm>
          <a:prstGeom prst="rect">
            <a:avLst/>
          </a:prstGeom>
          <a:ln>
            <a:noFill/>
          </a:ln>
          <a:effectLst>
            <a:outerShdw blurRad="190500" algn="tl" rotWithShape="0">
              <a:srgbClr val="000000">
                <a:alpha val="70000"/>
              </a:srgbClr>
            </a:outerShdw>
          </a:effectLst>
        </p:spPr>
      </p:pic>
      <p:sp>
        <p:nvSpPr>
          <p:cNvPr id="37" name="テキスト ボックス 36">
            <a:extLst>
              <a:ext uri="{FF2B5EF4-FFF2-40B4-BE49-F238E27FC236}">
                <a16:creationId xmlns:a16="http://schemas.microsoft.com/office/drawing/2014/main" id="{0170E085-7A8B-5943-9ABA-9A99C2FC7880}"/>
              </a:ext>
            </a:extLst>
          </p:cNvPr>
          <p:cNvSpPr txBox="1"/>
          <p:nvPr/>
        </p:nvSpPr>
        <p:spPr>
          <a:xfrm>
            <a:off x="4438138" y="6046343"/>
            <a:ext cx="7399608" cy="523220"/>
          </a:xfrm>
          <a:prstGeom prst="rect">
            <a:avLst/>
          </a:prstGeom>
          <a:noFill/>
        </p:spPr>
        <p:txBody>
          <a:bodyPr wrap="square">
            <a:spAutoFit/>
          </a:bodyPr>
          <a:lstStyle/>
          <a:p>
            <a:r>
              <a:rPr lang="ja-JP" altLang="en-US" sz="1400">
                <a:latin typeface="メイリオ" panose="020B0604030504040204" pitchFamily="50" charset="-128"/>
                <a:ea typeface="メイリオ" panose="020B0604030504040204" pitchFamily="50" charset="-128"/>
              </a:rPr>
              <a:t>参考：</a:t>
            </a:r>
            <a:r>
              <a:rPr lang="ja-JP" altLang="en-US" sz="1400">
                <a:latin typeface="メイリオ" panose="020B0604030504040204" pitchFamily="50" charset="-128"/>
                <a:ea typeface="メイリオ" panose="020B0604030504040204" pitchFamily="50" charset="-128"/>
                <a:hlinkClick r:id="rId11"/>
              </a:rPr>
              <a:t>パーソナル</a:t>
            </a:r>
            <a:r>
              <a:rPr lang="en-US" altLang="ja-JP" sz="1400">
                <a:latin typeface="メイリオ" panose="020B0604030504040204" pitchFamily="50" charset="-128"/>
                <a:ea typeface="メイリオ" panose="020B0604030504040204" pitchFamily="50" charset="-128"/>
                <a:hlinkClick r:id="rId11"/>
              </a:rPr>
              <a:t>AI</a:t>
            </a:r>
            <a:r>
              <a:rPr lang="ja-JP" altLang="en-US" sz="1400">
                <a:latin typeface="メイリオ" panose="020B0604030504040204" pitchFamily="50" charset="-128"/>
                <a:ea typeface="メイリオ" panose="020B0604030504040204" pitchFamily="50" charset="-128"/>
                <a:hlinkClick r:id="rId11"/>
              </a:rPr>
              <a:t>エージェントを作れる</a:t>
            </a:r>
            <a:r>
              <a:rPr lang="en-US" altLang="ja-JP" sz="1400">
                <a:latin typeface="メイリオ" panose="020B0604030504040204" pitchFamily="50" charset="-128"/>
                <a:ea typeface="メイリオ" panose="020B0604030504040204" pitchFamily="50" charset="-128"/>
                <a:hlinkClick r:id="rId11"/>
              </a:rPr>
              <a:t>OpenClaw</a:t>
            </a:r>
            <a:r>
              <a:rPr lang="ja-JP" altLang="en-US" sz="1400">
                <a:latin typeface="メイリオ" panose="020B0604030504040204" pitchFamily="50" charset="-128"/>
                <a:ea typeface="メイリオ" panose="020B0604030504040204" pitchFamily="50" charset="-128"/>
                <a:hlinkClick r:id="rId11"/>
              </a:rPr>
              <a:t>（旧</a:t>
            </a:r>
            <a:r>
              <a:rPr lang="en-US" altLang="ja-JP" sz="1400">
                <a:latin typeface="メイリオ" panose="020B0604030504040204" pitchFamily="50" charset="-128"/>
                <a:ea typeface="メイリオ" panose="020B0604030504040204" pitchFamily="50" charset="-128"/>
                <a:hlinkClick r:id="rId11"/>
              </a:rPr>
              <a:t>Clawdbot</a:t>
            </a:r>
            <a:r>
              <a:rPr lang="ja-JP" altLang="en-US" sz="1400">
                <a:latin typeface="メイリオ" panose="020B0604030504040204" pitchFamily="50" charset="-128"/>
                <a:ea typeface="メイリオ" panose="020B0604030504040204" pitchFamily="50" charset="-128"/>
                <a:hlinkClick r:id="rId11"/>
              </a:rPr>
              <a:t>）の人気拡大で、</a:t>
            </a:r>
            <a:r>
              <a:rPr lang="en-US" altLang="ja-JP" sz="1400">
                <a:latin typeface="メイリオ" panose="020B0604030504040204" pitchFamily="50" charset="-128"/>
                <a:ea typeface="メイリオ" panose="020B0604030504040204" pitchFamily="50" charset="-128"/>
                <a:hlinkClick r:id="rId11"/>
              </a:rPr>
              <a:t>Mac</a:t>
            </a:r>
            <a:r>
              <a:rPr lang="ja-JP" altLang="en-US" sz="1400">
                <a:latin typeface="メイリオ" panose="020B0604030504040204" pitchFamily="50" charset="-128"/>
                <a:ea typeface="メイリオ" panose="020B0604030504040204" pitchFamily="50" charset="-128"/>
                <a:hlinkClick r:id="rId11"/>
              </a:rPr>
              <a:t>が品薄に？ </a:t>
            </a:r>
            <a:r>
              <a:rPr lang="en-US" altLang="ja-JP" sz="1400">
                <a:latin typeface="メイリオ" panose="020B0604030504040204" pitchFamily="50" charset="-128"/>
                <a:ea typeface="メイリオ" panose="020B0604030504040204" pitchFamily="50" charset="-128"/>
                <a:hlinkClick r:id="rId11"/>
              </a:rPr>
              <a:t>| </a:t>
            </a:r>
            <a:r>
              <a:rPr lang="ja-JP" altLang="en-US" sz="1400">
                <a:latin typeface="メイリオ" panose="020B0604030504040204" pitchFamily="50" charset="-128"/>
                <a:ea typeface="メイリオ" panose="020B0604030504040204" pitchFamily="50" charset="-128"/>
                <a:hlinkClick r:id="rId11"/>
              </a:rPr>
              <a:t>テクノエッジ </a:t>
            </a:r>
            <a:r>
              <a:rPr lang="en-US" altLang="ja-JP" sz="1400">
                <a:latin typeface="メイリオ" panose="020B0604030504040204" pitchFamily="50" charset="-128"/>
                <a:ea typeface="メイリオ" panose="020B0604030504040204" pitchFamily="50" charset="-128"/>
                <a:hlinkClick r:id="rId11"/>
              </a:rPr>
              <a:t>TechnoEdge</a:t>
            </a:r>
            <a:endParaRPr lang="ja-JP" altLang="en-US" sz="140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248287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EE8326-9BD6-ADCE-0D40-2FD8E7FDC19D}"/>
            </a:ext>
          </a:extLst>
        </p:cNvPr>
        <p:cNvGrpSpPr/>
        <p:nvPr/>
      </p:nvGrpSpPr>
      <p:grpSpPr>
        <a:xfrm>
          <a:off x="0" y="0"/>
          <a:ext cx="0" cy="0"/>
          <a:chOff x="0" y="0"/>
          <a:chExt cx="0" cy="0"/>
        </a:xfrm>
      </p:grpSpPr>
      <p:sp>
        <p:nvSpPr>
          <p:cNvPr id="19" name="正方形/長方形 18">
            <a:extLst>
              <a:ext uri="{FF2B5EF4-FFF2-40B4-BE49-F238E27FC236}">
                <a16:creationId xmlns:a16="http://schemas.microsoft.com/office/drawing/2014/main" id="{0D6F1FEC-BDD2-0E49-DC7D-DB88D03D002E}"/>
              </a:ext>
            </a:extLst>
          </p:cNvPr>
          <p:cNvSpPr/>
          <p:nvPr/>
        </p:nvSpPr>
        <p:spPr>
          <a:xfrm>
            <a:off x="6643132" y="2100402"/>
            <a:ext cx="5308793" cy="3207094"/>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a:extLst>
              <a:ext uri="{FF2B5EF4-FFF2-40B4-BE49-F238E27FC236}">
                <a16:creationId xmlns:a16="http://schemas.microsoft.com/office/drawing/2014/main" id="{ACC96415-74CC-BD23-06AA-3669744B0936}"/>
              </a:ext>
            </a:extLst>
          </p:cNvPr>
          <p:cNvSpPr/>
          <p:nvPr/>
        </p:nvSpPr>
        <p:spPr>
          <a:xfrm>
            <a:off x="240075" y="2105851"/>
            <a:ext cx="6133500" cy="4721086"/>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BB0AD979-3409-5BEE-6A27-3DADC058B778}"/>
              </a:ext>
            </a:extLst>
          </p:cNvPr>
          <p:cNvSpPr txBox="1"/>
          <p:nvPr/>
        </p:nvSpPr>
        <p:spPr>
          <a:xfrm>
            <a:off x="443466" y="317212"/>
            <a:ext cx="11215133" cy="584775"/>
          </a:xfrm>
          <a:prstGeom prst="rect">
            <a:avLst/>
          </a:prstGeom>
          <a:noFill/>
        </p:spPr>
        <p:txBody>
          <a:bodyPr wrap="square" rtlCol="0">
            <a:spAutoFit/>
          </a:bodyPr>
          <a:lstStyle/>
          <a:p>
            <a:r>
              <a:rPr lang="en-US" altLang="ja-JP" sz="3200" b="1">
                <a:latin typeface="メイリオ" panose="020B0604030504040204" pitchFamily="50" charset="-128"/>
                <a:ea typeface="メイリオ" panose="020B0604030504040204" pitchFamily="50" charset="-128"/>
              </a:rPr>
              <a:t>2.Agent Skills </a:t>
            </a:r>
            <a:r>
              <a:rPr lang="en-US" altLang="ja-JP" sz="2800" b="1">
                <a:latin typeface="メイリオ" panose="020B0604030504040204" pitchFamily="50" charset="-128"/>
                <a:ea typeface="メイリオ" panose="020B0604030504040204" pitchFamily="50" charset="-128"/>
              </a:rPr>
              <a:t>– OpenClaw</a:t>
            </a:r>
            <a:r>
              <a:rPr lang="ja-JP" altLang="en-US" sz="2800" b="1">
                <a:latin typeface="メイリオ" panose="020B0604030504040204" pitchFamily="50" charset="-128"/>
                <a:ea typeface="メイリオ" panose="020B0604030504040204" pitchFamily="50" charset="-128"/>
              </a:rPr>
              <a:t>はなぜ「途中で止まらない」のか</a:t>
            </a:r>
            <a:endParaRPr kumimoji="1" lang="ja-JP" altLang="en-US" sz="3200" b="1">
              <a:latin typeface="メイリオ" panose="020B0604030504040204" pitchFamily="50" charset="-128"/>
              <a:ea typeface="メイリオ" panose="020B0604030504040204" pitchFamily="50" charset="-128"/>
            </a:endParaRPr>
          </a:p>
        </p:txBody>
      </p:sp>
      <p:sp>
        <p:nvSpPr>
          <p:cNvPr id="2" name="テキスト ボックス 1">
            <a:extLst>
              <a:ext uri="{FF2B5EF4-FFF2-40B4-BE49-F238E27FC236}">
                <a16:creationId xmlns:a16="http://schemas.microsoft.com/office/drawing/2014/main" id="{922A4142-C9C7-E5B6-171E-404E141835DB}"/>
              </a:ext>
            </a:extLst>
          </p:cNvPr>
          <p:cNvSpPr txBox="1"/>
          <p:nvPr/>
        </p:nvSpPr>
        <p:spPr>
          <a:xfrm>
            <a:off x="354254" y="901987"/>
            <a:ext cx="11483492" cy="1034899"/>
          </a:xfrm>
          <a:prstGeom prst="rect">
            <a:avLst/>
          </a:prstGeom>
          <a:noFill/>
        </p:spPr>
        <p:txBody>
          <a:bodyPr wrap="square" rtlCol="0">
            <a:spAutoFit/>
          </a:bodyPr>
          <a:lstStyle/>
          <a:p>
            <a:pPr>
              <a:lnSpc>
                <a:spcPct val="150000"/>
              </a:lnSpc>
            </a:pPr>
            <a:r>
              <a:rPr kumimoji="1" lang="en-US" altLang="ja-JP" sz="1400">
                <a:latin typeface="メイリオ" panose="020B0604030504040204" pitchFamily="50" charset="-128"/>
                <a:ea typeface="メイリオ" panose="020B0604030504040204" pitchFamily="50" charset="-128"/>
              </a:rPr>
              <a:t>CHASSU</a:t>
            </a:r>
            <a:r>
              <a:rPr kumimoji="1" lang="ja-JP" altLang="en-US" sz="1400">
                <a:latin typeface="メイリオ" panose="020B0604030504040204" pitchFamily="50" charset="-128"/>
                <a:ea typeface="メイリオ" panose="020B0604030504040204" pitchFamily="50" charset="-128"/>
              </a:rPr>
              <a:t>も</a:t>
            </a:r>
            <a:r>
              <a:rPr kumimoji="1" lang="en-US" altLang="ja-JP" sz="1400">
                <a:latin typeface="メイリオ" panose="020B0604030504040204" pitchFamily="50" charset="-128"/>
                <a:ea typeface="メイリオ" panose="020B0604030504040204" pitchFamily="50" charset="-128"/>
              </a:rPr>
              <a:t>Copilot</a:t>
            </a:r>
            <a:r>
              <a:rPr kumimoji="1" lang="ja-JP" altLang="en-US" sz="1400">
                <a:latin typeface="メイリオ" panose="020B0604030504040204" pitchFamily="50" charset="-128"/>
                <a:ea typeface="メイリオ" panose="020B0604030504040204" pitchFamily="50" charset="-128"/>
              </a:rPr>
              <a:t>も</a:t>
            </a:r>
            <a:r>
              <a:rPr kumimoji="1" lang="en-US" altLang="ja-JP" sz="1400">
                <a:latin typeface="メイリオ" panose="020B0604030504040204" pitchFamily="50" charset="-128"/>
                <a:ea typeface="メイリオ" panose="020B0604030504040204" pitchFamily="50" charset="-128"/>
              </a:rPr>
              <a:t>ChatGPT</a:t>
            </a:r>
            <a:r>
              <a:rPr kumimoji="1" lang="ja-JP" altLang="en-US" sz="1400">
                <a:latin typeface="メイリオ" panose="020B0604030504040204" pitchFamily="50" charset="-128"/>
                <a:ea typeface="メイリオ" panose="020B0604030504040204" pitchFamily="50" charset="-128"/>
              </a:rPr>
              <a:t>も</a:t>
            </a:r>
            <a:r>
              <a:rPr kumimoji="1" lang="en-US" altLang="ja-JP" sz="1400">
                <a:latin typeface="メイリオ" panose="020B0604030504040204" pitchFamily="50" charset="-128"/>
                <a:ea typeface="メイリオ" panose="020B0604030504040204" pitchFamily="50" charset="-128"/>
              </a:rPr>
              <a:t>Gemini</a:t>
            </a:r>
            <a:r>
              <a:rPr kumimoji="1" lang="ja-JP" altLang="en-US" sz="1400">
                <a:latin typeface="メイリオ" panose="020B0604030504040204" pitchFamily="50" charset="-128"/>
                <a:ea typeface="メイリオ" panose="020B0604030504040204" pitchFamily="50" charset="-128"/>
              </a:rPr>
              <a:t>も、基本は１回の会話毎に「毎回別人」です。</a:t>
            </a:r>
            <a:endParaRPr kumimoji="1" lang="en-US" altLang="ja-JP" sz="1400">
              <a:latin typeface="メイリオ" panose="020B0604030504040204" pitchFamily="50" charset="-128"/>
              <a:ea typeface="メイリオ" panose="020B0604030504040204" pitchFamily="50" charset="-128"/>
            </a:endParaRPr>
          </a:p>
          <a:p>
            <a:pPr>
              <a:lnSpc>
                <a:spcPct val="150000"/>
              </a:lnSpc>
            </a:pPr>
            <a:r>
              <a:rPr lang="ja-JP" altLang="en-US" sz="1400" b="1">
                <a:latin typeface="メイリオ" panose="020B0604030504040204" pitchFamily="50" charset="-128"/>
                <a:ea typeface="メイリオ" panose="020B0604030504040204" pitchFamily="50" charset="-128"/>
              </a:rPr>
              <a:t>解決策は毎回日記（記憶）を書き残して、次回に「司令塔」がその日記を含めた引継書を読みます。</a:t>
            </a:r>
            <a:endParaRPr lang="en-US" altLang="ja-JP" sz="1400" b="1">
              <a:latin typeface="メイリオ" panose="020B0604030504040204" pitchFamily="50" charset="-128"/>
              <a:ea typeface="メイリオ" panose="020B0604030504040204" pitchFamily="50" charset="-128"/>
            </a:endParaRPr>
          </a:p>
          <a:p>
            <a:pPr>
              <a:lnSpc>
                <a:spcPct val="150000"/>
              </a:lnSpc>
            </a:pPr>
            <a:r>
              <a:rPr kumimoji="1" lang="ja-JP" altLang="en-US" sz="1400">
                <a:latin typeface="メイリオ" panose="020B0604030504040204" pitchFamily="50" charset="-128"/>
                <a:ea typeface="メイリオ" panose="020B0604030504040204" pitchFamily="50" charset="-128"/>
              </a:rPr>
              <a:t>また、記憶しておける文字量も限りがあるので</a:t>
            </a:r>
            <a:r>
              <a:rPr lang="ja-JP" altLang="en-US" sz="1400">
                <a:latin typeface="メイリオ" panose="020B0604030504040204" pitchFamily="50" charset="-128"/>
                <a:ea typeface="メイリオ" panose="020B0604030504040204" pitchFamily="50" charset="-128"/>
              </a:rPr>
              <a:t>「司令塔」はタスクを分解し、</a:t>
            </a:r>
            <a:r>
              <a:rPr kumimoji="1" lang="ja-JP" altLang="en-US" sz="1400">
                <a:latin typeface="メイリオ" panose="020B0604030504040204" pitchFamily="50" charset="-128"/>
                <a:ea typeface="メイリオ" panose="020B0604030504040204" pitchFamily="50" charset="-128"/>
              </a:rPr>
              <a:t>作業自体は作業員に担当してもらい結果を受け取ります。</a:t>
            </a:r>
            <a:endParaRPr kumimoji="1" lang="en-US" altLang="ja-JP" sz="140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C5336A0-F7C7-BB7B-EF67-D9B6D1BC110F}"/>
              </a:ext>
            </a:extLst>
          </p:cNvPr>
          <p:cNvSpPr/>
          <p:nvPr/>
        </p:nvSpPr>
        <p:spPr>
          <a:xfrm>
            <a:off x="3614048" y="2308908"/>
            <a:ext cx="1514542" cy="711732"/>
          </a:xfrm>
          <a:prstGeom prst="rect">
            <a:avLst/>
          </a:prstGeom>
          <a:solidFill>
            <a:schemeClr val="bg1"/>
          </a:solidFill>
          <a:ln>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600" b="1">
                <a:solidFill>
                  <a:schemeClr val="tx1"/>
                </a:solidFill>
                <a:latin typeface="メイリオ" panose="020B0604030504040204" pitchFamily="50" charset="-128"/>
                <a:ea typeface="メイリオ" panose="020B0604030504040204" pitchFamily="50" charset="-128"/>
              </a:rPr>
              <a:t>司令塔</a:t>
            </a:r>
            <a:endParaRPr lang="en-US" altLang="ja-JP" sz="1600" b="1">
              <a:solidFill>
                <a:schemeClr val="tx1"/>
              </a:solidFill>
              <a:latin typeface="メイリオ" panose="020B0604030504040204" pitchFamily="50" charset="-128"/>
              <a:ea typeface="メイリオ" panose="020B0604030504040204" pitchFamily="50" charset="-128"/>
            </a:endParaRPr>
          </a:p>
          <a:p>
            <a:pPr algn="ctr"/>
            <a:r>
              <a:rPr kumimoji="1" lang="en-US" altLang="ja-JP" sz="1400" b="1">
                <a:solidFill>
                  <a:schemeClr val="tx1"/>
                </a:solidFill>
                <a:latin typeface="メイリオ" panose="020B0604030504040204" pitchFamily="50" charset="-128"/>
                <a:ea typeface="メイリオ" panose="020B0604030504040204" pitchFamily="50" charset="-128"/>
              </a:rPr>
              <a:t>Main Agent</a:t>
            </a:r>
            <a:endParaRPr kumimoji="1" lang="ja-JP" altLang="en-US" sz="1400" b="1">
              <a:solidFill>
                <a:schemeClr val="tx1"/>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F1EC43EA-2418-EEFC-A905-81878294D754}"/>
              </a:ext>
            </a:extLst>
          </p:cNvPr>
          <p:cNvSpPr/>
          <p:nvPr/>
        </p:nvSpPr>
        <p:spPr>
          <a:xfrm>
            <a:off x="6552721" y="2308908"/>
            <a:ext cx="1514542" cy="711732"/>
          </a:xfrm>
          <a:prstGeom prst="rect">
            <a:avLst/>
          </a:prstGeom>
          <a:solidFill>
            <a:schemeClr val="bg1"/>
          </a:solidFill>
          <a:ln>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600" b="1">
                <a:solidFill>
                  <a:schemeClr val="tx1"/>
                </a:solidFill>
                <a:latin typeface="メイリオ" panose="020B0604030504040204" pitchFamily="50" charset="-128"/>
                <a:ea typeface="メイリオ" panose="020B0604030504040204" pitchFamily="50" charset="-128"/>
              </a:rPr>
              <a:t>作業員</a:t>
            </a:r>
            <a:endParaRPr lang="en-US" altLang="ja-JP" sz="1600" b="1">
              <a:solidFill>
                <a:schemeClr val="tx1"/>
              </a:solidFill>
              <a:latin typeface="メイリオ" panose="020B0604030504040204" pitchFamily="50" charset="-128"/>
              <a:ea typeface="メイリオ" panose="020B0604030504040204" pitchFamily="50" charset="-128"/>
            </a:endParaRPr>
          </a:p>
          <a:p>
            <a:pPr algn="ctr"/>
            <a:r>
              <a:rPr kumimoji="1" lang="en-US" altLang="ja-JP" sz="1400" b="1">
                <a:solidFill>
                  <a:schemeClr val="tx1"/>
                </a:solidFill>
                <a:latin typeface="メイリオ" panose="020B0604030504040204" pitchFamily="50" charset="-128"/>
                <a:ea typeface="メイリオ" panose="020B0604030504040204" pitchFamily="50" charset="-128"/>
              </a:rPr>
              <a:t>Sub Agent</a:t>
            </a:r>
            <a:endParaRPr kumimoji="1" lang="ja-JP" altLang="en-US" sz="1400" b="1">
              <a:solidFill>
                <a:schemeClr val="tx1"/>
              </a:solidFill>
              <a:latin typeface="メイリオ" panose="020B0604030504040204" pitchFamily="50" charset="-128"/>
              <a:ea typeface="メイリオ" panose="020B0604030504040204" pitchFamily="50" charset="-128"/>
            </a:endParaRPr>
          </a:p>
        </p:txBody>
      </p:sp>
      <p:sp>
        <p:nvSpPr>
          <p:cNvPr id="8" name="矢印: 右 7">
            <a:extLst>
              <a:ext uri="{FF2B5EF4-FFF2-40B4-BE49-F238E27FC236}">
                <a16:creationId xmlns:a16="http://schemas.microsoft.com/office/drawing/2014/main" id="{F6B37056-8B0E-C0AF-489A-0D4F2CB9F131}"/>
              </a:ext>
            </a:extLst>
          </p:cNvPr>
          <p:cNvSpPr/>
          <p:nvPr/>
        </p:nvSpPr>
        <p:spPr>
          <a:xfrm>
            <a:off x="5128590" y="2376539"/>
            <a:ext cx="1424131" cy="288235"/>
          </a:xfrm>
          <a:prstGeom prst="rightArrow">
            <a:avLst>
              <a:gd name="adj1" fmla="val 50000"/>
              <a:gd name="adj2" fmla="val 84149"/>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矢印: 右 8">
            <a:extLst>
              <a:ext uri="{FF2B5EF4-FFF2-40B4-BE49-F238E27FC236}">
                <a16:creationId xmlns:a16="http://schemas.microsoft.com/office/drawing/2014/main" id="{BD366119-6E97-FEC3-F648-18DAA8839FA0}"/>
              </a:ext>
            </a:extLst>
          </p:cNvPr>
          <p:cNvSpPr/>
          <p:nvPr/>
        </p:nvSpPr>
        <p:spPr>
          <a:xfrm rot="10800000">
            <a:off x="5128590" y="2664774"/>
            <a:ext cx="1424131" cy="288235"/>
          </a:xfrm>
          <a:prstGeom prst="rightArrow">
            <a:avLst>
              <a:gd name="adj1" fmla="val 50000"/>
              <a:gd name="adj2" fmla="val 84149"/>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F0017630-6D42-61D4-7219-D8E8831D4258}"/>
              </a:ext>
            </a:extLst>
          </p:cNvPr>
          <p:cNvSpPr txBox="1"/>
          <p:nvPr/>
        </p:nvSpPr>
        <p:spPr>
          <a:xfrm>
            <a:off x="5487695" y="2105851"/>
            <a:ext cx="705919" cy="388568"/>
          </a:xfrm>
          <a:prstGeom prst="rect">
            <a:avLst/>
          </a:prstGeom>
          <a:noFill/>
        </p:spPr>
        <p:txBody>
          <a:bodyPr wrap="square" rtlCol="0">
            <a:spAutoFit/>
          </a:bodyPr>
          <a:lstStyle/>
          <a:p>
            <a:pPr algn="ctr">
              <a:lnSpc>
                <a:spcPct val="150000"/>
              </a:lnSpc>
            </a:pPr>
            <a:r>
              <a:rPr kumimoji="1" lang="ja-JP" altLang="en-US" sz="1400" b="1">
                <a:latin typeface="メイリオ" panose="020B0604030504040204" pitchFamily="50" charset="-128"/>
                <a:ea typeface="メイリオ" panose="020B0604030504040204" pitchFamily="50" charset="-128"/>
              </a:rPr>
              <a:t>指示</a:t>
            </a:r>
            <a:endParaRPr kumimoji="1" lang="en-US" altLang="ja-JP" sz="1400" b="1">
              <a:latin typeface="メイリオ" panose="020B0604030504040204" pitchFamily="50" charset="-128"/>
              <a:ea typeface="メイリオ" panose="020B0604030504040204" pitchFamily="50" charset="-128"/>
            </a:endParaRPr>
          </a:p>
        </p:txBody>
      </p:sp>
      <p:sp>
        <p:nvSpPr>
          <p:cNvPr id="11" name="テキスト ボックス 10">
            <a:extLst>
              <a:ext uri="{FF2B5EF4-FFF2-40B4-BE49-F238E27FC236}">
                <a16:creationId xmlns:a16="http://schemas.microsoft.com/office/drawing/2014/main" id="{567E8749-A7D1-9B5B-4518-BEE385684F1D}"/>
              </a:ext>
            </a:extLst>
          </p:cNvPr>
          <p:cNvSpPr txBox="1"/>
          <p:nvPr/>
        </p:nvSpPr>
        <p:spPr>
          <a:xfrm>
            <a:off x="5487695" y="2788548"/>
            <a:ext cx="705919" cy="388568"/>
          </a:xfrm>
          <a:prstGeom prst="rect">
            <a:avLst/>
          </a:prstGeom>
          <a:noFill/>
        </p:spPr>
        <p:txBody>
          <a:bodyPr wrap="square" rtlCol="0">
            <a:spAutoFit/>
          </a:bodyPr>
          <a:lstStyle/>
          <a:p>
            <a:pPr algn="ctr">
              <a:lnSpc>
                <a:spcPct val="150000"/>
              </a:lnSpc>
            </a:pPr>
            <a:r>
              <a:rPr lang="ja-JP" altLang="en-US" sz="1400" b="1">
                <a:latin typeface="メイリオ" panose="020B0604030504040204" pitchFamily="50" charset="-128"/>
                <a:ea typeface="メイリオ" panose="020B0604030504040204" pitchFamily="50" charset="-128"/>
              </a:rPr>
              <a:t>成果</a:t>
            </a:r>
            <a:endParaRPr kumimoji="1" lang="en-US" altLang="ja-JP" sz="1400" b="1">
              <a:latin typeface="メイリオ" panose="020B0604030504040204" pitchFamily="50" charset="-128"/>
              <a:ea typeface="メイリオ" panose="020B0604030504040204" pitchFamily="50" charset="-128"/>
            </a:endParaRPr>
          </a:p>
        </p:txBody>
      </p:sp>
      <p:sp>
        <p:nvSpPr>
          <p:cNvPr id="13" name="テキスト ボックス 12">
            <a:extLst>
              <a:ext uri="{FF2B5EF4-FFF2-40B4-BE49-F238E27FC236}">
                <a16:creationId xmlns:a16="http://schemas.microsoft.com/office/drawing/2014/main" id="{A4D42807-2A4F-9B61-EF56-6B8D32C15C40}"/>
              </a:ext>
            </a:extLst>
          </p:cNvPr>
          <p:cNvSpPr txBox="1"/>
          <p:nvPr/>
        </p:nvSpPr>
        <p:spPr>
          <a:xfrm>
            <a:off x="354253" y="2308908"/>
            <a:ext cx="3174137" cy="715581"/>
          </a:xfrm>
          <a:prstGeom prst="rect">
            <a:avLst/>
          </a:prstGeom>
          <a:noFill/>
        </p:spPr>
        <p:txBody>
          <a:bodyPr wrap="square" rtlCol="0">
            <a:spAutoFit/>
          </a:bodyPr>
          <a:lstStyle/>
          <a:p>
            <a:pPr>
              <a:lnSpc>
                <a:spcPct val="150000"/>
              </a:lnSpc>
            </a:pPr>
            <a:r>
              <a:rPr kumimoji="1" lang="en-US" altLang="ja-JP" sz="1600" b="1">
                <a:latin typeface="メイリオ" panose="020B0604030504040204" pitchFamily="50" charset="-128"/>
                <a:ea typeface="メイリオ" panose="020B0604030504040204" pitchFamily="50" charset="-128"/>
              </a:rPr>
              <a:t>Main Agent</a:t>
            </a:r>
            <a:r>
              <a:rPr kumimoji="1" lang="ja-JP" altLang="en-US" sz="1600" b="1">
                <a:latin typeface="メイリオ" panose="020B0604030504040204" pitchFamily="50" charset="-128"/>
                <a:ea typeface="メイリオ" panose="020B0604030504040204" pitchFamily="50" charset="-128"/>
              </a:rPr>
              <a:t>が持っている情報</a:t>
            </a:r>
            <a:endParaRPr kumimoji="1" lang="en-US" altLang="ja-JP" sz="1600" b="1">
              <a:latin typeface="メイリオ" panose="020B0604030504040204" pitchFamily="50" charset="-128"/>
              <a:ea typeface="メイリオ" panose="020B0604030504040204" pitchFamily="50" charset="-128"/>
            </a:endParaRPr>
          </a:p>
          <a:p>
            <a:pPr>
              <a:lnSpc>
                <a:spcPct val="150000"/>
              </a:lnSpc>
            </a:pPr>
            <a:r>
              <a:rPr lang="ja-JP" altLang="en-US" sz="1200" b="1">
                <a:latin typeface="メイリオ" panose="020B0604030504040204" pitchFamily="50" charset="-128"/>
                <a:ea typeface="メイリオ" panose="020B0604030504040204" pitchFamily="50" charset="-128"/>
              </a:rPr>
              <a:t>（事前に読み込むテキストファイル）</a:t>
            </a:r>
            <a:endParaRPr kumimoji="1" lang="en-US" altLang="ja-JP" sz="1200" b="1">
              <a:latin typeface="メイリオ" panose="020B0604030504040204" pitchFamily="50" charset="-128"/>
              <a:ea typeface="メイリオ" panose="020B0604030504040204" pitchFamily="50" charset="-128"/>
            </a:endParaRPr>
          </a:p>
        </p:txBody>
      </p:sp>
      <p:graphicFrame>
        <p:nvGraphicFramePr>
          <p:cNvPr id="14" name="表 13">
            <a:extLst>
              <a:ext uri="{FF2B5EF4-FFF2-40B4-BE49-F238E27FC236}">
                <a16:creationId xmlns:a16="http://schemas.microsoft.com/office/drawing/2014/main" id="{3296209B-15BB-0DBF-2554-35017B7266C5}"/>
              </a:ext>
            </a:extLst>
          </p:cNvPr>
          <p:cNvGraphicFramePr>
            <a:graphicFrameLocks noGrp="1"/>
          </p:cNvGraphicFramePr>
          <p:nvPr>
            <p:extLst>
              <p:ext uri="{D42A27DB-BD31-4B8C-83A1-F6EECF244321}">
                <p14:modId xmlns:p14="http://schemas.microsoft.com/office/powerpoint/2010/main" val="3880084144"/>
              </p:ext>
            </p:extLst>
          </p:nvPr>
        </p:nvGraphicFramePr>
        <p:xfrm>
          <a:off x="387144" y="3119371"/>
          <a:ext cx="5839361" cy="3637280"/>
        </p:xfrm>
        <a:graphic>
          <a:graphicData uri="http://schemas.openxmlformats.org/drawingml/2006/table">
            <a:tbl>
              <a:tblPr bandRow="1">
                <a:tableStyleId>{5C22544A-7EE6-4342-B048-85BDC9FD1C3A}</a:tableStyleId>
              </a:tblPr>
              <a:tblGrid>
                <a:gridCol w="1888917">
                  <a:extLst>
                    <a:ext uri="{9D8B030D-6E8A-4147-A177-3AD203B41FA5}">
                      <a16:colId xmlns:a16="http://schemas.microsoft.com/office/drawing/2014/main" val="2178145205"/>
                    </a:ext>
                  </a:extLst>
                </a:gridCol>
                <a:gridCol w="3950444">
                  <a:extLst>
                    <a:ext uri="{9D8B030D-6E8A-4147-A177-3AD203B41FA5}">
                      <a16:colId xmlns:a16="http://schemas.microsoft.com/office/drawing/2014/main" val="724501695"/>
                    </a:ext>
                  </a:extLst>
                </a:gridCol>
              </a:tblGrid>
              <a:tr h="370840">
                <a:tc>
                  <a:txBody>
                    <a:bodyPr/>
                    <a:lstStyle/>
                    <a:p>
                      <a:pPr algn="l"/>
                      <a:r>
                        <a:rPr kumimoji="1" lang="en-US" altLang="ja-JP" sz="1600">
                          <a:latin typeface="メイリオ" panose="020B0604030504040204" pitchFamily="50" charset="-128"/>
                          <a:ea typeface="メイリオ" panose="020B0604030504040204" pitchFamily="50" charset="-128"/>
                        </a:rPr>
                        <a:t>AGENTS.md</a:t>
                      </a:r>
                      <a:endParaRPr kumimoji="1" lang="ja-JP" altLang="en-US" sz="1600">
                        <a:latin typeface="メイリオ" panose="020B0604030504040204" pitchFamily="50" charset="-128"/>
                        <a:ea typeface="メイリオ" panose="020B0604030504040204" pitchFamily="50" charset="-128"/>
                      </a:endParaRPr>
                    </a:p>
                  </a:txBody>
                  <a:tcPr anchor="ctr"/>
                </a:tc>
                <a:tc>
                  <a:txBody>
                    <a:bodyPr/>
                    <a:lstStyle/>
                    <a:p>
                      <a:pPr algn="l"/>
                      <a:r>
                        <a:rPr kumimoji="1" lang="ja-JP" altLang="en-US" sz="1600">
                          <a:latin typeface="メイリオ" panose="020B0604030504040204" pitchFamily="50" charset="-128"/>
                          <a:ea typeface="メイリオ" panose="020B0604030504040204" pitchFamily="50" charset="-128"/>
                        </a:rPr>
                        <a:t>全員共通の指示書</a:t>
                      </a:r>
                    </a:p>
                  </a:txBody>
                  <a:tcPr anchor="ctr"/>
                </a:tc>
                <a:extLst>
                  <a:ext uri="{0D108BD9-81ED-4DB2-BD59-A6C34878D82A}">
                    <a16:rowId xmlns:a16="http://schemas.microsoft.com/office/drawing/2014/main" val="4189117046"/>
                  </a:ext>
                </a:extLst>
              </a:tr>
              <a:tr h="370840">
                <a:tc>
                  <a:txBody>
                    <a:bodyPr/>
                    <a:lstStyle/>
                    <a:p>
                      <a:pPr algn="l"/>
                      <a:r>
                        <a:rPr kumimoji="1" lang="en-US" altLang="ja-JP" sz="1600">
                          <a:latin typeface="メイリオ" panose="020B0604030504040204" pitchFamily="50" charset="-128"/>
                          <a:ea typeface="メイリオ" panose="020B0604030504040204" pitchFamily="50" charset="-128"/>
                        </a:rPr>
                        <a:t>SOUL.md</a:t>
                      </a:r>
                      <a:endParaRPr kumimoji="1" lang="ja-JP" altLang="en-US" sz="1600">
                        <a:latin typeface="メイリオ" panose="020B0604030504040204" pitchFamily="50" charset="-128"/>
                        <a:ea typeface="メイリオ" panose="020B0604030504040204" pitchFamily="50" charset="-128"/>
                      </a:endParaRPr>
                    </a:p>
                  </a:txBody>
                  <a:tcPr anchor="ctr"/>
                </a:tc>
                <a:tc>
                  <a:txBody>
                    <a:bodyPr/>
                    <a:lstStyle/>
                    <a:p>
                      <a:pPr algn="l"/>
                      <a:r>
                        <a:rPr kumimoji="1" lang="ja-JP" altLang="en-US" sz="1600">
                          <a:latin typeface="メイリオ" panose="020B0604030504040204" pitchFamily="50" charset="-128"/>
                          <a:ea typeface="メイリオ" panose="020B0604030504040204" pitchFamily="50" charset="-128"/>
                        </a:rPr>
                        <a:t>人格・ルール・関係性</a:t>
                      </a:r>
                    </a:p>
                  </a:txBody>
                  <a:tcPr anchor="ctr"/>
                </a:tc>
                <a:extLst>
                  <a:ext uri="{0D108BD9-81ED-4DB2-BD59-A6C34878D82A}">
                    <a16:rowId xmlns:a16="http://schemas.microsoft.com/office/drawing/2014/main" val="3260504193"/>
                  </a:ext>
                </a:extLst>
              </a:tr>
              <a:tr h="370840">
                <a:tc>
                  <a:txBody>
                    <a:bodyPr/>
                    <a:lstStyle/>
                    <a:p>
                      <a:pPr algn="l"/>
                      <a:r>
                        <a:rPr kumimoji="1" lang="en-US" altLang="ja-JP" sz="1600">
                          <a:latin typeface="メイリオ" panose="020B0604030504040204" pitchFamily="50" charset="-128"/>
                          <a:ea typeface="メイリオ" panose="020B0604030504040204" pitchFamily="50" charset="-128"/>
                        </a:rPr>
                        <a:t>TOOLS.md</a:t>
                      </a:r>
                      <a:endParaRPr kumimoji="1" lang="ja-JP" altLang="en-US" sz="1600">
                        <a:latin typeface="メイリオ" panose="020B0604030504040204" pitchFamily="50" charset="-128"/>
                        <a:ea typeface="メイリオ" panose="020B0604030504040204" pitchFamily="50" charset="-128"/>
                      </a:endParaRPr>
                    </a:p>
                  </a:txBody>
                  <a:tcPr anchor="ctr"/>
                </a:tc>
                <a:tc>
                  <a:txBody>
                    <a:bodyPr/>
                    <a:lstStyle/>
                    <a:p>
                      <a:pPr algn="l"/>
                      <a:r>
                        <a:rPr kumimoji="1" lang="ja-JP" altLang="en-US" sz="1600">
                          <a:latin typeface="メイリオ" panose="020B0604030504040204" pitchFamily="50" charset="-128"/>
                          <a:ea typeface="メイリオ" panose="020B0604030504040204" pitchFamily="50" charset="-128"/>
                        </a:rPr>
                        <a:t>ツール定義</a:t>
                      </a:r>
                      <a:endParaRPr kumimoji="1" lang="en-US" altLang="ja-JP" sz="1600">
                        <a:latin typeface="メイリオ" panose="020B0604030504040204" pitchFamily="50" charset="-128"/>
                        <a:ea typeface="メイリオ" panose="020B0604030504040204" pitchFamily="50" charset="-128"/>
                      </a:endParaRPr>
                    </a:p>
                    <a:p>
                      <a:pPr algn="l"/>
                      <a:r>
                        <a:rPr kumimoji="1" lang="ja-JP" altLang="en-US" sz="1600">
                          <a:latin typeface="メイリオ" panose="020B0604030504040204" pitchFamily="50" charset="-128"/>
                          <a:ea typeface="メイリオ" panose="020B0604030504040204" pitchFamily="50" charset="-128"/>
                        </a:rPr>
                        <a:t>・何を使えるかの把握</a:t>
                      </a:r>
                    </a:p>
                  </a:txBody>
                  <a:tcPr anchor="ctr"/>
                </a:tc>
                <a:extLst>
                  <a:ext uri="{0D108BD9-81ED-4DB2-BD59-A6C34878D82A}">
                    <a16:rowId xmlns:a16="http://schemas.microsoft.com/office/drawing/2014/main" val="2735890957"/>
                  </a:ext>
                </a:extLst>
              </a:tr>
              <a:tr h="370840">
                <a:tc>
                  <a:txBody>
                    <a:bodyPr/>
                    <a:lstStyle/>
                    <a:p>
                      <a:pPr algn="l"/>
                      <a:r>
                        <a:rPr kumimoji="1" lang="en-US" altLang="ja-JP" sz="1600">
                          <a:latin typeface="メイリオ" panose="020B0604030504040204" pitchFamily="50" charset="-128"/>
                          <a:ea typeface="メイリオ" panose="020B0604030504040204" pitchFamily="50" charset="-128"/>
                        </a:rPr>
                        <a:t>IDENTITY.md</a:t>
                      </a:r>
                      <a:endParaRPr kumimoji="1" lang="ja-JP" altLang="en-US" sz="1600">
                        <a:latin typeface="メイリオ" panose="020B0604030504040204" pitchFamily="50" charset="-128"/>
                        <a:ea typeface="メイリオ" panose="020B0604030504040204" pitchFamily="50" charset="-128"/>
                      </a:endParaRPr>
                    </a:p>
                  </a:txBody>
                  <a:tcPr anchor="ctr"/>
                </a:tc>
                <a:tc>
                  <a:txBody>
                    <a:bodyPr/>
                    <a:lstStyle/>
                    <a:p>
                      <a:pPr algn="l"/>
                      <a:r>
                        <a:rPr kumimoji="1" lang="ja-JP" altLang="en-US" sz="1600">
                          <a:latin typeface="メイリオ" panose="020B0604030504040204" pitchFamily="50" charset="-128"/>
                          <a:ea typeface="メイリオ" panose="020B0604030504040204" pitchFamily="50" charset="-128"/>
                        </a:rPr>
                        <a:t>自己紹介</a:t>
                      </a:r>
                      <a:endParaRPr kumimoji="1" lang="en-US" altLang="ja-JP" sz="1600">
                        <a:latin typeface="メイリオ" panose="020B0604030504040204" pitchFamily="50" charset="-128"/>
                        <a:ea typeface="メイリオ" panose="020B0604030504040204" pitchFamily="50" charset="-128"/>
                      </a:endParaRPr>
                    </a:p>
                    <a:p>
                      <a:pPr algn="l"/>
                      <a:r>
                        <a:rPr kumimoji="1" lang="ja-JP" altLang="en-US" sz="1600">
                          <a:latin typeface="メイリオ" panose="020B0604030504040204" pitchFamily="50" charset="-128"/>
                          <a:ea typeface="メイリオ" panose="020B0604030504040204" pitchFamily="50" charset="-128"/>
                        </a:rPr>
                        <a:t>・自分が何者かの自覚</a:t>
                      </a:r>
                    </a:p>
                  </a:txBody>
                  <a:tcPr anchor="ctr"/>
                </a:tc>
                <a:extLst>
                  <a:ext uri="{0D108BD9-81ED-4DB2-BD59-A6C34878D82A}">
                    <a16:rowId xmlns:a16="http://schemas.microsoft.com/office/drawing/2014/main" val="1008717600"/>
                  </a:ext>
                </a:extLst>
              </a:tr>
              <a:tr h="370840">
                <a:tc>
                  <a:txBody>
                    <a:bodyPr/>
                    <a:lstStyle/>
                    <a:p>
                      <a:pPr algn="l"/>
                      <a:r>
                        <a:rPr kumimoji="1" lang="en-US" altLang="ja-JP" sz="1600">
                          <a:latin typeface="メイリオ" panose="020B0604030504040204" pitchFamily="50" charset="-128"/>
                          <a:ea typeface="メイリオ" panose="020B0604030504040204" pitchFamily="50" charset="-128"/>
                        </a:rPr>
                        <a:t>USER.md</a:t>
                      </a:r>
                      <a:endParaRPr kumimoji="1" lang="ja-JP" altLang="en-US" sz="1600">
                        <a:latin typeface="メイリオ" panose="020B0604030504040204" pitchFamily="50" charset="-128"/>
                        <a:ea typeface="メイリオ" panose="020B0604030504040204" pitchFamily="50" charset="-128"/>
                      </a:endParaRPr>
                    </a:p>
                  </a:txBody>
                  <a:tcPr anchor="ctr"/>
                </a:tc>
                <a:tc>
                  <a:txBody>
                    <a:bodyPr/>
                    <a:lstStyle/>
                    <a:p>
                      <a:pPr algn="l"/>
                      <a:r>
                        <a:rPr kumimoji="1" lang="ja-JP" altLang="en-US" sz="1600">
                          <a:latin typeface="メイリオ" panose="020B0604030504040204" pitchFamily="50" charset="-128"/>
                          <a:ea typeface="メイリオ" panose="020B0604030504040204" pitchFamily="50" charset="-128"/>
                        </a:rPr>
                        <a:t>ユーザー情報</a:t>
                      </a:r>
                      <a:endParaRPr kumimoji="1" lang="en-US" altLang="ja-JP" sz="1600">
                        <a:latin typeface="メイリオ" panose="020B0604030504040204" pitchFamily="50" charset="-128"/>
                        <a:ea typeface="メイリオ" panose="020B0604030504040204" pitchFamily="50" charset="-128"/>
                      </a:endParaRPr>
                    </a:p>
                    <a:p>
                      <a:pPr algn="l"/>
                      <a:r>
                        <a:rPr kumimoji="1" lang="ja-JP" altLang="en-US" sz="1600">
                          <a:latin typeface="メイリオ" panose="020B0604030504040204" pitchFamily="50" charset="-128"/>
                          <a:ea typeface="メイリオ" panose="020B0604030504040204" pitchFamily="50" charset="-128"/>
                        </a:rPr>
                        <a:t>・依頼者の好みや背景</a:t>
                      </a:r>
                    </a:p>
                  </a:txBody>
                  <a:tcPr anchor="ctr"/>
                </a:tc>
                <a:extLst>
                  <a:ext uri="{0D108BD9-81ED-4DB2-BD59-A6C34878D82A}">
                    <a16:rowId xmlns:a16="http://schemas.microsoft.com/office/drawing/2014/main" val="1720023439"/>
                  </a:ext>
                </a:extLst>
              </a:tr>
              <a:tr h="185420">
                <a:tc>
                  <a:txBody>
                    <a:bodyPr/>
                    <a:lstStyle/>
                    <a:p>
                      <a:pPr algn="l"/>
                      <a:r>
                        <a:rPr kumimoji="1" lang="en-US" altLang="ja-JP" sz="1600" b="1">
                          <a:latin typeface="メイリオ" panose="020B0604030504040204" pitchFamily="50" charset="-128"/>
                          <a:ea typeface="メイリオ" panose="020B0604030504040204" pitchFamily="50" charset="-128"/>
                        </a:rPr>
                        <a:t>HEARTBEAT.md</a:t>
                      </a:r>
                      <a:endParaRPr kumimoji="1" lang="ja-JP" altLang="en-US" sz="1600" b="1">
                        <a:latin typeface="メイリオ" panose="020B0604030504040204" pitchFamily="50" charset="-128"/>
                        <a:ea typeface="メイリオ" panose="020B0604030504040204" pitchFamily="50" charset="-128"/>
                      </a:endParaRPr>
                    </a:p>
                  </a:txBody>
                  <a:tcPr anchor="ctr"/>
                </a:tc>
                <a:tc>
                  <a:txBody>
                    <a:bodyPr/>
                    <a:lstStyle/>
                    <a:p>
                      <a:pPr algn="l"/>
                      <a:r>
                        <a:rPr kumimoji="1" lang="ja-JP" altLang="en-US" sz="1600">
                          <a:latin typeface="メイリオ" panose="020B0604030504040204" pitchFamily="50" charset="-128"/>
                          <a:ea typeface="メイリオ" panose="020B0604030504040204" pitchFamily="50" charset="-128"/>
                        </a:rPr>
                        <a:t>定期チェック</a:t>
                      </a:r>
                      <a:endParaRPr kumimoji="1" lang="en-US" altLang="ja-JP" sz="1600">
                        <a:latin typeface="メイリオ" panose="020B0604030504040204" pitchFamily="50" charset="-128"/>
                        <a:ea typeface="メイリオ" panose="020B0604030504040204" pitchFamily="50" charset="-128"/>
                      </a:endParaRPr>
                    </a:p>
                    <a:p>
                      <a:pPr algn="l"/>
                      <a:r>
                        <a:rPr kumimoji="1" lang="ja-JP" altLang="en-US" sz="1600">
                          <a:latin typeface="メイリオ" panose="020B0604030504040204" pitchFamily="50" charset="-128"/>
                          <a:ea typeface="メイリオ" panose="020B0604030504040204" pitchFamily="50" charset="-128"/>
                        </a:rPr>
                        <a:t>・放っておいても自分で確認すべきこと</a:t>
                      </a:r>
                    </a:p>
                  </a:txBody>
                  <a:tcPr anchor="ctr"/>
                </a:tc>
                <a:extLst>
                  <a:ext uri="{0D108BD9-81ED-4DB2-BD59-A6C34878D82A}">
                    <a16:rowId xmlns:a16="http://schemas.microsoft.com/office/drawing/2014/main" val="1081932992"/>
                  </a:ext>
                </a:extLst>
              </a:tr>
              <a:tr h="185420">
                <a:tc>
                  <a:txBody>
                    <a:bodyPr/>
                    <a:lstStyle/>
                    <a:p>
                      <a:pPr algn="l"/>
                      <a:r>
                        <a:rPr kumimoji="1" lang="en-US" altLang="ja-JP" sz="1600">
                          <a:latin typeface="メイリオ" panose="020B0604030504040204" pitchFamily="50" charset="-128"/>
                          <a:ea typeface="メイリオ" panose="020B0604030504040204" pitchFamily="50" charset="-128"/>
                        </a:rPr>
                        <a:t>Memory/*.md</a:t>
                      </a:r>
                      <a:endParaRPr kumimoji="1" lang="ja-JP" altLang="en-US" sz="1600">
                        <a:latin typeface="メイリオ" panose="020B0604030504040204" pitchFamily="50" charset="-128"/>
                        <a:ea typeface="メイリオ" panose="020B0604030504040204" pitchFamily="50" charset="-128"/>
                      </a:endParaRPr>
                    </a:p>
                  </a:txBody>
                  <a:tcPr anchor="ctr"/>
                </a:tc>
                <a:tc>
                  <a:txBody>
                    <a:bodyPr/>
                    <a:lstStyle/>
                    <a:p>
                      <a:pPr algn="l"/>
                      <a:r>
                        <a:rPr kumimoji="1" lang="ja-JP" altLang="en-US" sz="1600">
                          <a:latin typeface="メイリオ" panose="020B0604030504040204" pitchFamily="50" charset="-128"/>
                          <a:ea typeface="メイリオ" panose="020B0604030504040204" pitchFamily="50" charset="-128"/>
                        </a:rPr>
                        <a:t>記憶</a:t>
                      </a:r>
                      <a:endParaRPr kumimoji="1" lang="en-US" altLang="ja-JP" sz="1600">
                        <a:latin typeface="メイリオ" panose="020B0604030504040204" pitchFamily="50" charset="-128"/>
                        <a:ea typeface="メイリオ" panose="020B0604030504040204" pitchFamily="50" charset="-128"/>
                      </a:endParaRPr>
                    </a:p>
                    <a:p>
                      <a:pPr algn="l"/>
                      <a:r>
                        <a:rPr kumimoji="1" lang="ja-JP" altLang="en-US" sz="1600">
                          <a:latin typeface="メイリオ" panose="020B0604030504040204" pitchFamily="50" charset="-128"/>
                          <a:ea typeface="メイリオ" panose="020B0604030504040204" pitchFamily="50" charset="-128"/>
                        </a:rPr>
                        <a:t>・過去のやり取りな学び</a:t>
                      </a:r>
                    </a:p>
                  </a:txBody>
                  <a:tcPr anchor="ctr"/>
                </a:tc>
                <a:extLst>
                  <a:ext uri="{0D108BD9-81ED-4DB2-BD59-A6C34878D82A}">
                    <a16:rowId xmlns:a16="http://schemas.microsoft.com/office/drawing/2014/main" val="4070662332"/>
                  </a:ext>
                </a:extLst>
              </a:tr>
            </a:tbl>
          </a:graphicData>
        </a:graphic>
      </p:graphicFrame>
      <p:sp>
        <p:nvSpPr>
          <p:cNvPr id="17" name="テキスト ボックス 16">
            <a:extLst>
              <a:ext uri="{FF2B5EF4-FFF2-40B4-BE49-F238E27FC236}">
                <a16:creationId xmlns:a16="http://schemas.microsoft.com/office/drawing/2014/main" id="{6F8A82CD-AE3C-D07B-9C30-C1C4232667EE}"/>
              </a:ext>
            </a:extLst>
          </p:cNvPr>
          <p:cNvSpPr txBox="1"/>
          <p:nvPr/>
        </p:nvSpPr>
        <p:spPr>
          <a:xfrm>
            <a:off x="8169723" y="2308908"/>
            <a:ext cx="3174137" cy="430887"/>
          </a:xfrm>
          <a:prstGeom prst="rect">
            <a:avLst/>
          </a:prstGeom>
          <a:noFill/>
        </p:spPr>
        <p:txBody>
          <a:bodyPr wrap="square" rtlCol="0">
            <a:spAutoFit/>
          </a:bodyPr>
          <a:lstStyle/>
          <a:p>
            <a:pPr>
              <a:lnSpc>
                <a:spcPct val="150000"/>
              </a:lnSpc>
            </a:pPr>
            <a:r>
              <a:rPr kumimoji="1" lang="en-US" altLang="ja-JP" sz="1600" b="1">
                <a:latin typeface="メイリオ" panose="020B0604030504040204" pitchFamily="50" charset="-128"/>
                <a:ea typeface="メイリオ" panose="020B0604030504040204" pitchFamily="50" charset="-128"/>
              </a:rPr>
              <a:t>Sub Agent</a:t>
            </a:r>
            <a:r>
              <a:rPr kumimoji="1" lang="ja-JP" altLang="en-US" sz="1600" b="1">
                <a:latin typeface="メイリオ" panose="020B0604030504040204" pitchFamily="50" charset="-128"/>
                <a:ea typeface="メイリオ" panose="020B0604030504040204" pitchFamily="50" charset="-128"/>
              </a:rPr>
              <a:t>が持っている情報</a:t>
            </a:r>
            <a:endParaRPr kumimoji="1" lang="en-US" altLang="ja-JP" sz="1600" b="1">
              <a:latin typeface="メイリオ" panose="020B0604030504040204" pitchFamily="50" charset="-128"/>
              <a:ea typeface="メイリオ" panose="020B0604030504040204" pitchFamily="50" charset="-128"/>
            </a:endParaRPr>
          </a:p>
        </p:txBody>
      </p:sp>
      <p:graphicFrame>
        <p:nvGraphicFramePr>
          <p:cNvPr id="18" name="表 17">
            <a:extLst>
              <a:ext uri="{FF2B5EF4-FFF2-40B4-BE49-F238E27FC236}">
                <a16:creationId xmlns:a16="http://schemas.microsoft.com/office/drawing/2014/main" id="{F7948501-F188-C235-9C44-FBA27488E9EA}"/>
              </a:ext>
            </a:extLst>
          </p:cNvPr>
          <p:cNvGraphicFramePr>
            <a:graphicFrameLocks noGrp="1"/>
          </p:cNvGraphicFramePr>
          <p:nvPr>
            <p:extLst>
              <p:ext uri="{D42A27DB-BD31-4B8C-83A1-F6EECF244321}">
                <p14:modId xmlns:p14="http://schemas.microsoft.com/office/powerpoint/2010/main" val="4102093851"/>
              </p:ext>
            </p:extLst>
          </p:nvPr>
        </p:nvGraphicFramePr>
        <p:xfrm>
          <a:off x="7072628" y="3104427"/>
          <a:ext cx="4585971" cy="949960"/>
        </p:xfrm>
        <a:graphic>
          <a:graphicData uri="http://schemas.openxmlformats.org/drawingml/2006/table">
            <a:tbl>
              <a:tblPr bandRow="1">
                <a:tableStyleId>{5C22544A-7EE6-4342-B048-85BDC9FD1C3A}</a:tableStyleId>
              </a:tblPr>
              <a:tblGrid>
                <a:gridCol w="1806396">
                  <a:extLst>
                    <a:ext uri="{9D8B030D-6E8A-4147-A177-3AD203B41FA5}">
                      <a16:colId xmlns:a16="http://schemas.microsoft.com/office/drawing/2014/main" val="2178145205"/>
                    </a:ext>
                  </a:extLst>
                </a:gridCol>
                <a:gridCol w="2779575">
                  <a:extLst>
                    <a:ext uri="{9D8B030D-6E8A-4147-A177-3AD203B41FA5}">
                      <a16:colId xmlns:a16="http://schemas.microsoft.com/office/drawing/2014/main" val="724501695"/>
                    </a:ext>
                  </a:extLst>
                </a:gridCol>
              </a:tblGrid>
              <a:tr h="370840">
                <a:tc>
                  <a:txBody>
                    <a:bodyPr/>
                    <a:lstStyle/>
                    <a:p>
                      <a:pPr algn="l"/>
                      <a:r>
                        <a:rPr kumimoji="1" lang="en-US" altLang="ja-JP" sz="1600">
                          <a:latin typeface="メイリオ" panose="020B0604030504040204" pitchFamily="50" charset="-128"/>
                          <a:ea typeface="メイリオ" panose="020B0604030504040204" pitchFamily="50" charset="-128"/>
                        </a:rPr>
                        <a:t>AGENTS.md</a:t>
                      </a:r>
                      <a:endParaRPr kumimoji="1" lang="ja-JP" altLang="en-US" sz="1600">
                        <a:latin typeface="メイリオ" panose="020B0604030504040204" pitchFamily="50" charset="-128"/>
                        <a:ea typeface="メイリオ" panose="020B0604030504040204" pitchFamily="50" charset="-128"/>
                      </a:endParaRPr>
                    </a:p>
                  </a:txBody>
                  <a:tcPr anchor="ctr"/>
                </a:tc>
                <a:tc>
                  <a:txBody>
                    <a:bodyPr/>
                    <a:lstStyle/>
                    <a:p>
                      <a:pPr algn="l"/>
                      <a:r>
                        <a:rPr kumimoji="1" lang="ja-JP" altLang="en-US" sz="1600">
                          <a:latin typeface="メイリオ" panose="020B0604030504040204" pitchFamily="50" charset="-128"/>
                          <a:ea typeface="メイリオ" panose="020B0604030504040204" pitchFamily="50" charset="-128"/>
                        </a:rPr>
                        <a:t>全員共通の指示書</a:t>
                      </a:r>
                    </a:p>
                  </a:txBody>
                  <a:tcPr anchor="ctr"/>
                </a:tc>
                <a:extLst>
                  <a:ext uri="{0D108BD9-81ED-4DB2-BD59-A6C34878D82A}">
                    <a16:rowId xmlns:a16="http://schemas.microsoft.com/office/drawing/2014/main" val="4189117046"/>
                  </a:ext>
                </a:extLst>
              </a:tr>
              <a:tr h="370840">
                <a:tc>
                  <a:txBody>
                    <a:bodyPr/>
                    <a:lstStyle/>
                    <a:p>
                      <a:pPr algn="l"/>
                      <a:r>
                        <a:rPr kumimoji="1" lang="en-US" altLang="ja-JP" sz="1600">
                          <a:latin typeface="メイリオ" panose="020B0604030504040204" pitchFamily="50" charset="-128"/>
                          <a:ea typeface="メイリオ" panose="020B0604030504040204" pitchFamily="50" charset="-128"/>
                        </a:rPr>
                        <a:t>TOOLS.md</a:t>
                      </a:r>
                      <a:endParaRPr kumimoji="1" lang="ja-JP" altLang="en-US" sz="1600">
                        <a:latin typeface="メイリオ" panose="020B0604030504040204" pitchFamily="50" charset="-128"/>
                        <a:ea typeface="メイリオ" panose="020B0604030504040204" pitchFamily="50" charset="-128"/>
                      </a:endParaRPr>
                    </a:p>
                  </a:txBody>
                  <a:tcPr anchor="ctr"/>
                </a:tc>
                <a:tc>
                  <a:txBody>
                    <a:bodyPr/>
                    <a:lstStyle/>
                    <a:p>
                      <a:pPr algn="l"/>
                      <a:r>
                        <a:rPr kumimoji="1" lang="ja-JP" altLang="en-US" sz="1600">
                          <a:latin typeface="メイリオ" panose="020B0604030504040204" pitchFamily="50" charset="-128"/>
                          <a:ea typeface="メイリオ" panose="020B0604030504040204" pitchFamily="50" charset="-128"/>
                        </a:rPr>
                        <a:t>ツール定義</a:t>
                      </a:r>
                      <a:endParaRPr kumimoji="1" lang="en-US" altLang="ja-JP" sz="1600">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a:latin typeface="メイリオ" panose="020B0604030504040204" pitchFamily="50" charset="-128"/>
                          <a:ea typeface="メイリオ" panose="020B0604030504040204" pitchFamily="50" charset="-128"/>
                        </a:rPr>
                        <a:t>・何を使えるかの把握</a:t>
                      </a:r>
                    </a:p>
                  </a:txBody>
                  <a:tcPr anchor="ctr"/>
                </a:tc>
                <a:extLst>
                  <a:ext uri="{0D108BD9-81ED-4DB2-BD59-A6C34878D82A}">
                    <a16:rowId xmlns:a16="http://schemas.microsoft.com/office/drawing/2014/main" val="2735890957"/>
                  </a:ext>
                </a:extLst>
              </a:tr>
            </a:tbl>
          </a:graphicData>
        </a:graphic>
      </p:graphicFrame>
      <p:sp>
        <p:nvSpPr>
          <p:cNvPr id="20" name="テキスト ボックス 19">
            <a:extLst>
              <a:ext uri="{FF2B5EF4-FFF2-40B4-BE49-F238E27FC236}">
                <a16:creationId xmlns:a16="http://schemas.microsoft.com/office/drawing/2014/main" id="{F962303D-58ED-4B1E-4E67-76698BB82D94}"/>
              </a:ext>
            </a:extLst>
          </p:cNvPr>
          <p:cNvSpPr txBox="1"/>
          <p:nvPr/>
        </p:nvSpPr>
        <p:spPr>
          <a:xfrm>
            <a:off x="6676023" y="4138174"/>
            <a:ext cx="5203255" cy="1034899"/>
          </a:xfrm>
          <a:prstGeom prst="rect">
            <a:avLst/>
          </a:prstGeom>
          <a:noFill/>
        </p:spPr>
        <p:txBody>
          <a:bodyPr wrap="square" rtlCol="0">
            <a:spAutoFit/>
          </a:bodyPr>
          <a:lstStyle/>
          <a:p>
            <a:pPr>
              <a:lnSpc>
                <a:spcPct val="150000"/>
              </a:lnSpc>
            </a:pPr>
            <a:r>
              <a:rPr kumimoji="1" lang="ja-JP" altLang="en-US" sz="1400">
                <a:latin typeface="メイリオ" panose="020B0604030504040204" pitchFamily="50" charset="-128"/>
                <a:ea typeface="メイリオ" panose="020B0604030504040204" pitchFamily="50" charset="-128"/>
              </a:rPr>
              <a:t>作業に必要な情報だけあればいいので、人格も記憶もユーザー理解も必要ない。</a:t>
            </a:r>
            <a:endParaRPr kumimoji="1" lang="en-US" altLang="ja-JP" sz="1400">
              <a:latin typeface="メイリオ" panose="020B0604030504040204" pitchFamily="50" charset="-128"/>
              <a:ea typeface="メイリオ" panose="020B0604030504040204" pitchFamily="50" charset="-128"/>
            </a:endParaRPr>
          </a:p>
          <a:p>
            <a:pPr>
              <a:lnSpc>
                <a:spcPct val="150000"/>
              </a:lnSpc>
            </a:pPr>
            <a:r>
              <a:rPr lang="ja-JP" altLang="en-US" sz="1400">
                <a:latin typeface="メイリオ" panose="020B0604030504040204" pitchFamily="50" charset="-128"/>
                <a:ea typeface="メイリオ" panose="020B0604030504040204" pitchFamily="50" charset="-128"/>
              </a:rPr>
              <a:t>言われた作業をやって返すだけ。</a:t>
            </a:r>
            <a:endParaRPr kumimoji="1" lang="en-US" altLang="ja-JP" sz="1400">
              <a:latin typeface="メイリオ" panose="020B0604030504040204" pitchFamily="50" charset="-128"/>
              <a:ea typeface="メイリオ" panose="020B0604030504040204" pitchFamily="50" charset="-128"/>
            </a:endParaRPr>
          </a:p>
        </p:txBody>
      </p:sp>
      <p:sp>
        <p:nvSpPr>
          <p:cNvPr id="21" name="テキスト ボックス 20">
            <a:extLst>
              <a:ext uri="{FF2B5EF4-FFF2-40B4-BE49-F238E27FC236}">
                <a16:creationId xmlns:a16="http://schemas.microsoft.com/office/drawing/2014/main" id="{F30D0CD6-9356-153E-507D-13A37586FC37}"/>
              </a:ext>
            </a:extLst>
          </p:cNvPr>
          <p:cNvSpPr txBox="1"/>
          <p:nvPr/>
        </p:nvSpPr>
        <p:spPr>
          <a:xfrm>
            <a:off x="6643132" y="5507383"/>
            <a:ext cx="5308794" cy="1169551"/>
          </a:xfrm>
          <a:prstGeom prst="rect">
            <a:avLst/>
          </a:prstGeom>
          <a:noFill/>
        </p:spPr>
        <p:txBody>
          <a:bodyPr wrap="square" rtlCol="0">
            <a:spAutoFit/>
          </a:bodyPr>
          <a:lstStyle/>
          <a:p>
            <a:r>
              <a:rPr kumimoji="1" lang="ja-JP" altLang="en-US" sz="1400">
                <a:latin typeface="メイリオ" panose="020B0604030504040204" pitchFamily="50" charset="-128"/>
                <a:ea typeface="メイリオ" panose="020B0604030504040204" pitchFamily="50" charset="-128"/>
              </a:rPr>
              <a:t>会話をするとエージェントにテキストが貯まって毎回参照するので、結果として会話をしていくことで</a:t>
            </a:r>
            <a:r>
              <a:rPr kumimoji="1" lang="ja-JP" altLang="en-US" sz="1400" b="1">
                <a:solidFill>
                  <a:schemeClr val="accent4">
                    <a:lumMod val="75000"/>
                  </a:schemeClr>
                </a:solidFill>
                <a:latin typeface="メイリオ" panose="020B0604030504040204" pitchFamily="50" charset="-128"/>
                <a:ea typeface="メイリオ" panose="020B0604030504040204" pitchFamily="50" charset="-128"/>
              </a:rPr>
              <a:t>自分にパーソナライズされた</a:t>
            </a:r>
            <a:r>
              <a:rPr kumimoji="1" lang="en-US" altLang="ja-JP" sz="1400" b="1">
                <a:solidFill>
                  <a:schemeClr val="accent4">
                    <a:lumMod val="75000"/>
                  </a:schemeClr>
                </a:solidFill>
                <a:latin typeface="メイリオ" panose="020B0604030504040204" pitchFamily="50" charset="-128"/>
                <a:ea typeface="メイリオ" panose="020B0604030504040204" pitchFamily="50" charset="-128"/>
              </a:rPr>
              <a:t>AI</a:t>
            </a:r>
            <a:r>
              <a:rPr kumimoji="1" lang="ja-JP" altLang="en-US" sz="1400" b="1">
                <a:solidFill>
                  <a:schemeClr val="accent4">
                    <a:lumMod val="75000"/>
                  </a:schemeClr>
                </a:solidFill>
                <a:latin typeface="メイリオ" panose="020B0604030504040204" pitchFamily="50" charset="-128"/>
                <a:ea typeface="メイリオ" panose="020B0604030504040204" pitchFamily="50" charset="-128"/>
              </a:rPr>
              <a:t>が育っていきます。</a:t>
            </a:r>
            <a:endParaRPr kumimoji="1" lang="en-US" altLang="ja-JP" sz="1400" b="1">
              <a:solidFill>
                <a:schemeClr val="accent4">
                  <a:lumMod val="75000"/>
                </a:schemeClr>
              </a:solidFill>
              <a:latin typeface="メイリオ" panose="020B0604030504040204" pitchFamily="50" charset="-128"/>
              <a:ea typeface="メイリオ" panose="020B0604030504040204" pitchFamily="50" charset="-128"/>
            </a:endParaRPr>
          </a:p>
          <a:p>
            <a:r>
              <a:rPr lang="ja-JP" altLang="en-US" sz="1400">
                <a:latin typeface="メイリオ" panose="020B0604030504040204" pitchFamily="50" charset="-128"/>
                <a:ea typeface="メイリオ" panose="020B0604030504040204" pitchFamily="50" charset="-128"/>
              </a:rPr>
              <a:t>テキストファイルなので書き換えれば判断基準などもこちらで変更できます。</a:t>
            </a:r>
            <a:endParaRPr kumimoji="1" lang="en-US" altLang="ja-JP" sz="140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0059105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36EE38-7468-558A-D3EC-C204434AB1D4}"/>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BDC9D1B5-4486-3549-1D3F-C8A709A94ECD}"/>
              </a:ext>
            </a:extLst>
          </p:cNvPr>
          <p:cNvSpPr txBox="1"/>
          <p:nvPr/>
        </p:nvSpPr>
        <p:spPr>
          <a:xfrm>
            <a:off x="443466" y="317212"/>
            <a:ext cx="11215133" cy="584775"/>
          </a:xfrm>
          <a:prstGeom prst="rect">
            <a:avLst/>
          </a:prstGeom>
          <a:noFill/>
        </p:spPr>
        <p:txBody>
          <a:bodyPr wrap="square" rtlCol="0">
            <a:spAutoFit/>
          </a:bodyPr>
          <a:lstStyle/>
          <a:p>
            <a:r>
              <a:rPr lang="en-US" altLang="ja-JP" sz="3200" b="1">
                <a:latin typeface="メイリオ" panose="020B0604030504040204" pitchFamily="50" charset="-128"/>
                <a:ea typeface="メイリオ" panose="020B0604030504040204" pitchFamily="50" charset="-128"/>
              </a:rPr>
              <a:t>3.HEARTBEAT - </a:t>
            </a:r>
            <a:r>
              <a:rPr lang="ja-JP" altLang="en-US" sz="3200" b="1">
                <a:latin typeface="メイリオ" panose="020B0604030504040204" pitchFamily="50" charset="-128"/>
                <a:ea typeface="メイリオ" panose="020B0604030504040204" pitchFamily="50" charset="-128"/>
              </a:rPr>
              <a:t>常時起動で何が変わるか</a:t>
            </a:r>
            <a:endParaRPr kumimoji="1" lang="ja-JP" altLang="en-US" sz="3200" b="1">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DD45656B-28E8-3F02-D6C4-F9155DC548CA}"/>
              </a:ext>
            </a:extLst>
          </p:cNvPr>
          <p:cNvSpPr txBox="1"/>
          <p:nvPr/>
        </p:nvSpPr>
        <p:spPr>
          <a:xfrm>
            <a:off x="354254" y="867978"/>
            <a:ext cx="11483492" cy="1358064"/>
          </a:xfrm>
          <a:prstGeom prst="rect">
            <a:avLst/>
          </a:prstGeom>
          <a:noFill/>
        </p:spPr>
        <p:txBody>
          <a:bodyPr wrap="square" rtlCol="0">
            <a:spAutoFit/>
          </a:bodyPr>
          <a:lstStyle/>
          <a:p>
            <a:pPr>
              <a:lnSpc>
                <a:spcPct val="150000"/>
              </a:lnSpc>
            </a:pPr>
            <a:r>
              <a:rPr kumimoji="1" lang="en-US" altLang="ja-JP" sz="1400">
                <a:latin typeface="メイリオ" panose="020B0604030504040204" pitchFamily="50" charset="-128"/>
                <a:ea typeface="メイリオ" panose="020B0604030504040204" pitchFamily="50" charset="-128"/>
              </a:rPr>
              <a:t>OpenClaw</a:t>
            </a:r>
            <a:r>
              <a:rPr kumimoji="1" lang="ja-JP" altLang="en-US" sz="1400">
                <a:latin typeface="メイリオ" panose="020B0604030504040204" pitchFamily="50" charset="-128"/>
                <a:ea typeface="メイリオ" panose="020B0604030504040204" pitchFamily="50" charset="-128"/>
              </a:rPr>
              <a:t>は常駐型なので、立ち上げてさえいれば当然チャットで話しかければすぐに返事がきます。</a:t>
            </a:r>
            <a:endParaRPr kumimoji="1" lang="en-US" altLang="ja-JP" sz="1400">
              <a:latin typeface="メイリオ" panose="020B0604030504040204" pitchFamily="50" charset="-128"/>
              <a:ea typeface="メイリオ" panose="020B0604030504040204" pitchFamily="50" charset="-128"/>
            </a:endParaRPr>
          </a:p>
          <a:p>
            <a:pPr>
              <a:lnSpc>
                <a:spcPct val="150000"/>
              </a:lnSpc>
            </a:pPr>
            <a:r>
              <a:rPr lang="en-US" altLang="ja-JP" sz="1400">
                <a:latin typeface="メイリオ" panose="020B0604030504040204" pitchFamily="50" charset="-128"/>
                <a:ea typeface="メイリオ" panose="020B0604030504040204" pitchFamily="50" charset="-128"/>
              </a:rPr>
              <a:t>HEARTBEAT</a:t>
            </a:r>
            <a:r>
              <a:rPr lang="ja-JP" altLang="en-US" sz="1400">
                <a:latin typeface="メイリオ" panose="020B0604030504040204" pitchFamily="50" charset="-128"/>
                <a:ea typeface="メイリオ" panose="020B0604030504040204" pitchFamily="50" charset="-128"/>
              </a:rPr>
              <a:t>はそれに加え、</a:t>
            </a:r>
            <a:r>
              <a:rPr lang="ja-JP" altLang="en-US" sz="1400" b="1">
                <a:latin typeface="メイリオ" panose="020B0604030504040204" pitchFamily="50" charset="-128"/>
                <a:ea typeface="メイリオ" panose="020B0604030504040204" pitchFamily="50" charset="-128"/>
              </a:rPr>
              <a:t>時間トリガーなどで定期的に起動し、</a:t>
            </a:r>
            <a:r>
              <a:rPr lang="ja-JP" altLang="en-US" sz="1400">
                <a:latin typeface="メイリオ" panose="020B0604030504040204" pitchFamily="50" charset="-128"/>
                <a:ea typeface="メイリオ" panose="020B0604030504040204" pitchFamily="50" charset="-128"/>
              </a:rPr>
              <a:t>誰も話しかけなくても自分から動く仕組みです。</a:t>
            </a:r>
            <a:endParaRPr lang="en-US" altLang="ja-JP" sz="1400">
              <a:latin typeface="メイリオ" panose="020B0604030504040204" pitchFamily="50" charset="-128"/>
              <a:ea typeface="メイリオ" panose="020B0604030504040204" pitchFamily="50" charset="-128"/>
            </a:endParaRPr>
          </a:p>
          <a:p>
            <a:pPr>
              <a:lnSpc>
                <a:spcPct val="150000"/>
              </a:lnSpc>
            </a:pPr>
            <a:r>
              <a:rPr lang="ja-JP" altLang="en-US" sz="1400">
                <a:latin typeface="メイリオ" panose="020B0604030504040204" pitchFamily="50" charset="-128"/>
                <a:ea typeface="メイリオ" panose="020B0604030504040204" pitchFamily="50" charset="-128"/>
              </a:rPr>
              <a:t>「放っておいても自分で確認すべきこと」の一覧を確認し、やるべきことがあるかを判断します。</a:t>
            </a:r>
            <a:endParaRPr lang="en-US" altLang="ja-JP" sz="1400">
              <a:latin typeface="メイリオ" panose="020B0604030504040204" pitchFamily="50" charset="-128"/>
              <a:ea typeface="メイリオ" panose="020B0604030504040204" pitchFamily="50" charset="-128"/>
            </a:endParaRPr>
          </a:p>
          <a:p>
            <a:pPr>
              <a:lnSpc>
                <a:spcPct val="150000"/>
              </a:lnSpc>
            </a:pPr>
            <a:r>
              <a:rPr kumimoji="1" lang="ja-JP" altLang="en-US" sz="1400">
                <a:latin typeface="メイリオ" panose="020B0604030504040204" pitchFamily="50" charset="-128"/>
                <a:ea typeface="メイリオ" panose="020B0604030504040204" pitchFamily="50" charset="-128"/>
              </a:rPr>
              <a:t>各種ツールとの連携機能もあり、</a:t>
            </a:r>
            <a:r>
              <a:rPr kumimoji="1" lang="en-US" altLang="ja-JP" sz="1400">
                <a:latin typeface="メイリオ" panose="020B0604030504040204" pitchFamily="50" charset="-128"/>
                <a:ea typeface="メイリオ" panose="020B0604030504040204" pitchFamily="50" charset="-128"/>
              </a:rPr>
              <a:t>Slack</a:t>
            </a:r>
            <a:r>
              <a:rPr lang="ja-JP" altLang="en-US" sz="1400">
                <a:latin typeface="メイリオ" panose="020B0604030504040204" pitchFamily="50" charset="-128"/>
                <a:ea typeface="メイリオ" panose="020B0604030504040204" pitchFamily="50" charset="-128"/>
              </a:rPr>
              <a:t>・</a:t>
            </a:r>
            <a:r>
              <a:rPr kumimoji="1" lang="en-US" altLang="ja-JP" sz="1400">
                <a:latin typeface="メイリオ" panose="020B0604030504040204" pitchFamily="50" charset="-128"/>
                <a:ea typeface="メイリオ" panose="020B0604030504040204" pitchFamily="50" charset="-128"/>
              </a:rPr>
              <a:t>Teams</a:t>
            </a:r>
            <a:r>
              <a:rPr kumimoji="1" lang="ja-JP" altLang="en-US" sz="1400">
                <a:latin typeface="メイリオ" panose="020B0604030504040204" pitchFamily="50" charset="-128"/>
                <a:ea typeface="メイリオ" panose="020B0604030504040204" pitchFamily="50" charset="-128"/>
              </a:rPr>
              <a:t>・</a:t>
            </a:r>
            <a:r>
              <a:rPr kumimoji="1" lang="en-US" altLang="ja-JP" sz="1400">
                <a:latin typeface="メイリオ" panose="020B0604030504040204" pitchFamily="50" charset="-128"/>
                <a:ea typeface="メイリオ" panose="020B0604030504040204" pitchFamily="50" charset="-128"/>
              </a:rPr>
              <a:t>Line</a:t>
            </a:r>
            <a:r>
              <a:rPr kumimoji="1" lang="ja-JP" altLang="en-US" sz="1400">
                <a:latin typeface="メイリオ" panose="020B0604030504040204" pitchFamily="50" charset="-128"/>
                <a:ea typeface="メイリオ" panose="020B0604030504040204" pitchFamily="50" charset="-128"/>
              </a:rPr>
              <a:t>などからでもやり取りができます。</a:t>
            </a:r>
            <a:endParaRPr kumimoji="1" lang="en-US" altLang="ja-JP" sz="1400">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F7A03CE7-677A-A9D0-5AA0-D12638F1C95B}"/>
              </a:ext>
            </a:extLst>
          </p:cNvPr>
          <p:cNvSpPr/>
          <p:nvPr/>
        </p:nvSpPr>
        <p:spPr>
          <a:xfrm>
            <a:off x="354254" y="2293320"/>
            <a:ext cx="4476162" cy="45720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a:solidFill>
                  <a:schemeClr val="tx1"/>
                </a:solidFill>
                <a:latin typeface="メイリオ" panose="020B0604030504040204" pitchFamily="50" charset="-128"/>
                <a:ea typeface="メイリオ" panose="020B0604030504040204" pitchFamily="50" charset="-128"/>
              </a:rPr>
              <a:t>記憶 </a:t>
            </a:r>
            <a:r>
              <a:rPr lang="en-US" altLang="ja-JP" b="1">
                <a:solidFill>
                  <a:schemeClr val="tx1"/>
                </a:solidFill>
                <a:latin typeface="メイリオ" panose="020B0604030504040204" pitchFamily="50" charset="-128"/>
                <a:ea typeface="メイリオ" panose="020B0604030504040204" pitchFamily="50" charset="-128"/>
              </a:rPr>
              <a:t>+ </a:t>
            </a:r>
            <a:r>
              <a:rPr lang="ja-JP" altLang="en-US" b="1">
                <a:solidFill>
                  <a:schemeClr val="tx1"/>
                </a:solidFill>
                <a:latin typeface="メイリオ" panose="020B0604030504040204" pitchFamily="50" charset="-128"/>
                <a:ea typeface="メイリオ" panose="020B0604030504040204" pitchFamily="50" charset="-128"/>
              </a:rPr>
              <a:t>定期起動 </a:t>
            </a:r>
            <a:r>
              <a:rPr lang="en-US" altLang="ja-JP" b="1">
                <a:solidFill>
                  <a:schemeClr val="tx1"/>
                </a:solidFill>
                <a:latin typeface="メイリオ" panose="020B0604030504040204" pitchFamily="50" charset="-128"/>
                <a:ea typeface="メイリオ" panose="020B0604030504040204" pitchFamily="50" charset="-128"/>
              </a:rPr>
              <a:t>= </a:t>
            </a:r>
            <a:r>
              <a:rPr lang="ja-JP" altLang="en-US" b="1">
                <a:solidFill>
                  <a:schemeClr val="tx1"/>
                </a:solidFill>
                <a:latin typeface="メイリオ" panose="020B0604030504040204" pitchFamily="50" charset="-128"/>
                <a:ea typeface="メイリオ" panose="020B0604030504040204" pitchFamily="50" charset="-128"/>
              </a:rPr>
              <a:t>継続的な自立行動</a:t>
            </a:r>
            <a:endParaRPr kumimoji="1" lang="ja-JP" altLang="en-US" b="1">
              <a:solidFill>
                <a:schemeClr val="tx1"/>
              </a:solidFill>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360F531A-2D90-C69F-A5C8-55C1A2AB1D96}"/>
              </a:ext>
            </a:extLst>
          </p:cNvPr>
          <p:cNvSpPr txBox="1"/>
          <p:nvPr/>
        </p:nvSpPr>
        <p:spPr>
          <a:xfrm>
            <a:off x="354253" y="2845086"/>
            <a:ext cx="4476163" cy="1384995"/>
          </a:xfrm>
          <a:prstGeom prst="rect">
            <a:avLst/>
          </a:prstGeom>
          <a:noFill/>
        </p:spPr>
        <p:txBody>
          <a:bodyPr wrap="square" rtlCol="0">
            <a:spAutoFit/>
          </a:bodyPr>
          <a:lstStyle/>
          <a:p>
            <a:pPr marL="342900" indent="-342900">
              <a:buFont typeface="+mj-lt"/>
              <a:buAutoNum type="arabicPeriod"/>
            </a:pPr>
            <a:r>
              <a:rPr lang="en-US" altLang="ja-JP" sz="1400">
                <a:latin typeface="メイリオ" panose="020B0604030504040204" pitchFamily="50" charset="-128"/>
                <a:ea typeface="メイリオ" panose="020B0604030504040204" pitchFamily="50" charset="-128"/>
              </a:rPr>
              <a:t>HEARTBEAT</a:t>
            </a:r>
            <a:r>
              <a:rPr lang="ja-JP" altLang="en-US" sz="1400">
                <a:latin typeface="メイリオ" panose="020B0604030504040204" pitchFamily="50" charset="-128"/>
                <a:ea typeface="メイリオ" panose="020B0604030504040204" pitchFamily="50" charset="-128"/>
              </a:rPr>
              <a:t>で</a:t>
            </a:r>
            <a:r>
              <a:rPr lang="en-US" altLang="ja-JP" sz="1400">
                <a:latin typeface="メイリオ" panose="020B0604030504040204" pitchFamily="50" charset="-128"/>
                <a:ea typeface="メイリオ" panose="020B0604030504040204" pitchFamily="50" charset="-128"/>
              </a:rPr>
              <a:t>30</a:t>
            </a:r>
            <a:r>
              <a:rPr lang="ja-JP" altLang="en-US" sz="1400">
                <a:latin typeface="メイリオ" panose="020B0604030504040204" pitchFamily="50" charset="-128"/>
                <a:ea typeface="メイリオ" panose="020B0604030504040204" pitchFamily="50" charset="-128"/>
              </a:rPr>
              <a:t>分ごとに起動：毎回別人だが</a:t>
            </a:r>
            <a:r>
              <a:rPr lang="en-US" altLang="ja-JP" sz="1400">
                <a:latin typeface="メイリオ" panose="020B0604030504040204" pitchFamily="50" charset="-128"/>
                <a:ea typeface="メイリオ" panose="020B0604030504040204" pitchFamily="50" charset="-128"/>
              </a:rPr>
              <a:t>…</a:t>
            </a:r>
          </a:p>
          <a:p>
            <a:pPr marL="342900" indent="-342900">
              <a:buFont typeface="+mj-lt"/>
              <a:buAutoNum type="arabicPeriod"/>
            </a:pPr>
            <a:r>
              <a:rPr lang="ja-JP" altLang="en-US" sz="1400">
                <a:latin typeface="メイリオ" panose="020B0604030504040204" pitchFamily="50" charset="-128"/>
                <a:ea typeface="メイリオ" panose="020B0604030504040204" pitchFamily="50" charset="-128"/>
              </a:rPr>
              <a:t>続きから動く：引継書確認して何をやっていたかを思い出す</a:t>
            </a:r>
            <a:endParaRPr lang="en-US" altLang="ja-JP" sz="1400">
              <a:latin typeface="メイリオ" panose="020B0604030504040204" pitchFamily="50" charset="-128"/>
              <a:ea typeface="メイリオ" panose="020B0604030504040204" pitchFamily="50" charset="-128"/>
            </a:endParaRPr>
          </a:p>
          <a:p>
            <a:pPr marL="342900" indent="-342900">
              <a:buFont typeface="+mj-lt"/>
              <a:buAutoNum type="arabicPeriod"/>
            </a:pPr>
            <a:r>
              <a:rPr lang="ja-JP" altLang="en-US" sz="1400">
                <a:latin typeface="メイリオ" panose="020B0604030504040204" pitchFamily="50" charset="-128"/>
                <a:ea typeface="メイリオ" panose="020B0604030504040204" pitchFamily="50" charset="-128"/>
              </a:rPr>
              <a:t>継続的な行動をする</a:t>
            </a:r>
            <a:endParaRPr lang="en-US" altLang="ja-JP" sz="1400">
              <a:latin typeface="メイリオ" panose="020B0604030504040204" pitchFamily="50" charset="-128"/>
              <a:ea typeface="メイリオ" panose="020B0604030504040204" pitchFamily="50" charset="-128"/>
            </a:endParaRPr>
          </a:p>
          <a:p>
            <a:pPr marL="342900" indent="-342900">
              <a:buFont typeface="+mj-lt"/>
              <a:buAutoNum type="arabicPeriod"/>
            </a:pPr>
            <a:r>
              <a:rPr lang="ja-JP" altLang="en-US" sz="1400">
                <a:latin typeface="メイリオ" panose="020B0604030504040204" pitchFamily="50" charset="-128"/>
                <a:ea typeface="メイリオ" panose="020B0604030504040204" pitchFamily="50" charset="-128"/>
              </a:rPr>
              <a:t>自分が何をやったか記録する</a:t>
            </a:r>
            <a:endParaRPr lang="en-US" altLang="ja-JP" sz="1400">
              <a:latin typeface="メイリオ" panose="020B0604030504040204" pitchFamily="50" charset="-128"/>
              <a:ea typeface="メイリオ" panose="020B0604030504040204" pitchFamily="50" charset="-128"/>
            </a:endParaRPr>
          </a:p>
          <a:p>
            <a:r>
              <a:rPr lang="ja-JP" altLang="en-US" sz="1400">
                <a:latin typeface="メイリオ" panose="020B0604030504040204" pitchFamily="50" charset="-128"/>
                <a:ea typeface="メイリオ" panose="020B0604030504040204" pitchFamily="50" charset="-128"/>
              </a:rPr>
              <a:t>のループ作業を行う</a:t>
            </a:r>
            <a:endParaRPr lang="en-US" altLang="ja-JP" sz="140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51580BFF-8CAF-C326-CCC4-5C76D09CBAB3}"/>
              </a:ext>
            </a:extLst>
          </p:cNvPr>
          <p:cNvSpPr/>
          <p:nvPr/>
        </p:nvSpPr>
        <p:spPr>
          <a:xfrm>
            <a:off x="5600825" y="2297889"/>
            <a:ext cx="6236921" cy="457200"/>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a:solidFill>
                  <a:schemeClr val="tx1"/>
                </a:solidFill>
                <a:latin typeface="メイリオ" panose="020B0604030504040204" pitchFamily="50" charset="-128"/>
                <a:ea typeface="メイリオ" panose="020B0604030504040204" pitchFamily="50" charset="-128"/>
              </a:rPr>
              <a:t>常時起動が可能にする利点</a:t>
            </a:r>
            <a:endParaRPr kumimoji="1" lang="ja-JP" altLang="en-US" b="1">
              <a:solidFill>
                <a:schemeClr val="tx1"/>
              </a:solidFill>
              <a:latin typeface="メイリオ" panose="020B0604030504040204" pitchFamily="50" charset="-128"/>
              <a:ea typeface="メイリオ" panose="020B0604030504040204" pitchFamily="50" charset="-128"/>
            </a:endParaRPr>
          </a:p>
        </p:txBody>
      </p:sp>
      <p:sp>
        <p:nvSpPr>
          <p:cNvPr id="9" name="テキスト ボックス 8">
            <a:extLst>
              <a:ext uri="{FF2B5EF4-FFF2-40B4-BE49-F238E27FC236}">
                <a16:creationId xmlns:a16="http://schemas.microsoft.com/office/drawing/2014/main" id="{E80FB714-50E3-279E-627C-176756E83177}"/>
              </a:ext>
            </a:extLst>
          </p:cNvPr>
          <p:cNvSpPr txBox="1"/>
          <p:nvPr/>
        </p:nvSpPr>
        <p:spPr>
          <a:xfrm>
            <a:off x="5600825" y="2755089"/>
            <a:ext cx="6236922" cy="1681229"/>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ja-JP" altLang="en-US" sz="1400">
                <a:latin typeface="メイリオ" panose="020B0604030504040204" pitchFamily="50" charset="-128"/>
                <a:ea typeface="メイリオ" panose="020B0604030504040204" pitchFamily="50" charset="-128"/>
              </a:rPr>
              <a:t>メール・カレンダーの定期チェック</a:t>
            </a:r>
            <a:endParaRPr lang="en-US" altLang="ja-JP" sz="1400">
              <a:latin typeface="メイリオ" panose="020B0604030504040204" pitchFamily="50" charset="-128"/>
              <a:ea typeface="メイリオ" panose="020B0604030504040204" pitchFamily="50" charset="-128"/>
            </a:endParaRPr>
          </a:p>
          <a:p>
            <a:pPr marL="342900" indent="-342900">
              <a:lnSpc>
                <a:spcPct val="150000"/>
              </a:lnSpc>
              <a:buFont typeface="Arial" panose="020B0604020202020204" pitchFamily="34" charset="0"/>
              <a:buChar char="•"/>
            </a:pPr>
            <a:r>
              <a:rPr lang="ja-JP" altLang="en-US" sz="1400">
                <a:latin typeface="メイリオ" panose="020B0604030504040204" pitchFamily="50" charset="-128"/>
                <a:ea typeface="メイリオ" panose="020B0604030504040204" pitchFamily="50" charset="-128"/>
              </a:rPr>
              <a:t>レポート作成したらチャットで連絡</a:t>
            </a:r>
            <a:endParaRPr lang="en-US" altLang="ja-JP" sz="1400">
              <a:latin typeface="メイリオ" panose="020B0604030504040204" pitchFamily="50" charset="-128"/>
              <a:ea typeface="メイリオ" panose="020B0604030504040204" pitchFamily="50" charset="-128"/>
            </a:endParaRPr>
          </a:p>
          <a:p>
            <a:pPr marL="342900" indent="-342900">
              <a:lnSpc>
                <a:spcPct val="150000"/>
              </a:lnSpc>
              <a:buFont typeface="Arial" panose="020B0604020202020204" pitchFamily="34" charset="0"/>
              <a:buChar char="•"/>
            </a:pPr>
            <a:r>
              <a:rPr lang="ja-JP" altLang="en-US" sz="1400">
                <a:latin typeface="メイリオ" panose="020B0604030504040204" pitchFamily="50" charset="-128"/>
                <a:ea typeface="メイリオ" panose="020B0604030504040204" pitchFamily="50" charset="-128"/>
              </a:rPr>
              <a:t>記憶の自動整理（日記を自動で整理更新して大事なことは長期記憶へ）</a:t>
            </a:r>
            <a:endParaRPr lang="en-US" altLang="ja-JP" sz="1400">
              <a:latin typeface="メイリオ" panose="020B0604030504040204" pitchFamily="50" charset="-128"/>
              <a:ea typeface="メイリオ" panose="020B0604030504040204" pitchFamily="50" charset="-128"/>
            </a:endParaRPr>
          </a:p>
          <a:p>
            <a:pPr marL="342900" indent="-342900">
              <a:lnSpc>
                <a:spcPct val="150000"/>
              </a:lnSpc>
              <a:buFont typeface="Arial" panose="020B0604020202020204" pitchFamily="34" charset="0"/>
              <a:buChar char="•"/>
            </a:pPr>
            <a:r>
              <a:rPr lang="ja-JP" altLang="en-US" sz="1400">
                <a:latin typeface="メイリオ" panose="020B0604030504040204" pitchFamily="50" charset="-128"/>
                <a:ea typeface="メイリオ" panose="020B0604030504040204" pitchFamily="50" charset="-128"/>
              </a:rPr>
              <a:t>ローカル</a:t>
            </a:r>
            <a:r>
              <a:rPr lang="en-US" altLang="ja-JP" sz="1400">
                <a:latin typeface="メイリオ" panose="020B0604030504040204" pitchFamily="50" charset="-128"/>
                <a:ea typeface="メイリオ" panose="020B0604030504040204" pitchFamily="50" charset="-128"/>
              </a:rPr>
              <a:t>PC</a:t>
            </a:r>
            <a:r>
              <a:rPr lang="ja-JP" altLang="en-US" sz="1400">
                <a:latin typeface="メイリオ" panose="020B0604030504040204" pitchFamily="50" charset="-128"/>
                <a:ea typeface="メイリオ" panose="020B0604030504040204" pitchFamily="50" charset="-128"/>
              </a:rPr>
              <a:t>やブラウザ操作が自律的にできるので、スクレイピング／デバイス連携／セキュリティ・運用監視／コンテンツ制作なども可能</a:t>
            </a:r>
            <a:endParaRPr lang="en-US" altLang="ja-JP" sz="1400">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F7AE995F-8219-FB1D-64F9-9DFBB8955AB2}"/>
              </a:ext>
            </a:extLst>
          </p:cNvPr>
          <p:cNvSpPr/>
          <p:nvPr/>
        </p:nvSpPr>
        <p:spPr>
          <a:xfrm>
            <a:off x="354253" y="4530884"/>
            <a:ext cx="11483492" cy="457200"/>
          </a:xfrm>
          <a:prstGeom prst="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a:solidFill>
                  <a:schemeClr val="bg1"/>
                </a:solidFill>
                <a:latin typeface="メイリオ" panose="020B0604030504040204" pitchFamily="50" charset="-128"/>
                <a:ea typeface="メイリオ" panose="020B0604030504040204" pitchFamily="50" charset="-128"/>
              </a:rPr>
              <a:t>セキュリティ面：「なんでもできる」の代償</a:t>
            </a:r>
            <a:endParaRPr kumimoji="1" lang="ja-JP" altLang="en-US" b="1">
              <a:solidFill>
                <a:schemeClr val="bg1"/>
              </a:solidFill>
              <a:latin typeface="メイリオ" panose="020B0604030504040204" pitchFamily="50" charset="-128"/>
              <a:ea typeface="メイリオ" panose="020B0604030504040204" pitchFamily="50" charset="-128"/>
            </a:endParaRPr>
          </a:p>
        </p:txBody>
      </p:sp>
      <p:sp>
        <p:nvSpPr>
          <p:cNvPr id="11" name="二等辺三角形 10">
            <a:extLst>
              <a:ext uri="{FF2B5EF4-FFF2-40B4-BE49-F238E27FC236}">
                <a16:creationId xmlns:a16="http://schemas.microsoft.com/office/drawing/2014/main" id="{BFCBDD09-73C7-54DB-D033-103879030559}"/>
              </a:ext>
            </a:extLst>
          </p:cNvPr>
          <p:cNvSpPr/>
          <p:nvPr/>
        </p:nvSpPr>
        <p:spPr>
          <a:xfrm rot="5400000">
            <a:off x="4833069" y="3340350"/>
            <a:ext cx="765104" cy="214473"/>
          </a:xfrm>
          <a:prstGeom prst="triangle">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二等辺三角形 11">
            <a:extLst>
              <a:ext uri="{FF2B5EF4-FFF2-40B4-BE49-F238E27FC236}">
                <a16:creationId xmlns:a16="http://schemas.microsoft.com/office/drawing/2014/main" id="{AF97AAC7-3D48-A225-3332-64D24A93CAF4}"/>
              </a:ext>
            </a:extLst>
          </p:cNvPr>
          <p:cNvSpPr/>
          <p:nvPr/>
        </p:nvSpPr>
        <p:spPr>
          <a:xfrm rot="10800000">
            <a:off x="2209784" y="4230081"/>
            <a:ext cx="765104" cy="214473"/>
          </a:xfrm>
          <a:prstGeom prst="triangle">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3904A78C-711F-8139-4DDB-32701474D485}"/>
              </a:ext>
            </a:extLst>
          </p:cNvPr>
          <p:cNvSpPr txBox="1"/>
          <p:nvPr/>
        </p:nvSpPr>
        <p:spPr>
          <a:xfrm>
            <a:off x="209682" y="5021656"/>
            <a:ext cx="4968605" cy="1681229"/>
          </a:xfrm>
          <a:prstGeom prst="rect">
            <a:avLst/>
          </a:prstGeom>
          <a:noFill/>
        </p:spPr>
        <p:txBody>
          <a:bodyPr wrap="square" rtlCol="0">
            <a:spAutoFit/>
          </a:bodyPr>
          <a:lstStyle/>
          <a:p>
            <a:pPr>
              <a:lnSpc>
                <a:spcPct val="150000"/>
              </a:lnSpc>
            </a:pPr>
            <a:r>
              <a:rPr lang="ja-JP" altLang="en-US" sz="1400" b="1">
                <a:latin typeface="メイリオ" panose="020B0604030504040204" pitchFamily="50" charset="-128"/>
                <a:ea typeface="メイリオ" panose="020B0604030504040204" pitchFamily="50" charset="-128"/>
              </a:rPr>
              <a:t>テキストファイルを</a:t>
            </a:r>
            <a:r>
              <a:rPr lang="en-US" altLang="ja-JP" sz="1400" b="1">
                <a:latin typeface="メイリオ" panose="020B0604030504040204" pitchFamily="50" charset="-128"/>
                <a:ea typeface="メイリオ" panose="020B0604030504040204" pitchFamily="50" charset="-128"/>
              </a:rPr>
              <a:t>AI</a:t>
            </a:r>
            <a:r>
              <a:rPr lang="ja-JP" altLang="en-US" sz="1400" b="1">
                <a:latin typeface="メイリオ" panose="020B0604030504040204" pitchFamily="50" charset="-128"/>
                <a:ea typeface="メイリオ" panose="020B0604030504040204" pitchFamily="50" charset="-128"/>
              </a:rPr>
              <a:t>に読ませて何でもやらせる</a:t>
            </a:r>
            <a:endParaRPr lang="en-US" altLang="ja-JP" sz="1400" b="1">
              <a:latin typeface="メイリオ" panose="020B0604030504040204" pitchFamily="50" charset="-128"/>
              <a:ea typeface="メイリオ" panose="020B0604030504040204" pitchFamily="50" charset="-128"/>
            </a:endParaRPr>
          </a:p>
          <a:p>
            <a:pPr marL="285750" indent="-285750">
              <a:lnSpc>
                <a:spcPct val="150000"/>
              </a:lnSpc>
              <a:buFont typeface="Arial" panose="020B0604020202020204" pitchFamily="34" charset="0"/>
              <a:buChar char="•"/>
            </a:pPr>
            <a:r>
              <a:rPr lang="ja-JP" altLang="en-US" sz="1400">
                <a:latin typeface="メイリオ" panose="020B0604030504040204" pitchFamily="50" charset="-128"/>
                <a:ea typeface="メイリオ" panose="020B0604030504040204" pitchFamily="50" charset="-128"/>
              </a:rPr>
              <a:t>悪意あるテキストが混ざっていたら悪意ある行動を行う</a:t>
            </a:r>
            <a:endParaRPr lang="en-US" altLang="ja-JP" sz="1400">
              <a:latin typeface="メイリオ" panose="020B0604030504040204" pitchFamily="50" charset="-128"/>
              <a:ea typeface="メイリオ" panose="020B0604030504040204" pitchFamily="50" charset="-128"/>
            </a:endParaRPr>
          </a:p>
          <a:p>
            <a:pPr marL="285750" indent="-285750">
              <a:lnSpc>
                <a:spcPct val="150000"/>
              </a:lnSpc>
              <a:buFont typeface="Arial" panose="020B0604020202020204" pitchFamily="34" charset="0"/>
              <a:buChar char="•"/>
            </a:pPr>
            <a:r>
              <a:rPr lang="ja-JP" altLang="en-US" sz="1400">
                <a:latin typeface="メイリオ" panose="020B0604030504040204" pitchFamily="50" charset="-128"/>
                <a:ea typeface="メイリオ" panose="020B0604030504040204" pitchFamily="50" charset="-128"/>
              </a:rPr>
              <a:t>スキルストアという、他の人が作ったスキルの配布場所にも悪意がある物が潜んでいる</a:t>
            </a:r>
            <a:endParaRPr lang="en-US" altLang="ja-JP" sz="1400">
              <a:latin typeface="メイリオ" panose="020B0604030504040204" pitchFamily="50" charset="-128"/>
              <a:ea typeface="メイリオ" panose="020B0604030504040204" pitchFamily="50" charset="-128"/>
            </a:endParaRPr>
          </a:p>
          <a:p>
            <a:pPr marL="742950" lvl="1" indent="-285750">
              <a:lnSpc>
                <a:spcPct val="150000"/>
              </a:lnSpc>
              <a:buFont typeface="Arial" panose="020B0604020202020204" pitchFamily="34" charset="0"/>
              <a:buChar char="•"/>
            </a:pPr>
            <a:r>
              <a:rPr lang="ja-JP" altLang="en-US" sz="1400">
                <a:latin typeface="メイリオ" panose="020B0604030504040204" pitchFamily="50" charset="-128"/>
                <a:ea typeface="メイリオ" panose="020B0604030504040204" pitchFamily="50" charset="-128"/>
              </a:rPr>
              <a:t>テキストファイルなのでウイルス検知もされない</a:t>
            </a:r>
            <a:endParaRPr lang="en-US" altLang="ja-JP" sz="1400">
              <a:latin typeface="メイリオ" panose="020B0604030504040204" pitchFamily="50" charset="-128"/>
              <a:ea typeface="メイリオ" panose="020B0604030504040204" pitchFamily="50" charset="-128"/>
            </a:endParaRPr>
          </a:p>
        </p:txBody>
      </p:sp>
      <p:sp>
        <p:nvSpPr>
          <p:cNvPr id="14" name="テキスト ボックス 13">
            <a:extLst>
              <a:ext uri="{FF2B5EF4-FFF2-40B4-BE49-F238E27FC236}">
                <a16:creationId xmlns:a16="http://schemas.microsoft.com/office/drawing/2014/main" id="{5A6AB5F9-DB83-3BF0-E078-A51E96F40489}"/>
              </a:ext>
            </a:extLst>
          </p:cNvPr>
          <p:cNvSpPr txBox="1"/>
          <p:nvPr/>
        </p:nvSpPr>
        <p:spPr>
          <a:xfrm>
            <a:off x="5178287" y="5021655"/>
            <a:ext cx="7013713" cy="1723549"/>
          </a:xfrm>
          <a:prstGeom prst="rect">
            <a:avLst/>
          </a:prstGeom>
          <a:noFill/>
        </p:spPr>
        <p:txBody>
          <a:bodyPr wrap="square" rtlCol="0">
            <a:spAutoFit/>
          </a:bodyPr>
          <a:lstStyle/>
          <a:p>
            <a:pPr>
              <a:lnSpc>
                <a:spcPct val="150000"/>
              </a:lnSpc>
            </a:pPr>
            <a:r>
              <a:rPr lang="ja-JP" altLang="en-US" sz="1400" b="1">
                <a:latin typeface="メイリオ" panose="020B0604030504040204" pitchFamily="50" charset="-128"/>
                <a:ea typeface="メイリオ" panose="020B0604030504040204" pitchFamily="50" charset="-128"/>
              </a:rPr>
              <a:t>アプリ本体自体の虚弱性もある</a:t>
            </a:r>
            <a:endParaRPr lang="en-US" altLang="ja-JP" sz="1400" b="1">
              <a:latin typeface="メイリオ" panose="020B0604030504040204" pitchFamily="50" charset="-128"/>
              <a:ea typeface="メイリオ" panose="020B0604030504040204" pitchFamily="50" charset="-128"/>
            </a:endParaRPr>
          </a:p>
          <a:p>
            <a:pPr>
              <a:lnSpc>
                <a:spcPct val="150000"/>
              </a:lnSpc>
            </a:pPr>
            <a:r>
              <a:rPr lang="ja-JP" altLang="en-US" sz="1400">
                <a:latin typeface="メイリオ" panose="020B0604030504040204" pitchFamily="50" charset="-128"/>
                <a:ea typeface="メイリオ" panose="020B0604030504040204" pitchFamily="50" charset="-128"/>
              </a:rPr>
              <a:t>今後改善される部分もありますが、被害事例として</a:t>
            </a:r>
            <a:endParaRPr lang="en-US" altLang="ja-JP" sz="1400">
              <a:latin typeface="メイリオ" panose="020B0604030504040204" pitchFamily="50" charset="-128"/>
              <a:ea typeface="メイリオ" panose="020B0604030504040204" pitchFamily="50" charset="-128"/>
            </a:endParaRPr>
          </a:p>
          <a:p>
            <a:pPr marL="285750" indent="-285750">
              <a:lnSpc>
                <a:spcPct val="150000"/>
              </a:lnSpc>
              <a:buFont typeface="Arial" panose="020B0604020202020204" pitchFamily="34" charset="0"/>
              <a:buChar char="•"/>
            </a:pPr>
            <a:r>
              <a:rPr lang="ja-JP" altLang="en-US" sz="1400">
                <a:latin typeface="メイリオ" panose="020B0604030504040204" pitchFamily="50" charset="-128"/>
                <a:ea typeface="メイリオ" panose="020B0604030504040204" pitchFamily="50" charset="-128"/>
              </a:rPr>
              <a:t>攻撃者の</a:t>
            </a:r>
            <a:r>
              <a:rPr lang="en-US" altLang="ja-JP" sz="1400">
                <a:latin typeface="メイリオ" panose="020B0604030504040204" pitchFamily="50" charset="-128"/>
                <a:ea typeface="メイリオ" panose="020B0604030504040204" pitchFamily="50" charset="-128"/>
              </a:rPr>
              <a:t>URL</a:t>
            </a:r>
            <a:r>
              <a:rPr lang="ja-JP" altLang="en-US" sz="1400">
                <a:latin typeface="メイリオ" panose="020B0604030504040204" pitchFamily="50" charset="-128"/>
                <a:ea typeface="メイリオ" panose="020B0604030504040204" pitchFamily="50" charset="-128"/>
              </a:rPr>
              <a:t>を開くだけで各種情報が流出</a:t>
            </a:r>
            <a:endParaRPr lang="en-US" altLang="ja-JP" sz="1400">
              <a:latin typeface="メイリオ" panose="020B0604030504040204" pitchFamily="50" charset="-128"/>
              <a:ea typeface="メイリオ" panose="020B0604030504040204" pitchFamily="50" charset="-128"/>
            </a:endParaRPr>
          </a:p>
          <a:p>
            <a:pPr marL="285750" indent="-285750">
              <a:lnSpc>
                <a:spcPct val="150000"/>
              </a:lnSpc>
              <a:buFont typeface="Arial" panose="020B0604020202020204" pitchFamily="34" charset="0"/>
              <a:buChar char="•"/>
            </a:pPr>
            <a:r>
              <a:rPr lang="ja-JP" altLang="en-US" sz="1400">
                <a:latin typeface="メイリオ" panose="020B0604030504040204" pitchFamily="50" charset="-128"/>
                <a:ea typeface="メイリオ" panose="020B0604030504040204" pitchFamily="50" charset="-128"/>
              </a:rPr>
              <a:t>パスワード類がローカルにそのまま保存されていて</a:t>
            </a:r>
            <a:r>
              <a:rPr lang="en-US" altLang="ja-JP" sz="1400">
                <a:latin typeface="メイリオ" panose="020B0604030504040204" pitchFamily="50" charset="-128"/>
                <a:ea typeface="メイリオ" panose="020B0604030504040204" pitchFamily="50" charset="-128"/>
              </a:rPr>
              <a:t>AI</a:t>
            </a:r>
            <a:r>
              <a:rPr lang="ja-JP" altLang="en-US" sz="1400">
                <a:latin typeface="メイリオ" panose="020B0604030504040204" pitchFamily="50" charset="-128"/>
                <a:ea typeface="メイリオ" panose="020B0604030504040204" pitchFamily="50" charset="-128"/>
              </a:rPr>
              <a:t>が見れてしまう</a:t>
            </a:r>
            <a:endParaRPr lang="en-US" altLang="ja-JP" sz="1400">
              <a:latin typeface="メイリオ" panose="020B0604030504040204" pitchFamily="50" charset="-128"/>
              <a:ea typeface="メイリオ" panose="020B0604030504040204" pitchFamily="50" charset="-128"/>
            </a:endParaRPr>
          </a:p>
          <a:p>
            <a:pPr>
              <a:lnSpc>
                <a:spcPct val="150000"/>
              </a:lnSpc>
            </a:pPr>
            <a:r>
              <a:rPr lang="ja-JP" altLang="en-US" sz="1600" b="1">
                <a:solidFill>
                  <a:srgbClr val="C00000"/>
                </a:solidFill>
                <a:latin typeface="メイリオ" panose="020B0604030504040204" pitchFamily="50" charset="-128"/>
                <a:ea typeface="メイリオ" panose="020B0604030504040204" pitchFamily="50" charset="-128"/>
              </a:rPr>
              <a:t>➡ </a:t>
            </a:r>
            <a:r>
              <a:rPr lang="en-US" altLang="ja-JP" sz="1600" b="1">
                <a:solidFill>
                  <a:srgbClr val="C00000"/>
                </a:solidFill>
                <a:latin typeface="メイリオ" panose="020B0604030504040204" pitchFamily="50" charset="-128"/>
                <a:ea typeface="メイリオ" panose="020B0604030504040204" pitchFamily="50" charset="-128"/>
              </a:rPr>
              <a:t>Gartner</a:t>
            </a:r>
            <a:r>
              <a:rPr lang="ja-JP" altLang="en-US" sz="1600" b="1">
                <a:solidFill>
                  <a:srgbClr val="C00000"/>
                </a:solidFill>
                <a:latin typeface="メイリオ" panose="020B0604030504040204" pitchFamily="50" charset="-128"/>
                <a:ea typeface="メイリオ" panose="020B0604030504040204" pitchFamily="50" charset="-128"/>
              </a:rPr>
              <a:t>社は企業利用には受け入れがたいリスクが多いとブロック推奨</a:t>
            </a:r>
            <a:endParaRPr lang="en-US" altLang="ja-JP" sz="1600" b="1">
              <a:solidFill>
                <a:srgbClr val="C0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3306387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A44D52-8375-685F-7713-D70322C3B933}"/>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B49C5970-5273-1B31-8D54-D6D3986E7427}"/>
              </a:ext>
            </a:extLst>
          </p:cNvPr>
          <p:cNvSpPr txBox="1"/>
          <p:nvPr/>
        </p:nvSpPr>
        <p:spPr>
          <a:xfrm>
            <a:off x="443466" y="317212"/>
            <a:ext cx="11215133" cy="584775"/>
          </a:xfrm>
          <a:prstGeom prst="rect">
            <a:avLst/>
          </a:prstGeom>
          <a:noFill/>
        </p:spPr>
        <p:txBody>
          <a:bodyPr wrap="square" rtlCol="0">
            <a:spAutoFit/>
          </a:bodyPr>
          <a:lstStyle/>
          <a:p>
            <a:r>
              <a:rPr lang="en-US" altLang="ja-JP" sz="3200" b="1">
                <a:latin typeface="メイリオ" panose="020B0604030504040204" pitchFamily="50" charset="-128"/>
                <a:ea typeface="メイリオ" panose="020B0604030504040204" pitchFamily="50" charset="-128"/>
              </a:rPr>
              <a:t>4.</a:t>
            </a:r>
            <a:r>
              <a:rPr lang="ja-JP" altLang="en-US" sz="3200" b="1">
                <a:latin typeface="メイリオ" panose="020B0604030504040204" pitchFamily="50" charset="-128"/>
                <a:ea typeface="メイリオ" panose="020B0604030504040204" pitchFamily="50" charset="-128"/>
              </a:rPr>
              <a:t>とはいえ便利 </a:t>
            </a:r>
            <a:r>
              <a:rPr lang="en-US" altLang="ja-JP" sz="3200" b="1">
                <a:latin typeface="メイリオ" panose="020B0604030504040204" pitchFamily="50" charset="-128"/>
                <a:ea typeface="メイリオ" panose="020B0604030504040204" pitchFamily="50" charset="-128"/>
              </a:rPr>
              <a:t>– </a:t>
            </a:r>
            <a:r>
              <a:rPr lang="ja-JP" altLang="en-US" sz="3200" b="1">
                <a:latin typeface="メイリオ" panose="020B0604030504040204" pitchFamily="50" charset="-128"/>
                <a:ea typeface="メイリオ" panose="020B0604030504040204" pitchFamily="50" charset="-128"/>
              </a:rPr>
              <a:t>ユースケース</a:t>
            </a:r>
            <a:endParaRPr kumimoji="1" lang="ja-JP" altLang="en-US" sz="3200" b="1">
              <a:latin typeface="メイリオ" panose="020B0604030504040204" pitchFamily="50" charset="-128"/>
              <a:ea typeface="メイリオ" panose="020B0604030504040204" pitchFamily="50" charset="-128"/>
            </a:endParaRPr>
          </a:p>
        </p:txBody>
      </p:sp>
      <p:sp>
        <p:nvSpPr>
          <p:cNvPr id="2" name="テキスト ボックス 1">
            <a:extLst>
              <a:ext uri="{FF2B5EF4-FFF2-40B4-BE49-F238E27FC236}">
                <a16:creationId xmlns:a16="http://schemas.microsoft.com/office/drawing/2014/main" id="{0E27C4BE-FB99-CED7-380F-FE899313DA94}"/>
              </a:ext>
            </a:extLst>
          </p:cNvPr>
          <p:cNvSpPr txBox="1"/>
          <p:nvPr/>
        </p:nvSpPr>
        <p:spPr>
          <a:xfrm>
            <a:off x="354254" y="867978"/>
            <a:ext cx="11483492" cy="711733"/>
          </a:xfrm>
          <a:prstGeom prst="rect">
            <a:avLst/>
          </a:prstGeom>
          <a:noFill/>
        </p:spPr>
        <p:txBody>
          <a:bodyPr wrap="square" rtlCol="0">
            <a:spAutoFit/>
          </a:bodyPr>
          <a:lstStyle/>
          <a:p>
            <a:pPr>
              <a:lnSpc>
                <a:spcPct val="150000"/>
              </a:lnSpc>
            </a:pPr>
            <a:r>
              <a:rPr lang="ja-JP" altLang="en-US" sz="1400">
                <a:latin typeface="メイリオ" panose="020B0604030504040204" pitchFamily="50" charset="-128"/>
                <a:ea typeface="メイリオ" panose="020B0604030504040204" pitchFamily="50" charset="-128"/>
              </a:rPr>
              <a:t>セキュリティ対策は当然必要必須ですが、それさえ講じれば「人間が</a:t>
            </a:r>
            <a:r>
              <a:rPr lang="en-US" altLang="ja-JP" sz="1400">
                <a:latin typeface="メイリオ" panose="020B0604030504040204" pitchFamily="50" charset="-128"/>
                <a:ea typeface="メイリオ" panose="020B0604030504040204" pitchFamily="50" charset="-128"/>
              </a:rPr>
              <a:t>PC</a:t>
            </a:r>
            <a:r>
              <a:rPr lang="ja-JP" altLang="en-US" sz="1400">
                <a:latin typeface="メイリオ" panose="020B0604030504040204" pitchFamily="50" charset="-128"/>
                <a:ea typeface="メイリオ" panose="020B0604030504040204" pitchFamily="50" charset="-128"/>
              </a:rPr>
              <a:t>でできることのほとんど」が自動化できる可能性があります。</a:t>
            </a:r>
            <a:endParaRPr lang="en-US" altLang="ja-JP" sz="1400">
              <a:latin typeface="メイリオ" panose="020B0604030504040204" pitchFamily="50" charset="-128"/>
              <a:ea typeface="メイリオ" panose="020B0604030504040204" pitchFamily="50" charset="-128"/>
            </a:endParaRPr>
          </a:p>
          <a:p>
            <a:pPr>
              <a:lnSpc>
                <a:spcPct val="150000"/>
              </a:lnSpc>
            </a:pPr>
            <a:r>
              <a:rPr lang="en-US" altLang="ja-JP" sz="1400">
                <a:latin typeface="メイリオ" panose="020B0604030504040204" pitchFamily="50" charset="-128"/>
                <a:ea typeface="メイリオ" panose="020B0604030504040204" pitchFamily="50" charset="-128"/>
              </a:rPr>
              <a:t>OSS</a:t>
            </a:r>
            <a:r>
              <a:rPr lang="ja-JP" altLang="en-US" sz="1400">
                <a:latin typeface="メイリオ" panose="020B0604030504040204" pitchFamily="50" charset="-128"/>
                <a:ea typeface="メイリオ" panose="020B0604030504040204" pitchFamily="50" charset="-128"/>
              </a:rPr>
              <a:t>なので自社環境向けにカスタマイズや参考実装も可能です。</a:t>
            </a:r>
            <a:endParaRPr kumimoji="1" lang="en-US" altLang="ja-JP" sz="140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5B6E47F9-F272-E347-7E1F-E09B5BBC915B}"/>
              </a:ext>
            </a:extLst>
          </p:cNvPr>
          <p:cNvSpPr/>
          <p:nvPr/>
        </p:nvSpPr>
        <p:spPr>
          <a:xfrm>
            <a:off x="2502018" y="1673132"/>
            <a:ext cx="2329186" cy="340403"/>
          </a:xfrm>
          <a:prstGeom prst="rect">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600">
                <a:latin typeface="メイリオ" panose="020B0604030504040204" pitchFamily="50" charset="-128"/>
                <a:ea typeface="メイリオ" panose="020B0604030504040204" pitchFamily="50" charset="-128"/>
              </a:rPr>
              <a:t>データ分析・レポート</a:t>
            </a:r>
            <a:endParaRPr kumimoji="1" lang="ja-JP" altLang="en-US" sz="160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9867A04F-746B-A71A-EB92-EB75058FDCC6}"/>
              </a:ext>
            </a:extLst>
          </p:cNvPr>
          <p:cNvSpPr txBox="1"/>
          <p:nvPr/>
        </p:nvSpPr>
        <p:spPr>
          <a:xfrm>
            <a:off x="2497732" y="2073010"/>
            <a:ext cx="2329186" cy="1731243"/>
          </a:xfrm>
          <a:prstGeom prst="rect">
            <a:avLst/>
          </a:prstGeom>
          <a:noFill/>
        </p:spPr>
        <p:txBody>
          <a:bodyPr wrap="square" rtlCol="0">
            <a:spAutoFit/>
          </a:bodyPr>
          <a:lstStyle/>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売上データの異常検知＆自動アラート</a:t>
            </a:r>
            <a:endParaRPr lang="en-US" altLang="ja-JP" sz="1200">
              <a:latin typeface="メイリオ" panose="020B0604030504040204" pitchFamily="50" charset="-128"/>
              <a:ea typeface="メイリオ" panose="020B0604030504040204" pitchFamily="50" charset="-128"/>
            </a:endParaRPr>
          </a:p>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顧客アンケート自由記述の感情分析＆カテゴリ分類</a:t>
            </a:r>
            <a:endParaRPr lang="en-US" altLang="ja-JP" sz="1200">
              <a:latin typeface="メイリオ" panose="020B0604030504040204" pitchFamily="50" charset="-128"/>
              <a:ea typeface="メイリオ" panose="020B0604030504040204" pitchFamily="50" charset="-128"/>
            </a:endParaRPr>
          </a:p>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月次</a:t>
            </a:r>
            <a:r>
              <a:rPr lang="en-US" altLang="ja-JP" sz="1200">
                <a:latin typeface="メイリオ" panose="020B0604030504040204" pitchFamily="50" charset="-128"/>
                <a:ea typeface="メイリオ" panose="020B0604030504040204" pitchFamily="50" charset="-128"/>
              </a:rPr>
              <a:t>KPI</a:t>
            </a:r>
            <a:r>
              <a:rPr lang="ja-JP" altLang="en-US" sz="1200">
                <a:latin typeface="メイリオ" panose="020B0604030504040204" pitchFamily="50" charset="-128"/>
                <a:ea typeface="メイリオ" panose="020B0604030504040204" pitchFamily="50" charset="-128"/>
              </a:rPr>
              <a:t>レポート自動生成＆配信</a:t>
            </a:r>
            <a:endParaRPr kumimoji="1" lang="en-US" altLang="ja-JP" sz="1200">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9D49334B-58EA-1739-A27E-40810DE09E57}"/>
              </a:ext>
            </a:extLst>
          </p:cNvPr>
          <p:cNvSpPr/>
          <p:nvPr/>
        </p:nvSpPr>
        <p:spPr>
          <a:xfrm>
            <a:off x="2502019" y="2013535"/>
            <a:ext cx="2329185" cy="2108672"/>
          </a:xfrm>
          <a:prstGeom prst="rect">
            <a:avLst/>
          </a:prstGeom>
          <a:no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9" name="正方形/長方形 8">
            <a:extLst>
              <a:ext uri="{FF2B5EF4-FFF2-40B4-BE49-F238E27FC236}">
                <a16:creationId xmlns:a16="http://schemas.microsoft.com/office/drawing/2014/main" id="{31E0082F-0D24-62D9-FE31-9CCCD3CC53FC}"/>
              </a:ext>
            </a:extLst>
          </p:cNvPr>
          <p:cNvSpPr/>
          <p:nvPr/>
        </p:nvSpPr>
        <p:spPr>
          <a:xfrm>
            <a:off x="70488" y="1673132"/>
            <a:ext cx="2329185" cy="340403"/>
          </a:xfrm>
          <a:prstGeom prst="rect">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600">
                <a:latin typeface="メイリオ" panose="020B0604030504040204" pitchFamily="50" charset="-128"/>
                <a:ea typeface="メイリオ" panose="020B0604030504040204" pitchFamily="50" charset="-128"/>
              </a:rPr>
              <a:t>情報収集・監視</a:t>
            </a:r>
            <a:endParaRPr kumimoji="1" lang="ja-JP" altLang="en-US" sz="1600">
              <a:latin typeface="メイリオ" panose="020B0604030504040204" pitchFamily="50" charset="-128"/>
              <a:ea typeface="メイリオ" panose="020B0604030504040204" pitchFamily="50" charset="-128"/>
            </a:endParaRPr>
          </a:p>
        </p:txBody>
      </p:sp>
      <p:sp>
        <p:nvSpPr>
          <p:cNvPr id="10" name="テキスト ボックス 9">
            <a:extLst>
              <a:ext uri="{FF2B5EF4-FFF2-40B4-BE49-F238E27FC236}">
                <a16:creationId xmlns:a16="http://schemas.microsoft.com/office/drawing/2014/main" id="{1EEE5FE2-F618-FA96-4DD0-ECE2ACC5B7DE}"/>
              </a:ext>
            </a:extLst>
          </p:cNvPr>
          <p:cNvSpPr txBox="1"/>
          <p:nvPr/>
        </p:nvSpPr>
        <p:spPr>
          <a:xfrm>
            <a:off x="66201" y="2073010"/>
            <a:ext cx="2329186" cy="1731243"/>
          </a:xfrm>
          <a:prstGeom prst="rect">
            <a:avLst/>
          </a:prstGeom>
          <a:noFill/>
        </p:spPr>
        <p:txBody>
          <a:bodyPr wrap="square" rtlCol="0">
            <a:spAutoFit/>
          </a:bodyPr>
          <a:lstStyle/>
          <a:p>
            <a:pPr marL="171450" indent="-171450">
              <a:lnSpc>
                <a:spcPct val="150000"/>
              </a:lnSpc>
              <a:buFont typeface="Arial" panose="020B0604020202020204" pitchFamily="34" charset="0"/>
              <a:buChar char="•"/>
            </a:pPr>
            <a:r>
              <a:rPr lang="en-US" altLang="ja-JP" sz="1200">
                <a:latin typeface="メイリオ" panose="020B0604030504040204" pitchFamily="50" charset="-128"/>
                <a:ea typeface="メイリオ" panose="020B0604030504040204" pitchFamily="50" charset="-128"/>
              </a:rPr>
              <a:t>SNS</a:t>
            </a:r>
            <a:r>
              <a:rPr lang="ja-JP" altLang="en-US" sz="1200">
                <a:latin typeface="メイリオ" panose="020B0604030504040204" pitchFamily="50" charset="-128"/>
                <a:ea typeface="メイリオ" panose="020B0604030504040204" pitchFamily="50" charset="-128"/>
              </a:rPr>
              <a:t>ブランドメンション監視＆ネガティブ即時検知</a:t>
            </a:r>
            <a:endParaRPr lang="en-US" altLang="ja-JP" sz="1200">
              <a:latin typeface="メイリオ" panose="020B0604030504040204" pitchFamily="50" charset="-128"/>
              <a:ea typeface="メイリオ" panose="020B0604030504040204" pitchFamily="50" charset="-128"/>
            </a:endParaRPr>
          </a:p>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法改正・規制変更の自動追跡＆影響分析</a:t>
            </a:r>
            <a:endParaRPr lang="en-US" altLang="ja-JP" sz="1200">
              <a:latin typeface="メイリオ" panose="020B0604030504040204" pitchFamily="50" charset="-128"/>
              <a:ea typeface="メイリオ" panose="020B0604030504040204" pitchFamily="50" charset="-128"/>
            </a:endParaRPr>
          </a:p>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競合プレスリリース自動監視＆日次サマリー</a:t>
            </a:r>
          </a:p>
        </p:txBody>
      </p:sp>
      <p:sp>
        <p:nvSpPr>
          <p:cNvPr id="11" name="正方形/長方形 10">
            <a:extLst>
              <a:ext uri="{FF2B5EF4-FFF2-40B4-BE49-F238E27FC236}">
                <a16:creationId xmlns:a16="http://schemas.microsoft.com/office/drawing/2014/main" id="{E4EA563D-A048-3415-43B2-C1C4655F2B18}"/>
              </a:ext>
            </a:extLst>
          </p:cNvPr>
          <p:cNvSpPr/>
          <p:nvPr/>
        </p:nvSpPr>
        <p:spPr>
          <a:xfrm>
            <a:off x="70488" y="2013535"/>
            <a:ext cx="2329185" cy="2108672"/>
          </a:xfrm>
          <a:prstGeom prst="rect">
            <a:avLst/>
          </a:prstGeom>
          <a:no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13" name="正方形/長方形 12">
            <a:extLst>
              <a:ext uri="{FF2B5EF4-FFF2-40B4-BE49-F238E27FC236}">
                <a16:creationId xmlns:a16="http://schemas.microsoft.com/office/drawing/2014/main" id="{823CCBB7-B542-EABA-96B2-E1D2B77FCB05}"/>
              </a:ext>
            </a:extLst>
          </p:cNvPr>
          <p:cNvSpPr/>
          <p:nvPr/>
        </p:nvSpPr>
        <p:spPr>
          <a:xfrm>
            <a:off x="4929341" y="1673132"/>
            <a:ext cx="2329185" cy="340403"/>
          </a:xfrm>
          <a:prstGeom prst="rect">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600">
                <a:latin typeface="メイリオ" panose="020B0604030504040204" pitchFamily="50" charset="-128"/>
                <a:ea typeface="メイリオ" panose="020B0604030504040204" pitchFamily="50" charset="-128"/>
              </a:rPr>
              <a:t>業務自動化</a:t>
            </a:r>
            <a:endParaRPr kumimoji="1" lang="ja-JP" altLang="en-US" sz="1600">
              <a:latin typeface="メイリオ" panose="020B0604030504040204" pitchFamily="50" charset="-128"/>
              <a:ea typeface="メイリオ" panose="020B0604030504040204" pitchFamily="50" charset="-128"/>
            </a:endParaRPr>
          </a:p>
        </p:txBody>
      </p:sp>
      <p:sp>
        <p:nvSpPr>
          <p:cNvPr id="14" name="テキスト ボックス 13">
            <a:extLst>
              <a:ext uri="{FF2B5EF4-FFF2-40B4-BE49-F238E27FC236}">
                <a16:creationId xmlns:a16="http://schemas.microsoft.com/office/drawing/2014/main" id="{B9AE62C7-23F0-B97E-9741-4E68605561E7}"/>
              </a:ext>
            </a:extLst>
          </p:cNvPr>
          <p:cNvSpPr txBox="1"/>
          <p:nvPr/>
        </p:nvSpPr>
        <p:spPr>
          <a:xfrm>
            <a:off x="4925054" y="2073010"/>
            <a:ext cx="2329185" cy="1454244"/>
          </a:xfrm>
          <a:prstGeom prst="rect">
            <a:avLst/>
          </a:prstGeom>
          <a:noFill/>
        </p:spPr>
        <p:txBody>
          <a:bodyPr wrap="square" rtlCol="0">
            <a:spAutoFit/>
          </a:bodyPr>
          <a:lstStyle/>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社内</a:t>
            </a:r>
            <a:r>
              <a:rPr lang="en-US" altLang="ja-JP" sz="1200">
                <a:latin typeface="メイリオ" panose="020B0604030504040204" pitchFamily="50" charset="-128"/>
                <a:ea typeface="メイリオ" panose="020B0604030504040204" pitchFamily="50" charset="-128"/>
              </a:rPr>
              <a:t>FAQ Bot</a:t>
            </a:r>
          </a:p>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経費精算の領収書</a:t>
            </a:r>
            <a:r>
              <a:rPr lang="en-US" altLang="ja-JP" sz="1200">
                <a:latin typeface="メイリオ" panose="020B0604030504040204" pitchFamily="50" charset="-128"/>
                <a:ea typeface="メイリオ" panose="020B0604030504040204" pitchFamily="50" charset="-128"/>
              </a:rPr>
              <a:t>OCR</a:t>
            </a:r>
            <a:r>
              <a:rPr lang="ja-JP" altLang="en-US" sz="1200">
                <a:latin typeface="メイリオ" panose="020B0604030504040204" pitchFamily="50" charset="-128"/>
                <a:ea typeface="メイリオ" panose="020B0604030504040204" pitchFamily="50" charset="-128"/>
              </a:rPr>
              <a:t>＆自動入力</a:t>
            </a:r>
            <a:endParaRPr lang="en-US" altLang="ja-JP" sz="1200">
              <a:latin typeface="メイリオ" panose="020B0604030504040204" pitchFamily="50" charset="-128"/>
              <a:ea typeface="メイリオ" panose="020B0604030504040204" pitchFamily="50" charset="-128"/>
            </a:endParaRPr>
          </a:p>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新入社員オンボーディング自動チェックリスト</a:t>
            </a:r>
            <a:endParaRPr kumimoji="1" lang="en-US" altLang="ja-JP" sz="1200">
              <a:latin typeface="メイリオ" panose="020B0604030504040204" pitchFamily="50" charset="-128"/>
              <a:ea typeface="メイリオ" panose="020B0604030504040204" pitchFamily="50" charset="-128"/>
            </a:endParaRPr>
          </a:p>
        </p:txBody>
      </p:sp>
      <p:sp>
        <p:nvSpPr>
          <p:cNvPr id="15" name="正方形/長方形 14">
            <a:extLst>
              <a:ext uri="{FF2B5EF4-FFF2-40B4-BE49-F238E27FC236}">
                <a16:creationId xmlns:a16="http://schemas.microsoft.com/office/drawing/2014/main" id="{B3F09396-101F-C6A8-AF15-3BCA9486FA43}"/>
              </a:ext>
            </a:extLst>
          </p:cNvPr>
          <p:cNvSpPr/>
          <p:nvPr/>
        </p:nvSpPr>
        <p:spPr>
          <a:xfrm>
            <a:off x="4929341" y="2013535"/>
            <a:ext cx="2329185" cy="2108672"/>
          </a:xfrm>
          <a:prstGeom prst="rect">
            <a:avLst/>
          </a:prstGeom>
          <a:no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963E1A56-0811-DE5F-3854-68BA0E9922F8}"/>
              </a:ext>
            </a:extLst>
          </p:cNvPr>
          <p:cNvSpPr/>
          <p:nvPr/>
        </p:nvSpPr>
        <p:spPr>
          <a:xfrm>
            <a:off x="7360872" y="1673132"/>
            <a:ext cx="2329185" cy="340403"/>
          </a:xfrm>
          <a:prstGeom prst="rect">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600">
                <a:latin typeface="メイリオ" panose="020B0604030504040204" pitchFamily="50" charset="-128"/>
                <a:ea typeface="メイリオ" panose="020B0604030504040204" pitchFamily="50" charset="-128"/>
              </a:rPr>
              <a:t>コミュニケーション</a:t>
            </a:r>
            <a:endParaRPr kumimoji="1" lang="ja-JP" altLang="en-US" sz="1600">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07DE7628-DB04-07C4-2623-27F1AAABEFA9}"/>
              </a:ext>
            </a:extLst>
          </p:cNvPr>
          <p:cNvSpPr txBox="1"/>
          <p:nvPr/>
        </p:nvSpPr>
        <p:spPr>
          <a:xfrm>
            <a:off x="7356585" y="2073010"/>
            <a:ext cx="2329186" cy="1731243"/>
          </a:xfrm>
          <a:prstGeom prst="rect">
            <a:avLst/>
          </a:prstGeom>
          <a:noFill/>
        </p:spPr>
        <p:txBody>
          <a:bodyPr wrap="square" rtlCol="0">
            <a:spAutoFit/>
          </a:bodyPr>
          <a:lstStyle/>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会議議事録の自動要約＆アクションアイテム抽出</a:t>
            </a:r>
            <a:endParaRPr lang="en-US" altLang="ja-JP" sz="1200">
              <a:latin typeface="メイリオ" panose="020B0604030504040204" pitchFamily="50" charset="-128"/>
              <a:ea typeface="メイリオ" panose="020B0604030504040204" pitchFamily="50" charset="-128"/>
            </a:endParaRPr>
          </a:p>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障害発生時の全チャネル一斉通知</a:t>
            </a:r>
            <a:endParaRPr lang="en-US" altLang="ja-JP" sz="1200">
              <a:latin typeface="メイリオ" panose="020B0604030504040204" pitchFamily="50" charset="-128"/>
              <a:ea typeface="メイリオ" panose="020B0604030504040204" pitchFamily="50" charset="-128"/>
            </a:endParaRPr>
          </a:p>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音声メモの文字起こし＆要約配信</a:t>
            </a:r>
            <a:endParaRPr kumimoji="1" lang="en-US" altLang="ja-JP" sz="1200">
              <a:latin typeface="メイリオ" panose="020B0604030504040204" pitchFamily="50" charset="-128"/>
              <a:ea typeface="メイリオ" panose="020B0604030504040204" pitchFamily="50" charset="-128"/>
            </a:endParaRPr>
          </a:p>
        </p:txBody>
      </p:sp>
      <p:sp>
        <p:nvSpPr>
          <p:cNvPr id="19" name="正方形/長方形 18">
            <a:extLst>
              <a:ext uri="{FF2B5EF4-FFF2-40B4-BE49-F238E27FC236}">
                <a16:creationId xmlns:a16="http://schemas.microsoft.com/office/drawing/2014/main" id="{C4A26004-E79E-7B34-9F0C-710EBB86C624}"/>
              </a:ext>
            </a:extLst>
          </p:cNvPr>
          <p:cNvSpPr/>
          <p:nvPr/>
        </p:nvSpPr>
        <p:spPr>
          <a:xfrm>
            <a:off x="7360872" y="2013535"/>
            <a:ext cx="2329185" cy="2108672"/>
          </a:xfrm>
          <a:prstGeom prst="rect">
            <a:avLst/>
          </a:prstGeom>
          <a:no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21" name="正方形/長方形 20">
            <a:extLst>
              <a:ext uri="{FF2B5EF4-FFF2-40B4-BE49-F238E27FC236}">
                <a16:creationId xmlns:a16="http://schemas.microsoft.com/office/drawing/2014/main" id="{CD13A616-4FD7-9CEA-68C0-B71794268920}"/>
              </a:ext>
            </a:extLst>
          </p:cNvPr>
          <p:cNvSpPr/>
          <p:nvPr/>
        </p:nvSpPr>
        <p:spPr>
          <a:xfrm>
            <a:off x="9796613" y="1673132"/>
            <a:ext cx="2329185" cy="340403"/>
          </a:xfrm>
          <a:prstGeom prst="rect">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a:latin typeface="メイリオ" panose="020B0604030504040204" pitchFamily="50" charset="-128"/>
                <a:ea typeface="メイリオ" panose="020B0604030504040204" pitchFamily="50" charset="-128"/>
              </a:rPr>
              <a:t>Web</a:t>
            </a:r>
            <a:r>
              <a:rPr lang="ja-JP" altLang="en-US" sz="1200">
                <a:latin typeface="メイリオ" panose="020B0604030504040204" pitchFamily="50" charset="-128"/>
                <a:ea typeface="メイリオ" panose="020B0604030504040204" pitchFamily="50" charset="-128"/>
              </a:rPr>
              <a:t>操作・スクレイピング</a:t>
            </a:r>
            <a:endParaRPr kumimoji="1" lang="ja-JP" altLang="en-US" sz="1200">
              <a:latin typeface="メイリオ" panose="020B0604030504040204" pitchFamily="50" charset="-128"/>
              <a:ea typeface="メイリオ" panose="020B0604030504040204" pitchFamily="50" charset="-128"/>
            </a:endParaRPr>
          </a:p>
        </p:txBody>
      </p:sp>
      <p:sp>
        <p:nvSpPr>
          <p:cNvPr id="22" name="テキスト ボックス 21">
            <a:extLst>
              <a:ext uri="{FF2B5EF4-FFF2-40B4-BE49-F238E27FC236}">
                <a16:creationId xmlns:a16="http://schemas.microsoft.com/office/drawing/2014/main" id="{D236ABE6-FFEB-A767-53D9-5F223DB3D8A1}"/>
              </a:ext>
            </a:extLst>
          </p:cNvPr>
          <p:cNvSpPr txBox="1"/>
          <p:nvPr/>
        </p:nvSpPr>
        <p:spPr>
          <a:xfrm>
            <a:off x="9792326" y="2073010"/>
            <a:ext cx="2329186" cy="1454244"/>
          </a:xfrm>
          <a:prstGeom prst="rect">
            <a:avLst/>
          </a:prstGeom>
          <a:noFill/>
        </p:spPr>
        <p:txBody>
          <a:bodyPr wrap="square" rtlCol="0">
            <a:spAutoFit/>
          </a:bodyPr>
          <a:lstStyle/>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官公庁の入札情報自動収集＆フィルタリング</a:t>
            </a:r>
            <a:endParaRPr lang="en-US" altLang="ja-JP" sz="1200">
              <a:latin typeface="メイリオ" panose="020B0604030504040204" pitchFamily="50" charset="-128"/>
              <a:ea typeface="メイリオ" panose="020B0604030504040204" pitchFamily="50" charset="-128"/>
            </a:endParaRPr>
          </a:p>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自社サイトのリンク切れ・表示崩れ自動検知</a:t>
            </a:r>
            <a:endParaRPr lang="en-US" altLang="ja-JP" sz="1200">
              <a:latin typeface="メイリオ" panose="020B0604030504040204" pitchFamily="50" charset="-128"/>
              <a:ea typeface="メイリオ" panose="020B0604030504040204" pitchFamily="50" charset="-128"/>
            </a:endParaRPr>
          </a:p>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複数求人媒体への同時掲載</a:t>
            </a:r>
            <a:endParaRPr kumimoji="1" lang="en-US" altLang="ja-JP" sz="1200">
              <a:latin typeface="メイリオ" panose="020B0604030504040204" pitchFamily="50" charset="-128"/>
              <a:ea typeface="メイリオ" panose="020B0604030504040204" pitchFamily="50" charset="-128"/>
            </a:endParaRPr>
          </a:p>
        </p:txBody>
      </p:sp>
      <p:sp>
        <p:nvSpPr>
          <p:cNvPr id="23" name="正方形/長方形 22">
            <a:extLst>
              <a:ext uri="{FF2B5EF4-FFF2-40B4-BE49-F238E27FC236}">
                <a16:creationId xmlns:a16="http://schemas.microsoft.com/office/drawing/2014/main" id="{CA6CD9D3-886E-1188-6DDB-96E88FCD0243}"/>
              </a:ext>
            </a:extLst>
          </p:cNvPr>
          <p:cNvSpPr/>
          <p:nvPr/>
        </p:nvSpPr>
        <p:spPr>
          <a:xfrm>
            <a:off x="9796613" y="2013535"/>
            <a:ext cx="2329185" cy="2108672"/>
          </a:xfrm>
          <a:prstGeom prst="rect">
            <a:avLst/>
          </a:prstGeom>
          <a:no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26" name="正方形/長方形 25">
            <a:extLst>
              <a:ext uri="{FF2B5EF4-FFF2-40B4-BE49-F238E27FC236}">
                <a16:creationId xmlns:a16="http://schemas.microsoft.com/office/drawing/2014/main" id="{CCE7ADDD-FDD5-8501-B45E-DCD9BD4A238D}"/>
              </a:ext>
            </a:extLst>
          </p:cNvPr>
          <p:cNvSpPr/>
          <p:nvPr/>
        </p:nvSpPr>
        <p:spPr>
          <a:xfrm>
            <a:off x="2495664" y="4275103"/>
            <a:ext cx="2329186" cy="340403"/>
          </a:xfrm>
          <a:prstGeom prst="rect">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600">
                <a:latin typeface="メイリオ" panose="020B0604030504040204" pitchFamily="50" charset="-128"/>
                <a:ea typeface="メイリオ" panose="020B0604030504040204" pitchFamily="50" charset="-128"/>
              </a:rPr>
              <a:t>営業・マーケ支援</a:t>
            </a:r>
            <a:endParaRPr kumimoji="1" lang="ja-JP" altLang="en-US" sz="1600">
              <a:latin typeface="メイリオ" panose="020B0604030504040204" pitchFamily="50" charset="-128"/>
              <a:ea typeface="メイリオ" panose="020B0604030504040204" pitchFamily="50" charset="-128"/>
            </a:endParaRPr>
          </a:p>
        </p:txBody>
      </p:sp>
      <p:sp>
        <p:nvSpPr>
          <p:cNvPr id="27" name="テキスト ボックス 26">
            <a:extLst>
              <a:ext uri="{FF2B5EF4-FFF2-40B4-BE49-F238E27FC236}">
                <a16:creationId xmlns:a16="http://schemas.microsoft.com/office/drawing/2014/main" id="{D0B18A97-E6D5-0AA7-74D8-FAF13D7FFDB2}"/>
              </a:ext>
            </a:extLst>
          </p:cNvPr>
          <p:cNvSpPr txBox="1"/>
          <p:nvPr/>
        </p:nvSpPr>
        <p:spPr>
          <a:xfrm>
            <a:off x="2491378" y="4674981"/>
            <a:ext cx="2329186" cy="1454244"/>
          </a:xfrm>
          <a:prstGeom prst="rect">
            <a:avLst/>
          </a:prstGeom>
          <a:noFill/>
        </p:spPr>
        <p:txBody>
          <a:bodyPr wrap="square" rtlCol="0">
            <a:spAutoFit/>
          </a:bodyPr>
          <a:lstStyle/>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商談前の企業リサーチ自動パッケージ</a:t>
            </a:r>
            <a:endParaRPr lang="en-US" altLang="ja-JP" sz="1200">
              <a:latin typeface="メイリオ" panose="020B0604030504040204" pitchFamily="50" charset="-128"/>
              <a:ea typeface="メイリオ" panose="020B0604030504040204" pitchFamily="50" charset="-128"/>
            </a:endParaRPr>
          </a:p>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顧客の解約予兆検知＆アラート</a:t>
            </a:r>
            <a:endParaRPr lang="en-US" altLang="ja-JP" sz="1200">
              <a:latin typeface="メイリオ" panose="020B0604030504040204" pitchFamily="50" charset="-128"/>
              <a:ea typeface="メイリオ" panose="020B0604030504040204" pitchFamily="50" charset="-128"/>
            </a:endParaRPr>
          </a:p>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展示会名刺の</a:t>
            </a:r>
            <a:r>
              <a:rPr lang="en-US" altLang="ja-JP" sz="1200">
                <a:latin typeface="メイリオ" panose="020B0604030504040204" pitchFamily="50" charset="-128"/>
                <a:ea typeface="メイリオ" panose="020B0604030504040204" pitchFamily="50" charset="-128"/>
              </a:rPr>
              <a:t>CRM</a:t>
            </a:r>
            <a:r>
              <a:rPr lang="ja-JP" altLang="en-US" sz="1200">
                <a:latin typeface="メイリオ" panose="020B0604030504040204" pitchFamily="50" charset="-128"/>
                <a:ea typeface="メイリオ" panose="020B0604030504040204" pitchFamily="50" charset="-128"/>
              </a:rPr>
              <a:t>一括登録</a:t>
            </a:r>
            <a:endParaRPr kumimoji="1" lang="en-US" altLang="ja-JP" sz="1200">
              <a:latin typeface="メイリオ" panose="020B0604030504040204" pitchFamily="50" charset="-128"/>
              <a:ea typeface="メイリオ" panose="020B0604030504040204" pitchFamily="50" charset="-128"/>
            </a:endParaRPr>
          </a:p>
        </p:txBody>
      </p:sp>
      <p:sp>
        <p:nvSpPr>
          <p:cNvPr id="28" name="正方形/長方形 27">
            <a:extLst>
              <a:ext uri="{FF2B5EF4-FFF2-40B4-BE49-F238E27FC236}">
                <a16:creationId xmlns:a16="http://schemas.microsoft.com/office/drawing/2014/main" id="{2745FE9D-5826-0887-D3A0-ADBF948F859D}"/>
              </a:ext>
            </a:extLst>
          </p:cNvPr>
          <p:cNvSpPr/>
          <p:nvPr/>
        </p:nvSpPr>
        <p:spPr>
          <a:xfrm>
            <a:off x="2495665" y="4615506"/>
            <a:ext cx="2329185" cy="2108672"/>
          </a:xfrm>
          <a:prstGeom prst="rect">
            <a:avLst/>
          </a:prstGeom>
          <a:no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29" name="正方形/長方形 28">
            <a:extLst>
              <a:ext uri="{FF2B5EF4-FFF2-40B4-BE49-F238E27FC236}">
                <a16:creationId xmlns:a16="http://schemas.microsoft.com/office/drawing/2014/main" id="{038919E7-179D-8CC9-52EC-3DAADFE75057}"/>
              </a:ext>
            </a:extLst>
          </p:cNvPr>
          <p:cNvSpPr/>
          <p:nvPr/>
        </p:nvSpPr>
        <p:spPr>
          <a:xfrm>
            <a:off x="64134" y="4275103"/>
            <a:ext cx="2329185" cy="340403"/>
          </a:xfrm>
          <a:prstGeom prst="rect">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600">
                <a:latin typeface="メイリオ" panose="020B0604030504040204" pitchFamily="50" charset="-128"/>
                <a:ea typeface="メイリオ" panose="020B0604030504040204" pitchFamily="50" charset="-128"/>
              </a:rPr>
              <a:t>IoT</a:t>
            </a:r>
            <a:r>
              <a:rPr lang="ja-JP" altLang="en-US" sz="1600">
                <a:latin typeface="メイリオ" panose="020B0604030504040204" pitchFamily="50" charset="-128"/>
                <a:ea typeface="メイリオ" panose="020B0604030504040204" pitchFamily="50" charset="-128"/>
              </a:rPr>
              <a:t>・デバイス連携</a:t>
            </a:r>
            <a:endParaRPr kumimoji="1" lang="ja-JP" altLang="en-US" sz="1600">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49B309BF-F3B8-4DCA-773A-9FD459E8E56F}"/>
              </a:ext>
            </a:extLst>
          </p:cNvPr>
          <p:cNvSpPr txBox="1"/>
          <p:nvPr/>
        </p:nvSpPr>
        <p:spPr>
          <a:xfrm>
            <a:off x="59847" y="4674981"/>
            <a:ext cx="2329186" cy="1177245"/>
          </a:xfrm>
          <a:prstGeom prst="rect">
            <a:avLst/>
          </a:prstGeom>
          <a:noFill/>
        </p:spPr>
        <p:txBody>
          <a:bodyPr wrap="square" rtlCol="0">
            <a:spAutoFit/>
          </a:bodyPr>
          <a:lstStyle/>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ホワイトボード定期撮影＆</a:t>
            </a:r>
            <a:r>
              <a:rPr lang="en-US" altLang="ja-JP" sz="1200">
                <a:latin typeface="メイリオ" panose="020B0604030504040204" pitchFamily="50" charset="-128"/>
                <a:ea typeface="メイリオ" panose="020B0604030504040204" pitchFamily="50" charset="-128"/>
              </a:rPr>
              <a:t>OCR</a:t>
            </a:r>
            <a:r>
              <a:rPr lang="ja-JP" altLang="en-US" sz="1200">
                <a:latin typeface="メイリオ" panose="020B0604030504040204" pitchFamily="50" charset="-128"/>
                <a:ea typeface="メイリオ" panose="020B0604030504040204" pitchFamily="50" charset="-128"/>
              </a:rPr>
              <a:t>議事録化</a:t>
            </a:r>
            <a:endParaRPr lang="en-US" altLang="ja-JP" sz="1200">
              <a:latin typeface="メイリオ" panose="020B0604030504040204" pitchFamily="50" charset="-128"/>
              <a:ea typeface="メイリオ" panose="020B0604030504040204" pitchFamily="50" charset="-128"/>
            </a:endParaRPr>
          </a:p>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現場写真の自動報告書生成</a:t>
            </a:r>
            <a:endParaRPr lang="en-US" altLang="ja-JP" sz="1200">
              <a:latin typeface="メイリオ" panose="020B0604030504040204" pitchFamily="50" charset="-128"/>
              <a:ea typeface="メイリオ" panose="020B0604030504040204" pitchFamily="50" charset="-128"/>
            </a:endParaRPr>
          </a:p>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店舗の陳列状態チェック</a:t>
            </a:r>
            <a:endParaRPr kumimoji="1" lang="en-US" altLang="ja-JP" sz="1200">
              <a:latin typeface="メイリオ" panose="020B0604030504040204" pitchFamily="50" charset="-128"/>
              <a:ea typeface="メイリオ" panose="020B0604030504040204" pitchFamily="50" charset="-128"/>
            </a:endParaRPr>
          </a:p>
        </p:txBody>
      </p:sp>
      <p:sp>
        <p:nvSpPr>
          <p:cNvPr id="31" name="正方形/長方形 30">
            <a:extLst>
              <a:ext uri="{FF2B5EF4-FFF2-40B4-BE49-F238E27FC236}">
                <a16:creationId xmlns:a16="http://schemas.microsoft.com/office/drawing/2014/main" id="{E71B211F-07BB-EE29-64A1-7FFAF43ED318}"/>
              </a:ext>
            </a:extLst>
          </p:cNvPr>
          <p:cNvSpPr/>
          <p:nvPr/>
        </p:nvSpPr>
        <p:spPr>
          <a:xfrm>
            <a:off x="64134" y="4615506"/>
            <a:ext cx="2329185" cy="2108672"/>
          </a:xfrm>
          <a:prstGeom prst="rect">
            <a:avLst/>
          </a:prstGeom>
          <a:no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4843D99C-DB8D-C84D-DB50-4D932D8F9B5A}"/>
              </a:ext>
            </a:extLst>
          </p:cNvPr>
          <p:cNvSpPr/>
          <p:nvPr/>
        </p:nvSpPr>
        <p:spPr>
          <a:xfrm>
            <a:off x="4922987" y="4275103"/>
            <a:ext cx="2329185" cy="340403"/>
          </a:xfrm>
          <a:prstGeom prst="rect">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latin typeface="メイリオ" panose="020B0604030504040204" pitchFamily="50" charset="-128"/>
                <a:ea typeface="メイリオ" panose="020B0604030504040204" pitchFamily="50" charset="-128"/>
              </a:rPr>
              <a:t>セキュリティ・運用監視</a:t>
            </a:r>
            <a:endParaRPr kumimoji="1" lang="ja-JP" altLang="en-US" sz="1400">
              <a:latin typeface="メイリオ" panose="020B0604030504040204" pitchFamily="50" charset="-128"/>
              <a:ea typeface="メイリオ" panose="020B0604030504040204" pitchFamily="50" charset="-128"/>
            </a:endParaRPr>
          </a:p>
        </p:txBody>
      </p:sp>
      <p:sp>
        <p:nvSpPr>
          <p:cNvPr id="33" name="テキスト ボックス 32">
            <a:extLst>
              <a:ext uri="{FF2B5EF4-FFF2-40B4-BE49-F238E27FC236}">
                <a16:creationId xmlns:a16="http://schemas.microsoft.com/office/drawing/2014/main" id="{AFFEF8C3-8E37-FB6B-5390-BA25915D4C29}"/>
              </a:ext>
            </a:extLst>
          </p:cNvPr>
          <p:cNvSpPr txBox="1"/>
          <p:nvPr/>
        </p:nvSpPr>
        <p:spPr>
          <a:xfrm>
            <a:off x="4918700" y="4674981"/>
            <a:ext cx="2329185" cy="1731243"/>
          </a:xfrm>
          <a:prstGeom prst="rect">
            <a:avLst/>
          </a:prstGeom>
          <a:noFill/>
        </p:spPr>
        <p:txBody>
          <a:bodyPr wrap="square" rtlCol="0">
            <a:spAutoFit/>
          </a:bodyPr>
          <a:lstStyle/>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サーバーログ異常パターン検知＆通知</a:t>
            </a:r>
            <a:endParaRPr lang="en-US" altLang="ja-JP" sz="1200">
              <a:latin typeface="メイリオ" panose="020B0604030504040204" pitchFamily="50" charset="-128"/>
              <a:ea typeface="メイリオ" panose="020B0604030504040204" pitchFamily="50" charset="-128"/>
            </a:endParaRPr>
          </a:p>
          <a:p>
            <a:pPr marL="171450" indent="-171450">
              <a:lnSpc>
                <a:spcPct val="150000"/>
              </a:lnSpc>
              <a:buFont typeface="Arial" panose="020B0604020202020204" pitchFamily="34" charset="0"/>
              <a:buChar char="•"/>
            </a:pPr>
            <a:r>
              <a:rPr lang="en-US" altLang="ja-JP" sz="1200">
                <a:latin typeface="メイリオ" panose="020B0604030504040204" pitchFamily="50" charset="-128"/>
                <a:ea typeface="メイリオ" panose="020B0604030504040204" pitchFamily="50" charset="-128"/>
              </a:rPr>
              <a:t>SSL</a:t>
            </a:r>
            <a:r>
              <a:rPr lang="ja-JP" altLang="en-US" sz="1200">
                <a:latin typeface="メイリオ" panose="020B0604030504040204" pitchFamily="50" charset="-128"/>
                <a:ea typeface="メイリオ" panose="020B0604030504040204" pitchFamily="50" charset="-128"/>
              </a:rPr>
              <a:t>証明書期限監視＆段階アラート</a:t>
            </a:r>
            <a:endParaRPr lang="en-US" altLang="ja-JP" sz="1200">
              <a:latin typeface="メイリオ" panose="020B0604030504040204" pitchFamily="50" charset="-128"/>
              <a:ea typeface="メイリオ" panose="020B0604030504040204" pitchFamily="50" charset="-128"/>
            </a:endParaRPr>
          </a:p>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クラウドリソースのコスト異常検知</a:t>
            </a:r>
            <a:endParaRPr kumimoji="1" lang="en-US" altLang="ja-JP" sz="1200">
              <a:latin typeface="メイリオ" panose="020B0604030504040204" pitchFamily="50" charset="-128"/>
              <a:ea typeface="メイリオ" panose="020B0604030504040204" pitchFamily="50" charset="-128"/>
            </a:endParaRPr>
          </a:p>
        </p:txBody>
      </p:sp>
      <p:sp>
        <p:nvSpPr>
          <p:cNvPr id="34" name="正方形/長方形 33">
            <a:extLst>
              <a:ext uri="{FF2B5EF4-FFF2-40B4-BE49-F238E27FC236}">
                <a16:creationId xmlns:a16="http://schemas.microsoft.com/office/drawing/2014/main" id="{243CB046-B0A4-EAD9-A2E2-E726F15B67A3}"/>
              </a:ext>
            </a:extLst>
          </p:cNvPr>
          <p:cNvSpPr/>
          <p:nvPr/>
        </p:nvSpPr>
        <p:spPr>
          <a:xfrm>
            <a:off x="4922987" y="4615506"/>
            <a:ext cx="2329185" cy="2108672"/>
          </a:xfrm>
          <a:prstGeom prst="rect">
            <a:avLst/>
          </a:prstGeom>
          <a:no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35" name="正方形/長方形 34">
            <a:extLst>
              <a:ext uri="{FF2B5EF4-FFF2-40B4-BE49-F238E27FC236}">
                <a16:creationId xmlns:a16="http://schemas.microsoft.com/office/drawing/2014/main" id="{A92F9711-434A-A014-4AB2-9CA804AFAE3E}"/>
              </a:ext>
            </a:extLst>
          </p:cNvPr>
          <p:cNvSpPr/>
          <p:nvPr/>
        </p:nvSpPr>
        <p:spPr>
          <a:xfrm>
            <a:off x="7354518" y="4275103"/>
            <a:ext cx="2329185" cy="340403"/>
          </a:xfrm>
          <a:prstGeom prst="rect">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600">
                <a:latin typeface="メイリオ" panose="020B0604030504040204" pitchFamily="50" charset="-128"/>
                <a:ea typeface="メイリオ" panose="020B0604030504040204" pitchFamily="50" charset="-128"/>
              </a:rPr>
              <a:t>コンテンツ制作</a:t>
            </a:r>
            <a:endParaRPr kumimoji="1" lang="ja-JP" altLang="en-US" sz="1600">
              <a:latin typeface="メイリオ" panose="020B0604030504040204" pitchFamily="50" charset="-128"/>
              <a:ea typeface="メイリオ" panose="020B0604030504040204" pitchFamily="50" charset="-128"/>
            </a:endParaRPr>
          </a:p>
        </p:txBody>
      </p:sp>
      <p:sp>
        <p:nvSpPr>
          <p:cNvPr id="36" name="テキスト ボックス 35">
            <a:extLst>
              <a:ext uri="{FF2B5EF4-FFF2-40B4-BE49-F238E27FC236}">
                <a16:creationId xmlns:a16="http://schemas.microsoft.com/office/drawing/2014/main" id="{C3D59A81-3411-F6DE-60F9-CA175C59C7C4}"/>
              </a:ext>
            </a:extLst>
          </p:cNvPr>
          <p:cNvSpPr txBox="1"/>
          <p:nvPr/>
        </p:nvSpPr>
        <p:spPr>
          <a:xfrm>
            <a:off x="7350231" y="4674981"/>
            <a:ext cx="2329186" cy="1731243"/>
          </a:xfrm>
          <a:prstGeom prst="rect">
            <a:avLst/>
          </a:prstGeom>
          <a:noFill/>
        </p:spPr>
        <p:txBody>
          <a:bodyPr wrap="square" rtlCol="0">
            <a:spAutoFit/>
          </a:bodyPr>
          <a:lstStyle/>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プレゼン資料の構成案＆素材収集</a:t>
            </a:r>
            <a:endParaRPr lang="en-US" altLang="ja-JP" sz="1200">
              <a:latin typeface="メイリオ" panose="020B0604030504040204" pitchFamily="50" charset="-128"/>
              <a:ea typeface="メイリオ" panose="020B0604030504040204" pitchFamily="50" charset="-128"/>
            </a:endParaRPr>
          </a:p>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動画台本＆ナレーション音声の一括生成</a:t>
            </a:r>
            <a:endParaRPr lang="en-US" altLang="ja-JP" sz="1200">
              <a:latin typeface="メイリオ" panose="020B0604030504040204" pitchFamily="50" charset="-128"/>
              <a:ea typeface="メイリオ" panose="020B0604030504040204" pitchFamily="50" charset="-128"/>
            </a:endParaRPr>
          </a:p>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多言語コンテンツの並列ローカライズ</a:t>
            </a:r>
            <a:endParaRPr kumimoji="1" lang="en-US" altLang="ja-JP" sz="1200">
              <a:latin typeface="メイリオ" panose="020B0604030504040204" pitchFamily="50" charset="-128"/>
              <a:ea typeface="メイリオ" panose="020B0604030504040204" pitchFamily="50" charset="-128"/>
            </a:endParaRPr>
          </a:p>
        </p:txBody>
      </p:sp>
      <p:sp>
        <p:nvSpPr>
          <p:cNvPr id="37" name="正方形/長方形 36">
            <a:extLst>
              <a:ext uri="{FF2B5EF4-FFF2-40B4-BE49-F238E27FC236}">
                <a16:creationId xmlns:a16="http://schemas.microsoft.com/office/drawing/2014/main" id="{7E5D3249-C1C0-E59F-B8FA-5C09CD3B6876}"/>
              </a:ext>
            </a:extLst>
          </p:cNvPr>
          <p:cNvSpPr/>
          <p:nvPr/>
        </p:nvSpPr>
        <p:spPr>
          <a:xfrm>
            <a:off x="7354518" y="4615506"/>
            <a:ext cx="2329185" cy="2108672"/>
          </a:xfrm>
          <a:prstGeom prst="rect">
            <a:avLst/>
          </a:prstGeom>
          <a:no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38" name="正方形/長方形 37">
            <a:extLst>
              <a:ext uri="{FF2B5EF4-FFF2-40B4-BE49-F238E27FC236}">
                <a16:creationId xmlns:a16="http://schemas.microsoft.com/office/drawing/2014/main" id="{6DCF1029-6A89-FEE3-E360-C2C6040917D6}"/>
              </a:ext>
            </a:extLst>
          </p:cNvPr>
          <p:cNvSpPr/>
          <p:nvPr/>
        </p:nvSpPr>
        <p:spPr>
          <a:xfrm>
            <a:off x="9790259" y="4275103"/>
            <a:ext cx="2329185" cy="340403"/>
          </a:xfrm>
          <a:prstGeom prst="rect">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600">
                <a:latin typeface="メイリオ" panose="020B0604030504040204" pitchFamily="50" charset="-128"/>
                <a:ea typeface="メイリオ" panose="020B0604030504040204" pitchFamily="50" charset="-128"/>
              </a:rPr>
              <a:t>開発・</a:t>
            </a:r>
            <a:r>
              <a:rPr lang="en-US" altLang="ja-JP" sz="1600">
                <a:latin typeface="メイリオ" panose="020B0604030504040204" pitchFamily="50" charset="-128"/>
                <a:ea typeface="メイリオ" panose="020B0604030504040204" pitchFamily="50" charset="-128"/>
              </a:rPr>
              <a:t>DevOps</a:t>
            </a:r>
            <a:endParaRPr kumimoji="1" lang="ja-JP" altLang="en-US" sz="1600">
              <a:latin typeface="メイリオ" panose="020B0604030504040204" pitchFamily="50" charset="-128"/>
              <a:ea typeface="メイリオ" panose="020B0604030504040204" pitchFamily="50" charset="-128"/>
            </a:endParaRPr>
          </a:p>
        </p:txBody>
      </p:sp>
      <p:sp>
        <p:nvSpPr>
          <p:cNvPr id="39" name="テキスト ボックス 38">
            <a:extLst>
              <a:ext uri="{FF2B5EF4-FFF2-40B4-BE49-F238E27FC236}">
                <a16:creationId xmlns:a16="http://schemas.microsoft.com/office/drawing/2014/main" id="{5702D217-210D-7CF8-EFAD-F9BA76AB2646}"/>
              </a:ext>
            </a:extLst>
          </p:cNvPr>
          <p:cNvSpPr txBox="1"/>
          <p:nvPr/>
        </p:nvSpPr>
        <p:spPr>
          <a:xfrm>
            <a:off x="9785972" y="4674981"/>
            <a:ext cx="2329186" cy="1731243"/>
          </a:xfrm>
          <a:prstGeom prst="rect">
            <a:avLst/>
          </a:prstGeom>
          <a:noFill/>
        </p:spPr>
        <p:txBody>
          <a:bodyPr wrap="square" rtlCol="0">
            <a:spAutoFit/>
          </a:bodyPr>
          <a:lstStyle/>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ドキュメントの自動更新検知＆</a:t>
            </a:r>
            <a:r>
              <a:rPr lang="en-US" altLang="ja-JP" sz="1200">
                <a:latin typeface="メイリオ" panose="020B0604030504040204" pitchFamily="50" charset="-128"/>
                <a:ea typeface="メイリオ" panose="020B0604030504040204" pitchFamily="50" charset="-128"/>
              </a:rPr>
              <a:t>Changelog</a:t>
            </a:r>
            <a:r>
              <a:rPr lang="ja-JP" altLang="en-US" sz="1200">
                <a:latin typeface="メイリオ" panose="020B0604030504040204" pitchFamily="50" charset="-128"/>
                <a:ea typeface="メイリオ" panose="020B0604030504040204" pitchFamily="50" charset="-128"/>
              </a:rPr>
              <a:t>生成</a:t>
            </a:r>
            <a:endParaRPr lang="en-US" altLang="ja-JP" sz="1200">
              <a:latin typeface="メイリオ" panose="020B0604030504040204" pitchFamily="50" charset="-128"/>
              <a:ea typeface="メイリオ" panose="020B0604030504040204" pitchFamily="50" charset="-128"/>
            </a:endParaRPr>
          </a:p>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技術負債の定期スキャン＆レポート</a:t>
            </a:r>
            <a:endParaRPr lang="en-US" altLang="ja-JP" sz="1200">
              <a:latin typeface="メイリオ" panose="020B0604030504040204" pitchFamily="50" charset="-128"/>
              <a:ea typeface="メイリオ" panose="020B0604030504040204" pitchFamily="50" charset="-128"/>
            </a:endParaRPr>
          </a:p>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本番デプロイ後のスモークテスト</a:t>
            </a:r>
            <a:endParaRPr kumimoji="1" lang="en-US" altLang="ja-JP" sz="1200">
              <a:latin typeface="メイリオ" panose="020B0604030504040204" pitchFamily="50" charset="-128"/>
              <a:ea typeface="メイリオ" panose="020B0604030504040204" pitchFamily="50" charset="-128"/>
            </a:endParaRPr>
          </a:p>
        </p:txBody>
      </p:sp>
      <p:sp>
        <p:nvSpPr>
          <p:cNvPr id="40" name="正方形/長方形 39">
            <a:extLst>
              <a:ext uri="{FF2B5EF4-FFF2-40B4-BE49-F238E27FC236}">
                <a16:creationId xmlns:a16="http://schemas.microsoft.com/office/drawing/2014/main" id="{64BB39ED-4766-0227-9D25-8E4003FC521D}"/>
              </a:ext>
            </a:extLst>
          </p:cNvPr>
          <p:cNvSpPr/>
          <p:nvPr/>
        </p:nvSpPr>
        <p:spPr>
          <a:xfrm>
            <a:off x="9790259" y="4615506"/>
            <a:ext cx="2329185" cy="2108672"/>
          </a:xfrm>
          <a:prstGeom prst="rect">
            <a:avLst/>
          </a:prstGeom>
          <a:no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8585647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8E6E3F-598C-75F5-2523-9F1193EC9337}"/>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A5C389BD-5F73-D4E0-FA57-3E5811BBDAEA}"/>
              </a:ext>
            </a:extLst>
          </p:cNvPr>
          <p:cNvSpPr txBox="1"/>
          <p:nvPr/>
        </p:nvSpPr>
        <p:spPr>
          <a:xfrm>
            <a:off x="443466" y="317212"/>
            <a:ext cx="11215133" cy="584775"/>
          </a:xfrm>
          <a:prstGeom prst="rect">
            <a:avLst/>
          </a:prstGeom>
          <a:noFill/>
        </p:spPr>
        <p:txBody>
          <a:bodyPr wrap="square" rtlCol="0">
            <a:spAutoFit/>
          </a:bodyPr>
          <a:lstStyle/>
          <a:p>
            <a:r>
              <a:rPr lang="en-US" altLang="ja-JP" sz="3200" b="1">
                <a:latin typeface="メイリオ" panose="020B0604030504040204" pitchFamily="50" charset="-128"/>
                <a:ea typeface="メイリオ" panose="020B0604030504040204" pitchFamily="50" charset="-128"/>
              </a:rPr>
              <a:t>5.</a:t>
            </a:r>
            <a:r>
              <a:rPr lang="ja-JP" altLang="en-US" sz="3200" b="1">
                <a:latin typeface="メイリオ" panose="020B0604030504040204" pitchFamily="50" charset="-128"/>
                <a:ea typeface="メイリオ" panose="020B0604030504040204" pitchFamily="50" charset="-128"/>
              </a:rPr>
              <a:t>自律型</a:t>
            </a:r>
            <a:r>
              <a:rPr lang="en-US" altLang="ja-JP" sz="3200" b="1">
                <a:latin typeface="メイリオ" panose="020B0604030504040204" pitchFamily="50" charset="-128"/>
                <a:ea typeface="メイリオ" panose="020B0604030504040204" pitchFamily="50" charset="-128"/>
              </a:rPr>
              <a:t>AI</a:t>
            </a:r>
            <a:r>
              <a:rPr lang="ja-JP" altLang="en-US" sz="3200" b="1">
                <a:latin typeface="メイリオ" panose="020B0604030504040204" pitchFamily="50" charset="-128"/>
                <a:ea typeface="メイリオ" panose="020B0604030504040204" pitchFamily="50" charset="-128"/>
              </a:rPr>
              <a:t>は“判断する仕事”に手が届き始めた</a:t>
            </a:r>
            <a:endParaRPr kumimoji="1" lang="ja-JP" altLang="en-US" sz="3200" b="1">
              <a:latin typeface="メイリオ" panose="020B0604030504040204" pitchFamily="50" charset="-128"/>
              <a:ea typeface="メイリオ" panose="020B0604030504040204" pitchFamily="50" charset="-128"/>
            </a:endParaRPr>
          </a:p>
        </p:txBody>
      </p:sp>
      <p:sp>
        <p:nvSpPr>
          <p:cNvPr id="2" name="正方形/長方形 1">
            <a:extLst>
              <a:ext uri="{FF2B5EF4-FFF2-40B4-BE49-F238E27FC236}">
                <a16:creationId xmlns:a16="http://schemas.microsoft.com/office/drawing/2014/main" id="{34DD1D90-9A33-F73B-BE63-E3C5C23C7D96}"/>
              </a:ext>
            </a:extLst>
          </p:cNvPr>
          <p:cNvSpPr/>
          <p:nvPr/>
        </p:nvSpPr>
        <p:spPr>
          <a:xfrm>
            <a:off x="348874" y="1158125"/>
            <a:ext cx="3676589" cy="340403"/>
          </a:xfrm>
          <a:prstGeom prst="rect">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sz="1500" b="1">
                <a:solidFill>
                  <a:srgbClr val="FFFFFF"/>
                </a:solidFill>
                <a:latin typeface="メイリオ"/>
              </a:defRPr>
            </a:pPr>
            <a:r>
              <a:rPr lang="en-US" altLang="ja-JP" sz="1600">
                <a:latin typeface="メイリオ" panose="020B0604030504040204" pitchFamily="50" charset="-128"/>
                <a:ea typeface="メイリオ" panose="020B0604030504040204" pitchFamily="50" charset="-128"/>
              </a:rPr>
              <a:t>RPA</a:t>
            </a:r>
            <a:r>
              <a:rPr lang="ja-JP" altLang="en-US" sz="1600">
                <a:latin typeface="メイリオ" panose="020B0604030504040204" pitchFamily="50" charset="-128"/>
                <a:ea typeface="メイリオ" panose="020B0604030504040204" pitchFamily="50" charset="-128"/>
              </a:rPr>
              <a:t>の限界</a:t>
            </a:r>
          </a:p>
        </p:txBody>
      </p:sp>
      <p:sp>
        <p:nvSpPr>
          <p:cNvPr id="3" name="正方形/長方形 2">
            <a:extLst>
              <a:ext uri="{FF2B5EF4-FFF2-40B4-BE49-F238E27FC236}">
                <a16:creationId xmlns:a16="http://schemas.microsoft.com/office/drawing/2014/main" id="{58575368-F400-B2ED-14CC-672789E3E594}"/>
              </a:ext>
            </a:extLst>
          </p:cNvPr>
          <p:cNvSpPr/>
          <p:nvPr/>
        </p:nvSpPr>
        <p:spPr>
          <a:xfrm>
            <a:off x="348874" y="1498528"/>
            <a:ext cx="3676589" cy="5042260"/>
          </a:xfrm>
          <a:prstGeom prst="rect">
            <a:avLst/>
          </a:prstGeom>
          <a:no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CE86F425-1DEB-9C64-7041-95F96CA19F2B}"/>
              </a:ext>
            </a:extLst>
          </p:cNvPr>
          <p:cNvSpPr/>
          <p:nvPr/>
        </p:nvSpPr>
        <p:spPr>
          <a:xfrm>
            <a:off x="4257706" y="1158125"/>
            <a:ext cx="3676589" cy="340403"/>
          </a:xfrm>
          <a:prstGeom prst="rect">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sz="1500" b="1">
                <a:solidFill>
                  <a:srgbClr val="FFFFFF"/>
                </a:solidFill>
                <a:latin typeface="メイリオ"/>
              </a:defRPr>
            </a:pPr>
            <a:r>
              <a:rPr lang="en-US" altLang="ja-JP" sz="1600">
                <a:latin typeface="メイリオ" panose="020B0604030504040204" pitchFamily="50" charset="-128"/>
                <a:ea typeface="メイリオ" panose="020B0604030504040204" pitchFamily="50" charset="-128"/>
              </a:rPr>
              <a:t>OpenClaw</a:t>
            </a:r>
            <a:r>
              <a:rPr lang="ja-JP" altLang="en-US" sz="1600">
                <a:latin typeface="メイリオ" panose="020B0604030504040204" pitchFamily="50" charset="-128"/>
                <a:ea typeface="メイリオ" panose="020B0604030504040204" pitchFamily="50" charset="-128"/>
              </a:rPr>
              <a:t>が実証した</a:t>
            </a:r>
            <a:r>
              <a:rPr lang="en-US" altLang="ja-JP" sz="1600">
                <a:latin typeface="メイリオ" panose="020B0604030504040204" pitchFamily="50" charset="-128"/>
                <a:ea typeface="メイリオ" panose="020B0604030504040204" pitchFamily="50" charset="-128"/>
              </a:rPr>
              <a:t>3</a:t>
            </a:r>
            <a:r>
              <a:rPr lang="ja-JP" altLang="en-US" sz="1600">
                <a:latin typeface="メイリオ" panose="020B0604030504040204" pitchFamily="50" charset="-128"/>
                <a:ea typeface="メイリオ" panose="020B0604030504040204" pitchFamily="50" charset="-128"/>
              </a:rPr>
              <a:t>つの能力</a:t>
            </a:r>
          </a:p>
        </p:txBody>
      </p:sp>
      <p:sp>
        <p:nvSpPr>
          <p:cNvPr id="6" name="正方形/長方形 5">
            <a:extLst>
              <a:ext uri="{FF2B5EF4-FFF2-40B4-BE49-F238E27FC236}">
                <a16:creationId xmlns:a16="http://schemas.microsoft.com/office/drawing/2014/main" id="{444833CD-CA95-0742-8C06-9815B57A5C17}"/>
              </a:ext>
            </a:extLst>
          </p:cNvPr>
          <p:cNvSpPr/>
          <p:nvPr/>
        </p:nvSpPr>
        <p:spPr>
          <a:xfrm>
            <a:off x="4257706" y="1498528"/>
            <a:ext cx="3676589" cy="5042260"/>
          </a:xfrm>
          <a:prstGeom prst="rect">
            <a:avLst/>
          </a:prstGeom>
          <a:no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9983DDAB-1F22-E433-7F6A-5DB6A682F2E8}"/>
              </a:ext>
            </a:extLst>
          </p:cNvPr>
          <p:cNvSpPr/>
          <p:nvPr/>
        </p:nvSpPr>
        <p:spPr>
          <a:xfrm>
            <a:off x="8166538" y="1158125"/>
            <a:ext cx="3676589" cy="340403"/>
          </a:xfrm>
          <a:prstGeom prst="rect">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sz="1500" b="1">
                <a:solidFill>
                  <a:srgbClr val="FFFFFF"/>
                </a:solidFill>
                <a:latin typeface="メイリオ"/>
              </a:defRPr>
            </a:pPr>
            <a:r>
              <a:rPr lang="ja-JP" altLang="en-US" sz="1600">
                <a:latin typeface="メイリオ" panose="020B0604030504040204" pitchFamily="50" charset="-128"/>
                <a:ea typeface="メイリオ" panose="020B0604030504040204" pitchFamily="50" charset="-128"/>
              </a:rPr>
              <a:t>生成</a:t>
            </a:r>
            <a:r>
              <a:rPr lang="en-US" altLang="ja-JP" sz="1600">
                <a:latin typeface="メイリオ" panose="020B0604030504040204" pitchFamily="50" charset="-128"/>
                <a:ea typeface="メイリオ" panose="020B0604030504040204" pitchFamily="50" charset="-128"/>
              </a:rPr>
              <a:t>AI</a:t>
            </a:r>
            <a:r>
              <a:rPr lang="ja-JP" altLang="en-US" sz="1600">
                <a:latin typeface="メイリオ" panose="020B0604030504040204" pitchFamily="50" charset="-128"/>
                <a:ea typeface="メイリオ" panose="020B0604030504040204" pitchFamily="50" charset="-128"/>
              </a:rPr>
              <a:t>業界動向</a:t>
            </a:r>
          </a:p>
        </p:txBody>
      </p:sp>
      <p:sp>
        <p:nvSpPr>
          <p:cNvPr id="8" name="正方形/長方形 7">
            <a:extLst>
              <a:ext uri="{FF2B5EF4-FFF2-40B4-BE49-F238E27FC236}">
                <a16:creationId xmlns:a16="http://schemas.microsoft.com/office/drawing/2014/main" id="{7E4723E6-DC74-8008-1BA0-DF092296ED96}"/>
              </a:ext>
            </a:extLst>
          </p:cNvPr>
          <p:cNvSpPr/>
          <p:nvPr/>
        </p:nvSpPr>
        <p:spPr>
          <a:xfrm>
            <a:off x="8166538" y="1498528"/>
            <a:ext cx="3676589" cy="5042260"/>
          </a:xfrm>
          <a:prstGeom prst="rect">
            <a:avLst/>
          </a:prstGeom>
          <a:no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11" name="テキスト ボックス 10">
            <a:extLst>
              <a:ext uri="{FF2B5EF4-FFF2-40B4-BE49-F238E27FC236}">
                <a16:creationId xmlns:a16="http://schemas.microsoft.com/office/drawing/2014/main" id="{ED264FAC-B693-8C9D-4932-45F6AB0DDDF8}"/>
              </a:ext>
            </a:extLst>
          </p:cNvPr>
          <p:cNvSpPr txBox="1"/>
          <p:nvPr/>
        </p:nvSpPr>
        <p:spPr>
          <a:xfrm>
            <a:off x="348875" y="1657564"/>
            <a:ext cx="3676588" cy="1404231"/>
          </a:xfrm>
          <a:prstGeom prst="rect">
            <a:avLst/>
          </a:prstGeom>
          <a:noFill/>
        </p:spPr>
        <p:txBody>
          <a:bodyPr wrap="square" rtlCol="0">
            <a:spAutoFit/>
          </a:bodyPr>
          <a:lstStyle/>
          <a:p>
            <a:pPr>
              <a:lnSpc>
                <a:spcPct val="150000"/>
              </a:lnSpc>
            </a:pPr>
            <a:r>
              <a:rPr lang="en-US" altLang="ja-JP" sz="1600" b="1">
                <a:latin typeface="メイリオ" panose="020B0604030504040204" pitchFamily="50" charset="-128"/>
                <a:ea typeface="メイリオ" panose="020B0604030504040204" pitchFamily="50" charset="-128"/>
              </a:rPr>
              <a:t>RPA</a:t>
            </a:r>
            <a:r>
              <a:rPr lang="ja-JP" altLang="en-US" sz="1600" b="1">
                <a:latin typeface="メイリオ" panose="020B0604030504040204" pitchFamily="50" charset="-128"/>
                <a:ea typeface="メイリオ" panose="020B0604030504040204" pitchFamily="50" charset="-128"/>
              </a:rPr>
              <a:t>が置き換えたもの</a:t>
            </a:r>
          </a:p>
          <a:p>
            <a:pPr>
              <a:lnSpc>
                <a:spcPct val="150000"/>
              </a:lnSpc>
            </a:pPr>
            <a:r>
              <a:rPr lang="ja-JP" altLang="en-US" sz="1400">
                <a:latin typeface="メイリオ" panose="020B0604030504040204" pitchFamily="50" charset="-128"/>
                <a:ea typeface="メイリオ" panose="020B0604030504040204" pitchFamily="50" charset="-128"/>
              </a:rPr>
              <a:t>・簡単データ入力</a:t>
            </a:r>
          </a:p>
          <a:p>
            <a:pPr>
              <a:lnSpc>
                <a:spcPct val="150000"/>
              </a:lnSpc>
            </a:pPr>
            <a:r>
              <a:rPr lang="ja-JP" altLang="en-US" sz="1400">
                <a:latin typeface="メイリオ" panose="020B0604030504040204" pitchFamily="50" charset="-128"/>
                <a:ea typeface="メイリオ" panose="020B0604030504040204" pitchFamily="50" charset="-128"/>
              </a:rPr>
              <a:t>・アプリケーション操作</a:t>
            </a:r>
          </a:p>
          <a:p>
            <a:pPr>
              <a:lnSpc>
                <a:spcPct val="150000"/>
              </a:lnSpc>
            </a:pPr>
            <a:r>
              <a:rPr lang="ja-JP" altLang="en-US" sz="1400">
                <a:latin typeface="メイリオ" panose="020B0604030504040204" pitchFamily="50" charset="-128"/>
                <a:ea typeface="メイリオ" panose="020B0604030504040204" pitchFamily="50" charset="-128"/>
              </a:rPr>
              <a:t>→ 手順が決まった定型作業</a:t>
            </a:r>
            <a:endParaRPr lang="ja-JP" altLang="en-US" sz="1200">
              <a:latin typeface="メイリオ" panose="020B0604030504040204" pitchFamily="50" charset="-128"/>
              <a:ea typeface="メイリオ" panose="020B0604030504040204" pitchFamily="50" charset="-128"/>
            </a:endParaRPr>
          </a:p>
        </p:txBody>
      </p:sp>
      <p:sp>
        <p:nvSpPr>
          <p:cNvPr id="12" name="テキスト ボックス 11">
            <a:extLst>
              <a:ext uri="{FF2B5EF4-FFF2-40B4-BE49-F238E27FC236}">
                <a16:creationId xmlns:a16="http://schemas.microsoft.com/office/drawing/2014/main" id="{BF585F9C-22B5-66FB-6D53-61A89034EFC4}"/>
              </a:ext>
            </a:extLst>
          </p:cNvPr>
          <p:cNvSpPr txBox="1"/>
          <p:nvPr/>
        </p:nvSpPr>
        <p:spPr>
          <a:xfrm>
            <a:off x="348874" y="3679712"/>
            <a:ext cx="3676589" cy="1081065"/>
          </a:xfrm>
          <a:prstGeom prst="rect">
            <a:avLst/>
          </a:prstGeom>
          <a:noFill/>
        </p:spPr>
        <p:txBody>
          <a:bodyPr wrap="square" rtlCol="0">
            <a:spAutoFit/>
          </a:bodyPr>
          <a:lstStyle/>
          <a:p>
            <a:pPr>
              <a:lnSpc>
                <a:spcPct val="150000"/>
              </a:lnSpc>
            </a:pPr>
            <a:r>
              <a:rPr lang="ja-JP" altLang="en-US" sz="1600" b="1">
                <a:latin typeface="メイリオ" panose="020B0604030504040204" pitchFamily="50" charset="-128"/>
                <a:ea typeface="メイリオ" panose="020B0604030504040204" pitchFamily="50" charset="-128"/>
              </a:rPr>
              <a:t>自律型エージェントが置き換えるもの</a:t>
            </a:r>
          </a:p>
          <a:p>
            <a:pPr>
              <a:lnSpc>
                <a:spcPct val="150000"/>
              </a:lnSpc>
            </a:pPr>
            <a:r>
              <a:rPr lang="ja-JP" altLang="en-US" sz="1400">
                <a:latin typeface="メイリオ" panose="020B0604030504040204" pitchFamily="50" charset="-128"/>
                <a:ea typeface="メイリオ" panose="020B0604030504040204" pitchFamily="50" charset="-128"/>
              </a:rPr>
              <a:t>・状況を見て判断し、次のアクションを選ぶ業務</a:t>
            </a:r>
          </a:p>
        </p:txBody>
      </p:sp>
      <p:sp>
        <p:nvSpPr>
          <p:cNvPr id="13" name="テキスト ボックス 12">
            <a:extLst>
              <a:ext uri="{FF2B5EF4-FFF2-40B4-BE49-F238E27FC236}">
                <a16:creationId xmlns:a16="http://schemas.microsoft.com/office/drawing/2014/main" id="{D47899A0-50EA-0F9B-C3FE-D6D93B6A5F67}"/>
              </a:ext>
            </a:extLst>
          </p:cNvPr>
          <p:cNvSpPr txBox="1"/>
          <p:nvPr/>
        </p:nvSpPr>
        <p:spPr>
          <a:xfrm>
            <a:off x="348873" y="5034115"/>
            <a:ext cx="3676588" cy="757900"/>
          </a:xfrm>
          <a:prstGeom prst="rect">
            <a:avLst/>
          </a:prstGeom>
          <a:noFill/>
        </p:spPr>
        <p:txBody>
          <a:bodyPr wrap="square" rtlCol="0">
            <a:spAutoFit/>
          </a:bodyPr>
          <a:lstStyle/>
          <a:p>
            <a:pPr>
              <a:lnSpc>
                <a:spcPct val="150000"/>
              </a:lnSpc>
            </a:pPr>
            <a:r>
              <a:rPr lang="ja-JP" altLang="en-US" sz="1600" b="1">
                <a:latin typeface="メイリオ" panose="020B0604030504040204" pitchFamily="50" charset="-128"/>
                <a:ea typeface="メイリオ" panose="020B0604030504040204" pitchFamily="50" charset="-128"/>
              </a:rPr>
              <a:t>ポイント：</a:t>
            </a:r>
          </a:p>
          <a:p>
            <a:pPr>
              <a:lnSpc>
                <a:spcPct val="150000"/>
              </a:lnSpc>
            </a:pPr>
            <a:r>
              <a:rPr lang="ja-JP" altLang="en-US" sz="1400">
                <a:latin typeface="メイリオ" panose="020B0604030504040204" pitchFamily="50" charset="-128"/>
                <a:ea typeface="メイリオ" panose="020B0604030504040204" pitchFamily="50" charset="-128"/>
              </a:rPr>
              <a:t>自律性がある＝ </a:t>
            </a:r>
            <a:r>
              <a:rPr lang="en-US" altLang="ja-JP" sz="1400" b="1">
                <a:solidFill>
                  <a:schemeClr val="accent2">
                    <a:lumMod val="75000"/>
                  </a:schemeClr>
                </a:solidFill>
                <a:latin typeface="メイリオ" panose="020B0604030504040204" pitchFamily="50" charset="-128"/>
                <a:ea typeface="メイリオ" panose="020B0604030504040204" pitchFamily="50" charset="-128"/>
              </a:rPr>
              <a:t>"</a:t>
            </a:r>
            <a:r>
              <a:rPr lang="ja-JP" altLang="en-US" sz="1400" b="1">
                <a:solidFill>
                  <a:schemeClr val="accent2">
                    <a:lumMod val="75000"/>
                  </a:schemeClr>
                </a:solidFill>
                <a:latin typeface="メイリオ" panose="020B0604030504040204" pitchFamily="50" charset="-128"/>
                <a:ea typeface="メイリオ" panose="020B0604030504040204" pitchFamily="50" charset="-128"/>
              </a:rPr>
              <a:t>判断</a:t>
            </a:r>
            <a:r>
              <a:rPr lang="en-US" altLang="ja-JP" sz="1400" b="1">
                <a:solidFill>
                  <a:schemeClr val="accent2">
                    <a:lumMod val="75000"/>
                  </a:schemeClr>
                </a:solidFill>
                <a:latin typeface="メイリオ" panose="020B0604030504040204" pitchFamily="50" charset="-128"/>
                <a:ea typeface="メイリオ" panose="020B0604030504040204" pitchFamily="50" charset="-128"/>
              </a:rPr>
              <a:t>"</a:t>
            </a:r>
            <a:r>
              <a:rPr lang="ja-JP" altLang="en-US" sz="1400" b="1">
                <a:solidFill>
                  <a:schemeClr val="accent2">
                    <a:lumMod val="75000"/>
                  </a:schemeClr>
                </a:solidFill>
                <a:latin typeface="メイリオ" panose="020B0604030504040204" pitchFamily="50" charset="-128"/>
                <a:ea typeface="メイリオ" panose="020B0604030504040204" pitchFamily="50" charset="-128"/>
              </a:rPr>
              <a:t>が自動化される</a:t>
            </a:r>
          </a:p>
        </p:txBody>
      </p:sp>
      <p:sp>
        <p:nvSpPr>
          <p:cNvPr id="14" name="二等辺三角形 13">
            <a:extLst>
              <a:ext uri="{FF2B5EF4-FFF2-40B4-BE49-F238E27FC236}">
                <a16:creationId xmlns:a16="http://schemas.microsoft.com/office/drawing/2014/main" id="{8F9A5FD3-538F-D51E-DCA8-14739D395BD3}"/>
              </a:ext>
            </a:extLst>
          </p:cNvPr>
          <p:cNvSpPr/>
          <p:nvPr/>
        </p:nvSpPr>
        <p:spPr>
          <a:xfrm rot="10800000">
            <a:off x="1804616" y="3294961"/>
            <a:ext cx="765104" cy="214473"/>
          </a:xfrm>
          <a:prstGeom prst="triangle">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1E11DECE-FFD7-B09F-7780-D48BBDB71A6B}"/>
              </a:ext>
            </a:extLst>
          </p:cNvPr>
          <p:cNvSpPr txBox="1"/>
          <p:nvPr/>
        </p:nvSpPr>
        <p:spPr>
          <a:xfrm>
            <a:off x="4257707" y="1657564"/>
            <a:ext cx="3676588" cy="1519647"/>
          </a:xfrm>
          <a:prstGeom prst="rect">
            <a:avLst/>
          </a:prstGeom>
          <a:noFill/>
        </p:spPr>
        <p:txBody>
          <a:bodyPr wrap="square" rtlCol="0">
            <a:spAutoFit/>
          </a:bodyPr>
          <a:lstStyle/>
          <a:p>
            <a:pPr>
              <a:lnSpc>
                <a:spcPct val="150000"/>
              </a:lnSpc>
            </a:pPr>
            <a:r>
              <a:rPr lang="en-US" altLang="ja-JP" sz="1600" b="1">
                <a:latin typeface="メイリオ" panose="020B0604030504040204" pitchFamily="50" charset="-128"/>
                <a:ea typeface="メイリオ" panose="020B0604030504040204" pitchFamily="50" charset="-128"/>
              </a:rPr>
              <a:t>Heartbeat</a:t>
            </a:r>
            <a:r>
              <a:rPr lang="ja-JP" altLang="en-US" sz="1600" b="1">
                <a:latin typeface="メイリオ" panose="020B0604030504040204" pitchFamily="50" charset="-128"/>
                <a:ea typeface="メイリオ" panose="020B0604030504040204" pitchFamily="50" charset="-128"/>
              </a:rPr>
              <a:t>（常時起動）</a:t>
            </a:r>
          </a:p>
          <a:p>
            <a:pPr>
              <a:lnSpc>
                <a:spcPct val="150000"/>
              </a:lnSpc>
            </a:pPr>
            <a:r>
              <a:rPr lang="en-US" altLang="ja-JP" sz="1400">
                <a:latin typeface="メイリオ" panose="020B0604030504040204" pitchFamily="50" charset="-128"/>
                <a:ea typeface="メイリオ" panose="020B0604030504040204" pitchFamily="50" charset="-128"/>
              </a:rPr>
              <a:t>30</a:t>
            </a:r>
            <a:r>
              <a:rPr lang="ja-JP" altLang="en-US" sz="1400">
                <a:latin typeface="メイリオ" panose="020B0604030504040204" pitchFamily="50" charset="-128"/>
                <a:ea typeface="メイリオ" panose="020B0604030504040204" pitchFamily="50" charset="-128"/>
              </a:rPr>
              <a:t>分ごとに状況を確認し、</a:t>
            </a:r>
          </a:p>
          <a:p>
            <a:pPr>
              <a:lnSpc>
                <a:spcPct val="150000"/>
              </a:lnSpc>
            </a:pPr>
            <a:r>
              <a:rPr lang="ja-JP" altLang="en-US" sz="1400">
                <a:latin typeface="メイリオ" panose="020B0604030504040204" pitchFamily="50" charset="-128"/>
                <a:ea typeface="メイリオ" panose="020B0604030504040204" pitchFamily="50" charset="-128"/>
              </a:rPr>
              <a:t>自分で優先度を判断して動く</a:t>
            </a:r>
            <a:endParaRPr lang="en-US" altLang="ja-JP" sz="1400">
              <a:latin typeface="メイリオ" panose="020B0604030504040204" pitchFamily="50" charset="-128"/>
              <a:ea typeface="メイリオ" panose="020B0604030504040204" pitchFamily="50" charset="-128"/>
            </a:endParaRPr>
          </a:p>
          <a:p>
            <a:pPr>
              <a:lnSpc>
                <a:spcPct val="150000"/>
              </a:lnSpc>
            </a:pPr>
            <a:endParaRPr lang="ja-JP" altLang="en-US" sz="400">
              <a:latin typeface="メイリオ" panose="020B0604030504040204" pitchFamily="50" charset="-128"/>
              <a:ea typeface="メイリオ" panose="020B0604030504040204" pitchFamily="50" charset="-128"/>
            </a:endParaRPr>
          </a:p>
          <a:p>
            <a:pPr>
              <a:lnSpc>
                <a:spcPct val="150000"/>
              </a:lnSpc>
            </a:pPr>
            <a:r>
              <a:rPr lang="ja-JP" altLang="en-US" sz="1400" b="1">
                <a:solidFill>
                  <a:srgbClr val="C00000"/>
                </a:solidFill>
                <a:latin typeface="メイリオ" panose="020B0604030504040204" pitchFamily="50" charset="-128"/>
                <a:ea typeface="メイリオ" panose="020B0604030504040204" pitchFamily="50" charset="-128"/>
              </a:rPr>
              <a:t>➡ 管理者・オペレーターの仕事そのもの</a:t>
            </a:r>
          </a:p>
        </p:txBody>
      </p:sp>
      <p:sp>
        <p:nvSpPr>
          <p:cNvPr id="16" name="テキスト ボックス 15">
            <a:extLst>
              <a:ext uri="{FF2B5EF4-FFF2-40B4-BE49-F238E27FC236}">
                <a16:creationId xmlns:a16="http://schemas.microsoft.com/office/drawing/2014/main" id="{85068579-E637-503D-5662-602935B71C80}"/>
              </a:ext>
            </a:extLst>
          </p:cNvPr>
          <p:cNvSpPr txBox="1"/>
          <p:nvPr/>
        </p:nvSpPr>
        <p:spPr>
          <a:xfrm>
            <a:off x="4257707" y="3321975"/>
            <a:ext cx="3676588" cy="1496564"/>
          </a:xfrm>
          <a:prstGeom prst="rect">
            <a:avLst/>
          </a:prstGeom>
          <a:noFill/>
        </p:spPr>
        <p:txBody>
          <a:bodyPr wrap="square" rtlCol="0">
            <a:spAutoFit/>
          </a:bodyPr>
          <a:lstStyle/>
          <a:p>
            <a:pPr>
              <a:lnSpc>
                <a:spcPct val="150000"/>
              </a:lnSpc>
            </a:pPr>
            <a:r>
              <a:rPr lang="ja-JP" altLang="en-US" sz="1600" b="1">
                <a:latin typeface="メイリオ" panose="020B0604030504040204" pitchFamily="50" charset="-128"/>
                <a:ea typeface="メイリオ" panose="020B0604030504040204" pitchFamily="50" charset="-128"/>
              </a:rPr>
              <a:t>記憶＋人格（</a:t>
            </a:r>
            <a:r>
              <a:rPr lang="en-US" altLang="ja-JP" sz="1600" b="1">
                <a:latin typeface="メイリオ" panose="020B0604030504040204" pitchFamily="50" charset="-128"/>
                <a:ea typeface="メイリオ" panose="020B0604030504040204" pitchFamily="50" charset="-128"/>
              </a:rPr>
              <a:t>Main Agent</a:t>
            </a:r>
            <a:r>
              <a:rPr lang="ja-JP" altLang="en-US" sz="1600" b="1">
                <a:latin typeface="メイリオ" panose="020B0604030504040204" pitchFamily="50" charset="-128"/>
                <a:ea typeface="メイリオ" panose="020B0604030504040204" pitchFamily="50" charset="-128"/>
              </a:rPr>
              <a:t>）</a:t>
            </a:r>
            <a:endParaRPr lang="en-US" altLang="ja-JP" sz="1600" b="1">
              <a:latin typeface="メイリオ" panose="020B0604030504040204" pitchFamily="50" charset="-128"/>
              <a:ea typeface="メイリオ" panose="020B0604030504040204" pitchFamily="50" charset="-128"/>
            </a:endParaRPr>
          </a:p>
          <a:p>
            <a:pPr>
              <a:lnSpc>
                <a:spcPct val="150000"/>
              </a:lnSpc>
            </a:pPr>
            <a:r>
              <a:rPr lang="ja-JP" altLang="en-US" sz="1400">
                <a:latin typeface="メイリオ" panose="020B0604030504040204" pitchFamily="50" charset="-128"/>
                <a:ea typeface="メイリオ" panose="020B0604030504040204" pitchFamily="50" charset="-128"/>
              </a:rPr>
              <a:t>文脈を蓄積し、ユーザーの好みに合わせて判断基準を調整</a:t>
            </a:r>
            <a:endParaRPr lang="en-US" altLang="ja-JP" sz="1400">
              <a:latin typeface="メイリオ" panose="020B0604030504040204" pitchFamily="50" charset="-128"/>
              <a:ea typeface="メイリオ" panose="020B0604030504040204" pitchFamily="50" charset="-128"/>
            </a:endParaRPr>
          </a:p>
          <a:p>
            <a:pPr>
              <a:lnSpc>
                <a:spcPct val="150000"/>
              </a:lnSpc>
            </a:pPr>
            <a:endParaRPr lang="ja-JP" altLang="en-US" sz="400">
              <a:latin typeface="メイリオ" panose="020B0604030504040204" pitchFamily="50" charset="-128"/>
              <a:ea typeface="メイリオ" panose="020B0604030504040204" pitchFamily="50" charset="-128"/>
            </a:endParaRPr>
          </a:p>
          <a:p>
            <a:pPr>
              <a:lnSpc>
                <a:spcPct val="150000"/>
              </a:lnSpc>
            </a:pPr>
            <a:r>
              <a:rPr lang="ja-JP" altLang="en-US" sz="1400" b="1">
                <a:solidFill>
                  <a:srgbClr val="C00000"/>
                </a:solidFill>
                <a:latin typeface="メイリオ" panose="020B0604030504040204" pitchFamily="50" charset="-128"/>
                <a:ea typeface="メイリオ" panose="020B0604030504040204" pitchFamily="50" charset="-128"/>
              </a:rPr>
              <a:t>➡ マニュアル外の対応ができる</a:t>
            </a:r>
          </a:p>
        </p:txBody>
      </p:sp>
      <p:sp>
        <p:nvSpPr>
          <p:cNvPr id="17" name="テキスト ボックス 16">
            <a:extLst>
              <a:ext uri="{FF2B5EF4-FFF2-40B4-BE49-F238E27FC236}">
                <a16:creationId xmlns:a16="http://schemas.microsoft.com/office/drawing/2014/main" id="{C36A9C59-50A6-32DF-5C49-81902F7B2E8B}"/>
              </a:ext>
            </a:extLst>
          </p:cNvPr>
          <p:cNvSpPr txBox="1"/>
          <p:nvPr/>
        </p:nvSpPr>
        <p:spPr>
          <a:xfrm>
            <a:off x="4257704" y="4963303"/>
            <a:ext cx="3676588" cy="1173398"/>
          </a:xfrm>
          <a:prstGeom prst="rect">
            <a:avLst/>
          </a:prstGeom>
          <a:noFill/>
        </p:spPr>
        <p:txBody>
          <a:bodyPr wrap="square" rtlCol="0">
            <a:spAutoFit/>
          </a:bodyPr>
          <a:lstStyle/>
          <a:p>
            <a:pPr>
              <a:lnSpc>
                <a:spcPct val="150000"/>
              </a:lnSpc>
            </a:pPr>
            <a:r>
              <a:rPr lang="ja-JP" altLang="en-US" sz="1600" b="1">
                <a:latin typeface="メイリオ" panose="020B0604030504040204" pitchFamily="50" charset="-128"/>
                <a:ea typeface="メイリオ" panose="020B0604030504040204" pitchFamily="50" charset="-128"/>
              </a:rPr>
              <a:t>テキストによる振る舞い定義</a:t>
            </a:r>
            <a:endParaRPr lang="en-US" altLang="ja-JP" sz="1600" b="1">
              <a:latin typeface="メイリオ" panose="020B0604030504040204" pitchFamily="50" charset="-128"/>
              <a:ea typeface="メイリオ" panose="020B0604030504040204" pitchFamily="50" charset="-128"/>
            </a:endParaRPr>
          </a:p>
          <a:p>
            <a:pPr>
              <a:lnSpc>
                <a:spcPct val="150000"/>
              </a:lnSpc>
            </a:pPr>
            <a:r>
              <a:rPr lang="ja-JP" altLang="en-US" sz="1400">
                <a:latin typeface="メイリオ" panose="020B0604030504040204" pitchFamily="50" charset="-128"/>
                <a:ea typeface="メイリオ" panose="020B0604030504040204" pitchFamily="50" charset="-128"/>
              </a:rPr>
              <a:t>手順書を渡すだけで</a:t>
            </a:r>
            <a:r>
              <a:rPr lang="en-US" altLang="ja-JP" sz="1400">
                <a:latin typeface="メイリオ" panose="020B0604030504040204" pitchFamily="50" charset="-128"/>
                <a:ea typeface="メイリオ" panose="020B0604030504040204" pitchFamily="50" charset="-128"/>
              </a:rPr>
              <a:t>AI</a:t>
            </a:r>
            <a:r>
              <a:rPr lang="ja-JP" altLang="en-US" sz="1400">
                <a:latin typeface="メイリオ" panose="020B0604030504040204" pitchFamily="50" charset="-128"/>
                <a:ea typeface="メイリオ" panose="020B0604030504040204" pitchFamily="50" charset="-128"/>
              </a:rPr>
              <a:t>が判断込みで実行</a:t>
            </a:r>
            <a:endParaRPr lang="en-US" altLang="ja-JP" sz="1400">
              <a:latin typeface="メイリオ" panose="020B0604030504040204" pitchFamily="50" charset="-128"/>
              <a:ea typeface="メイリオ" panose="020B0604030504040204" pitchFamily="50" charset="-128"/>
            </a:endParaRPr>
          </a:p>
          <a:p>
            <a:pPr>
              <a:lnSpc>
                <a:spcPct val="150000"/>
              </a:lnSpc>
            </a:pPr>
            <a:endParaRPr lang="ja-JP" altLang="en-US" sz="400">
              <a:latin typeface="メイリオ" panose="020B0604030504040204" pitchFamily="50" charset="-128"/>
              <a:ea typeface="メイリオ" panose="020B0604030504040204" pitchFamily="50" charset="-128"/>
            </a:endParaRPr>
          </a:p>
          <a:p>
            <a:pPr>
              <a:lnSpc>
                <a:spcPct val="150000"/>
              </a:lnSpc>
            </a:pPr>
            <a:r>
              <a:rPr lang="ja-JP" altLang="en-US" sz="1400" b="1">
                <a:solidFill>
                  <a:srgbClr val="C00000"/>
                </a:solidFill>
                <a:latin typeface="メイリオ" panose="020B0604030504040204" pitchFamily="50" charset="-128"/>
                <a:ea typeface="メイリオ" panose="020B0604030504040204" pitchFamily="50" charset="-128"/>
              </a:rPr>
              <a:t>➡ 教育コスト・引き継ぎコストが消える</a:t>
            </a:r>
          </a:p>
        </p:txBody>
      </p:sp>
      <p:sp>
        <p:nvSpPr>
          <p:cNvPr id="18" name="テキスト ボックス 17">
            <a:extLst>
              <a:ext uri="{FF2B5EF4-FFF2-40B4-BE49-F238E27FC236}">
                <a16:creationId xmlns:a16="http://schemas.microsoft.com/office/drawing/2014/main" id="{E21F7325-BF53-B07C-8D37-EC5A63C2D486}"/>
              </a:ext>
            </a:extLst>
          </p:cNvPr>
          <p:cNvSpPr txBox="1"/>
          <p:nvPr/>
        </p:nvSpPr>
        <p:spPr>
          <a:xfrm>
            <a:off x="8166538" y="1491109"/>
            <a:ext cx="3676587" cy="1034899"/>
          </a:xfrm>
          <a:prstGeom prst="rect">
            <a:avLst/>
          </a:prstGeom>
          <a:noFill/>
        </p:spPr>
        <p:txBody>
          <a:bodyPr wrap="square" rtlCol="0">
            <a:spAutoFit/>
          </a:bodyPr>
          <a:lstStyle/>
          <a:p>
            <a:pPr>
              <a:lnSpc>
                <a:spcPct val="150000"/>
              </a:lnSpc>
            </a:pPr>
            <a:r>
              <a:rPr lang="en-US" altLang="ja-JP" sz="1400">
                <a:latin typeface="メイリオ" panose="020B0604030504040204" pitchFamily="50" charset="-128"/>
                <a:ea typeface="メイリオ" panose="020B0604030504040204" pitchFamily="50" charset="-128"/>
              </a:rPr>
              <a:t>OpenAI</a:t>
            </a:r>
            <a:r>
              <a:rPr lang="ja-JP" altLang="en-US" sz="1400">
                <a:latin typeface="メイリオ" panose="020B0604030504040204" pitchFamily="50" charset="-128"/>
                <a:ea typeface="メイリオ" panose="020B0604030504040204" pitchFamily="50" charset="-128"/>
              </a:rPr>
              <a:t>・</a:t>
            </a:r>
            <a:r>
              <a:rPr lang="en-US" altLang="ja-JP" sz="1400">
                <a:latin typeface="メイリオ" panose="020B0604030504040204" pitchFamily="50" charset="-128"/>
                <a:ea typeface="メイリオ" panose="020B0604030504040204" pitchFamily="50" charset="-128"/>
              </a:rPr>
              <a:t>Anthropic</a:t>
            </a:r>
            <a:r>
              <a:rPr lang="ja-JP" altLang="en-US" sz="1400">
                <a:latin typeface="メイリオ" panose="020B0604030504040204" pitchFamily="50" charset="-128"/>
                <a:ea typeface="メイリオ" panose="020B0604030504040204" pitchFamily="50" charset="-128"/>
              </a:rPr>
              <a:t>が「判断する常駐エージェント」を製品化中 </a:t>
            </a:r>
            <a:endParaRPr lang="en-US" altLang="ja-JP" sz="400">
              <a:latin typeface="メイリオ" panose="020B0604030504040204" pitchFamily="50" charset="-128"/>
              <a:ea typeface="メイリオ" panose="020B0604030504040204" pitchFamily="50" charset="-128"/>
            </a:endParaRPr>
          </a:p>
          <a:p>
            <a:pPr>
              <a:lnSpc>
                <a:spcPct val="150000"/>
              </a:lnSpc>
            </a:pPr>
            <a:r>
              <a:rPr lang="ja-JP" altLang="en-US" sz="1400">
                <a:latin typeface="メイリオ" panose="020B0604030504040204" pitchFamily="50" charset="-128"/>
                <a:ea typeface="メイリオ" panose="020B0604030504040204" pitchFamily="50" charset="-128"/>
              </a:rPr>
              <a:t>→ 導入障壁は急速に低下</a:t>
            </a:r>
            <a:endParaRPr lang="ja-JP" altLang="en-US" sz="1100">
              <a:latin typeface="メイリオ" panose="020B0604030504040204" pitchFamily="50" charset="-128"/>
              <a:ea typeface="メイリオ" panose="020B0604030504040204" pitchFamily="50" charset="-128"/>
            </a:endParaRPr>
          </a:p>
        </p:txBody>
      </p:sp>
      <p:sp>
        <p:nvSpPr>
          <p:cNvPr id="19" name="二等辺三角形 18">
            <a:extLst>
              <a:ext uri="{FF2B5EF4-FFF2-40B4-BE49-F238E27FC236}">
                <a16:creationId xmlns:a16="http://schemas.microsoft.com/office/drawing/2014/main" id="{97A32694-2016-62A2-F0D8-EBE21E26F329}"/>
              </a:ext>
            </a:extLst>
          </p:cNvPr>
          <p:cNvSpPr/>
          <p:nvPr/>
        </p:nvSpPr>
        <p:spPr>
          <a:xfrm rot="10800000">
            <a:off x="9622281" y="2533427"/>
            <a:ext cx="765104" cy="214473"/>
          </a:xfrm>
          <a:prstGeom prst="triangle">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AAFCA287-D31F-C76F-E80E-F5E5625E7025}"/>
              </a:ext>
            </a:extLst>
          </p:cNvPr>
          <p:cNvSpPr txBox="1"/>
          <p:nvPr/>
        </p:nvSpPr>
        <p:spPr>
          <a:xfrm>
            <a:off x="8166537" y="2707466"/>
            <a:ext cx="3676587" cy="711733"/>
          </a:xfrm>
          <a:prstGeom prst="rect">
            <a:avLst/>
          </a:prstGeom>
          <a:noFill/>
        </p:spPr>
        <p:txBody>
          <a:bodyPr wrap="square" rtlCol="0">
            <a:spAutoFit/>
          </a:bodyPr>
          <a:lstStyle/>
          <a:p>
            <a:pPr>
              <a:lnSpc>
                <a:spcPct val="150000"/>
              </a:lnSpc>
            </a:pPr>
            <a:r>
              <a:rPr lang="en-US" altLang="ja-JP" sz="1400" b="1">
                <a:solidFill>
                  <a:srgbClr val="C00000"/>
                </a:solidFill>
                <a:latin typeface="メイリオ" panose="020B0604030504040204" pitchFamily="50" charset="-128"/>
                <a:ea typeface="メイリオ" panose="020B0604030504040204" pitchFamily="50" charset="-128"/>
              </a:rPr>
              <a:t>AI</a:t>
            </a:r>
            <a:r>
              <a:rPr lang="ja-JP" altLang="en-US" sz="1400" b="1">
                <a:solidFill>
                  <a:srgbClr val="C00000"/>
                </a:solidFill>
                <a:latin typeface="メイリオ" panose="020B0604030504040204" pitchFamily="50" charset="-128"/>
                <a:ea typeface="メイリオ" panose="020B0604030504040204" pitchFamily="50" charset="-128"/>
              </a:rPr>
              <a:t>の自律判断は、もはや実験ではなくビジネスの実用に乗るフェーズに来ている</a:t>
            </a:r>
            <a:endParaRPr lang="en-US" altLang="ja-JP" sz="1400" b="1">
              <a:solidFill>
                <a:srgbClr val="C00000"/>
              </a:solidFill>
              <a:latin typeface="メイリオ" panose="020B0604030504040204" pitchFamily="50" charset="-128"/>
              <a:ea typeface="メイリオ" panose="020B0604030504040204" pitchFamily="50" charset="-128"/>
            </a:endParaRPr>
          </a:p>
        </p:txBody>
      </p:sp>
      <p:sp>
        <p:nvSpPr>
          <p:cNvPr id="21" name="テキスト ボックス 20">
            <a:extLst>
              <a:ext uri="{FF2B5EF4-FFF2-40B4-BE49-F238E27FC236}">
                <a16:creationId xmlns:a16="http://schemas.microsoft.com/office/drawing/2014/main" id="{78F7A71C-A76C-0123-5BB7-7912433462ED}"/>
              </a:ext>
            </a:extLst>
          </p:cNvPr>
          <p:cNvSpPr txBox="1"/>
          <p:nvPr/>
        </p:nvSpPr>
        <p:spPr>
          <a:xfrm>
            <a:off x="8166533" y="3490738"/>
            <a:ext cx="3676588" cy="3020058"/>
          </a:xfrm>
          <a:prstGeom prst="rect">
            <a:avLst/>
          </a:prstGeom>
          <a:noFill/>
        </p:spPr>
        <p:txBody>
          <a:bodyPr wrap="square" rtlCol="0">
            <a:spAutoFit/>
          </a:bodyPr>
          <a:lstStyle/>
          <a:p>
            <a:pPr>
              <a:lnSpc>
                <a:spcPct val="150000"/>
              </a:lnSpc>
            </a:pPr>
            <a:r>
              <a:rPr lang="en-US" altLang="ja-JP" sz="1600" b="1">
                <a:latin typeface="メイリオ" panose="020B0604030504040204" pitchFamily="50" charset="-128"/>
                <a:ea typeface="メイリオ" panose="020B0604030504040204" pitchFamily="50" charset="-128"/>
              </a:rPr>
              <a:t>BPO</a:t>
            </a:r>
            <a:r>
              <a:rPr lang="ja-JP" altLang="en-US" sz="1600" b="1">
                <a:latin typeface="メイリオ" panose="020B0604030504040204" pitchFamily="50" charset="-128"/>
                <a:ea typeface="メイリオ" panose="020B0604030504040204" pitchFamily="50" charset="-128"/>
              </a:rPr>
              <a:t>への影響</a:t>
            </a:r>
          </a:p>
          <a:p>
            <a:pPr marL="285750" indent="-285750">
              <a:lnSpc>
                <a:spcPct val="150000"/>
              </a:lnSpc>
              <a:buFont typeface="Arial" panose="020B0604020202020204" pitchFamily="34" charset="0"/>
              <a:buChar char="•"/>
            </a:pPr>
            <a:r>
              <a:rPr lang="ja-JP" altLang="en-US" sz="1400" b="1">
                <a:latin typeface="メイリオ" panose="020B0604030504040204" pitchFamily="50" charset="-128"/>
                <a:ea typeface="メイリオ" panose="020B0604030504040204" pitchFamily="50" charset="-128"/>
              </a:rPr>
              <a:t>マニュアル化しきれない</a:t>
            </a:r>
            <a:r>
              <a:rPr lang="en-US" altLang="ja-JP" sz="1400" b="1">
                <a:latin typeface="メイリオ" panose="020B0604030504040204" pitchFamily="50" charset="-128"/>
                <a:ea typeface="メイリオ" panose="020B0604030504040204" pitchFamily="50" charset="-128"/>
              </a:rPr>
              <a:t>『</a:t>
            </a:r>
            <a:r>
              <a:rPr lang="ja-JP" altLang="en-US" sz="1400" b="1">
                <a:latin typeface="メイリオ" panose="020B0604030504040204" pitchFamily="50" charset="-128"/>
                <a:ea typeface="メイリオ" panose="020B0604030504040204" pitchFamily="50" charset="-128"/>
              </a:rPr>
              <a:t>人間の判断・調整</a:t>
            </a:r>
            <a:r>
              <a:rPr lang="en-US" altLang="ja-JP" sz="1400" b="1">
                <a:latin typeface="メイリオ" panose="020B0604030504040204" pitchFamily="50" charset="-128"/>
                <a:ea typeface="メイリオ" panose="020B0604030504040204" pitchFamily="50" charset="-128"/>
              </a:rPr>
              <a:t>』</a:t>
            </a:r>
            <a:r>
              <a:rPr lang="ja-JP" altLang="en-US" sz="1400" b="1">
                <a:latin typeface="メイリオ" panose="020B0604030504040204" pitchFamily="50" charset="-128"/>
                <a:ea typeface="メイリオ" panose="020B0604030504040204" pitchFamily="50" charset="-128"/>
              </a:rPr>
              <a:t>の消失による需要減</a:t>
            </a:r>
            <a:endParaRPr lang="en-US" altLang="ja-JP" sz="1400" b="1">
              <a:latin typeface="メイリオ" panose="020B0604030504040204" pitchFamily="50" charset="-128"/>
              <a:ea typeface="メイリオ" panose="020B0604030504040204" pitchFamily="50" charset="-128"/>
            </a:endParaRPr>
          </a:p>
          <a:p>
            <a:pPr marL="285750" indent="-285750">
              <a:lnSpc>
                <a:spcPct val="150000"/>
              </a:lnSpc>
              <a:buFont typeface="Arial" panose="020B0604020202020204" pitchFamily="34" charset="0"/>
              <a:buChar char="•"/>
            </a:pPr>
            <a:r>
              <a:rPr lang="ja-JP" altLang="en-US" sz="1400" b="1">
                <a:latin typeface="メイリオ" panose="020B0604030504040204" pitchFamily="50" charset="-128"/>
                <a:ea typeface="メイリオ" panose="020B0604030504040204" pitchFamily="50" charset="-128"/>
              </a:rPr>
              <a:t>「</a:t>
            </a:r>
            <a:r>
              <a:rPr lang="en-US" altLang="ja-JP" sz="1400" b="1">
                <a:latin typeface="メイリオ" panose="020B0604030504040204" pitchFamily="50" charset="-128"/>
                <a:ea typeface="メイリオ" panose="020B0604030504040204" pitchFamily="50" charset="-128"/>
              </a:rPr>
              <a:t>PMO</a:t>
            </a:r>
            <a:r>
              <a:rPr lang="ja-JP" altLang="en-US" sz="1400" b="1">
                <a:latin typeface="メイリオ" panose="020B0604030504040204" pitchFamily="50" charset="-128"/>
                <a:ea typeface="メイリオ" panose="020B0604030504040204" pitchFamily="50" charset="-128"/>
              </a:rPr>
              <a:t>・提案業務」の自律化による需要減</a:t>
            </a:r>
            <a:endParaRPr lang="en-US" altLang="ja-JP" sz="1400" b="1">
              <a:latin typeface="メイリオ" panose="020B0604030504040204" pitchFamily="50" charset="-128"/>
              <a:ea typeface="メイリオ" panose="020B0604030504040204" pitchFamily="50" charset="-128"/>
            </a:endParaRPr>
          </a:p>
          <a:p>
            <a:pPr marL="285750" indent="-285750">
              <a:lnSpc>
                <a:spcPct val="150000"/>
              </a:lnSpc>
              <a:buFont typeface="Arial" panose="020B0604020202020204" pitchFamily="34" charset="0"/>
              <a:buChar char="•"/>
            </a:pPr>
            <a:r>
              <a:rPr lang="en-US" altLang="ja-JP" sz="1400" b="1">
                <a:latin typeface="メイリオ" panose="020B0604030504040204" pitchFamily="50" charset="-128"/>
                <a:ea typeface="メイリオ" panose="020B0604030504040204" pitchFamily="50" charset="-128"/>
              </a:rPr>
              <a:t>AI</a:t>
            </a:r>
            <a:r>
              <a:rPr lang="ja-JP" altLang="en-US" sz="1400" b="1">
                <a:latin typeface="メイリオ" panose="020B0604030504040204" pitchFamily="50" charset="-128"/>
                <a:ea typeface="メイリオ" panose="020B0604030504040204" pitchFamily="50" charset="-128"/>
              </a:rPr>
              <a:t>活用が人間が起点じゃなくても動くので</a:t>
            </a:r>
            <a:r>
              <a:rPr lang="en-US" altLang="ja-JP" sz="1400" b="1">
                <a:latin typeface="メイリオ" panose="020B0604030504040204" pitchFamily="50" charset="-128"/>
                <a:ea typeface="メイリオ" panose="020B0604030504040204" pitchFamily="50" charset="-128"/>
              </a:rPr>
              <a:t>AI</a:t>
            </a:r>
            <a:r>
              <a:rPr lang="ja-JP" altLang="en-US" sz="1400" b="1">
                <a:latin typeface="メイリオ" panose="020B0604030504040204" pitchFamily="50" charset="-128"/>
                <a:ea typeface="メイリオ" panose="020B0604030504040204" pitchFamily="50" charset="-128"/>
              </a:rPr>
              <a:t>使えること自体の価値の需要減</a:t>
            </a:r>
            <a:endParaRPr lang="en-US" altLang="ja-JP" sz="1400" b="1">
              <a:latin typeface="メイリオ" panose="020B0604030504040204" pitchFamily="50" charset="-128"/>
              <a:ea typeface="メイリオ" panose="020B0604030504040204" pitchFamily="50" charset="-128"/>
            </a:endParaRPr>
          </a:p>
          <a:p>
            <a:pPr>
              <a:lnSpc>
                <a:spcPct val="150000"/>
              </a:lnSpc>
            </a:pPr>
            <a:r>
              <a:rPr lang="ja-JP" altLang="en-US" sz="1400" b="1">
                <a:latin typeface="メイリオ" panose="020B0604030504040204" pitchFamily="50" charset="-128"/>
                <a:ea typeface="メイリオ" panose="020B0604030504040204" pitchFamily="50" charset="-128"/>
              </a:rPr>
              <a:t>➡ 今後どういったアウトカムを提供できるかが市場価値になる</a:t>
            </a:r>
          </a:p>
        </p:txBody>
      </p:sp>
      <p:sp>
        <p:nvSpPr>
          <p:cNvPr id="22" name="二等辺三角形 21">
            <a:extLst>
              <a:ext uri="{FF2B5EF4-FFF2-40B4-BE49-F238E27FC236}">
                <a16:creationId xmlns:a16="http://schemas.microsoft.com/office/drawing/2014/main" id="{6F162E87-BF70-D5C5-F3FA-5E492D6A05BC}"/>
              </a:ext>
            </a:extLst>
          </p:cNvPr>
          <p:cNvSpPr/>
          <p:nvPr/>
        </p:nvSpPr>
        <p:spPr>
          <a:xfrm rot="10800000">
            <a:off x="9622281" y="3492351"/>
            <a:ext cx="765104" cy="214473"/>
          </a:xfrm>
          <a:prstGeom prst="triangle">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3917452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F1AF7A-7256-2C77-32DA-C840D2A3E375}"/>
            </a:ext>
          </a:extLst>
        </p:cNvPr>
        <p:cNvGrpSpPr/>
        <p:nvPr/>
      </p:nvGrpSpPr>
      <p:grpSpPr>
        <a:xfrm>
          <a:off x="0" y="0"/>
          <a:ext cx="0" cy="0"/>
          <a:chOff x="0" y="0"/>
          <a:chExt cx="0" cy="0"/>
        </a:xfrm>
      </p:grpSpPr>
    </p:spTree>
    <p:extLst>
      <p:ext uri="{BB962C8B-B14F-4D97-AF65-F5344CB8AC3E}">
        <p14:creationId xmlns:p14="http://schemas.microsoft.com/office/powerpoint/2010/main" val="64050005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249C-C69F-2857-589E-B7EDE3AC52C7}"/>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FA1892A0-CC92-352D-5AF2-AA2AB7BD5948}"/>
              </a:ext>
            </a:extLst>
          </p:cNvPr>
          <p:cNvSpPr txBox="1"/>
          <p:nvPr/>
        </p:nvSpPr>
        <p:spPr>
          <a:xfrm>
            <a:off x="443466" y="317212"/>
            <a:ext cx="11215133" cy="584775"/>
          </a:xfrm>
          <a:prstGeom prst="rect">
            <a:avLst/>
          </a:prstGeom>
          <a:noFill/>
        </p:spPr>
        <p:txBody>
          <a:bodyPr wrap="square" rtlCol="0">
            <a:spAutoFit/>
          </a:bodyPr>
          <a:lstStyle/>
          <a:p>
            <a:r>
              <a:rPr lang="en-US" altLang="ja-JP" sz="3200" b="1">
                <a:latin typeface="メイリオ" panose="020B0604030504040204" pitchFamily="50" charset="-128"/>
                <a:ea typeface="メイリオ" panose="020B0604030504040204" pitchFamily="50" charset="-128"/>
              </a:rPr>
              <a:t>Copilot Cowork</a:t>
            </a:r>
            <a:r>
              <a:rPr lang="ja-JP" altLang="en-US" sz="3200" b="1">
                <a:latin typeface="メイリオ" panose="020B0604030504040204" pitchFamily="50" charset="-128"/>
                <a:ea typeface="メイリオ" panose="020B0604030504040204" pitchFamily="50" charset="-128"/>
              </a:rPr>
              <a:t>の登場 「参照」から「実行」へ</a:t>
            </a:r>
          </a:p>
        </p:txBody>
      </p:sp>
      <p:sp>
        <p:nvSpPr>
          <p:cNvPr id="9" name="テキスト ボックス 8">
            <a:extLst>
              <a:ext uri="{FF2B5EF4-FFF2-40B4-BE49-F238E27FC236}">
                <a16:creationId xmlns:a16="http://schemas.microsoft.com/office/drawing/2014/main" id="{0A264F2C-2979-D443-FD0E-9666251841E0}"/>
              </a:ext>
            </a:extLst>
          </p:cNvPr>
          <p:cNvSpPr txBox="1"/>
          <p:nvPr/>
        </p:nvSpPr>
        <p:spPr>
          <a:xfrm>
            <a:off x="275099" y="867978"/>
            <a:ext cx="11641803" cy="738664"/>
          </a:xfrm>
          <a:prstGeom prst="rect">
            <a:avLst/>
          </a:prstGeom>
          <a:noFill/>
        </p:spPr>
        <p:txBody>
          <a:bodyPr wrap="square" rtlCol="0">
            <a:spAutoFit/>
          </a:bodyPr>
          <a:lstStyle/>
          <a:p>
            <a:r>
              <a:rPr lang="ja-JP" altLang="en-US" sz="1400">
                <a:latin typeface="メイリオ" panose="020B0604030504040204" pitchFamily="50" charset="-128"/>
                <a:ea typeface="メイリオ" panose="020B0604030504040204" pitchFamily="50" charset="-128"/>
              </a:rPr>
              <a:t>今までの</a:t>
            </a:r>
            <a:r>
              <a:rPr lang="en-US" altLang="ja-JP" sz="1400">
                <a:latin typeface="メイリオ" panose="020B0604030504040204" pitchFamily="50" charset="-128"/>
                <a:ea typeface="メイリオ" panose="020B0604030504040204" pitchFamily="50" charset="-128"/>
              </a:rPr>
              <a:t>Copilot</a:t>
            </a:r>
            <a:r>
              <a:rPr lang="ja-JP" altLang="en-US" sz="1400">
                <a:latin typeface="メイリオ" panose="020B0604030504040204" pitchFamily="50" charset="-128"/>
                <a:ea typeface="メイリオ" panose="020B0604030504040204" pitchFamily="50" charset="-128"/>
              </a:rPr>
              <a:t>は「参照する」が強い一方、</a:t>
            </a:r>
            <a:r>
              <a:rPr lang="ja-JP" altLang="en-US" sz="1400" b="1">
                <a:solidFill>
                  <a:schemeClr val="accent2"/>
                </a:solidFill>
                <a:latin typeface="メイリオ" panose="020B0604030504040204" pitchFamily="50" charset="-128"/>
                <a:ea typeface="メイリオ" panose="020B0604030504040204" pitchFamily="50" charset="-128"/>
              </a:rPr>
              <a:t>そこから新たなアクションに繋げるのは人の手が必要でした</a:t>
            </a:r>
            <a:r>
              <a:rPr lang="ja-JP" altLang="en-US" sz="1400">
                <a:latin typeface="メイリオ" panose="020B0604030504040204" pitchFamily="50" charset="-128"/>
                <a:ea typeface="メイリオ" panose="020B0604030504040204" pitchFamily="50" charset="-128"/>
              </a:rPr>
              <a:t>。社内では</a:t>
            </a:r>
            <a:r>
              <a:rPr lang="en-US" altLang="ja-JP" sz="1400">
                <a:latin typeface="メイリオ" panose="020B0604030504040204" pitchFamily="50" charset="-128"/>
                <a:ea typeface="メイリオ" panose="020B0604030504040204" pitchFamily="50" charset="-128"/>
              </a:rPr>
              <a:t>4</a:t>
            </a:r>
            <a:r>
              <a:rPr lang="ja-JP" altLang="en-US" sz="1400">
                <a:latin typeface="メイリオ" panose="020B0604030504040204" pitchFamily="50" charset="-128"/>
                <a:ea typeface="メイリオ" panose="020B0604030504040204" pitchFamily="50" charset="-128"/>
              </a:rPr>
              <a:t>月</a:t>
            </a:r>
            <a:r>
              <a:rPr lang="en-US" altLang="ja-JP" sz="1400">
                <a:latin typeface="メイリオ" panose="020B0604030504040204" pitchFamily="50" charset="-128"/>
                <a:ea typeface="メイリオ" panose="020B0604030504040204" pitchFamily="50" charset="-128"/>
              </a:rPr>
              <a:t>2</a:t>
            </a:r>
            <a:r>
              <a:rPr lang="ja-JP" altLang="en-US" sz="1400">
                <a:latin typeface="メイリオ" panose="020B0604030504040204" pitchFamily="50" charset="-128"/>
                <a:ea typeface="メイリオ" panose="020B0604030504040204" pitchFamily="50" charset="-128"/>
              </a:rPr>
              <a:t>日現在まだですが、早期アクセスプログラムで利用可能（</a:t>
            </a:r>
            <a:r>
              <a:rPr lang="en-US" altLang="ja-JP" sz="1400">
                <a:latin typeface="メイリオ" panose="020B0604030504040204" pitchFamily="50" charset="-128"/>
                <a:ea typeface="メイリオ" panose="020B0604030504040204" pitchFamily="50" charset="-128"/>
              </a:rPr>
              <a:t>3/30</a:t>
            </a:r>
            <a:r>
              <a:rPr lang="ja-JP" altLang="en-US" sz="1400">
                <a:latin typeface="メイリオ" panose="020B0604030504040204" pitchFamily="50" charset="-128"/>
                <a:ea typeface="メイリオ" panose="020B0604030504040204" pitchFamily="50" charset="-128"/>
              </a:rPr>
              <a:t>～）になっている</a:t>
            </a:r>
            <a:r>
              <a:rPr lang="en-US" altLang="ja-JP" sz="1400" b="1">
                <a:solidFill>
                  <a:schemeClr val="accent2"/>
                </a:solidFill>
                <a:latin typeface="メイリオ" panose="020B0604030504040204" pitchFamily="50" charset="-128"/>
                <a:ea typeface="メイリオ" panose="020B0604030504040204" pitchFamily="50" charset="-128"/>
              </a:rPr>
              <a:t>Cowork</a:t>
            </a:r>
            <a:r>
              <a:rPr lang="ja-JP" altLang="en-US" sz="1400" b="1">
                <a:solidFill>
                  <a:schemeClr val="accent2"/>
                </a:solidFill>
                <a:latin typeface="メイリオ" panose="020B0604030504040204" pitchFamily="50" charset="-128"/>
                <a:ea typeface="メイリオ" panose="020B0604030504040204" pitchFamily="50" charset="-128"/>
              </a:rPr>
              <a:t>はここを打破します</a:t>
            </a:r>
            <a:r>
              <a:rPr lang="ja-JP" altLang="en-US" sz="1400">
                <a:latin typeface="メイリオ" panose="020B0604030504040204" pitchFamily="50" charset="-128"/>
                <a:ea typeface="メイリオ" panose="020B0604030504040204" pitchFamily="50" charset="-128"/>
              </a:rPr>
              <a:t>。参照した情報をそのまま次のアクションに繋げるなど、「指示を出したら</a:t>
            </a:r>
            <a:r>
              <a:rPr lang="en-US" altLang="ja-JP" sz="1400">
                <a:latin typeface="メイリオ" panose="020B0604030504040204" pitchFamily="50" charset="-128"/>
                <a:ea typeface="メイリオ" panose="020B0604030504040204" pitchFamily="50" charset="-128"/>
              </a:rPr>
              <a:t>AI</a:t>
            </a:r>
            <a:r>
              <a:rPr lang="ja-JP" altLang="en-US" sz="1400">
                <a:latin typeface="メイリオ" panose="020B0604030504040204" pitchFamily="50" charset="-128"/>
                <a:ea typeface="メイリオ" panose="020B0604030504040204" pitchFamily="50" charset="-128"/>
              </a:rPr>
              <a:t>が動く」が</a:t>
            </a:r>
            <a:r>
              <a:rPr lang="en-US" altLang="ja-JP" sz="1400">
                <a:latin typeface="メイリオ" panose="020B0604030504040204" pitchFamily="50" charset="-128"/>
                <a:ea typeface="メイリオ" panose="020B0604030504040204" pitchFamily="50" charset="-128"/>
              </a:rPr>
              <a:t>Copilot</a:t>
            </a:r>
            <a:r>
              <a:rPr lang="ja-JP" altLang="en-US" sz="1400">
                <a:latin typeface="メイリオ" panose="020B0604030504040204" pitchFamily="50" charset="-128"/>
                <a:ea typeface="メイリオ" panose="020B0604030504040204" pitchFamily="50" charset="-128"/>
              </a:rPr>
              <a:t>上でも可能になります。</a:t>
            </a:r>
            <a:r>
              <a:rPr lang="ja-JP" altLang="en-US" sz="1400" b="1">
                <a:solidFill>
                  <a:schemeClr val="accent2"/>
                </a:solidFill>
                <a:latin typeface="メイリオ" panose="020B0604030504040204" pitchFamily="50" charset="-128"/>
                <a:ea typeface="メイリオ" panose="020B0604030504040204" pitchFamily="50" charset="-128"/>
              </a:rPr>
              <a:t>今まで蓄積したデータをいかに使うかが</a:t>
            </a:r>
            <a:r>
              <a:rPr lang="en-US" altLang="ja-JP" sz="1400" b="1">
                <a:solidFill>
                  <a:schemeClr val="accent2"/>
                </a:solidFill>
                <a:latin typeface="メイリオ" panose="020B0604030504040204" pitchFamily="50" charset="-128"/>
                <a:ea typeface="メイリオ" panose="020B0604030504040204" pitchFamily="50" charset="-128"/>
              </a:rPr>
              <a:t>Copilot</a:t>
            </a:r>
            <a:r>
              <a:rPr lang="ja-JP" altLang="en-US" sz="1400" b="1">
                <a:solidFill>
                  <a:schemeClr val="accent2"/>
                </a:solidFill>
                <a:latin typeface="メイリオ" panose="020B0604030504040204" pitchFamily="50" charset="-128"/>
                <a:ea typeface="メイリオ" panose="020B0604030504040204" pitchFamily="50" charset="-128"/>
              </a:rPr>
              <a:t>の優位性</a:t>
            </a:r>
            <a:r>
              <a:rPr lang="ja-JP" altLang="en-US" sz="1400">
                <a:latin typeface="メイリオ" panose="020B0604030504040204" pitchFamily="50" charset="-128"/>
                <a:ea typeface="メイリオ" panose="020B0604030504040204" pitchFamily="50" charset="-128"/>
              </a:rPr>
              <a:t>となっていきます。</a:t>
            </a:r>
            <a:endParaRPr kumimoji="1" lang="en-US" altLang="ja-JP" sz="1400">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EAF9C7D7-D8C4-5575-B0FB-24B6280992E4}"/>
              </a:ext>
            </a:extLst>
          </p:cNvPr>
          <p:cNvSpPr/>
          <p:nvPr/>
        </p:nvSpPr>
        <p:spPr>
          <a:xfrm>
            <a:off x="282112" y="2138011"/>
            <a:ext cx="2779198" cy="340403"/>
          </a:xfrm>
          <a:prstGeom prst="rect">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sz="1500" b="1">
                <a:solidFill>
                  <a:srgbClr val="FFFFFF"/>
                </a:solidFill>
                <a:latin typeface="メイリオ"/>
              </a:defRPr>
            </a:pPr>
            <a:r>
              <a:rPr lang="en-US" altLang="ja-JP" sz="1600">
                <a:latin typeface="メイリオ" panose="020B0604030504040204" pitchFamily="50" charset="-128"/>
                <a:ea typeface="メイリオ" panose="020B0604030504040204" pitchFamily="50" charset="-128"/>
              </a:rPr>
              <a:t>Copilot</a:t>
            </a:r>
            <a:r>
              <a:rPr lang="ja-JP" altLang="en-US" sz="1600">
                <a:latin typeface="メイリオ" panose="020B0604030504040204" pitchFamily="50" charset="-128"/>
                <a:ea typeface="メイリオ" panose="020B0604030504040204" pitchFamily="50" charset="-128"/>
              </a:rPr>
              <a:t>（従来の参照）</a:t>
            </a:r>
          </a:p>
        </p:txBody>
      </p:sp>
      <p:sp>
        <p:nvSpPr>
          <p:cNvPr id="23" name="正方形/長方形 22">
            <a:extLst>
              <a:ext uri="{FF2B5EF4-FFF2-40B4-BE49-F238E27FC236}">
                <a16:creationId xmlns:a16="http://schemas.microsoft.com/office/drawing/2014/main" id="{A944B2B3-6295-0F9B-E2C0-036671B92428}"/>
              </a:ext>
            </a:extLst>
          </p:cNvPr>
          <p:cNvSpPr/>
          <p:nvPr/>
        </p:nvSpPr>
        <p:spPr>
          <a:xfrm>
            <a:off x="282112" y="2478414"/>
            <a:ext cx="2779198" cy="4062374"/>
          </a:xfrm>
          <a:prstGeom prst="rect">
            <a:avLst/>
          </a:prstGeom>
          <a:no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24" name="正方形/長方形 23">
            <a:extLst>
              <a:ext uri="{FF2B5EF4-FFF2-40B4-BE49-F238E27FC236}">
                <a16:creationId xmlns:a16="http://schemas.microsoft.com/office/drawing/2014/main" id="{30200741-2FC0-1954-033F-85D125BE1819}"/>
              </a:ext>
            </a:extLst>
          </p:cNvPr>
          <p:cNvSpPr/>
          <p:nvPr/>
        </p:nvSpPr>
        <p:spPr>
          <a:xfrm>
            <a:off x="3576283" y="2138011"/>
            <a:ext cx="2779198" cy="340403"/>
          </a:xfrm>
          <a:prstGeom prst="rect">
            <a:avLst/>
          </a:prstGeom>
          <a:solidFill>
            <a:schemeClr val="accent6">
              <a:lumMod val="75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sz="1500" b="1">
                <a:solidFill>
                  <a:srgbClr val="FFFFFF"/>
                </a:solidFill>
                <a:latin typeface="メイリオ"/>
              </a:defRPr>
            </a:pPr>
            <a:r>
              <a:rPr lang="en-US" altLang="ja-JP" sz="1600">
                <a:latin typeface="メイリオ" panose="020B0604030504040204" pitchFamily="50" charset="-128"/>
                <a:ea typeface="メイリオ" panose="020B0604030504040204" pitchFamily="50" charset="-128"/>
              </a:rPr>
              <a:t>Cowork</a:t>
            </a:r>
            <a:r>
              <a:rPr lang="ja-JP" altLang="en-US" sz="1600">
                <a:latin typeface="メイリオ" panose="020B0604030504040204" pitchFamily="50" charset="-128"/>
                <a:ea typeface="メイリオ" panose="020B0604030504040204" pitchFamily="50" charset="-128"/>
              </a:rPr>
              <a:t>（自律実行）</a:t>
            </a:r>
          </a:p>
        </p:txBody>
      </p:sp>
      <p:sp>
        <p:nvSpPr>
          <p:cNvPr id="25" name="正方形/長方形 24">
            <a:extLst>
              <a:ext uri="{FF2B5EF4-FFF2-40B4-BE49-F238E27FC236}">
                <a16:creationId xmlns:a16="http://schemas.microsoft.com/office/drawing/2014/main" id="{A65D48A9-F439-6E5D-BD84-80B02BE79F17}"/>
              </a:ext>
            </a:extLst>
          </p:cNvPr>
          <p:cNvSpPr/>
          <p:nvPr/>
        </p:nvSpPr>
        <p:spPr>
          <a:xfrm>
            <a:off x="3576283" y="2478414"/>
            <a:ext cx="2779198" cy="4062374"/>
          </a:xfrm>
          <a:prstGeom prst="rect">
            <a:avLst/>
          </a:prstGeom>
          <a:no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33" name="正方形/長方形 32">
            <a:extLst>
              <a:ext uri="{FF2B5EF4-FFF2-40B4-BE49-F238E27FC236}">
                <a16:creationId xmlns:a16="http://schemas.microsoft.com/office/drawing/2014/main" id="{D5DBAC55-52C4-4184-150A-9A2803018E36}"/>
              </a:ext>
            </a:extLst>
          </p:cNvPr>
          <p:cNvSpPr/>
          <p:nvPr/>
        </p:nvSpPr>
        <p:spPr>
          <a:xfrm>
            <a:off x="282112" y="1708163"/>
            <a:ext cx="2779198" cy="340403"/>
          </a:xfrm>
          <a:prstGeom prst="rect">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sz="1500" b="1">
                <a:solidFill>
                  <a:srgbClr val="FFFFFF"/>
                </a:solidFill>
                <a:latin typeface="メイリオ"/>
              </a:defRPr>
            </a:pPr>
            <a:r>
              <a:rPr lang="en-US" altLang="ja-JP" sz="1600">
                <a:latin typeface="メイリオ" panose="020B0604030504040204" pitchFamily="50" charset="-128"/>
                <a:ea typeface="メイリオ" panose="020B0604030504040204" pitchFamily="50" charset="-128"/>
              </a:rPr>
              <a:t>Before</a:t>
            </a:r>
            <a:r>
              <a:rPr lang="ja-JP" altLang="en-US" sz="1600">
                <a:latin typeface="メイリオ" panose="020B0604030504040204" pitchFamily="50" charset="-128"/>
                <a:ea typeface="メイリオ" panose="020B0604030504040204" pitchFamily="50" charset="-128"/>
              </a:rPr>
              <a:t>（従来の</a:t>
            </a:r>
            <a:r>
              <a:rPr lang="en-US" altLang="ja-JP" sz="1600">
                <a:latin typeface="メイリオ" panose="020B0604030504040204" pitchFamily="50" charset="-128"/>
                <a:ea typeface="メイリオ" panose="020B0604030504040204" pitchFamily="50" charset="-128"/>
              </a:rPr>
              <a:t>Copilot</a:t>
            </a:r>
            <a:r>
              <a:rPr lang="ja-JP" altLang="en-US" sz="1600">
                <a:latin typeface="メイリオ" panose="020B0604030504040204" pitchFamily="50" charset="-128"/>
                <a:ea typeface="メイリオ" panose="020B0604030504040204" pitchFamily="50" charset="-128"/>
              </a:rPr>
              <a:t>）</a:t>
            </a:r>
          </a:p>
        </p:txBody>
      </p:sp>
      <p:sp>
        <p:nvSpPr>
          <p:cNvPr id="34" name="正方形/長方形 33">
            <a:extLst>
              <a:ext uri="{FF2B5EF4-FFF2-40B4-BE49-F238E27FC236}">
                <a16:creationId xmlns:a16="http://schemas.microsoft.com/office/drawing/2014/main" id="{45625CCB-778D-F1D3-BCCB-C743C3A03BE9}"/>
              </a:ext>
            </a:extLst>
          </p:cNvPr>
          <p:cNvSpPr/>
          <p:nvPr/>
        </p:nvSpPr>
        <p:spPr>
          <a:xfrm>
            <a:off x="3576283" y="1708163"/>
            <a:ext cx="2779198" cy="340403"/>
          </a:xfrm>
          <a:prstGeom prst="rect">
            <a:avLst/>
          </a:prstGeom>
          <a:solidFill>
            <a:schemeClr val="accent6">
              <a:lumMod val="75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sz="1500" b="1">
                <a:solidFill>
                  <a:srgbClr val="FFFFFF"/>
                </a:solidFill>
                <a:latin typeface="メイリオ"/>
              </a:defRPr>
            </a:pPr>
            <a:r>
              <a:rPr lang="en-US" altLang="ja-JP" sz="1600">
                <a:latin typeface="メイリオ" panose="020B0604030504040204" pitchFamily="50" charset="-128"/>
                <a:ea typeface="メイリオ" panose="020B0604030504040204" pitchFamily="50" charset="-128"/>
              </a:rPr>
              <a:t>After</a:t>
            </a:r>
            <a:r>
              <a:rPr lang="ja-JP" altLang="en-US" sz="1600">
                <a:latin typeface="メイリオ" panose="020B0604030504040204" pitchFamily="50" charset="-128"/>
                <a:ea typeface="メイリオ" panose="020B0604030504040204" pitchFamily="50" charset="-128"/>
              </a:rPr>
              <a:t>（</a:t>
            </a:r>
            <a:r>
              <a:rPr lang="en-US" altLang="ja-JP" sz="1600">
                <a:latin typeface="メイリオ" panose="020B0604030504040204" pitchFamily="50" charset="-128"/>
                <a:ea typeface="メイリオ" panose="020B0604030504040204" pitchFamily="50" charset="-128"/>
              </a:rPr>
              <a:t>Cowork</a:t>
            </a:r>
            <a:r>
              <a:rPr lang="ja-JP" altLang="en-US" sz="1600">
                <a:latin typeface="メイリオ" panose="020B0604030504040204" pitchFamily="50" charset="-128"/>
                <a:ea typeface="メイリオ" panose="020B0604030504040204" pitchFamily="50" charset="-128"/>
              </a:rPr>
              <a:t>）</a:t>
            </a:r>
          </a:p>
        </p:txBody>
      </p:sp>
      <p:sp>
        <p:nvSpPr>
          <p:cNvPr id="36" name="テキスト ボックス 35">
            <a:extLst>
              <a:ext uri="{FF2B5EF4-FFF2-40B4-BE49-F238E27FC236}">
                <a16:creationId xmlns:a16="http://schemas.microsoft.com/office/drawing/2014/main" id="{0DD81FD9-073B-FE8E-A6A1-CFE434AD6316}"/>
              </a:ext>
            </a:extLst>
          </p:cNvPr>
          <p:cNvSpPr txBox="1"/>
          <p:nvPr/>
        </p:nvSpPr>
        <p:spPr>
          <a:xfrm>
            <a:off x="3061309" y="1606642"/>
            <a:ext cx="514974" cy="430887"/>
          </a:xfrm>
          <a:prstGeom prst="rect">
            <a:avLst/>
          </a:prstGeom>
          <a:noFill/>
        </p:spPr>
        <p:txBody>
          <a:bodyPr wrap="square" rtlCol="0">
            <a:spAutoFit/>
          </a:bodyPr>
          <a:lstStyle/>
          <a:p>
            <a:pPr algn="ctr">
              <a:lnSpc>
                <a:spcPct val="150000"/>
              </a:lnSpc>
            </a:pPr>
            <a:r>
              <a:rPr lang="en-US" altLang="ja-JP" sz="1600" b="1">
                <a:latin typeface="メイリオ" panose="020B0604030504040204" pitchFamily="50" charset="-128"/>
                <a:ea typeface="メイリオ" panose="020B0604030504040204" pitchFamily="50" charset="-128"/>
              </a:rPr>
              <a:t>VS</a:t>
            </a:r>
            <a:endParaRPr lang="ja-JP" altLang="en-US" sz="1200">
              <a:latin typeface="メイリオ" panose="020B0604030504040204" pitchFamily="50" charset="-128"/>
              <a:ea typeface="メイリオ" panose="020B0604030504040204" pitchFamily="50" charset="-128"/>
            </a:endParaRPr>
          </a:p>
        </p:txBody>
      </p:sp>
      <p:cxnSp>
        <p:nvCxnSpPr>
          <p:cNvPr id="38" name="直線コネクタ 37">
            <a:extLst>
              <a:ext uri="{FF2B5EF4-FFF2-40B4-BE49-F238E27FC236}">
                <a16:creationId xmlns:a16="http://schemas.microsoft.com/office/drawing/2014/main" id="{AA89EE68-1767-9DA5-C78D-5170341B2F10}"/>
              </a:ext>
            </a:extLst>
          </p:cNvPr>
          <p:cNvCxnSpPr>
            <a:cxnSpLocks/>
          </p:cNvCxnSpPr>
          <p:nvPr/>
        </p:nvCxnSpPr>
        <p:spPr>
          <a:xfrm>
            <a:off x="3318796" y="2126974"/>
            <a:ext cx="0" cy="4442792"/>
          </a:xfrm>
          <a:prstGeom prst="line">
            <a:avLst/>
          </a:prstGeom>
          <a:ln>
            <a:solidFill>
              <a:schemeClr val="tx1">
                <a:lumMod val="50000"/>
                <a:lumOff val="50000"/>
              </a:schemeClr>
            </a:solidFill>
            <a:prstDash val="dash"/>
          </a:ln>
        </p:spPr>
        <p:style>
          <a:lnRef idx="2">
            <a:schemeClr val="accent1"/>
          </a:lnRef>
          <a:fillRef idx="0">
            <a:schemeClr val="accent1"/>
          </a:fillRef>
          <a:effectRef idx="1">
            <a:schemeClr val="accent1"/>
          </a:effectRef>
          <a:fontRef idx="minor">
            <a:schemeClr val="tx1"/>
          </a:fontRef>
        </p:style>
      </p:cxnSp>
      <p:pic>
        <p:nvPicPr>
          <p:cNvPr id="41" name="グラフィックス 40" descr="人工知能 単色塗りつぶし">
            <a:extLst>
              <a:ext uri="{FF2B5EF4-FFF2-40B4-BE49-F238E27FC236}">
                <a16:creationId xmlns:a16="http://schemas.microsoft.com/office/drawing/2014/main" id="{8F9D7FAD-0C02-C97C-0BA7-B78B6A1F767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913248" y="2652482"/>
            <a:ext cx="552403" cy="552403"/>
          </a:xfrm>
          <a:prstGeom prst="rect">
            <a:avLst/>
          </a:prstGeom>
        </p:spPr>
      </p:pic>
      <p:pic>
        <p:nvPicPr>
          <p:cNvPr id="43" name="グラフィックス 42" descr="男性のプロフィール 単色塗りつぶし">
            <a:extLst>
              <a:ext uri="{FF2B5EF4-FFF2-40B4-BE49-F238E27FC236}">
                <a16:creationId xmlns:a16="http://schemas.microsoft.com/office/drawing/2014/main" id="{788B54D8-FF9D-1A09-7020-9404F744139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70581" y="2652482"/>
            <a:ext cx="552403" cy="552403"/>
          </a:xfrm>
          <a:prstGeom prst="rect">
            <a:avLst/>
          </a:prstGeom>
        </p:spPr>
      </p:pic>
      <p:pic>
        <p:nvPicPr>
          <p:cNvPr id="45" name="グラフィックス 44" descr="ドキュメント 単色塗りつぶし">
            <a:extLst>
              <a:ext uri="{FF2B5EF4-FFF2-40B4-BE49-F238E27FC236}">
                <a16:creationId xmlns:a16="http://schemas.microsoft.com/office/drawing/2014/main" id="{E09D1EA5-9876-0E17-9E86-438B8EED667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502995" y="4520804"/>
            <a:ext cx="552403" cy="552403"/>
          </a:xfrm>
          <a:prstGeom prst="rect">
            <a:avLst/>
          </a:prstGeom>
        </p:spPr>
      </p:pic>
      <p:pic>
        <p:nvPicPr>
          <p:cNvPr id="47" name="グラフィックス 46" descr="封筒 単色塗りつぶし">
            <a:extLst>
              <a:ext uri="{FF2B5EF4-FFF2-40B4-BE49-F238E27FC236}">
                <a16:creationId xmlns:a16="http://schemas.microsoft.com/office/drawing/2014/main" id="{8CF42687-9368-707D-9E2A-A5EA3279BF2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41817" y="4550206"/>
            <a:ext cx="552403" cy="552403"/>
          </a:xfrm>
          <a:prstGeom prst="rect">
            <a:avLst/>
          </a:prstGeom>
        </p:spPr>
      </p:pic>
      <p:pic>
        <p:nvPicPr>
          <p:cNvPr id="49" name="グラフィックス 48" descr="ノート PC 単色塗りつぶし">
            <a:extLst>
              <a:ext uri="{FF2B5EF4-FFF2-40B4-BE49-F238E27FC236}">
                <a16:creationId xmlns:a16="http://schemas.microsoft.com/office/drawing/2014/main" id="{824114CD-AD29-485E-D33B-CC1B3C85548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634441" y="4550206"/>
            <a:ext cx="552403" cy="552403"/>
          </a:xfrm>
          <a:prstGeom prst="rect">
            <a:avLst/>
          </a:prstGeom>
        </p:spPr>
      </p:pic>
      <p:sp>
        <p:nvSpPr>
          <p:cNvPr id="50" name="テキスト ボックス 49">
            <a:extLst>
              <a:ext uri="{FF2B5EF4-FFF2-40B4-BE49-F238E27FC236}">
                <a16:creationId xmlns:a16="http://schemas.microsoft.com/office/drawing/2014/main" id="{80C63AD5-806A-82EF-3A36-4C699C35B49A}"/>
              </a:ext>
            </a:extLst>
          </p:cNvPr>
          <p:cNvSpPr txBox="1"/>
          <p:nvPr/>
        </p:nvSpPr>
        <p:spPr>
          <a:xfrm rot="10800000">
            <a:off x="1398275" y="2670920"/>
            <a:ext cx="514974" cy="515526"/>
          </a:xfrm>
          <a:prstGeom prst="rect">
            <a:avLst/>
          </a:prstGeom>
          <a:noFill/>
        </p:spPr>
        <p:txBody>
          <a:bodyPr wrap="square" rtlCol="0">
            <a:spAutoFit/>
          </a:bodyPr>
          <a:lstStyle/>
          <a:p>
            <a:pPr algn="ctr">
              <a:lnSpc>
                <a:spcPct val="150000"/>
              </a:lnSpc>
            </a:pPr>
            <a:r>
              <a:rPr lang="ja-JP" altLang="en-US" sz="2000">
                <a:latin typeface="メイリオ" panose="020B0604030504040204" pitchFamily="50" charset="-128"/>
                <a:ea typeface="メイリオ" panose="020B0604030504040204" pitchFamily="50" charset="-128"/>
              </a:rPr>
              <a:t>⇄</a:t>
            </a:r>
            <a:endParaRPr lang="ja-JP" altLang="en-US" sz="1600">
              <a:latin typeface="メイリオ" panose="020B0604030504040204" pitchFamily="50" charset="-128"/>
              <a:ea typeface="メイリオ" panose="020B0604030504040204" pitchFamily="50" charset="-128"/>
            </a:endParaRPr>
          </a:p>
        </p:txBody>
      </p:sp>
      <p:sp>
        <p:nvSpPr>
          <p:cNvPr id="51" name="テキスト ボックス 50">
            <a:extLst>
              <a:ext uri="{FF2B5EF4-FFF2-40B4-BE49-F238E27FC236}">
                <a16:creationId xmlns:a16="http://schemas.microsoft.com/office/drawing/2014/main" id="{93684BD2-DB28-5A1B-7DA9-CB6BFCF3FA89}"/>
              </a:ext>
            </a:extLst>
          </p:cNvPr>
          <p:cNvSpPr txBox="1"/>
          <p:nvPr/>
        </p:nvSpPr>
        <p:spPr>
          <a:xfrm>
            <a:off x="2400070" y="2670920"/>
            <a:ext cx="514974" cy="430887"/>
          </a:xfrm>
          <a:prstGeom prst="rect">
            <a:avLst/>
          </a:prstGeom>
          <a:noFill/>
        </p:spPr>
        <p:txBody>
          <a:bodyPr wrap="square" rtlCol="0">
            <a:spAutoFit/>
          </a:bodyPr>
          <a:lstStyle/>
          <a:p>
            <a:pPr algn="ctr">
              <a:lnSpc>
                <a:spcPct val="150000"/>
              </a:lnSpc>
            </a:pPr>
            <a:r>
              <a:rPr lang="en-US" altLang="ja-JP" sz="1600" b="1">
                <a:latin typeface="メイリオ" panose="020B0604030504040204" pitchFamily="50" charset="-128"/>
                <a:ea typeface="メイリオ" panose="020B0604030504040204" pitchFamily="50" charset="-128"/>
              </a:rPr>
              <a:t>AI</a:t>
            </a:r>
            <a:endParaRPr lang="ja-JP" altLang="en-US" sz="1200">
              <a:latin typeface="メイリオ" panose="020B0604030504040204" pitchFamily="50" charset="-128"/>
              <a:ea typeface="メイリオ" panose="020B0604030504040204" pitchFamily="50" charset="-128"/>
            </a:endParaRPr>
          </a:p>
        </p:txBody>
      </p:sp>
      <p:sp>
        <p:nvSpPr>
          <p:cNvPr id="68" name="矢印: 下 67">
            <a:extLst>
              <a:ext uri="{FF2B5EF4-FFF2-40B4-BE49-F238E27FC236}">
                <a16:creationId xmlns:a16="http://schemas.microsoft.com/office/drawing/2014/main" id="{A3766EF4-BB34-1C8A-85DE-4DF7FDF01132}"/>
              </a:ext>
            </a:extLst>
          </p:cNvPr>
          <p:cNvSpPr/>
          <p:nvPr/>
        </p:nvSpPr>
        <p:spPr>
          <a:xfrm>
            <a:off x="1739545" y="3262110"/>
            <a:ext cx="288302" cy="1041533"/>
          </a:xfrm>
          <a:prstGeom prst="downArrow">
            <a:avLst>
              <a:gd name="adj1" fmla="val 50000"/>
              <a:gd name="adj2" fmla="val 70685"/>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矢印: 下 68">
            <a:extLst>
              <a:ext uri="{FF2B5EF4-FFF2-40B4-BE49-F238E27FC236}">
                <a16:creationId xmlns:a16="http://schemas.microsoft.com/office/drawing/2014/main" id="{CEF7F8E5-D6E3-B167-A63B-ECA386447BA8}"/>
              </a:ext>
            </a:extLst>
          </p:cNvPr>
          <p:cNvSpPr/>
          <p:nvPr/>
        </p:nvSpPr>
        <p:spPr>
          <a:xfrm rot="10800000">
            <a:off x="1325047" y="3262109"/>
            <a:ext cx="288302" cy="1041533"/>
          </a:xfrm>
          <a:prstGeom prst="downArrow">
            <a:avLst>
              <a:gd name="adj1" fmla="val 50000"/>
              <a:gd name="adj2" fmla="val 70685"/>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70" name="グラフィックス 69" descr="男性のプロフィール 単色塗りつぶし">
            <a:extLst>
              <a:ext uri="{FF2B5EF4-FFF2-40B4-BE49-F238E27FC236}">
                <a16:creationId xmlns:a16="http://schemas.microsoft.com/office/drawing/2014/main" id="{77086592-8C3E-B79A-0AA9-5490621D43B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56363" y="4520804"/>
            <a:ext cx="552403" cy="552403"/>
          </a:xfrm>
          <a:prstGeom prst="rect">
            <a:avLst/>
          </a:prstGeom>
        </p:spPr>
      </p:pic>
      <p:sp>
        <p:nvSpPr>
          <p:cNvPr id="71" name="テキスト ボックス 70">
            <a:extLst>
              <a:ext uri="{FF2B5EF4-FFF2-40B4-BE49-F238E27FC236}">
                <a16:creationId xmlns:a16="http://schemas.microsoft.com/office/drawing/2014/main" id="{ADD39835-6098-508A-4E13-85CBD837C78B}"/>
              </a:ext>
            </a:extLst>
          </p:cNvPr>
          <p:cNvSpPr txBox="1"/>
          <p:nvPr/>
        </p:nvSpPr>
        <p:spPr>
          <a:xfrm>
            <a:off x="1965451" y="3560379"/>
            <a:ext cx="1036815" cy="346249"/>
          </a:xfrm>
          <a:prstGeom prst="rect">
            <a:avLst/>
          </a:prstGeom>
          <a:noFill/>
        </p:spPr>
        <p:txBody>
          <a:bodyPr wrap="square" rtlCol="0">
            <a:spAutoFit/>
          </a:bodyPr>
          <a:lstStyle/>
          <a:p>
            <a:pPr algn="ctr">
              <a:lnSpc>
                <a:spcPct val="150000"/>
              </a:lnSpc>
            </a:pPr>
            <a:r>
              <a:rPr lang="ja-JP" altLang="en-US" sz="1200" b="1">
                <a:latin typeface="メイリオ" panose="020B0604030504040204" pitchFamily="50" charset="-128"/>
                <a:ea typeface="メイリオ" panose="020B0604030504040204" pitchFamily="50" charset="-128"/>
              </a:rPr>
              <a:t>要約が出る</a:t>
            </a:r>
            <a:endParaRPr lang="ja-JP" altLang="en-US" sz="1050">
              <a:latin typeface="メイリオ" panose="020B0604030504040204" pitchFamily="50" charset="-128"/>
              <a:ea typeface="メイリオ" panose="020B0604030504040204" pitchFamily="50" charset="-128"/>
            </a:endParaRPr>
          </a:p>
        </p:txBody>
      </p:sp>
      <p:sp>
        <p:nvSpPr>
          <p:cNvPr id="72" name="テキスト ボックス 71">
            <a:extLst>
              <a:ext uri="{FF2B5EF4-FFF2-40B4-BE49-F238E27FC236}">
                <a16:creationId xmlns:a16="http://schemas.microsoft.com/office/drawing/2014/main" id="{8BB2B1A4-E2D5-3E66-6720-A967BC70FE45}"/>
              </a:ext>
            </a:extLst>
          </p:cNvPr>
          <p:cNvSpPr txBox="1"/>
          <p:nvPr/>
        </p:nvSpPr>
        <p:spPr>
          <a:xfrm>
            <a:off x="352173" y="3560379"/>
            <a:ext cx="1036815" cy="346249"/>
          </a:xfrm>
          <a:prstGeom prst="rect">
            <a:avLst/>
          </a:prstGeom>
          <a:noFill/>
        </p:spPr>
        <p:txBody>
          <a:bodyPr wrap="square" rtlCol="0">
            <a:spAutoFit/>
          </a:bodyPr>
          <a:lstStyle/>
          <a:p>
            <a:pPr algn="ctr">
              <a:lnSpc>
                <a:spcPct val="150000"/>
              </a:lnSpc>
            </a:pPr>
            <a:r>
              <a:rPr lang="ja-JP" altLang="en-US" sz="1200" b="1">
                <a:latin typeface="メイリオ" panose="020B0604030504040204" pitchFamily="50" charset="-128"/>
                <a:ea typeface="メイリオ" panose="020B0604030504040204" pitchFamily="50" charset="-128"/>
              </a:rPr>
              <a:t>要約して</a:t>
            </a:r>
            <a:endParaRPr lang="ja-JP" altLang="en-US" sz="1050">
              <a:latin typeface="メイリオ" panose="020B0604030504040204" pitchFamily="50" charset="-128"/>
              <a:ea typeface="メイリオ" panose="020B0604030504040204" pitchFamily="50" charset="-128"/>
            </a:endParaRPr>
          </a:p>
        </p:txBody>
      </p:sp>
      <p:sp>
        <p:nvSpPr>
          <p:cNvPr id="73" name="テキスト ボックス 72">
            <a:extLst>
              <a:ext uri="{FF2B5EF4-FFF2-40B4-BE49-F238E27FC236}">
                <a16:creationId xmlns:a16="http://schemas.microsoft.com/office/drawing/2014/main" id="{92BE1D5D-0375-DED7-8B60-A22E51A53496}"/>
              </a:ext>
            </a:extLst>
          </p:cNvPr>
          <p:cNvSpPr txBox="1"/>
          <p:nvPr/>
        </p:nvSpPr>
        <p:spPr>
          <a:xfrm>
            <a:off x="806398" y="4520804"/>
            <a:ext cx="514974" cy="515526"/>
          </a:xfrm>
          <a:prstGeom prst="rect">
            <a:avLst/>
          </a:prstGeom>
          <a:noFill/>
        </p:spPr>
        <p:txBody>
          <a:bodyPr wrap="square" rtlCol="0">
            <a:spAutoFit/>
          </a:bodyPr>
          <a:lstStyle/>
          <a:p>
            <a:pPr algn="ctr">
              <a:lnSpc>
                <a:spcPct val="150000"/>
              </a:lnSpc>
            </a:pPr>
            <a:r>
              <a:rPr lang="ja-JP" altLang="en-US" sz="2000">
                <a:latin typeface="メイリオ" panose="020B0604030504040204" pitchFamily="50" charset="-128"/>
                <a:ea typeface="メイリオ" panose="020B0604030504040204" pitchFamily="50" charset="-128"/>
              </a:rPr>
              <a:t>←</a:t>
            </a:r>
            <a:endParaRPr lang="ja-JP" altLang="en-US" sz="1600">
              <a:latin typeface="メイリオ" panose="020B0604030504040204" pitchFamily="50" charset="-128"/>
              <a:ea typeface="メイリオ" panose="020B0604030504040204" pitchFamily="50" charset="-128"/>
            </a:endParaRPr>
          </a:p>
        </p:txBody>
      </p:sp>
      <p:sp>
        <p:nvSpPr>
          <p:cNvPr id="74" name="テキスト ボックス 73">
            <a:extLst>
              <a:ext uri="{FF2B5EF4-FFF2-40B4-BE49-F238E27FC236}">
                <a16:creationId xmlns:a16="http://schemas.microsoft.com/office/drawing/2014/main" id="{48E8FEF7-5BAB-1186-A233-759B0F03A6BF}"/>
              </a:ext>
            </a:extLst>
          </p:cNvPr>
          <p:cNvSpPr txBox="1"/>
          <p:nvPr/>
        </p:nvSpPr>
        <p:spPr>
          <a:xfrm>
            <a:off x="2124595" y="4520804"/>
            <a:ext cx="514974" cy="515526"/>
          </a:xfrm>
          <a:prstGeom prst="rect">
            <a:avLst/>
          </a:prstGeom>
          <a:noFill/>
        </p:spPr>
        <p:txBody>
          <a:bodyPr wrap="square" rtlCol="0">
            <a:spAutoFit/>
          </a:bodyPr>
          <a:lstStyle/>
          <a:p>
            <a:pPr algn="ctr">
              <a:lnSpc>
                <a:spcPct val="150000"/>
              </a:lnSpc>
            </a:pPr>
            <a:r>
              <a:rPr lang="ja-JP" altLang="en-US" sz="2000">
                <a:latin typeface="メイリオ" panose="020B0604030504040204" pitchFamily="50" charset="-128"/>
                <a:ea typeface="メイリオ" panose="020B0604030504040204" pitchFamily="50" charset="-128"/>
              </a:rPr>
              <a:t>→</a:t>
            </a:r>
            <a:endParaRPr lang="ja-JP" altLang="en-US" sz="1600">
              <a:latin typeface="メイリオ" panose="020B0604030504040204" pitchFamily="50" charset="-128"/>
              <a:ea typeface="メイリオ" panose="020B0604030504040204" pitchFamily="50" charset="-128"/>
            </a:endParaRPr>
          </a:p>
        </p:txBody>
      </p:sp>
      <p:sp>
        <p:nvSpPr>
          <p:cNvPr id="75" name="テキスト ボックス 74">
            <a:extLst>
              <a:ext uri="{FF2B5EF4-FFF2-40B4-BE49-F238E27FC236}">
                <a16:creationId xmlns:a16="http://schemas.microsoft.com/office/drawing/2014/main" id="{AFB8FA0E-5EB3-6F3E-F864-599B722D0AEA}"/>
              </a:ext>
            </a:extLst>
          </p:cNvPr>
          <p:cNvSpPr txBox="1"/>
          <p:nvPr/>
        </p:nvSpPr>
        <p:spPr>
          <a:xfrm>
            <a:off x="898928" y="5065732"/>
            <a:ext cx="1562505" cy="346249"/>
          </a:xfrm>
          <a:prstGeom prst="rect">
            <a:avLst/>
          </a:prstGeom>
          <a:noFill/>
        </p:spPr>
        <p:txBody>
          <a:bodyPr wrap="square" rtlCol="0">
            <a:spAutoFit/>
          </a:bodyPr>
          <a:lstStyle/>
          <a:p>
            <a:pPr algn="ctr">
              <a:lnSpc>
                <a:spcPct val="150000"/>
              </a:lnSpc>
            </a:pPr>
            <a:r>
              <a:rPr lang="ja-JP" altLang="en-US" sz="1200" b="1">
                <a:latin typeface="メイリオ" panose="020B0604030504040204" pitchFamily="50" charset="-128"/>
                <a:ea typeface="メイリオ" panose="020B0604030504040204" pitchFamily="50" charset="-128"/>
              </a:rPr>
              <a:t>人がアクションする</a:t>
            </a:r>
            <a:endParaRPr lang="ja-JP" altLang="en-US" sz="1050">
              <a:latin typeface="メイリオ" panose="020B0604030504040204" pitchFamily="50" charset="-128"/>
              <a:ea typeface="メイリオ" panose="020B0604030504040204" pitchFamily="50" charset="-128"/>
            </a:endParaRPr>
          </a:p>
        </p:txBody>
      </p:sp>
      <p:sp>
        <p:nvSpPr>
          <p:cNvPr id="76" name="テキスト ボックス 75">
            <a:extLst>
              <a:ext uri="{FF2B5EF4-FFF2-40B4-BE49-F238E27FC236}">
                <a16:creationId xmlns:a16="http://schemas.microsoft.com/office/drawing/2014/main" id="{A44E206F-6C2D-428F-5E8D-E1B57A1AE7CA}"/>
              </a:ext>
            </a:extLst>
          </p:cNvPr>
          <p:cNvSpPr txBox="1"/>
          <p:nvPr/>
        </p:nvSpPr>
        <p:spPr>
          <a:xfrm>
            <a:off x="1556077" y="4306800"/>
            <a:ext cx="1562505" cy="303929"/>
          </a:xfrm>
          <a:prstGeom prst="rect">
            <a:avLst/>
          </a:prstGeom>
          <a:noFill/>
        </p:spPr>
        <p:txBody>
          <a:bodyPr wrap="square" rtlCol="0">
            <a:spAutoFit/>
          </a:bodyPr>
          <a:lstStyle/>
          <a:p>
            <a:pPr algn="ctr">
              <a:lnSpc>
                <a:spcPct val="150000"/>
              </a:lnSpc>
            </a:pPr>
            <a:r>
              <a:rPr lang="ja-JP" altLang="en-US" sz="1000" b="1">
                <a:latin typeface="メイリオ" panose="020B0604030504040204" pitchFamily="50" charset="-128"/>
                <a:ea typeface="メイリオ" panose="020B0604030504040204" pitchFamily="50" charset="-128"/>
              </a:rPr>
              <a:t>レポート作成</a:t>
            </a:r>
            <a:endParaRPr lang="ja-JP" altLang="en-US" sz="800">
              <a:latin typeface="メイリオ" panose="020B0604030504040204" pitchFamily="50" charset="-128"/>
              <a:ea typeface="メイリオ" panose="020B0604030504040204" pitchFamily="50" charset="-128"/>
            </a:endParaRPr>
          </a:p>
        </p:txBody>
      </p:sp>
      <p:sp>
        <p:nvSpPr>
          <p:cNvPr id="77" name="テキスト ボックス 76">
            <a:extLst>
              <a:ext uri="{FF2B5EF4-FFF2-40B4-BE49-F238E27FC236}">
                <a16:creationId xmlns:a16="http://schemas.microsoft.com/office/drawing/2014/main" id="{EEED51B1-95EA-3527-F4BA-15CBD61C90EC}"/>
              </a:ext>
            </a:extLst>
          </p:cNvPr>
          <p:cNvSpPr txBox="1"/>
          <p:nvPr/>
        </p:nvSpPr>
        <p:spPr>
          <a:xfrm>
            <a:off x="298768" y="4306800"/>
            <a:ext cx="1562505" cy="303929"/>
          </a:xfrm>
          <a:prstGeom prst="rect">
            <a:avLst/>
          </a:prstGeom>
          <a:noFill/>
        </p:spPr>
        <p:txBody>
          <a:bodyPr wrap="square" rtlCol="0">
            <a:spAutoFit/>
          </a:bodyPr>
          <a:lstStyle/>
          <a:p>
            <a:pPr algn="ctr">
              <a:lnSpc>
                <a:spcPct val="150000"/>
              </a:lnSpc>
            </a:pPr>
            <a:r>
              <a:rPr lang="ja-JP" altLang="en-US" sz="1000" b="1">
                <a:latin typeface="メイリオ" panose="020B0604030504040204" pitchFamily="50" charset="-128"/>
                <a:ea typeface="メイリオ" panose="020B0604030504040204" pitchFamily="50" charset="-128"/>
              </a:rPr>
              <a:t>メール作成</a:t>
            </a:r>
            <a:endParaRPr lang="ja-JP" altLang="en-US" sz="800">
              <a:latin typeface="メイリオ" panose="020B0604030504040204" pitchFamily="50" charset="-128"/>
              <a:ea typeface="メイリオ" panose="020B0604030504040204" pitchFamily="50" charset="-128"/>
            </a:endParaRPr>
          </a:p>
        </p:txBody>
      </p:sp>
      <p:cxnSp>
        <p:nvCxnSpPr>
          <p:cNvPr id="79" name="直線コネクタ 78">
            <a:extLst>
              <a:ext uri="{FF2B5EF4-FFF2-40B4-BE49-F238E27FC236}">
                <a16:creationId xmlns:a16="http://schemas.microsoft.com/office/drawing/2014/main" id="{DCC59298-2515-B33F-4080-794C27EE8A41}"/>
              </a:ext>
            </a:extLst>
          </p:cNvPr>
          <p:cNvCxnSpPr>
            <a:cxnSpLocks/>
          </p:cNvCxnSpPr>
          <p:nvPr/>
        </p:nvCxnSpPr>
        <p:spPr>
          <a:xfrm>
            <a:off x="447301" y="5414974"/>
            <a:ext cx="2448821" cy="0"/>
          </a:xfrm>
          <a:prstGeom prst="line">
            <a:avLst/>
          </a:prstGeom>
          <a:ln>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80" name="テキスト ボックス 79">
            <a:extLst>
              <a:ext uri="{FF2B5EF4-FFF2-40B4-BE49-F238E27FC236}">
                <a16:creationId xmlns:a16="http://schemas.microsoft.com/office/drawing/2014/main" id="{ECF92D82-B4B9-77AC-B3D5-34D8C9AD0729}"/>
              </a:ext>
            </a:extLst>
          </p:cNvPr>
          <p:cNvSpPr txBox="1"/>
          <p:nvPr/>
        </p:nvSpPr>
        <p:spPr>
          <a:xfrm>
            <a:off x="447301" y="5634528"/>
            <a:ext cx="2467741" cy="623248"/>
          </a:xfrm>
          <a:prstGeom prst="rect">
            <a:avLst/>
          </a:prstGeom>
          <a:noFill/>
        </p:spPr>
        <p:txBody>
          <a:bodyPr wrap="square" rtlCol="0">
            <a:spAutoFit/>
          </a:bodyPr>
          <a:lstStyle/>
          <a:p>
            <a:pPr algn="ctr">
              <a:lnSpc>
                <a:spcPct val="150000"/>
              </a:lnSpc>
            </a:pPr>
            <a:r>
              <a:rPr lang="ja-JP" altLang="en-US" sz="1200" b="1">
                <a:latin typeface="メイリオ" panose="020B0604030504040204" pitchFamily="50" charset="-128"/>
                <a:ea typeface="メイリオ" panose="020B0604030504040204" pitchFamily="50" charset="-128"/>
              </a:rPr>
              <a:t>参照・生成は強い。実行は人。</a:t>
            </a:r>
            <a:endParaRPr lang="en-US" altLang="ja-JP" sz="1200" b="1">
              <a:latin typeface="メイリオ" panose="020B0604030504040204" pitchFamily="50" charset="-128"/>
              <a:ea typeface="メイリオ" panose="020B0604030504040204" pitchFamily="50" charset="-128"/>
            </a:endParaRPr>
          </a:p>
          <a:p>
            <a:pPr algn="ctr">
              <a:lnSpc>
                <a:spcPct val="150000"/>
              </a:lnSpc>
            </a:pPr>
            <a:r>
              <a:rPr lang="en-US" altLang="ja-JP" sz="1200" b="1">
                <a:latin typeface="メイリオ" panose="020B0604030504040204" pitchFamily="50" charset="-128"/>
                <a:ea typeface="メイリオ" panose="020B0604030504040204" pitchFamily="50" charset="-128"/>
              </a:rPr>
              <a:t>1</a:t>
            </a:r>
            <a:r>
              <a:rPr lang="ja-JP" altLang="en-US" sz="1200" b="1">
                <a:latin typeface="メイリオ" panose="020B0604030504040204" pitchFamily="50" charset="-128"/>
                <a:ea typeface="メイリオ" panose="020B0604030504040204" pitchFamily="50" charset="-128"/>
              </a:rPr>
              <a:t>つの質問に</a:t>
            </a:r>
            <a:r>
              <a:rPr lang="en-US" altLang="ja-JP" sz="1200" b="1">
                <a:latin typeface="メイリオ" panose="020B0604030504040204" pitchFamily="50" charset="-128"/>
                <a:ea typeface="メイリオ" panose="020B0604030504040204" pitchFamily="50" charset="-128"/>
              </a:rPr>
              <a:t>1</a:t>
            </a:r>
            <a:r>
              <a:rPr lang="ja-JP" altLang="en-US" sz="1200" b="1">
                <a:latin typeface="メイリオ" panose="020B0604030504040204" pitchFamily="50" charset="-128"/>
                <a:ea typeface="メイリオ" panose="020B0604030504040204" pitchFamily="50" charset="-128"/>
              </a:rPr>
              <a:t>つの回答</a:t>
            </a:r>
            <a:endParaRPr lang="en-US" altLang="ja-JP" sz="1200" b="1">
              <a:latin typeface="メイリオ" panose="020B0604030504040204" pitchFamily="50" charset="-128"/>
              <a:ea typeface="メイリオ" panose="020B0604030504040204" pitchFamily="50" charset="-128"/>
            </a:endParaRPr>
          </a:p>
        </p:txBody>
      </p:sp>
      <p:pic>
        <p:nvPicPr>
          <p:cNvPr id="82" name="図 81">
            <a:extLst>
              <a:ext uri="{FF2B5EF4-FFF2-40B4-BE49-F238E27FC236}">
                <a16:creationId xmlns:a16="http://schemas.microsoft.com/office/drawing/2014/main" id="{57389FDD-15AE-A15F-ECDE-8BFBD595F41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614979" y="2563252"/>
            <a:ext cx="701807" cy="698858"/>
          </a:xfrm>
          <a:prstGeom prst="rect">
            <a:avLst/>
          </a:prstGeom>
        </p:spPr>
      </p:pic>
      <p:sp>
        <p:nvSpPr>
          <p:cNvPr id="83" name="テキスト ボックス 82">
            <a:extLst>
              <a:ext uri="{FF2B5EF4-FFF2-40B4-BE49-F238E27FC236}">
                <a16:creationId xmlns:a16="http://schemas.microsoft.com/office/drawing/2014/main" id="{3F77FE6E-8B7D-0007-01FA-2427D7BA9BDD}"/>
              </a:ext>
            </a:extLst>
          </p:cNvPr>
          <p:cNvSpPr txBox="1"/>
          <p:nvPr/>
        </p:nvSpPr>
        <p:spPr>
          <a:xfrm>
            <a:off x="3480706" y="3609146"/>
            <a:ext cx="1571025" cy="799258"/>
          </a:xfrm>
          <a:prstGeom prst="rect">
            <a:avLst/>
          </a:prstGeom>
          <a:noFill/>
        </p:spPr>
        <p:txBody>
          <a:bodyPr wrap="square" rtlCol="0">
            <a:spAutoFit/>
          </a:bodyPr>
          <a:lstStyle/>
          <a:p>
            <a:pPr algn="ctr">
              <a:lnSpc>
                <a:spcPct val="150000"/>
              </a:lnSpc>
            </a:pPr>
            <a:r>
              <a:rPr lang="ja-JP" altLang="en-US" sz="1050" b="1">
                <a:latin typeface="メイリオ" panose="020B0604030504040204" pitchFamily="50" charset="-128"/>
                <a:ea typeface="メイリオ" panose="020B0604030504040204" pitchFamily="50" charset="-128"/>
              </a:rPr>
              <a:t>要約して</a:t>
            </a:r>
            <a:endParaRPr lang="en-US" altLang="ja-JP" sz="1050" b="1">
              <a:latin typeface="メイリオ" panose="020B0604030504040204" pitchFamily="50" charset="-128"/>
              <a:ea typeface="メイリオ" panose="020B0604030504040204" pitchFamily="50" charset="-128"/>
            </a:endParaRPr>
          </a:p>
          <a:p>
            <a:pPr algn="ctr">
              <a:lnSpc>
                <a:spcPct val="150000"/>
              </a:lnSpc>
            </a:pPr>
            <a:r>
              <a:rPr lang="ja-JP" altLang="en-US" sz="1050" b="1">
                <a:latin typeface="メイリオ" panose="020B0604030504040204" pitchFamily="50" charset="-128"/>
                <a:ea typeface="メイリオ" panose="020B0604030504040204" pitchFamily="50" charset="-128"/>
              </a:rPr>
              <a:t>レポートにまとめて</a:t>
            </a:r>
            <a:endParaRPr lang="en-US" altLang="ja-JP" sz="1050" b="1">
              <a:latin typeface="メイリオ" panose="020B0604030504040204" pitchFamily="50" charset="-128"/>
              <a:ea typeface="メイリオ" panose="020B0604030504040204" pitchFamily="50" charset="-128"/>
            </a:endParaRPr>
          </a:p>
          <a:p>
            <a:pPr algn="ctr">
              <a:lnSpc>
                <a:spcPct val="150000"/>
              </a:lnSpc>
            </a:pPr>
            <a:r>
              <a:rPr lang="ja-JP" altLang="en-US" sz="1050" b="1">
                <a:latin typeface="メイリオ" panose="020B0604030504040204" pitchFamily="50" charset="-128"/>
                <a:ea typeface="メイリオ" panose="020B0604030504040204" pitchFamily="50" charset="-128"/>
              </a:rPr>
              <a:t>メールで送って</a:t>
            </a:r>
            <a:endParaRPr lang="ja-JP" altLang="en-US" sz="900">
              <a:latin typeface="メイリオ" panose="020B0604030504040204" pitchFamily="50" charset="-128"/>
              <a:ea typeface="メイリオ" panose="020B0604030504040204" pitchFamily="50" charset="-128"/>
            </a:endParaRPr>
          </a:p>
        </p:txBody>
      </p:sp>
      <p:sp>
        <p:nvSpPr>
          <p:cNvPr id="85" name="テキスト ボックス 84">
            <a:extLst>
              <a:ext uri="{FF2B5EF4-FFF2-40B4-BE49-F238E27FC236}">
                <a16:creationId xmlns:a16="http://schemas.microsoft.com/office/drawing/2014/main" id="{E0CAA4B6-D17D-B752-C311-BEC2A8FD5AC2}"/>
              </a:ext>
            </a:extLst>
          </p:cNvPr>
          <p:cNvSpPr txBox="1"/>
          <p:nvPr/>
        </p:nvSpPr>
        <p:spPr>
          <a:xfrm>
            <a:off x="4810930" y="3751012"/>
            <a:ext cx="514974" cy="515526"/>
          </a:xfrm>
          <a:prstGeom prst="rect">
            <a:avLst/>
          </a:prstGeom>
          <a:noFill/>
        </p:spPr>
        <p:txBody>
          <a:bodyPr wrap="square" rtlCol="0">
            <a:spAutoFit/>
          </a:bodyPr>
          <a:lstStyle/>
          <a:p>
            <a:pPr algn="ctr">
              <a:lnSpc>
                <a:spcPct val="150000"/>
              </a:lnSpc>
            </a:pPr>
            <a:r>
              <a:rPr lang="ja-JP" altLang="en-US" sz="2000">
                <a:latin typeface="メイリオ" panose="020B0604030504040204" pitchFamily="50" charset="-128"/>
                <a:ea typeface="メイリオ" panose="020B0604030504040204" pitchFamily="50" charset="-128"/>
              </a:rPr>
              <a:t>→</a:t>
            </a:r>
            <a:endParaRPr lang="ja-JP" altLang="en-US" sz="1600">
              <a:latin typeface="メイリオ" panose="020B0604030504040204" pitchFamily="50" charset="-128"/>
              <a:ea typeface="メイリオ" panose="020B0604030504040204" pitchFamily="50" charset="-128"/>
            </a:endParaRPr>
          </a:p>
        </p:txBody>
      </p:sp>
      <p:sp>
        <p:nvSpPr>
          <p:cNvPr id="86" name="テキスト ボックス 85">
            <a:extLst>
              <a:ext uri="{FF2B5EF4-FFF2-40B4-BE49-F238E27FC236}">
                <a16:creationId xmlns:a16="http://schemas.microsoft.com/office/drawing/2014/main" id="{6089CEA5-E444-1A4B-3F57-52617C2ECFAE}"/>
              </a:ext>
            </a:extLst>
          </p:cNvPr>
          <p:cNvSpPr txBox="1"/>
          <p:nvPr/>
        </p:nvSpPr>
        <p:spPr>
          <a:xfrm>
            <a:off x="4888551" y="3110974"/>
            <a:ext cx="1421196" cy="2285241"/>
          </a:xfrm>
          <a:prstGeom prst="rect">
            <a:avLst/>
          </a:prstGeom>
          <a:noFill/>
        </p:spPr>
        <p:txBody>
          <a:bodyPr wrap="square" rtlCol="0">
            <a:spAutoFit/>
          </a:bodyPr>
          <a:lstStyle/>
          <a:p>
            <a:pPr algn="ctr">
              <a:lnSpc>
                <a:spcPct val="150000"/>
              </a:lnSpc>
            </a:pPr>
            <a:r>
              <a:rPr lang="ja-JP" altLang="en-US" sz="1200" b="1">
                <a:latin typeface="メイリオ" panose="020B0604030504040204" pitchFamily="50" charset="-128"/>
                <a:ea typeface="メイリオ" panose="020B0604030504040204" pitchFamily="50" charset="-128"/>
              </a:rPr>
              <a:t>要約</a:t>
            </a:r>
            <a:endParaRPr lang="en-US" altLang="ja-JP" sz="1200" b="1">
              <a:latin typeface="メイリオ" panose="020B0604030504040204" pitchFamily="50" charset="-128"/>
              <a:ea typeface="メイリオ" panose="020B0604030504040204" pitchFamily="50" charset="-128"/>
            </a:endParaRPr>
          </a:p>
          <a:p>
            <a:pPr algn="ctr">
              <a:lnSpc>
                <a:spcPct val="150000"/>
              </a:lnSpc>
            </a:pPr>
            <a:r>
              <a:rPr lang="ja-JP" altLang="en-US" sz="1200" b="1">
                <a:latin typeface="メイリオ" panose="020B0604030504040204" pitchFamily="50" charset="-128"/>
                <a:ea typeface="メイリオ" panose="020B0604030504040204" pitchFamily="50" charset="-128"/>
              </a:rPr>
              <a:t>↓</a:t>
            </a:r>
            <a:endParaRPr lang="en-US" altLang="ja-JP" sz="1200" b="1">
              <a:latin typeface="メイリオ" panose="020B0604030504040204" pitchFamily="50" charset="-128"/>
              <a:ea typeface="メイリオ" panose="020B0604030504040204" pitchFamily="50" charset="-128"/>
            </a:endParaRPr>
          </a:p>
          <a:p>
            <a:pPr algn="ctr">
              <a:lnSpc>
                <a:spcPct val="150000"/>
              </a:lnSpc>
            </a:pPr>
            <a:r>
              <a:rPr lang="ja-JP" altLang="en-US" sz="1200" b="1">
                <a:latin typeface="メイリオ" panose="020B0604030504040204" pitchFamily="50" charset="-128"/>
                <a:ea typeface="メイリオ" panose="020B0604030504040204" pitchFamily="50" charset="-128"/>
              </a:rPr>
              <a:t>判断</a:t>
            </a:r>
            <a:endParaRPr lang="en-US" altLang="ja-JP" sz="1200" b="1">
              <a:latin typeface="メイリオ" panose="020B0604030504040204" pitchFamily="50" charset="-128"/>
              <a:ea typeface="メイリオ" panose="020B0604030504040204" pitchFamily="50" charset="-128"/>
            </a:endParaRPr>
          </a:p>
          <a:p>
            <a:pPr algn="ctr">
              <a:lnSpc>
                <a:spcPct val="150000"/>
              </a:lnSpc>
            </a:pPr>
            <a:r>
              <a:rPr lang="ja-JP" altLang="en-US" sz="1200" b="1">
                <a:latin typeface="メイリオ" panose="020B0604030504040204" pitchFamily="50" charset="-128"/>
                <a:ea typeface="メイリオ" panose="020B0604030504040204" pitchFamily="50" charset="-128"/>
              </a:rPr>
              <a:t>↓</a:t>
            </a:r>
            <a:endParaRPr lang="en-US" altLang="ja-JP" sz="1200" b="1">
              <a:latin typeface="メイリオ" panose="020B0604030504040204" pitchFamily="50" charset="-128"/>
              <a:ea typeface="メイリオ" panose="020B0604030504040204" pitchFamily="50" charset="-128"/>
            </a:endParaRPr>
          </a:p>
          <a:p>
            <a:pPr algn="ctr">
              <a:lnSpc>
                <a:spcPct val="150000"/>
              </a:lnSpc>
            </a:pPr>
            <a:r>
              <a:rPr lang="ja-JP" altLang="en-US" sz="1200" b="1">
                <a:latin typeface="メイリオ" panose="020B0604030504040204" pitchFamily="50" charset="-128"/>
                <a:ea typeface="メイリオ" panose="020B0604030504040204" pitchFamily="50" charset="-128"/>
              </a:rPr>
              <a:t>レポート生成</a:t>
            </a:r>
            <a:endParaRPr lang="en-US" altLang="ja-JP" sz="1200" b="1">
              <a:latin typeface="メイリオ" panose="020B0604030504040204" pitchFamily="50" charset="-128"/>
              <a:ea typeface="メイリオ" panose="020B0604030504040204" pitchFamily="50" charset="-128"/>
            </a:endParaRPr>
          </a:p>
          <a:p>
            <a:pPr algn="ctr">
              <a:lnSpc>
                <a:spcPct val="150000"/>
              </a:lnSpc>
            </a:pPr>
            <a:r>
              <a:rPr lang="ja-JP" altLang="en-US" sz="1200" b="1">
                <a:latin typeface="メイリオ" panose="020B0604030504040204" pitchFamily="50" charset="-128"/>
                <a:ea typeface="メイリオ" panose="020B0604030504040204" pitchFamily="50" charset="-128"/>
              </a:rPr>
              <a:t>↓</a:t>
            </a:r>
            <a:endParaRPr lang="en-US" altLang="ja-JP" sz="1200" b="1">
              <a:latin typeface="メイリオ" panose="020B0604030504040204" pitchFamily="50" charset="-128"/>
              <a:ea typeface="メイリオ" panose="020B0604030504040204" pitchFamily="50" charset="-128"/>
            </a:endParaRPr>
          </a:p>
          <a:p>
            <a:pPr algn="ctr">
              <a:lnSpc>
                <a:spcPct val="150000"/>
              </a:lnSpc>
            </a:pPr>
            <a:r>
              <a:rPr lang="ja-JP" altLang="en-US" sz="1200" b="1">
                <a:latin typeface="メイリオ" panose="020B0604030504040204" pitchFamily="50" charset="-128"/>
                <a:ea typeface="メイリオ" panose="020B0604030504040204" pitchFamily="50" charset="-128"/>
              </a:rPr>
              <a:t>メール送信</a:t>
            </a:r>
            <a:endParaRPr lang="en-US" altLang="ja-JP" sz="1200" b="1">
              <a:latin typeface="メイリオ" panose="020B0604030504040204" pitchFamily="50" charset="-128"/>
              <a:ea typeface="メイリオ" panose="020B0604030504040204" pitchFamily="50" charset="-128"/>
            </a:endParaRPr>
          </a:p>
          <a:p>
            <a:pPr algn="ctr">
              <a:lnSpc>
                <a:spcPct val="150000"/>
              </a:lnSpc>
            </a:pPr>
            <a:r>
              <a:rPr lang="ja-JP" altLang="en-US" sz="1200" b="1">
                <a:latin typeface="メイリオ" panose="020B0604030504040204" pitchFamily="50" charset="-128"/>
                <a:ea typeface="メイリオ" panose="020B0604030504040204" pitchFamily="50" charset="-128"/>
              </a:rPr>
              <a:t>（人の承認あり）</a:t>
            </a:r>
            <a:endParaRPr lang="en-US" altLang="ja-JP" sz="1200" b="1">
              <a:latin typeface="メイリオ" panose="020B0604030504040204" pitchFamily="50" charset="-128"/>
              <a:ea typeface="メイリオ" panose="020B0604030504040204" pitchFamily="50" charset="-128"/>
            </a:endParaRPr>
          </a:p>
        </p:txBody>
      </p:sp>
      <p:cxnSp>
        <p:nvCxnSpPr>
          <p:cNvPr id="87" name="直線コネクタ 86">
            <a:extLst>
              <a:ext uri="{FF2B5EF4-FFF2-40B4-BE49-F238E27FC236}">
                <a16:creationId xmlns:a16="http://schemas.microsoft.com/office/drawing/2014/main" id="{23593767-313D-A1ED-370E-53FD8069383E}"/>
              </a:ext>
            </a:extLst>
          </p:cNvPr>
          <p:cNvCxnSpPr>
            <a:cxnSpLocks/>
          </p:cNvCxnSpPr>
          <p:nvPr/>
        </p:nvCxnSpPr>
        <p:spPr>
          <a:xfrm>
            <a:off x="3741472" y="5414974"/>
            <a:ext cx="2448821" cy="0"/>
          </a:xfrm>
          <a:prstGeom prst="line">
            <a:avLst/>
          </a:prstGeom>
          <a:ln>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88" name="テキスト ボックス 87">
            <a:extLst>
              <a:ext uri="{FF2B5EF4-FFF2-40B4-BE49-F238E27FC236}">
                <a16:creationId xmlns:a16="http://schemas.microsoft.com/office/drawing/2014/main" id="{857FB219-E9DB-850E-E4D1-221F97EBA624}"/>
              </a:ext>
            </a:extLst>
          </p:cNvPr>
          <p:cNvSpPr txBox="1"/>
          <p:nvPr/>
        </p:nvSpPr>
        <p:spPr>
          <a:xfrm>
            <a:off x="3658257" y="5432173"/>
            <a:ext cx="2615251" cy="1092607"/>
          </a:xfrm>
          <a:prstGeom prst="rect">
            <a:avLst/>
          </a:prstGeom>
          <a:noFill/>
        </p:spPr>
        <p:txBody>
          <a:bodyPr wrap="square" rtlCol="0">
            <a:spAutoFit/>
          </a:bodyPr>
          <a:lstStyle/>
          <a:p>
            <a:pPr algn="ctr">
              <a:lnSpc>
                <a:spcPct val="150000"/>
              </a:lnSpc>
            </a:pPr>
            <a:r>
              <a:rPr lang="ja-JP" altLang="en-US" sz="1200" b="1">
                <a:latin typeface="メイリオ" panose="020B0604030504040204" pitchFamily="50" charset="-128"/>
                <a:ea typeface="メイリオ" panose="020B0604030504040204" pitchFamily="50" charset="-128"/>
              </a:rPr>
              <a:t>参照 → 判断 → 実行まで一気通貫</a:t>
            </a:r>
            <a:endParaRPr lang="en-US" altLang="ja-JP" sz="1200" b="1">
              <a:latin typeface="メイリオ" panose="020B0604030504040204" pitchFamily="50" charset="-128"/>
              <a:ea typeface="メイリオ" panose="020B0604030504040204" pitchFamily="50" charset="-128"/>
            </a:endParaRPr>
          </a:p>
          <a:p>
            <a:pPr algn="ctr">
              <a:lnSpc>
                <a:spcPct val="150000"/>
              </a:lnSpc>
            </a:pPr>
            <a:r>
              <a:rPr lang="en-US" altLang="ja-JP" sz="1200" b="1">
                <a:latin typeface="メイリオ" panose="020B0604030504040204" pitchFamily="50" charset="-128"/>
                <a:ea typeface="メイリオ" panose="020B0604030504040204" pitchFamily="50" charset="-128"/>
              </a:rPr>
              <a:t>1</a:t>
            </a:r>
            <a:r>
              <a:rPr lang="ja-JP" altLang="en-US" sz="1200" b="1">
                <a:latin typeface="メイリオ" panose="020B0604030504040204" pitchFamily="50" charset="-128"/>
                <a:ea typeface="メイリオ" panose="020B0604030504040204" pitchFamily="50" charset="-128"/>
              </a:rPr>
              <a:t>つの</a:t>
            </a:r>
            <a:r>
              <a:rPr lang="ja-JP" altLang="en-US" sz="1200" b="1">
                <a:solidFill>
                  <a:schemeClr val="accent6"/>
                </a:solidFill>
                <a:latin typeface="メイリオ" panose="020B0604030504040204" pitchFamily="50" charset="-128"/>
                <a:ea typeface="メイリオ" panose="020B0604030504040204" pitchFamily="50" charset="-128"/>
              </a:rPr>
              <a:t>ゴール</a:t>
            </a:r>
            <a:r>
              <a:rPr lang="ja-JP" altLang="en-US" sz="1200" b="1">
                <a:latin typeface="メイリオ" panose="020B0604030504040204" pitchFamily="50" charset="-128"/>
                <a:ea typeface="メイリオ" panose="020B0604030504040204" pitchFamily="50" charset="-128"/>
              </a:rPr>
              <a:t>に対して</a:t>
            </a:r>
            <a:endParaRPr lang="en-US" altLang="ja-JP" sz="1200" b="1">
              <a:latin typeface="メイリオ" panose="020B0604030504040204" pitchFamily="50" charset="-128"/>
              <a:ea typeface="メイリオ" panose="020B0604030504040204" pitchFamily="50" charset="-128"/>
            </a:endParaRPr>
          </a:p>
          <a:p>
            <a:pPr algn="ctr">
              <a:lnSpc>
                <a:spcPct val="150000"/>
              </a:lnSpc>
            </a:pPr>
            <a:r>
              <a:rPr lang="ja-JP" altLang="en-US" sz="1200" b="1">
                <a:latin typeface="メイリオ" panose="020B0604030504040204" pitchFamily="50" charset="-128"/>
                <a:ea typeface="メイリオ" panose="020B0604030504040204" pitchFamily="50" charset="-128"/>
              </a:rPr>
              <a:t>複数ステップを自立実行</a:t>
            </a:r>
            <a:endParaRPr lang="en-US" altLang="ja-JP" sz="1200" b="1">
              <a:latin typeface="メイリオ" panose="020B0604030504040204" pitchFamily="50" charset="-128"/>
              <a:ea typeface="メイリオ" panose="020B0604030504040204" pitchFamily="50" charset="-128"/>
            </a:endParaRPr>
          </a:p>
          <a:p>
            <a:pPr algn="ctr">
              <a:lnSpc>
                <a:spcPct val="150000"/>
              </a:lnSpc>
            </a:pPr>
            <a:r>
              <a:rPr lang="en-US" altLang="ja-JP" sz="800">
                <a:latin typeface="メイリオ" panose="020B0604030504040204" pitchFamily="50" charset="-128"/>
                <a:ea typeface="メイリオ" panose="020B0604030504040204" pitchFamily="50" charset="-128"/>
              </a:rPr>
              <a:t>※</a:t>
            </a:r>
            <a:r>
              <a:rPr lang="ja-JP" altLang="en-US" sz="800">
                <a:latin typeface="メイリオ" panose="020B0604030504040204" pitchFamily="50" charset="-128"/>
                <a:ea typeface="メイリオ" panose="020B0604030504040204" pitchFamily="50" charset="-128"/>
              </a:rPr>
              <a:t>進捗確認・変更指示・一時停止はいつでも可能</a:t>
            </a:r>
            <a:endParaRPr lang="en-US" altLang="ja-JP" sz="800">
              <a:latin typeface="メイリオ" panose="020B0604030504040204" pitchFamily="50" charset="-128"/>
              <a:ea typeface="メイリオ" panose="020B0604030504040204" pitchFamily="50" charset="-128"/>
            </a:endParaRPr>
          </a:p>
        </p:txBody>
      </p:sp>
      <p:sp>
        <p:nvSpPr>
          <p:cNvPr id="90" name="正方形/長方形 89">
            <a:extLst>
              <a:ext uri="{FF2B5EF4-FFF2-40B4-BE49-F238E27FC236}">
                <a16:creationId xmlns:a16="http://schemas.microsoft.com/office/drawing/2014/main" id="{6364F1EE-BB86-7402-21C0-1B8F03730AC0}"/>
              </a:ext>
            </a:extLst>
          </p:cNvPr>
          <p:cNvSpPr/>
          <p:nvPr/>
        </p:nvSpPr>
        <p:spPr>
          <a:xfrm>
            <a:off x="6613337" y="1708163"/>
            <a:ext cx="5296551" cy="340403"/>
          </a:xfrm>
          <a:prstGeom prst="rect">
            <a:avLst/>
          </a:prstGeom>
          <a:solidFill>
            <a:srgbClr val="002060"/>
          </a:solidFill>
          <a:ln>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sz="1500" b="1">
                <a:solidFill>
                  <a:srgbClr val="FFFFFF"/>
                </a:solidFill>
                <a:latin typeface="メイリオ"/>
              </a:defRPr>
            </a:pPr>
            <a:r>
              <a:rPr lang="en-US" altLang="ja-JP" sz="1600">
                <a:latin typeface="メイリオ" panose="020B0604030504040204" pitchFamily="50" charset="-128"/>
                <a:ea typeface="メイリオ" panose="020B0604030504040204" pitchFamily="50" charset="-128"/>
              </a:rPr>
              <a:t>Cowork</a:t>
            </a:r>
            <a:r>
              <a:rPr lang="ja-JP" altLang="en-US" sz="1600">
                <a:latin typeface="メイリオ" panose="020B0604030504040204" pitchFamily="50" charset="-128"/>
                <a:ea typeface="メイリオ" panose="020B0604030504040204" pitchFamily="50" charset="-128"/>
              </a:rPr>
              <a:t>の時系列</a:t>
            </a:r>
          </a:p>
        </p:txBody>
      </p:sp>
      <p:sp>
        <p:nvSpPr>
          <p:cNvPr id="91" name="正方形/長方形 90">
            <a:extLst>
              <a:ext uri="{FF2B5EF4-FFF2-40B4-BE49-F238E27FC236}">
                <a16:creationId xmlns:a16="http://schemas.microsoft.com/office/drawing/2014/main" id="{6A2B858B-1CEB-9FCD-BE8A-9A68AB0DE331}"/>
              </a:ext>
            </a:extLst>
          </p:cNvPr>
          <p:cNvSpPr/>
          <p:nvPr/>
        </p:nvSpPr>
        <p:spPr>
          <a:xfrm>
            <a:off x="6608549" y="2049364"/>
            <a:ext cx="5296551" cy="2870506"/>
          </a:xfrm>
          <a:prstGeom prst="rect">
            <a:avLst/>
          </a:prstGeom>
          <a:noFill/>
          <a:ln>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92" name="テキスト ボックス 91">
            <a:extLst>
              <a:ext uri="{FF2B5EF4-FFF2-40B4-BE49-F238E27FC236}">
                <a16:creationId xmlns:a16="http://schemas.microsoft.com/office/drawing/2014/main" id="{B0D037EC-EC46-1513-8267-F771DB1A495C}"/>
              </a:ext>
            </a:extLst>
          </p:cNvPr>
          <p:cNvSpPr txBox="1"/>
          <p:nvPr/>
        </p:nvSpPr>
        <p:spPr>
          <a:xfrm>
            <a:off x="7372198" y="2182057"/>
            <a:ext cx="4482542" cy="738664"/>
          </a:xfrm>
          <a:prstGeom prst="rect">
            <a:avLst/>
          </a:prstGeom>
          <a:noFill/>
        </p:spPr>
        <p:txBody>
          <a:bodyPr wrap="square" rtlCol="0">
            <a:spAutoFit/>
          </a:bodyPr>
          <a:lstStyle/>
          <a:p>
            <a:r>
              <a:rPr lang="en-US" altLang="ja-JP" sz="1400">
                <a:latin typeface="メイリオ" panose="020B0604030504040204" pitchFamily="50" charset="-128"/>
                <a:ea typeface="メイリオ" panose="020B0604030504040204" pitchFamily="50" charset="-128"/>
              </a:rPr>
              <a:t>Anthropic</a:t>
            </a:r>
            <a:r>
              <a:rPr lang="ja-JP" altLang="en-US" sz="1400">
                <a:latin typeface="メイリオ" panose="020B0604030504040204" pitchFamily="50" charset="-128"/>
                <a:ea typeface="メイリオ" panose="020B0604030504040204" pitchFamily="50" charset="-128"/>
              </a:rPr>
              <a:t>、</a:t>
            </a:r>
            <a:r>
              <a:rPr lang="en-US" altLang="ja-JP" sz="1400" b="1">
                <a:solidFill>
                  <a:schemeClr val="accent2">
                    <a:lumMod val="75000"/>
                  </a:schemeClr>
                </a:solidFill>
                <a:latin typeface="メイリオ" panose="020B0604030504040204" pitchFamily="50" charset="-128"/>
                <a:ea typeface="メイリオ" panose="020B0604030504040204" pitchFamily="50" charset="-128"/>
              </a:rPr>
              <a:t>Claude Cowork</a:t>
            </a:r>
            <a:r>
              <a:rPr lang="ja-JP" altLang="en-US" sz="1400">
                <a:latin typeface="メイリオ" panose="020B0604030504040204" pitchFamily="50" charset="-128"/>
                <a:ea typeface="メイリオ" panose="020B0604030504040204" pitchFamily="50" charset="-128"/>
              </a:rPr>
              <a:t>を発表。</a:t>
            </a:r>
            <a:endParaRPr lang="en-US" altLang="ja-JP" sz="1400">
              <a:latin typeface="メイリオ" panose="020B0604030504040204" pitchFamily="50" charset="-128"/>
              <a:ea typeface="メイリオ" panose="020B0604030504040204" pitchFamily="50" charset="-128"/>
            </a:endParaRPr>
          </a:p>
          <a:p>
            <a:r>
              <a:rPr kumimoji="1" lang="en-US" altLang="ja-JP" sz="1400">
                <a:latin typeface="メイリオ" panose="020B0604030504040204" pitchFamily="50" charset="-128"/>
                <a:ea typeface="メイリオ" panose="020B0604030504040204" pitchFamily="50" charset="-128"/>
              </a:rPr>
              <a:t>Claude Code</a:t>
            </a:r>
            <a:r>
              <a:rPr kumimoji="1" lang="ja-JP" altLang="en-US" sz="1400">
                <a:latin typeface="メイリオ" panose="020B0604030504040204" pitchFamily="50" charset="-128"/>
                <a:ea typeface="メイリオ" panose="020B0604030504040204" pitchFamily="50" charset="-128"/>
              </a:rPr>
              <a:t>（開発者向け）の非エンジニア版。</a:t>
            </a:r>
            <a:endParaRPr kumimoji="1" lang="en-US" altLang="ja-JP" sz="1400">
              <a:latin typeface="メイリオ" panose="020B0604030504040204" pitchFamily="50" charset="-128"/>
              <a:ea typeface="メイリオ" panose="020B0604030504040204" pitchFamily="50" charset="-128"/>
            </a:endParaRPr>
          </a:p>
          <a:p>
            <a:r>
              <a:rPr lang="ja-JP" altLang="en-US" sz="1400">
                <a:latin typeface="メイリオ" panose="020B0604030504040204" pitchFamily="50" charset="-128"/>
                <a:ea typeface="メイリオ" panose="020B0604030504040204" pitchFamily="50" charset="-128"/>
              </a:rPr>
              <a:t>ローカル</a:t>
            </a:r>
            <a:r>
              <a:rPr lang="en-US" altLang="ja-JP" sz="1400">
                <a:latin typeface="メイリオ" panose="020B0604030504040204" pitchFamily="50" charset="-128"/>
                <a:ea typeface="メイリオ" panose="020B0604030504040204" pitchFamily="50" charset="-128"/>
              </a:rPr>
              <a:t>PC</a:t>
            </a:r>
            <a:r>
              <a:rPr lang="ja-JP" altLang="en-US" sz="1400">
                <a:latin typeface="メイリオ" panose="020B0604030504040204" pitchFamily="50" charset="-128"/>
                <a:ea typeface="メイリオ" panose="020B0604030504040204" pitchFamily="50" charset="-128"/>
              </a:rPr>
              <a:t>で自律的にタスクを実行。</a:t>
            </a:r>
            <a:endParaRPr kumimoji="1" lang="en-US" altLang="ja-JP" sz="1400">
              <a:latin typeface="メイリオ" panose="020B0604030504040204" pitchFamily="50" charset="-128"/>
              <a:ea typeface="メイリオ" panose="020B0604030504040204" pitchFamily="50" charset="-128"/>
            </a:endParaRPr>
          </a:p>
        </p:txBody>
      </p:sp>
      <p:cxnSp>
        <p:nvCxnSpPr>
          <p:cNvPr id="93" name="直線コネクタ 92">
            <a:extLst>
              <a:ext uri="{FF2B5EF4-FFF2-40B4-BE49-F238E27FC236}">
                <a16:creationId xmlns:a16="http://schemas.microsoft.com/office/drawing/2014/main" id="{C424FD1D-038E-005B-C74E-C1CA7F4FDE66}"/>
              </a:ext>
            </a:extLst>
          </p:cNvPr>
          <p:cNvCxnSpPr>
            <a:cxnSpLocks/>
          </p:cNvCxnSpPr>
          <p:nvPr/>
        </p:nvCxnSpPr>
        <p:spPr>
          <a:xfrm>
            <a:off x="7238034" y="2182057"/>
            <a:ext cx="0" cy="2644350"/>
          </a:xfrm>
          <a:prstGeom prst="line">
            <a:avLst/>
          </a:prstGeom>
          <a:ln>
            <a:solidFill>
              <a:schemeClr val="accent1"/>
            </a:solidFill>
            <a:prstDash val="solid"/>
          </a:ln>
        </p:spPr>
        <p:style>
          <a:lnRef idx="2">
            <a:schemeClr val="accent1"/>
          </a:lnRef>
          <a:fillRef idx="0">
            <a:schemeClr val="accent1"/>
          </a:fillRef>
          <a:effectRef idx="1">
            <a:schemeClr val="accent1"/>
          </a:effectRef>
          <a:fontRef idx="minor">
            <a:schemeClr val="tx1"/>
          </a:fontRef>
        </p:style>
      </p:cxnSp>
      <p:grpSp>
        <p:nvGrpSpPr>
          <p:cNvPr id="106" name="グループ化 105">
            <a:extLst>
              <a:ext uri="{FF2B5EF4-FFF2-40B4-BE49-F238E27FC236}">
                <a16:creationId xmlns:a16="http://schemas.microsoft.com/office/drawing/2014/main" id="{0D8842BA-F0DD-29D3-59B6-D7CBF565C3F4}"/>
              </a:ext>
            </a:extLst>
          </p:cNvPr>
          <p:cNvGrpSpPr/>
          <p:nvPr/>
        </p:nvGrpSpPr>
        <p:grpSpPr>
          <a:xfrm>
            <a:off x="6591863" y="2424752"/>
            <a:ext cx="760766" cy="276999"/>
            <a:chOff x="6658626" y="2424752"/>
            <a:chExt cx="760766" cy="276999"/>
          </a:xfrm>
        </p:grpSpPr>
        <p:sp>
          <p:nvSpPr>
            <p:cNvPr id="98" name="楕円 97">
              <a:extLst>
                <a:ext uri="{FF2B5EF4-FFF2-40B4-BE49-F238E27FC236}">
                  <a16:creationId xmlns:a16="http://schemas.microsoft.com/office/drawing/2014/main" id="{5296E8DF-B3E9-2F22-5625-7A24A970830B}"/>
                </a:ext>
              </a:extLst>
            </p:cNvPr>
            <p:cNvSpPr/>
            <p:nvPr/>
          </p:nvSpPr>
          <p:spPr>
            <a:xfrm>
              <a:off x="7190203" y="2436535"/>
              <a:ext cx="229189" cy="215947"/>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9" name="テキスト ボックス 98">
              <a:extLst>
                <a:ext uri="{FF2B5EF4-FFF2-40B4-BE49-F238E27FC236}">
                  <a16:creationId xmlns:a16="http://schemas.microsoft.com/office/drawing/2014/main" id="{05ADA287-3DDC-EB3E-7BF1-C14C43AAA075}"/>
                </a:ext>
              </a:extLst>
            </p:cNvPr>
            <p:cNvSpPr txBox="1"/>
            <p:nvPr/>
          </p:nvSpPr>
          <p:spPr>
            <a:xfrm>
              <a:off x="6658626" y="2424752"/>
              <a:ext cx="641383" cy="276999"/>
            </a:xfrm>
            <a:prstGeom prst="rect">
              <a:avLst/>
            </a:prstGeom>
            <a:noFill/>
          </p:spPr>
          <p:txBody>
            <a:bodyPr wrap="square" rtlCol="0">
              <a:spAutoFit/>
            </a:bodyPr>
            <a:lstStyle/>
            <a:p>
              <a:r>
                <a:rPr lang="en-US" altLang="ja-JP" sz="1200">
                  <a:latin typeface="メイリオ" panose="020B0604030504040204" pitchFamily="50" charset="-128"/>
                  <a:ea typeface="メイリオ" panose="020B0604030504040204" pitchFamily="50" charset="-128"/>
                </a:rPr>
                <a:t>1/12</a:t>
              </a:r>
              <a:endParaRPr kumimoji="1" lang="en-US" altLang="ja-JP" sz="1200">
                <a:latin typeface="メイリオ" panose="020B0604030504040204" pitchFamily="50" charset="-128"/>
                <a:ea typeface="メイリオ" panose="020B0604030504040204" pitchFamily="50" charset="-128"/>
              </a:endParaRPr>
            </a:p>
          </p:txBody>
        </p:sp>
      </p:grpSp>
      <p:pic>
        <p:nvPicPr>
          <p:cNvPr id="101" name="図 100">
            <a:extLst>
              <a:ext uri="{FF2B5EF4-FFF2-40B4-BE49-F238E27FC236}">
                <a16:creationId xmlns:a16="http://schemas.microsoft.com/office/drawing/2014/main" id="{5DF7F067-0CAD-8E63-FACD-C2385771BBB7}"/>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1295576" y="2258489"/>
            <a:ext cx="609524" cy="609524"/>
          </a:xfrm>
          <a:prstGeom prst="rect">
            <a:avLst/>
          </a:prstGeom>
        </p:spPr>
      </p:pic>
      <p:sp>
        <p:nvSpPr>
          <p:cNvPr id="102" name="テキスト ボックス 101">
            <a:extLst>
              <a:ext uri="{FF2B5EF4-FFF2-40B4-BE49-F238E27FC236}">
                <a16:creationId xmlns:a16="http://schemas.microsoft.com/office/drawing/2014/main" id="{C97A852E-5B60-93B8-3BB0-7217904852F3}"/>
              </a:ext>
            </a:extLst>
          </p:cNvPr>
          <p:cNvSpPr txBox="1"/>
          <p:nvPr/>
        </p:nvSpPr>
        <p:spPr>
          <a:xfrm>
            <a:off x="7372198" y="2981539"/>
            <a:ext cx="4482542" cy="523220"/>
          </a:xfrm>
          <a:prstGeom prst="rect">
            <a:avLst/>
          </a:prstGeom>
          <a:noFill/>
        </p:spPr>
        <p:txBody>
          <a:bodyPr wrap="square" rtlCol="0">
            <a:spAutoFit/>
          </a:bodyPr>
          <a:lstStyle/>
          <a:p>
            <a:r>
              <a:rPr lang="en-US" altLang="ja-JP" sz="1400">
                <a:latin typeface="メイリオ" panose="020B0604030504040204" pitchFamily="50" charset="-128"/>
                <a:ea typeface="メイリオ" panose="020B0604030504040204" pitchFamily="50" charset="-128"/>
              </a:rPr>
              <a:t>Microsoft</a:t>
            </a:r>
            <a:r>
              <a:rPr lang="ja-JP" altLang="en-US" sz="1400">
                <a:latin typeface="メイリオ" panose="020B0604030504040204" pitchFamily="50" charset="-128"/>
                <a:ea typeface="メイリオ" panose="020B0604030504040204" pitchFamily="50" charset="-128"/>
              </a:rPr>
              <a:t>、</a:t>
            </a:r>
            <a:r>
              <a:rPr lang="en-US" altLang="ja-JP" sz="1400" b="1">
                <a:solidFill>
                  <a:schemeClr val="accent6"/>
                </a:solidFill>
                <a:latin typeface="メイリオ" panose="020B0604030504040204" pitchFamily="50" charset="-128"/>
                <a:ea typeface="メイリオ" panose="020B0604030504040204" pitchFamily="50" charset="-128"/>
              </a:rPr>
              <a:t>Copilot Cowork</a:t>
            </a:r>
            <a:r>
              <a:rPr lang="ja-JP" altLang="en-US" sz="1400">
                <a:latin typeface="メイリオ" panose="020B0604030504040204" pitchFamily="50" charset="-128"/>
                <a:ea typeface="メイリオ" panose="020B0604030504040204" pitchFamily="50" charset="-128"/>
              </a:rPr>
              <a:t>発表</a:t>
            </a:r>
            <a:endParaRPr lang="en-US" altLang="ja-JP" sz="1400">
              <a:latin typeface="メイリオ" panose="020B0604030504040204" pitchFamily="50" charset="-128"/>
              <a:ea typeface="メイリオ" panose="020B0604030504040204" pitchFamily="50" charset="-128"/>
            </a:endParaRPr>
          </a:p>
          <a:p>
            <a:r>
              <a:rPr kumimoji="1" lang="ja-JP" altLang="en-US" sz="1400">
                <a:latin typeface="メイリオ" panose="020B0604030504040204" pitchFamily="50" charset="-128"/>
                <a:ea typeface="メイリオ" panose="020B0604030504040204" pitchFamily="50" charset="-128"/>
              </a:rPr>
              <a:t>（</a:t>
            </a:r>
            <a:r>
              <a:rPr kumimoji="1" lang="en-US" altLang="ja-JP" sz="1400">
                <a:latin typeface="メイリオ" panose="020B0604030504040204" pitchFamily="50" charset="-128"/>
                <a:ea typeface="メイリオ" panose="020B0604030504040204" pitchFamily="50" charset="-128"/>
              </a:rPr>
              <a:t>Research Preview</a:t>
            </a:r>
            <a:r>
              <a:rPr kumimoji="1" lang="ja-JP" altLang="en-US" sz="1400">
                <a:latin typeface="メイリオ" panose="020B0604030504040204" pitchFamily="50" charset="-128"/>
                <a:ea typeface="メイリオ" panose="020B0604030504040204" pitchFamily="50" charset="-128"/>
              </a:rPr>
              <a:t>）</a:t>
            </a:r>
            <a:endParaRPr kumimoji="1" lang="en-US" altLang="ja-JP" sz="1400">
              <a:latin typeface="メイリオ" panose="020B0604030504040204" pitchFamily="50" charset="-128"/>
              <a:ea typeface="メイリオ" panose="020B0604030504040204" pitchFamily="50" charset="-128"/>
            </a:endParaRPr>
          </a:p>
        </p:txBody>
      </p:sp>
      <p:grpSp>
        <p:nvGrpSpPr>
          <p:cNvPr id="105" name="グループ化 104">
            <a:extLst>
              <a:ext uri="{FF2B5EF4-FFF2-40B4-BE49-F238E27FC236}">
                <a16:creationId xmlns:a16="http://schemas.microsoft.com/office/drawing/2014/main" id="{A4C1FB66-A5A6-B701-A4EB-DB4E9E31FF34}"/>
              </a:ext>
            </a:extLst>
          </p:cNvPr>
          <p:cNvGrpSpPr/>
          <p:nvPr/>
        </p:nvGrpSpPr>
        <p:grpSpPr>
          <a:xfrm>
            <a:off x="6562815" y="3077139"/>
            <a:ext cx="789814" cy="276999"/>
            <a:chOff x="6781978" y="2577152"/>
            <a:chExt cx="789814" cy="276999"/>
          </a:xfrm>
        </p:grpSpPr>
        <p:sp>
          <p:nvSpPr>
            <p:cNvPr id="103" name="楕円 102">
              <a:extLst>
                <a:ext uri="{FF2B5EF4-FFF2-40B4-BE49-F238E27FC236}">
                  <a16:creationId xmlns:a16="http://schemas.microsoft.com/office/drawing/2014/main" id="{974C2211-97C5-020D-D7D8-0D01D072B19C}"/>
                </a:ext>
              </a:extLst>
            </p:cNvPr>
            <p:cNvSpPr/>
            <p:nvPr/>
          </p:nvSpPr>
          <p:spPr>
            <a:xfrm>
              <a:off x="7342603" y="2588935"/>
              <a:ext cx="229189" cy="215947"/>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テキスト ボックス 103">
              <a:extLst>
                <a:ext uri="{FF2B5EF4-FFF2-40B4-BE49-F238E27FC236}">
                  <a16:creationId xmlns:a16="http://schemas.microsoft.com/office/drawing/2014/main" id="{AB52FDB6-75C6-5122-81CC-3D401EC91FFC}"/>
                </a:ext>
              </a:extLst>
            </p:cNvPr>
            <p:cNvSpPr txBox="1"/>
            <p:nvPr/>
          </p:nvSpPr>
          <p:spPr>
            <a:xfrm>
              <a:off x="6781978" y="2577152"/>
              <a:ext cx="641383" cy="276999"/>
            </a:xfrm>
            <a:prstGeom prst="rect">
              <a:avLst/>
            </a:prstGeom>
            <a:noFill/>
          </p:spPr>
          <p:txBody>
            <a:bodyPr wrap="square" rtlCol="0">
              <a:spAutoFit/>
            </a:bodyPr>
            <a:lstStyle/>
            <a:p>
              <a:pPr algn="ctr"/>
              <a:r>
                <a:rPr lang="en-US" altLang="ja-JP" sz="1200">
                  <a:latin typeface="メイリオ" panose="020B0604030504040204" pitchFamily="50" charset="-128"/>
                  <a:ea typeface="メイリオ" panose="020B0604030504040204" pitchFamily="50" charset="-128"/>
                </a:rPr>
                <a:t>3/9</a:t>
              </a:r>
              <a:endParaRPr kumimoji="1" lang="en-US" altLang="ja-JP" sz="1200">
                <a:latin typeface="メイリオ" panose="020B0604030504040204" pitchFamily="50" charset="-128"/>
                <a:ea typeface="メイリオ" panose="020B0604030504040204" pitchFamily="50" charset="-128"/>
              </a:endParaRPr>
            </a:p>
          </p:txBody>
        </p:sp>
      </p:grpSp>
      <p:grpSp>
        <p:nvGrpSpPr>
          <p:cNvPr id="107" name="グループ化 106">
            <a:extLst>
              <a:ext uri="{FF2B5EF4-FFF2-40B4-BE49-F238E27FC236}">
                <a16:creationId xmlns:a16="http://schemas.microsoft.com/office/drawing/2014/main" id="{54F93785-AF37-A7EB-1DEB-70BB4E067B46}"/>
              </a:ext>
            </a:extLst>
          </p:cNvPr>
          <p:cNvGrpSpPr/>
          <p:nvPr/>
        </p:nvGrpSpPr>
        <p:grpSpPr>
          <a:xfrm>
            <a:off x="6591863" y="3701146"/>
            <a:ext cx="760766" cy="276999"/>
            <a:chOff x="6811026" y="2577152"/>
            <a:chExt cx="760766" cy="276999"/>
          </a:xfrm>
        </p:grpSpPr>
        <p:sp>
          <p:nvSpPr>
            <p:cNvPr id="108" name="楕円 107">
              <a:extLst>
                <a:ext uri="{FF2B5EF4-FFF2-40B4-BE49-F238E27FC236}">
                  <a16:creationId xmlns:a16="http://schemas.microsoft.com/office/drawing/2014/main" id="{95210C44-66C3-1202-2F4F-FE61100FB6A4}"/>
                </a:ext>
              </a:extLst>
            </p:cNvPr>
            <p:cNvSpPr/>
            <p:nvPr/>
          </p:nvSpPr>
          <p:spPr>
            <a:xfrm>
              <a:off x="7342603" y="2588935"/>
              <a:ext cx="229189" cy="215947"/>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9" name="テキスト ボックス 108">
              <a:extLst>
                <a:ext uri="{FF2B5EF4-FFF2-40B4-BE49-F238E27FC236}">
                  <a16:creationId xmlns:a16="http://schemas.microsoft.com/office/drawing/2014/main" id="{9A53294C-FA2F-C74A-FEAD-16CE664E39A4}"/>
                </a:ext>
              </a:extLst>
            </p:cNvPr>
            <p:cNvSpPr txBox="1"/>
            <p:nvPr/>
          </p:nvSpPr>
          <p:spPr>
            <a:xfrm>
              <a:off x="6811026" y="2577152"/>
              <a:ext cx="641383" cy="276999"/>
            </a:xfrm>
            <a:prstGeom prst="rect">
              <a:avLst/>
            </a:prstGeom>
            <a:noFill/>
          </p:spPr>
          <p:txBody>
            <a:bodyPr wrap="square" rtlCol="0">
              <a:spAutoFit/>
            </a:bodyPr>
            <a:lstStyle/>
            <a:p>
              <a:r>
                <a:rPr lang="en-US" altLang="ja-JP" sz="1200">
                  <a:latin typeface="メイリオ" panose="020B0604030504040204" pitchFamily="50" charset="-128"/>
                  <a:ea typeface="メイリオ" panose="020B0604030504040204" pitchFamily="50" charset="-128"/>
                </a:rPr>
                <a:t>3/24</a:t>
              </a:r>
              <a:endParaRPr kumimoji="1" lang="en-US" altLang="ja-JP" sz="1200">
                <a:latin typeface="メイリオ" panose="020B0604030504040204" pitchFamily="50" charset="-128"/>
                <a:ea typeface="メイリオ" panose="020B0604030504040204" pitchFamily="50" charset="-128"/>
              </a:endParaRPr>
            </a:p>
          </p:txBody>
        </p:sp>
      </p:grpSp>
      <p:grpSp>
        <p:nvGrpSpPr>
          <p:cNvPr id="110" name="グループ化 109">
            <a:extLst>
              <a:ext uri="{FF2B5EF4-FFF2-40B4-BE49-F238E27FC236}">
                <a16:creationId xmlns:a16="http://schemas.microsoft.com/office/drawing/2014/main" id="{80362B75-40B1-C9CE-B236-73FB5A61F72F}"/>
              </a:ext>
            </a:extLst>
          </p:cNvPr>
          <p:cNvGrpSpPr/>
          <p:nvPr/>
        </p:nvGrpSpPr>
        <p:grpSpPr>
          <a:xfrm>
            <a:off x="6591863" y="4328421"/>
            <a:ext cx="760766" cy="276999"/>
            <a:chOff x="6811026" y="2577152"/>
            <a:chExt cx="760766" cy="276999"/>
          </a:xfrm>
        </p:grpSpPr>
        <p:sp>
          <p:nvSpPr>
            <p:cNvPr id="111" name="楕円 110">
              <a:extLst>
                <a:ext uri="{FF2B5EF4-FFF2-40B4-BE49-F238E27FC236}">
                  <a16:creationId xmlns:a16="http://schemas.microsoft.com/office/drawing/2014/main" id="{D78C1F5B-9F7C-0C76-A7BF-7D86C9A7E0EA}"/>
                </a:ext>
              </a:extLst>
            </p:cNvPr>
            <p:cNvSpPr/>
            <p:nvPr/>
          </p:nvSpPr>
          <p:spPr>
            <a:xfrm>
              <a:off x="7342603" y="2588935"/>
              <a:ext cx="229189" cy="215947"/>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2" name="テキスト ボックス 111">
              <a:extLst>
                <a:ext uri="{FF2B5EF4-FFF2-40B4-BE49-F238E27FC236}">
                  <a16:creationId xmlns:a16="http://schemas.microsoft.com/office/drawing/2014/main" id="{B032B172-F56A-B315-F822-D7C1DC2DF90C}"/>
                </a:ext>
              </a:extLst>
            </p:cNvPr>
            <p:cNvSpPr txBox="1"/>
            <p:nvPr/>
          </p:nvSpPr>
          <p:spPr>
            <a:xfrm>
              <a:off x="6811026" y="2577152"/>
              <a:ext cx="641383" cy="276999"/>
            </a:xfrm>
            <a:prstGeom prst="rect">
              <a:avLst/>
            </a:prstGeom>
            <a:noFill/>
          </p:spPr>
          <p:txBody>
            <a:bodyPr wrap="square" rtlCol="0">
              <a:spAutoFit/>
            </a:bodyPr>
            <a:lstStyle/>
            <a:p>
              <a:r>
                <a:rPr lang="en-US" altLang="ja-JP" sz="1200">
                  <a:latin typeface="メイリオ" panose="020B0604030504040204" pitchFamily="50" charset="-128"/>
                  <a:ea typeface="メイリオ" panose="020B0604030504040204" pitchFamily="50" charset="-128"/>
                </a:rPr>
                <a:t>3/30</a:t>
              </a:r>
              <a:endParaRPr kumimoji="1" lang="en-US" altLang="ja-JP" sz="1200">
                <a:latin typeface="メイリオ" panose="020B0604030504040204" pitchFamily="50" charset="-128"/>
                <a:ea typeface="メイリオ" panose="020B0604030504040204" pitchFamily="50" charset="-128"/>
              </a:endParaRPr>
            </a:p>
          </p:txBody>
        </p:sp>
      </p:grpSp>
      <p:pic>
        <p:nvPicPr>
          <p:cNvPr id="115" name="図 114">
            <a:extLst>
              <a:ext uri="{FF2B5EF4-FFF2-40B4-BE49-F238E27FC236}">
                <a16:creationId xmlns:a16="http://schemas.microsoft.com/office/drawing/2014/main" id="{7E2D563A-1032-05C6-2269-29FE32DBD384}"/>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1372614" y="3015425"/>
            <a:ext cx="455447" cy="455447"/>
          </a:xfrm>
          <a:prstGeom prst="rect">
            <a:avLst/>
          </a:prstGeom>
        </p:spPr>
      </p:pic>
      <p:sp>
        <p:nvSpPr>
          <p:cNvPr id="116" name="テキスト ボックス 115">
            <a:extLst>
              <a:ext uri="{FF2B5EF4-FFF2-40B4-BE49-F238E27FC236}">
                <a16:creationId xmlns:a16="http://schemas.microsoft.com/office/drawing/2014/main" id="{A52D6DDA-5971-6ED3-AC8D-C023C3405346}"/>
              </a:ext>
            </a:extLst>
          </p:cNvPr>
          <p:cNvSpPr txBox="1"/>
          <p:nvPr/>
        </p:nvSpPr>
        <p:spPr>
          <a:xfrm>
            <a:off x="7372198" y="3675119"/>
            <a:ext cx="4482542" cy="307777"/>
          </a:xfrm>
          <a:prstGeom prst="rect">
            <a:avLst/>
          </a:prstGeom>
          <a:noFill/>
        </p:spPr>
        <p:txBody>
          <a:bodyPr wrap="square" rtlCol="0">
            <a:spAutoFit/>
          </a:bodyPr>
          <a:lstStyle/>
          <a:p>
            <a:r>
              <a:rPr lang="en-US" altLang="ja-JP" sz="1400" b="1">
                <a:solidFill>
                  <a:schemeClr val="accent2">
                    <a:lumMod val="75000"/>
                  </a:schemeClr>
                </a:solidFill>
                <a:latin typeface="メイリオ" panose="020B0604030504040204" pitchFamily="50" charset="-128"/>
                <a:ea typeface="メイリオ" panose="020B0604030504040204" pitchFamily="50" charset="-128"/>
              </a:rPr>
              <a:t>Claude Cowork</a:t>
            </a:r>
            <a:r>
              <a:rPr lang="ja-JP" altLang="en-US" sz="1400">
                <a:latin typeface="メイリオ" panose="020B0604030504040204" pitchFamily="50" charset="-128"/>
                <a:ea typeface="メイリオ" panose="020B0604030504040204" pitchFamily="50" charset="-128"/>
              </a:rPr>
              <a:t>に</a:t>
            </a:r>
            <a:r>
              <a:rPr lang="en-US" altLang="ja-JP" sz="1400">
                <a:latin typeface="メイリオ" panose="020B0604030504040204" pitchFamily="50" charset="-128"/>
                <a:ea typeface="メイリオ" panose="020B0604030504040204" pitchFamily="50" charset="-128"/>
              </a:rPr>
              <a:t>Computer Use</a:t>
            </a:r>
            <a:r>
              <a:rPr lang="ja-JP" altLang="en-US" sz="1400">
                <a:latin typeface="メイリオ" panose="020B0604030504040204" pitchFamily="50" charset="-128"/>
                <a:ea typeface="メイリオ" panose="020B0604030504040204" pitchFamily="50" charset="-128"/>
              </a:rPr>
              <a:t>追加</a:t>
            </a:r>
            <a:endParaRPr kumimoji="1" lang="en-US" altLang="ja-JP" sz="1400">
              <a:latin typeface="メイリオ" panose="020B0604030504040204" pitchFamily="50" charset="-128"/>
              <a:ea typeface="メイリオ" panose="020B0604030504040204" pitchFamily="50" charset="-128"/>
            </a:endParaRPr>
          </a:p>
        </p:txBody>
      </p:sp>
      <p:pic>
        <p:nvPicPr>
          <p:cNvPr id="117" name="グラフィックス 116" descr="ノート PC 単色塗りつぶし">
            <a:extLst>
              <a:ext uri="{FF2B5EF4-FFF2-40B4-BE49-F238E27FC236}">
                <a16:creationId xmlns:a16="http://schemas.microsoft.com/office/drawing/2014/main" id="{068EA348-0337-1860-9A0F-555CD9B08DA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330143" y="3587387"/>
            <a:ext cx="552403" cy="552403"/>
          </a:xfrm>
          <a:prstGeom prst="rect">
            <a:avLst/>
          </a:prstGeom>
        </p:spPr>
      </p:pic>
      <p:sp>
        <p:nvSpPr>
          <p:cNvPr id="118" name="テキスト ボックス 117">
            <a:extLst>
              <a:ext uri="{FF2B5EF4-FFF2-40B4-BE49-F238E27FC236}">
                <a16:creationId xmlns:a16="http://schemas.microsoft.com/office/drawing/2014/main" id="{5FD25462-0464-ACF6-975B-E3284FD5482F}"/>
              </a:ext>
            </a:extLst>
          </p:cNvPr>
          <p:cNvSpPr txBox="1"/>
          <p:nvPr/>
        </p:nvSpPr>
        <p:spPr>
          <a:xfrm>
            <a:off x="7372198" y="4205311"/>
            <a:ext cx="4482542" cy="523220"/>
          </a:xfrm>
          <a:prstGeom prst="rect">
            <a:avLst/>
          </a:prstGeom>
          <a:noFill/>
        </p:spPr>
        <p:txBody>
          <a:bodyPr wrap="square" rtlCol="0">
            <a:spAutoFit/>
          </a:bodyPr>
          <a:lstStyle/>
          <a:p>
            <a:r>
              <a:rPr lang="en-US" altLang="ja-JP" sz="1400" b="1">
                <a:solidFill>
                  <a:schemeClr val="accent6"/>
                </a:solidFill>
                <a:latin typeface="メイリオ" panose="020B0604030504040204" pitchFamily="50" charset="-128"/>
                <a:ea typeface="メイリオ" panose="020B0604030504040204" pitchFamily="50" charset="-128"/>
              </a:rPr>
              <a:t>Copilot Cowork</a:t>
            </a:r>
            <a:r>
              <a:rPr lang="ja-JP" altLang="en-US" sz="1400">
                <a:latin typeface="メイリオ" panose="020B0604030504040204" pitchFamily="50" charset="-128"/>
                <a:ea typeface="メイリオ" panose="020B0604030504040204" pitchFamily="50" charset="-128"/>
              </a:rPr>
              <a:t>、</a:t>
            </a:r>
            <a:endParaRPr lang="en-US" altLang="ja-JP" sz="1400">
              <a:latin typeface="メイリオ" panose="020B0604030504040204" pitchFamily="50" charset="-128"/>
              <a:ea typeface="メイリオ" panose="020B0604030504040204" pitchFamily="50" charset="-128"/>
            </a:endParaRPr>
          </a:p>
          <a:p>
            <a:r>
              <a:rPr lang="ja-JP" altLang="en-US" sz="1400">
                <a:latin typeface="メイリオ" panose="020B0604030504040204" pitchFamily="50" charset="-128"/>
                <a:ea typeface="メイリオ" panose="020B0604030504040204" pitchFamily="50" charset="-128"/>
              </a:rPr>
              <a:t>早期アクセスプログラムを開始（</a:t>
            </a:r>
            <a:r>
              <a:rPr lang="en-US" altLang="ja-JP" sz="1400">
                <a:latin typeface="メイリオ" panose="020B0604030504040204" pitchFamily="50" charset="-128"/>
                <a:ea typeface="メイリオ" panose="020B0604030504040204" pitchFamily="50" charset="-128"/>
              </a:rPr>
              <a:t>Frontier</a:t>
            </a:r>
            <a:r>
              <a:rPr lang="ja-JP" altLang="en-US" sz="1400">
                <a:latin typeface="メイリオ" panose="020B0604030504040204" pitchFamily="50" charset="-128"/>
                <a:ea typeface="メイリオ" panose="020B0604030504040204" pitchFamily="50" charset="-128"/>
              </a:rPr>
              <a:t>）</a:t>
            </a:r>
            <a:endParaRPr lang="en-US" altLang="ja-JP" sz="1400">
              <a:latin typeface="メイリオ" panose="020B0604030504040204" pitchFamily="50" charset="-128"/>
              <a:ea typeface="メイリオ" panose="020B0604030504040204" pitchFamily="50" charset="-128"/>
            </a:endParaRPr>
          </a:p>
        </p:txBody>
      </p:sp>
      <p:pic>
        <p:nvPicPr>
          <p:cNvPr id="119" name="図 118">
            <a:extLst>
              <a:ext uri="{FF2B5EF4-FFF2-40B4-BE49-F238E27FC236}">
                <a16:creationId xmlns:a16="http://schemas.microsoft.com/office/drawing/2014/main" id="{6485E9C7-A763-5929-17A6-6EF28C41840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1366529" y="4222650"/>
            <a:ext cx="490605" cy="488543"/>
          </a:xfrm>
          <a:prstGeom prst="rect">
            <a:avLst/>
          </a:prstGeom>
        </p:spPr>
      </p:pic>
      <p:sp>
        <p:nvSpPr>
          <p:cNvPr id="122" name="正方形/長方形 121">
            <a:extLst>
              <a:ext uri="{FF2B5EF4-FFF2-40B4-BE49-F238E27FC236}">
                <a16:creationId xmlns:a16="http://schemas.microsoft.com/office/drawing/2014/main" id="{D8FFCE42-CAFC-BB95-4531-602A52C5354E}"/>
              </a:ext>
            </a:extLst>
          </p:cNvPr>
          <p:cNvSpPr/>
          <p:nvPr/>
        </p:nvSpPr>
        <p:spPr>
          <a:xfrm>
            <a:off x="6591862" y="5031593"/>
            <a:ext cx="5313237" cy="1509195"/>
          </a:xfrm>
          <a:prstGeom prst="rect">
            <a:avLst/>
          </a:prstGeom>
          <a:solidFill>
            <a:schemeClr val="accent6">
              <a:lumMod val="75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sz="1500" b="1">
                <a:solidFill>
                  <a:srgbClr val="FFFFFF"/>
                </a:solidFill>
                <a:latin typeface="メイリオ"/>
              </a:defRPr>
            </a:pPr>
            <a:endParaRPr lang="ja-JP" altLang="en-US" sz="1600">
              <a:latin typeface="メイリオ" panose="020B0604030504040204" pitchFamily="50" charset="-128"/>
              <a:ea typeface="メイリオ" panose="020B0604030504040204" pitchFamily="50" charset="-128"/>
            </a:endParaRPr>
          </a:p>
        </p:txBody>
      </p:sp>
      <p:sp>
        <p:nvSpPr>
          <p:cNvPr id="124" name="テキスト ボックス 123">
            <a:extLst>
              <a:ext uri="{FF2B5EF4-FFF2-40B4-BE49-F238E27FC236}">
                <a16:creationId xmlns:a16="http://schemas.microsoft.com/office/drawing/2014/main" id="{4592CFC5-F4AD-E4AD-3C10-709223202E56}"/>
              </a:ext>
            </a:extLst>
          </p:cNvPr>
          <p:cNvSpPr txBox="1"/>
          <p:nvPr/>
        </p:nvSpPr>
        <p:spPr>
          <a:xfrm>
            <a:off x="6648954" y="5090230"/>
            <a:ext cx="5179107" cy="1600438"/>
          </a:xfrm>
          <a:prstGeom prst="rect">
            <a:avLst/>
          </a:prstGeom>
          <a:noFill/>
        </p:spPr>
        <p:txBody>
          <a:bodyPr wrap="square" rtlCol="0">
            <a:spAutoFit/>
          </a:bodyPr>
          <a:lstStyle/>
          <a:p>
            <a:r>
              <a:rPr lang="en-US" altLang="ja-JP" sz="1400" b="1">
                <a:solidFill>
                  <a:schemeClr val="accent6"/>
                </a:solidFill>
                <a:latin typeface="メイリオ" panose="020B0604030504040204" pitchFamily="50" charset="-128"/>
                <a:ea typeface="メイリオ" panose="020B0604030504040204" pitchFamily="50" charset="-128"/>
              </a:rPr>
              <a:t>Copilot Cowork</a:t>
            </a:r>
            <a:r>
              <a:rPr lang="ja-JP" altLang="en-US" sz="1400">
                <a:latin typeface="メイリオ" panose="020B0604030504040204" pitchFamily="50" charset="-128"/>
                <a:ea typeface="メイリオ" panose="020B0604030504040204" pitchFamily="50" charset="-128"/>
              </a:rPr>
              <a:t>は</a:t>
            </a:r>
            <a:r>
              <a:rPr lang="en-US" altLang="ja-JP" sz="1400">
                <a:latin typeface="メイリオ" panose="020B0604030504040204" pitchFamily="50" charset="-128"/>
                <a:ea typeface="メイリオ" panose="020B0604030504040204" pitchFamily="50" charset="-128"/>
              </a:rPr>
              <a:t>Anthropic</a:t>
            </a:r>
            <a:r>
              <a:rPr lang="ja-JP" altLang="en-US" sz="1400">
                <a:latin typeface="メイリオ" panose="020B0604030504040204" pitchFamily="50" charset="-128"/>
                <a:ea typeface="メイリオ" panose="020B0604030504040204" pitchFamily="50" charset="-128"/>
              </a:rPr>
              <a:t>との協業で構築した</a:t>
            </a:r>
            <a:r>
              <a:rPr lang="en-US" altLang="ja-JP" sz="1400" b="1">
                <a:solidFill>
                  <a:schemeClr val="accent2"/>
                </a:solidFill>
                <a:latin typeface="メイリオ" panose="020B0604030504040204" pitchFamily="50" charset="-128"/>
                <a:ea typeface="メイリオ" panose="020B0604030504040204" pitchFamily="50" charset="-128"/>
              </a:rPr>
              <a:t>Claude Cowork</a:t>
            </a:r>
            <a:r>
              <a:rPr lang="ja-JP" altLang="en-US" sz="1400">
                <a:latin typeface="メイリオ" panose="020B0604030504040204" pitchFamily="50" charset="-128"/>
                <a:ea typeface="メイリオ" panose="020B0604030504040204" pitchFamily="50" charset="-128"/>
              </a:rPr>
              <a:t>の技術を</a:t>
            </a:r>
            <a:r>
              <a:rPr lang="en-US" altLang="ja-JP" sz="1400" b="1">
                <a:latin typeface="メイリオ" panose="020B0604030504040204" pitchFamily="50" charset="-128"/>
                <a:ea typeface="メイリオ" panose="020B0604030504040204" pitchFamily="50" charset="-128"/>
              </a:rPr>
              <a:t>M365</a:t>
            </a:r>
            <a:r>
              <a:rPr lang="ja-JP" altLang="en-US" sz="1400">
                <a:latin typeface="メイリオ" panose="020B0604030504040204" pitchFamily="50" charset="-128"/>
                <a:ea typeface="メイリオ" panose="020B0604030504040204" pitchFamily="50" charset="-128"/>
              </a:rPr>
              <a:t>に組み込んだエンタープライズ版。</a:t>
            </a:r>
            <a:endParaRPr lang="en-US" altLang="ja-JP" sz="1400">
              <a:latin typeface="メイリオ" panose="020B0604030504040204" pitchFamily="50" charset="-128"/>
              <a:ea typeface="メイリオ" panose="020B0604030504040204" pitchFamily="50" charset="-128"/>
            </a:endParaRPr>
          </a:p>
          <a:p>
            <a:r>
              <a:rPr lang="en-US" altLang="ja-JP" sz="1400">
                <a:latin typeface="メイリオ" panose="020B0604030504040204" pitchFamily="50" charset="-128"/>
                <a:ea typeface="メイリオ" panose="020B0604030504040204" pitchFamily="50" charset="-128"/>
              </a:rPr>
              <a:t>Claude</a:t>
            </a:r>
            <a:r>
              <a:rPr lang="ja-JP" altLang="en-US" sz="1400">
                <a:latin typeface="メイリオ" panose="020B0604030504040204" pitchFamily="50" charset="-128"/>
                <a:ea typeface="メイリオ" panose="020B0604030504040204" pitchFamily="50" charset="-128"/>
              </a:rPr>
              <a:t>側と異なりローカル環境ではなく、</a:t>
            </a:r>
            <a:r>
              <a:rPr lang="ja-JP" altLang="en-US" sz="1400" b="1">
                <a:latin typeface="メイリオ" panose="020B0604030504040204" pitchFamily="50" charset="-128"/>
                <a:ea typeface="メイリオ" panose="020B0604030504040204" pitchFamily="50" charset="-128"/>
              </a:rPr>
              <a:t>テナント内</a:t>
            </a:r>
            <a:r>
              <a:rPr lang="en-US" altLang="ja-JP" sz="1400" b="1">
                <a:latin typeface="メイリオ" panose="020B0604030504040204" pitchFamily="50" charset="-128"/>
                <a:ea typeface="メイリオ" panose="020B0604030504040204" pitchFamily="50" charset="-128"/>
              </a:rPr>
              <a:t>M365</a:t>
            </a:r>
            <a:r>
              <a:rPr lang="ja-JP" altLang="en-US" sz="1400" b="1">
                <a:latin typeface="メイリオ" panose="020B0604030504040204" pitchFamily="50" charset="-128"/>
                <a:ea typeface="メイリオ" panose="020B0604030504040204" pitchFamily="50" charset="-128"/>
              </a:rPr>
              <a:t>クラウドで実行</a:t>
            </a:r>
            <a:r>
              <a:rPr lang="ja-JP" altLang="en-US" sz="1400">
                <a:latin typeface="メイリオ" panose="020B0604030504040204" pitchFamily="50" charset="-128"/>
                <a:ea typeface="メイリオ" panose="020B0604030504040204" pitchFamily="50" charset="-128"/>
              </a:rPr>
              <a:t>するため、各アプリを横断して</a:t>
            </a:r>
            <a:r>
              <a:rPr lang="en-US" altLang="ja-JP" sz="1400">
                <a:latin typeface="メイリオ" panose="020B0604030504040204" pitchFamily="50" charset="-128"/>
                <a:ea typeface="メイリオ" panose="020B0604030504040204" pitchFamily="50" charset="-128"/>
              </a:rPr>
              <a:t>1</a:t>
            </a:r>
            <a:r>
              <a:rPr lang="ja-JP" altLang="en-US" sz="1400">
                <a:latin typeface="メイリオ" panose="020B0604030504040204" pitchFamily="50" charset="-128"/>
                <a:ea typeface="メイリオ" panose="020B0604030504040204" pitchFamily="50" charset="-128"/>
              </a:rPr>
              <a:t>つの指示で複数ステップを回す。</a:t>
            </a:r>
            <a:r>
              <a:rPr kumimoji="1" lang="en-US" altLang="ja-JP" sz="1400" b="1">
                <a:latin typeface="メイリオ" panose="020B0604030504040204" pitchFamily="50" charset="-128"/>
                <a:ea typeface="メイリオ" panose="020B0604030504040204" pitchFamily="50" charset="-128"/>
              </a:rPr>
              <a:t>M365</a:t>
            </a:r>
            <a:r>
              <a:rPr kumimoji="1" lang="ja-JP" altLang="en-US" sz="1400" b="1">
                <a:latin typeface="メイリオ" panose="020B0604030504040204" pitchFamily="50" charset="-128"/>
                <a:ea typeface="メイリオ" panose="020B0604030504040204" pitchFamily="50" charset="-128"/>
              </a:rPr>
              <a:t>の</a:t>
            </a:r>
            <a:r>
              <a:rPr kumimoji="1" lang="en-US" altLang="ja-JP" sz="1400" b="1">
                <a:latin typeface="メイリオ" panose="020B0604030504040204" pitchFamily="50" charset="-128"/>
                <a:ea typeface="メイリオ" panose="020B0604030504040204" pitchFamily="50" charset="-128"/>
              </a:rPr>
              <a:t>ID</a:t>
            </a:r>
            <a:r>
              <a:rPr kumimoji="1" lang="ja-JP" altLang="en-US" sz="1400" b="1">
                <a:latin typeface="メイリオ" panose="020B0604030504040204" pitchFamily="50" charset="-128"/>
                <a:ea typeface="メイリオ" panose="020B0604030504040204" pitchFamily="50" charset="-128"/>
              </a:rPr>
              <a:t>・権限・</a:t>
            </a:r>
            <a:r>
              <a:rPr kumimoji="1" lang="en-US" altLang="ja-JP" sz="1400" b="1">
                <a:latin typeface="メイリオ" panose="020B0604030504040204" pitchFamily="50" charset="-128"/>
                <a:ea typeface="メイリオ" panose="020B0604030504040204" pitchFamily="50" charset="-128"/>
              </a:rPr>
              <a:t>DLP</a:t>
            </a:r>
            <a:r>
              <a:rPr kumimoji="1" lang="ja-JP" altLang="en-US" sz="1400" b="1">
                <a:latin typeface="メイリオ" panose="020B0604030504040204" pitchFamily="50" charset="-128"/>
                <a:ea typeface="メイリオ" panose="020B0604030504040204" pitchFamily="50" charset="-128"/>
              </a:rPr>
              <a:t>・コンプライアンスポリシーが自動適用される。</a:t>
            </a:r>
            <a:endParaRPr kumimoji="1" lang="en-US" altLang="ja-JP" sz="1400" b="1">
              <a:latin typeface="メイリオ" panose="020B0604030504040204" pitchFamily="50" charset="-128"/>
              <a:ea typeface="メイリオ" panose="020B0604030504040204" pitchFamily="50" charset="-128"/>
            </a:endParaRPr>
          </a:p>
          <a:p>
            <a:endParaRPr kumimoji="1" lang="en-US" altLang="ja-JP" sz="140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418662327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29D79C-9CEF-6C10-9A28-229BDB9847F7}"/>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696AB77E-2D73-B357-A3DF-557F31D62D98}"/>
              </a:ext>
            </a:extLst>
          </p:cNvPr>
          <p:cNvSpPr txBox="1"/>
          <p:nvPr/>
        </p:nvSpPr>
        <p:spPr>
          <a:xfrm>
            <a:off x="443466" y="317212"/>
            <a:ext cx="11215133" cy="584775"/>
          </a:xfrm>
          <a:prstGeom prst="rect">
            <a:avLst/>
          </a:prstGeom>
          <a:noFill/>
        </p:spPr>
        <p:txBody>
          <a:bodyPr wrap="square" rtlCol="0">
            <a:spAutoFit/>
          </a:bodyPr>
          <a:lstStyle/>
          <a:p>
            <a:r>
              <a:rPr lang="en-US" altLang="ja-JP" sz="3200" b="1">
                <a:latin typeface="メイリオ" panose="020B0604030504040204" pitchFamily="50" charset="-128"/>
                <a:ea typeface="メイリオ" panose="020B0604030504040204" pitchFamily="50" charset="-128"/>
              </a:rPr>
              <a:t>Copilot Cowork</a:t>
            </a:r>
            <a:r>
              <a:rPr lang="ja-JP" altLang="en-US" sz="3200" b="1">
                <a:latin typeface="メイリオ" panose="020B0604030504040204" pitchFamily="50" charset="-128"/>
                <a:ea typeface="メイリオ" panose="020B0604030504040204" pitchFamily="50" charset="-128"/>
              </a:rPr>
              <a:t>は何ができるか</a:t>
            </a:r>
          </a:p>
        </p:txBody>
      </p:sp>
      <p:sp>
        <p:nvSpPr>
          <p:cNvPr id="131" name="テキスト ボックス 130">
            <a:extLst>
              <a:ext uri="{FF2B5EF4-FFF2-40B4-BE49-F238E27FC236}">
                <a16:creationId xmlns:a16="http://schemas.microsoft.com/office/drawing/2014/main" id="{3DA2AA14-B5D3-E4F0-0161-8791B9EE43AE}"/>
              </a:ext>
            </a:extLst>
          </p:cNvPr>
          <p:cNvSpPr txBox="1"/>
          <p:nvPr/>
        </p:nvSpPr>
        <p:spPr>
          <a:xfrm>
            <a:off x="354254" y="1001123"/>
            <a:ext cx="5006960" cy="307777"/>
          </a:xfrm>
          <a:prstGeom prst="rect">
            <a:avLst/>
          </a:prstGeom>
          <a:noFill/>
        </p:spPr>
        <p:txBody>
          <a:bodyPr wrap="square" rtlCol="0">
            <a:spAutoFit/>
          </a:bodyPr>
          <a:lstStyle/>
          <a:p>
            <a:r>
              <a:rPr lang="ja-JP" altLang="en-US" sz="1400" b="1">
                <a:latin typeface="メイリオ" panose="020B0604030504040204" pitchFamily="50" charset="-128"/>
                <a:ea typeface="メイリオ" panose="020B0604030504040204" pitchFamily="50" charset="-128"/>
              </a:rPr>
              <a:t>ビルトインスキル（初期設定で利用可能）</a:t>
            </a:r>
            <a:endParaRPr kumimoji="1" lang="en-US" altLang="ja-JP" sz="1400" b="1">
              <a:latin typeface="メイリオ" panose="020B0604030504040204" pitchFamily="50" charset="-128"/>
              <a:ea typeface="メイリオ" panose="020B0604030504040204" pitchFamily="50" charset="-128"/>
            </a:endParaRPr>
          </a:p>
        </p:txBody>
      </p:sp>
      <p:graphicFrame>
        <p:nvGraphicFramePr>
          <p:cNvPr id="132" name="表 131">
            <a:extLst>
              <a:ext uri="{FF2B5EF4-FFF2-40B4-BE49-F238E27FC236}">
                <a16:creationId xmlns:a16="http://schemas.microsoft.com/office/drawing/2014/main" id="{06F79086-F400-41BC-D9F8-2344287BF318}"/>
              </a:ext>
            </a:extLst>
          </p:cNvPr>
          <p:cNvGraphicFramePr>
            <a:graphicFrameLocks noGrp="1"/>
          </p:cNvGraphicFramePr>
          <p:nvPr/>
        </p:nvGraphicFramePr>
        <p:xfrm>
          <a:off x="354254" y="1465339"/>
          <a:ext cx="5660103" cy="3406140"/>
        </p:xfrm>
        <a:graphic>
          <a:graphicData uri="http://schemas.openxmlformats.org/drawingml/2006/table">
            <a:tbl>
              <a:tblPr firstRow="1" bandRow="1">
                <a:tableStyleId>{5C22544A-7EE6-4342-B048-85BDC9FD1C3A}</a:tableStyleId>
              </a:tblPr>
              <a:tblGrid>
                <a:gridCol w="760890">
                  <a:extLst>
                    <a:ext uri="{9D8B030D-6E8A-4147-A177-3AD203B41FA5}">
                      <a16:colId xmlns:a16="http://schemas.microsoft.com/office/drawing/2014/main" val="2237471391"/>
                    </a:ext>
                  </a:extLst>
                </a:gridCol>
                <a:gridCol w="1384800">
                  <a:extLst>
                    <a:ext uri="{9D8B030D-6E8A-4147-A177-3AD203B41FA5}">
                      <a16:colId xmlns:a16="http://schemas.microsoft.com/office/drawing/2014/main" val="3898449142"/>
                    </a:ext>
                  </a:extLst>
                </a:gridCol>
                <a:gridCol w="3514413">
                  <a:extLst>
                    <a:ext uri="{9D8B030D-6E8A-4147-A177-3AD203B41FA5}">
                      <a16:colId xmlns:a16="http://schemas.microsoft.com/office/drawing/2014/main" val="183463918"/>
                    </a:ext>
                  </a:extLst>
                </a:gridCol>
              </a:tblGrid>
              <a:tr h="174637">
                <a:tc>
                  <a:txBody>
                    <a:bodyPr/>
                    <a:lstStyle/>
                    <a:p>
                      <a:pPr algn="ctr"/>
                      <a:r>
                        <a:rPr kumimoji="1" lang="ja-JP" altLang="en-US" sz="1050">
                          <a:latin typeface="メイリオ" panose="020B0604030504040204" pitchFamily="50" charset="-128"/>
                          <a:ea typeface="メイリオ" panose="020B0604030504040204" pitchFamily="50" charset="-128"/>
                        </a:rPr>
                        <a:t>カテゴリ</a:t>
                      </a:r>
                    </a:p>
                  </a:txBody>
                  <a:tcPr/>
                </a:tc>
                <a:tc>
                  <a:txBody>
                    <a:bodyPr/>
                    <a:lstStyle/>
                    <a:p>
                      <a:pPr algn="ctr"/>
                      <a:r>
                        <a:rPr kumimoji="1" lang="ja-JP" altLang="en-US" sz="1050">
                          <a:latin typeface="メイリオ" panose="020B0604030504040204" pitchFamily="50" charset="-128"/>
                          <a:ea typeface="メイリオ" panose="020B0604030504040204" pitchFamily="50" charset="-128"/>
                        </a:rPr>
                        <a:t>スキル</a:t>
                      </a:r>
                    </a:p>
                  </a:txBody>
                  <a:tcPr/>
                </a:tc>
                <a:tc>
                  <a:txBody>
                    <a:bodyPr/>
                    <a:lstStyle/>
                    <a:p>
                      <a:pPr algn="ctr"/>
                      <a:r>
                        <a:rPr kumimoji="1" lang="ja-JP" altLang="en-US" sz="1050">
                          <a:latin typeface="メイリオ" panose="020B0604030504040204" pitchFamily="50" charset="-128"/>
                          <a:ea typeface="メイリオ" panose="020B0604030504040204" pitchFamily="50" charset="-128"/>
                        </a:rPr>
                        <a:t>できること</a:t>
                      </a:r>
                    </a:p>
                  </a:txBody>
                  <a:tcPr/>
                </a:tc>
                <a:extLst>
                  <a:ext uri="{0D108BD9-81ED-4DB2-BD59-A6C34878D82A}">
                    <a16:rowId xmlns:a16="http://schemas.microsoft.com/office/drawing/2014/main" val="3878867932"/>
                  </a:ext>
                </a:extLst>
              </a:tr>
              <a:tr h="508036">
                <a:tc>
                  <a:txBody>
                    <a:bodyPr/>
                    <a:lstStyle/>
                    <a:p>
                      <a:r>
                        <a:rPr kumimoji="1" lang="ja-JP" altLang="en-US" sz="1050" b="1" i="0" kern="1200">
                          <a:solidFill>
                            <a:schemeClr val="dk1"/>
                          </a:solidFill>
                          <a:effectLst/>
                          <a:latin typeface="メイリオ" panose="020B0604030504040204" pitchFamily="50" charset="-128"/>
                          <a:ea typeface="メイリオ" panose="020B0604030504040204" pitchFamily="50" charset="-128"/>
                          <a:cs typeface="+mn-cs"/>
                        </a:rPr>
                        <a:t>ドキュメント</a:t>
                      </a:r>
                    </a:p>
                  </a:txBody>
                  <a:tcPr/>
                </a:tc>
                <a:tc>
                  <a:txBody>
                    <a:bodyPr/>
                    <a:lstStyle/>
                    <a:p>
                      <a:r>
                        <a:rPr lang="en-US" altLang="ja-JP" sz="1050">
                          <a:latin typeface="メイリオ" panose="020B0604030504040204" pitchFamily="50" charset="-128"/>
                          <a:ea typeface="メイリオ" panose="020B0604030504040204" pitchFamily="50" charset="-128"/>
                        </a:rPr>
                        <a:t>Word, </a:t>
                      </a:r>
                    </a:p>
                    <a:p>
                      <a:r>
                        <a:rPr lang="en-US" altLang="ja-JP" sz="1050">
                          <a:latin typeface="メイリオ" panose="020B0604030504040204" pitchFamily="50" charset="-128"/>
                          <a:ea typeface="メイリオ" panose="020B0604030504040204" pitchFamily="50" charset="-128"/>
                        </a:rPr>
                        <a:t>Excel, </a:t>
                      </a:r>
                    </a:p>
                    <a:p>
                      <a:r>
                        <a:rPr lang="en-US" altLang="ja-JP" sz="1050">
                          <a:latin typeface="メイリオ" panose="020B0604030504040204" pitchFamily="50" charset="-128"/>
                          <a:ea typeface="メイリオ" panose="020B0604030504040204" pitchFamily="50" charset="-128"/>
                        </a:rPr>
                        <a:t>PowerPoint, </a:t>
                      </a:r>
                    </a:p>
                    <a:p>
                      <a:r>
                        <a:rPr lang="en-US" altLang="ja-JP" sz="1050">
                          <a:latin typeface="メイリオ" panose="020B0604030504040204" pitchFamily="50" charset="-128"/>
                          <a:ea typeface="メイリオ" panose="020B0604030504040204" pitchFamily="50" charset="-128"/>
                        </a:rPr>
                        <a:t>PDF</a:t>
                      </a:r>
                      <a:endParaRPr kumimoji="1" lang="ja-JP" altLang="en-US" sz="1050">
                        <a:latin typeface="メイリオ" panose="020B0604030504040204" pitchFamily="50" charset="-128"/>
                        <a:ea typeface="メイリオ" panose="020B0604030504040204" pitchFamily="50" charset="-128"/>
                      </a:endParaRPr>
                    </a:p>
                  </a:txBody>
                  <a:tcPr/>
                </a:tc>
                <a:tc>
                  <a:txBody>
                    <a:bodyPr/>
                    <a:lstStyle/>
                    <a:p>
                      <a:pPr marL="171450" indent="-171450">
                        <a:buFont typeface="Arial" panose="020B0604020202020204" pitchFamily="34" charset="0"/>
                        <a:buChar char="•"/>
                      </a:pPr>
                      <a:r>
                        <a:rPr kumimoji="1" lang="en-US" altLang="ja-JP" sz="1050">
                          <a:latin typeface="メイリオ" panose="020B0604030504040204" pitchFamily="50" charset="-128"/>
                          <a:ea typeface="メイリオ" panose="020B0604030504040204" pitchFamily="50" charset="-128"/>
                        </a:rPr>
                        <a:t>Word</a:t>
                      </a:r>
                      <a:r>
                        <a:rPr kumimoji="1" lang="ja-JP" altLang="en-US" sz="1050">
                          <a:latin typeface="メイリオ" panose="020B0604030504040204" pitchFamily="50" charset="-128"/>
                          <a:ea typeface="メイリオ" panose="020B0604030504040204" pitchFamily="50" charset="-128"/>
                        </a:rPr>
                        <a:t>、</a:t>
                      </a:r>
                      <a:r>
                        <a:rPr kumimoji="1" lang="en-US" altLang="ja-JP" sz="1050">
                          <a:latin typeface="メイリオ" panose="020B0604030504040204" pitchFamily="50" charset="-128"/>
                          <a:ea typeface="メイリオ" panose="020B0604030504040204" pitchFamily="50" charset="-128"/>
                        </a:rPr>
                        <a:t>Excel</a:t>
                      </a:r>
                      <a:r>
                        <a:rPr kumimoji="1" lang="ja-JP" altLang="en-US" sz="1050">
                          <a:latin typeface="メイリオ" panose="020B0604030504040204" pitchFamily="50" charset="-128"/>
                          <a:ea typeface="メイリオ" panose="020B0604030504040204" pitchFamily="50" charset="-128"/>
                        </a:rPr>
                        <a:t>、</a:t>
                      </a:r>
                      <a:r>
                        <a:rPr kumimoji="1" lang="en-US" altLang="ja-JP" sz="1050">
                          <a:latin typeface="メイリオ" panose="020B0604030504040204" pitchFamily="50" charset="-128"/>
                          <a:ea typeface="メイリオ" panose="020B0604030504040204" pitchFamily="50" charset="-128"/>
                        </a:rPr>
                        <a:t>PowerPoint</a:t>
                      </a:r>
                      <a:r>
                        <a:rPr kumimoji="1" lang="ja-JP" altLang="en-US" sz="1050">
                          <a:latin typeface="メイリオ" panose="020B0604030504040204" pitchFamily="50" charset="-128"/>
                          <a:ea typeface="メイリオ" panose="020B0604030504040204" pitchFamily="50" charset="-128"/>
                        </a:rPr>
                        <a:t>、</a:t>
                      </a:r>
                      <a:r>
                        <a:rPr kumimoji="1" lang="en-US" altLang="ja-JP" sz="1050">
                          <a:latin typeface="メイリオ" panose="020B0604030504040204" pitchFamily="50" charset="-128"/>
                          <a:ea typeface="メイリオ" panose="020B0604030504040204" pitchFamily="50" charset="-128"/>
                        </a:rPr>
                        <a:t>PDF </a:t>
                      </a:r>
                      <a:r>
                        <a:rPr kumimoji="1" lang="ja-JP" altLang="en-US" sz="1050">
                          <a:latin typeface="メイリオ" panose="020B0604030504040204" pitchFamily="50" charset="-128"/>
                          <a:ea typeface="メイリオ" panose="020B0604030504040204" pitchFamily="50" charset="-128"/>
                        </a:rPr>
                        <a:t>をゼロから作成</a:t>
                      </a:r>
                      <a:endParaRPr kumimoji="1" lang="en-US" altLang="ja-JP" sz="1050">
                        <a:latin typeface="メイリオ" panose="020B0604030504040204" pitchFamily="50" charset="-128"/>
                        <a:ea typeface="メイリオ" panose="020B0604030504040204" pitchFamily="50" charset="-128"/>
                      </a:endParaRPr>
                    </a:p>
                    <a:p>
                      <a:pPr marL="171450" indent="-171450">
                        <a:buFont typeface="Arial" panose="020B0604020202020204" pitchFamily="34" charset="0"/>
                        <a:buChar char="•"/>
                      </a:pPr>
                      <a:r>
                        <a:rPr kumimoji="1" lang="ja-JP" altLang="en-US" sz="1050">
                          <a:latin typeface="メイリオ" panose="020B0604030504040204" pitchFamily="50" charset="-128"/>
                          <a:ea typeface="メイリオ" panose="020B0604030504040204" pitchFamily="50" charset="-128"/>
                        </a:rPr>
                        <a:t>会話形式で、存のドキュメントを編集および調整</a:t>
                      </a:r>
                      <a:endParaRPr kumimoji="1" lang="en-US" altLang="ja-JP" sz="1050" b="1">
                        <a:latin typeface="メイリオ" panose="020B0604030504040204" pitchFamily="50" charset="-128"/>
                        <a:ea typeface="メイリオ" panose="020B0604030504040204" pitchFamily="50" charset="-128"/>
                      </a:endParaRPr>
                    </a:p>
                    <a:p>
                      <a:pPr marL="171450" indent="-171450">
                        <a:buFont typeface="Arial" panose="020B0604020202020204" pitchFamily="34" charset="0"/>
                        <a:buChar char="•"/>
                      </a:pPr>
                      <a:r>
                        <a:rPr kumimoji="1" lang="en-US" altLang="ja-JP" sz="1050" b="1">
                          <a:latin typeface="メイリオ" panose="020B0604030504040204" pitchFamily="50" charset="-128"/>
                          <a:ea typeface="メイリオ" panose="020B0604030504040204" pitchFamily="50" charset="-128"/>
                        </a:rPr>
                        <a:t>Work IQ</a:t>
                      </a:r>
                      <a:r>
                        <a:rPr kumimoji="1" lang="en-US" altLang="ja-JP" sz="1050">
                          <a:latin typeface="メイリオ" panose="020B0604030504040204" pitchFamily="50" charset="-128"/>
                          <a:ea typeface="メイリオ" panose="020B0604030504040204" pitchFamily="50" charset="-128"/>
                        </a:rPr>
                        <a:t> </a:t>
                      </a:r>
                      <a:r>
                        <a:rPr kumimoji="1" lang="ja-JP" altLang="en-US" sz="1050">
                          <a:latin typeface="メイリオ" panose="020B0604030504040204" pitchFamily="50" charset="-128"/>
                          <a:ea typeface="メイリオ" panose="020B0604030504040204" pitchFamily="50" charset="-128"/>
                        </a:rPr>
                        <a:t>全体を参照して、必要なコンテンツを取り込む</a:t>
                      </a:r>
                      <a:endParaRPr kumimoji="1" lang="en-US" altLang="ja-JP" sz="1050">
                        <a:latin typeface="メイリオ" panose="020B0604030504040204" pitchFamily="50" charset="-128"/>
                        <a:ea typeface="メイリオ" panose="020B0604030504040204" pitchFamily="50" charset="-128"/>
                      </a:endParaRPr>
                    </a:p>
                    <a:p>
                      <a:pPr marL="0" indent="0">
                        <a:buFont typeface="Arial" panose="020B0604020202020204" pitchFamily="34" charset="0"/>
                        <a:buNone/>
                      </a:pPr>
                      <a:r>
                        <a:rPr kumimoji="1" lang="en-US" altLang="ja-JP" sz="1050">
                          <a:latin typeface="メイリオ" panose="020B0604030504040204" pitchFamily="50" charset="-128"/>
                          <a:ea typeface="メイリオ" panose="020B0604030504040204" pitchFamily="50" charset="-128"/>
                        </a:rPr>
                        <a:t>※ </a:t>
                      </a:r>
                      <a:r>
                        <a:rPr kumimoji="1" lang="en-US" altLang="ja-JP" sz="1050" b="1">
                          <a:latin typeface="メイリオ" panose="020B0604030504040204" pitchFamily="50" charset="-128"/>
                          <a:ea typeface="メイリオ" panose="020B0604030504040204" pitchFamily="50" charset="-128"/>
                        </a:rPr>
                        <a:t>Work IQ</a:t>
                      </a:r>
                      <a:r>
                        <a:rPr kumimoji="1" lang="ja-JP" altLang="en-US" sz="1050">
                          <a:latin typeface="メイリオ" panose="020B0604030504040204" pitchFamily="50" charset="-128"/>
                          <a:ea typeface="メイリオ" panose="020B0604030504040204" pitchFamily="50" charset="-128"/>
                        </a:rPr>
                        <a:t>：</a:t>
                      </a:r>
                      <a:r>
                        <a:rPr kumimoji="1" lang="en-US" altLang="ja-JP" sz="1050">
                          <a:latin typeface="メイリオ" panose="020B0604030504040204" pitchFamily="50" charset="-128"/>
                          <a:ea typeface="メイリオ" panose="020B0604030504040204" pitchFamily="50" charset="-128"/>
                        </a:rPr>
                        <a:t>M365</a:t>
                      </a:r>
                      <a:r>
                        <a:rPr kumimoji="1" lang="ja-JP" altLang="en-US" sz="1050">
                          <a:latin typeface="メイリオ" panose="020B0604030504040204" pitchFamily="50" charset="-128"/>
                          <a:ea typeface="メイリオ" panose="020B0604030504040204" pitchFamily="50" charset="-128"/>
                        </a:rPr>
                        <a:t>上の業務知識を構造化し、</a:t>
                      </a:r>
                      <a:r>
                        <a:rPr kumimoji="1" lang="en-US" altLang="ja-JP" sz="1050">
                          <a:latin typeface="メイリオ" panose="020B0604030504040204" pitchFamily="50" charset="-128"/>
                          <a:ea typeface="メイリオ" panose="020B0604030504040204" pitchFamily="50" charset="-128"/>
                        </a:rPr>
                        <a:t>AI</a:t>
                      </a:r>
                      <a:r>
                        <a:rPr kumimoji="1" lang="ja-JP" altLang="en-US" sz="1050">
                          <a:latin typeface="メイリオ" panose="020B0604030504040204" pitchFamily="50" charset="-128"/>
                          <a:ea typeface="メイリオ" panose="020B0604030504040204" pitchFamily="50" charset="-128"/>
                        </a:rPr>
                        <a:t>に仕事の文脈を渡す機能</a:t>
                      </a:r>
                    </a:p>
                  </a:txBody>
                  <a:tcPr/>
                </a:tc>
                <a:extLst>
                  <a:ext uri="{0D108BD9-81ED-4DB2-BD59-A6C34878D82A}">
                    <a16:rowId xmlns:a16="http://schemas.microsoft.com/office/drawing/2014/main" val="1918060578"/>
                  </a:ext>
                </a:extLst>
              </a:tr>
              <a:tr h="952567">
                <a:tc>
                  <a:txBody>
                    <a:bodyPr/>
                    <a:lstStyle/>
                    <a:p>
                      <a:r>
                        <a:rPr kumimoji="1" lang="ja-JP" altLang="en-US" sz="1050" b="1" i="0" kern="1200">
                          <a:solidFill>
                            <a:schemeClr val="dk1"/>
                          </a:solidFill>
                          <a:effectLst/>
                          <a:latin typeface="メイリオ" panose="020B0604030504040204" pitchFamily="50" charset="-128"/>
                          <a:ea typeface="メイリオ" panose="020B0604030504040204" pitchFamily="50" charset="-128"/>
                          <a:cs typeface="+mn-cs"/>
                        </a:rPr>
                        <a:t>コミュニケーション</a:t>
                      </a:r>
                    </a:p>
                  </a:txBody>
                  <a:tcPr/>
                </a:tc>
                <a:tc>
                  <a:txBody>
                    <a:bodyPr/>
                    <a:lstStyle/>
                    <a:p>
                      <a:r>
                        <a:rPr lang="en-US" altLang="ja-JP" sz="1050">
                          <a:latin typeface="メイリオ" panose="020B0604030504040204" pitchFamily="50" charset="-128"/>
                          <a:ea typeface="メイリオ" panose="020B0604030504040204" pitchFamily="50" charset="-128"/>
                        </a:rPr>
                        <a:t>Email, </a:t>
                      </a:r>
                    </a:p>
                    <a:p>
                      <a:r>
                        <a:rPr lang="en-US" altLang="ja-JP" sz="1050">
                          <a:latin typeface="メイリオ" panose="020B0604030504040204" pitchFamily="50" charset="-128"/>
                          <a:ea typeface="メイリオ" panose="020B0604030504040204" pitchFamily="50" charset="-128"/>
                        </a:rPr>
                        <a:t>Scheduling, </a:t>
                      </a:r>
                    </a:p>
                    <a:p>
                      <a:r>
                        <a:rPr lang="en-US" altLang="ja-JP" sz="1050">
                          <a:latin typeface="メイリオ" panose="020B0604030504040204" pitchFamily="50" charset="-128"/>
                          <a:ea typeface="メイリオ" panose="020B0604030504040204" pitchFamily="50" charset="-128"/>
                        </a:rPr>
                        <a:t>Calendar Management, </a:t>
                      </a:r>
                    </a:p>
                    <a:p>
                      <a:r>
                        <a:rPr lang="en-US" altLang="ja-JP" sz="1050">
                          <a:latin typeface="メイリオ" panose="020B0604030504040204" pitchFamily="50" charset="-128"/>
                          <a:ea typeface="メイリオ" panose="020B0604030504040204" pitchFamily="50" charset="-128"/>
                        </a:rPr>
                        <a:t>Meetings, </a:t>
                      </a:r>
                    </a:p>
                    <a:p>
                      <a:r>
                        <a:rPr lang="en-US" altLang="ja-JP" sz="1050">
                          <a:latin typeface="メイリオ" panose="020B0604030504040204" pitchFamily="50" charset="-128"/>
                          <a:ea typeface="メイリオ" panose="020B0604030504040204" pitchFamily="50" charset="-128"/>
                        </a:rPr>
                        <a:t>Daily Briefing, </a:t>
                      </a:r>
                    </a:p>
                    <a:p>
                      <a:r>
                        <a:rPr lang="en-US" altLang="ja-JP" sz="1050">
                          <a:latin typeface="メイリオ" panose="020B0604030504040204" pitchFamily="50" charset="-128"/>
                          <a:ea typeface="メイリオ" panose="020B0604030504040204" pitchFamily="50" charset="-128"/>
                        </a:rPr>
                        <a:t>Communications,</a:t>
                      </a:r>
                      <a:r>
                        <a:rPr lang="ja-JP" altLang="en-US" sz="1050">
                          <a:latin typeface="メイリオ" panose="020B0604030504040204" pitchFamily="50" charset="-128"/>
                          <a:ea typeface="メイリオ" panose="020B0604030504040204" pitchFamily="50" charset="-128"/>
                        </a:rPr>
                        <a:t>　</a:t>
                      </a:r>
                      <a:endParaRPr lang="en-US" altLang="ja-JP" sz="1050">
                        <a:latin typeface="メイリオ" panose="020B0604030504040204" pitchFamily="50" charset="-128"/>
                        <a:ea typeface="メイリオ" panose="020B0604030504040204" pitchFamily="50" charset="-128"/>
                      </a:endParaRPr>
                    </a:p>
                    <a:p>
                      <a:r>
                        <a:rPr lang="en-US" altLang="ja-JP" sz="1050">
                          <a:latin typeface="メイリオ" panose="020B0604030504040204" pitchFamily="50" charset="-128"/>
                          <a:ea typeface="メイリオ" panose="020B0604030504040204" pitchFamily="50" charset="-128"/>
                        </a:rPr>
                        <a:t>Adaptive Cards</a:t>
                      </a:r>
                      <a:endParaRPr kumimoji="1" lang="ja-JP" altLang="en-US" sz="1050">
                        <a:latin typeface="メイリオ" panose="020B0604030504040204" pitchFamily="50" charset="-128"/>
                        <a:ea typeface="メイリオ" panose="020B0604030504040204" pitchFamily="50" charset="-128"/>
                      </a:endParaRPr>
                    </a:p>
                  </a:txBody>
                  <a:tcPr/>
                </a:tc>
                <a:tc>
                  <a:txBody>
                    <a:bodyPr/>
                    <a:lstStyle/>
                    <a:p>
                      <a:pPr marL="171450" indent="-171450">
                        <a:buFont typeface="Arial" panose="020B0604020202020204" pitchFamily="34" charset="0"/>
                        <a:buChar char="•"/>
                      </a:pPr>
                      <a:r>
                        <a:rPr kumimoji="1" lang="ja-JP" altLang="en-US" sz="1050">
                          <a:latin typeface="メイリオ" panose="020B0604030504040204" pitchFamily="50" charset="-128"/>
                          <a:ea typeface="メイリオ" panose="020B0604030504040204" pitchFamily="50" charset="-128"/>
                        </a:rPr>
                        <a:t>メールの下書き、送信</a:t>
                      </a:r>
                    </a:p>
                    <a:p>
                      <a:pPr marL="171450" indent="-171450">
                        <a:buFont typeface="Arial" panose="020B0604020202020204" pitchFamily="34" charset="0"/>
                        <a:buChar char="•"/>
                      </a:pPr>
                      <a:r>
                        <a:rPr kumimoji="1" lang="en-US" altLang="ja-JP" sz="1050">
                          <a:latin typeface="メイリオ" panose="020B0604030504040204" pitchFamily="50" charset="-128"/>
                          <a:ea typeface="メイリオ" panose="020B0604030504040204" pitchFamily="50" charset="-128"/>
                        </a:rPr>
                        <a:t>Teams </a:t>
                      </a:r>
                      <a:r>
                        <a:rPr kumimoji="1" lang="ja-JP" altLang="en-US" sz="1050">
                          <a:latin typeface="メイリオ" panose="020B0604030504040204" pitchFamily="50" charset="-128"/>
                          <a:ea typeface="メイリオ" panose="020B0604030504040204" pitchFamily="50" charset="-128"/>
                        </a:rPr>
                        <a:t>チャネルで</a:t>
                      </a:r>
                      <a:r>
                        <a:rPr kumimoji="1" lang="en-US" altLang="ja-JP" sz="1050">
                          <a:latin typeface="メイリオ" panose="020B0604030504040204" pitchFamily="50" charset="-128"/>
                          <a:ea typeface="メイリオ" panose="020B0604030504040204" pitchFamily="50" charset="-128"/>
                        </a:rPr>
                        <a:t>:1 </a:t>
                      </a:r>
                      <a:r>
                        <a:rPr kumimoji="1" lang="ja-JP" altLang="en-US" sz="1050">
                          <a:latin typeface="メイリオ" panose="020B0604030504040204" pitchFamily="50" charset="-128"/>
                          <a:ea typeface="メイリオ" panose="020B0604030504040204" pitchFamily="50" charset="-128"/>
                        </a:rPr>
                        <a:t>またはグループ </a:t>
                      </a:r>
                      <a:r>
                        <a:rPr kumimoji="1" lang="en-US" altLang="ja-JP" sz="1050">
                          <a:latin typeface="メイリオ" panose="020B0604030504040204" pitchFamily="50" charset="-128"/>
                          <a:ea typeface="メイリオ" panose="020B0604030504040204" pitchFamily="50" charset="-128"/>
                        </a:rPr>
                        <a:t>Teams </a:t>
                      </a:r>
                      <a:r>
                        <a:rPr kumimoji="1" lang="ja-JP" altLang="en-US" sz="1050">
                          <a:latin typeface="メイリオ" panose="020B0604030504040204" pitchFamily="50" charset="-128"/>
                          <a:ea typeface="メイリオ" panose="020B0604030504040204" pitchFamily="50" charset="-128"/>
                        </a:rPr>
                        <a:t>チャットで直接メッセージを送信</a:t>
                      </a:r>
                      <a:endParaRPr kumimoji="1" lang="en-US" altLang="ja-JP" sz="1050">
                        <a:latin typeface="メイリオ" panose="020B0604030504040204" pitchFamily="50" charset="-128"/>
                        <a:ea typeface="メイリオ" panose="020B0604030504040204" pitchFamily="50" charset="-128"/>
                      </a:endParaRPr>
                    </a:p>
                    <a:p>
                      <a:pPr marL="171450" indent="-171450">
                        <a:buFont typeface="Arial" panose="020B0604020202020204" pitchFamily="34" charset="0"/>
                        <a:buChar char="•"/>
                      </a:pPr>
                      <a:r>
                        <a:rPr kumimoji="1" lang="ja-JP" altLang="en-US" sz="1050">
                          <a:latin typeface="メイリオ" panose="020B0604030504040204" pitchFamily="50" charset="-128"/>
                          <a:ea typeface="メイリオ" panose="020B0604030504040204" pitchFamily="50" charset="-128"/>
                        </a:rPr>
                        <a:t>電子メールで </a:t>
                      </a:r>
                      <a:r>
                        <a:rPr kumimoji="1" lang="en-US" altLang="ja-JP" sz="1050">
                          <a:latin typeface="メイリオ" panose="020B0604030504040204" pitchFamily="50" charset="-128"/>
                          <a:ea typeface="メイリオ" panose="020B0604030504040204" pitchFamily="50" charset="-128"/>
                        </a:rPr>
                        <a:t>HTML </a:t>
                      </a:r>
                      <a:r>
                        <a:rPr kumimoji="1" lang="ja-JP" altLang="en-US" sz="1050">
                          <a:latin typeface="メイリオ" panose="020B0604030504040204" pitchFamily="50" charset="-128"/>
                          <a:ea typeface="メイリオ" panose="020B0604030504040204" pitchFamily="50" charset="-128"/>
                        </a:rPr>
                        <a:t>ニュースレターを作成して送信</a:t>
                      </a:r>
                    </a:p>
                    <a:p>
                      <a:pPr marL="171450" indent="-171450">
                        <a:buFont typeface="Arial" panose="020B0604020202020204" pitchFamily="34" charset="0"/>
                        <a:buChar char="•"/>
                      </a:pPr>
                      <a:r>
                        <a:rPr kumimoji="1" lang="ja-JP" altLang="en-US" sz="1050">
                          <a:latin typeface="メイリオ" panose="020B0604030504040204" pitchFamily="50" charset="-128"/>
                          <a:ea typeface="メイリオ" panose="020B0604030504040204" pitchFamily="50" charset="-128"/>
                        </a:rPr>
                        <a:t>メールをフォルダーに並べ替え、メールを削除し、インラインで応答することで受信トレイを管理する</a:t>
                      </a:r>
                    </a:p>
                    <a:p>
                      <a:pPr marL="171450" indent="-171450">
                        <a:buFont typeface="Arial" panose="020B0604020202020204" pitchFamily="34" charset="0"/>
                        <a:buChar char="•"/>
                      </a:pPr>
                      <a:r>
                        <a:rPr kumimoji="1" lang="ja-JP" altLang="en-US" sz="1050">
                          <a:latin typeface="メイリオ" panose="020B0604030504040204" pitchFamily="50" charset="-128"/>
                          <a:ea typeface="メイリオ" panose="020B0604030504040204" pitchFamily="50" charset="-128"/>
                        </a:rPr>
                        <a:t>状態の更新、お知らせ、フォローアップなど、洗練された利害関係者のコミュニケーションを準備</a:t>
                      </a:r>
                    </a:p>
                  </a:txBody>
                  <a:tcPr/>
                </a:tc>
                <a:extLst>
                  <a:ext uri="{0D108BD9-81ED-4DB2-BD59-A6C34878D82A}">
                    <a16:rowId xmlns:a16="http://schemas.microsoft.com/office/drawing/2014/main" val="3578563098"/>
                  </a:ext>
                </a:extLst>
              </a:tr>
              <a:tr h="50803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50" b="1" i="0" kern="1200">
                          <a:solidFill>
                            <a:schemeClr val="dk1"/>
                          </a:solidFill>
                          <a:effectLst/>
                          <a:latin typeface="メイリオ" panose="020B0604030504040204" pitchFamily="50" charset="-128"/>
                          <a:ea typeface="メイリオ" panose="020B0604030504040204" pitchFamily="50" charset="-128"/>
                          <a:cs typeface="+mn-cs"/>
                        </a:rPr>
                        <a:t>調査と検索</a:t>
                      </a:r>
                    </a:p>
                  </a:txBody>
                  <a:tcPr/>
                </a:tc>
                <a:tc>
                  <a:txBody>
                    <a:bodyPr/>
                    <a:lstStyle/>
                    <a:p>
                      <a:r>
                        <a:rPr lang="en-US" altLang="ja-JP" sz="1050">
                          <a:latin typeface="メイリオ" panose="020B0604030504040204" pitchFamily="50" charset="-128"/>
                          <a:ea typeface="メイリオ" panose="020B0604030504040204" pitchFamily="50" charset="-128"/>
                        </a:rPr>
                        <a:t>Enterprise Search, </a:t>
                      </a:r>
                    </a:p>
                    <a:p>
                      <a:r>
                        <a:rPr lang="en-US" altLang="ja-JP" sz="1050">
                          <a:latin typeface="メイリオ" panose="020B0604030504040204" pitchFamily="50" charset="-128"/>
                          <a:ea typeface="メイリオ" panose="020B0604030504040204" pitchFamily="50" charset="-128"/>
                        </a:rPr>
                        <a:t>Deep Research</a:t>
                      </a:r>
                      <a:endParaRPr kumimoji="1" lang="ja-JP" altLang="en-US" sz="1050">
                        <a:latin typeface="メイリオ" panose="020B0604030504040204" pitchFamily="50" charset="-128"/>
                        <a:ea typeface="メイリオ" panose="020B0604030504040204" pitchFamily="50" charset="-128"/>
                      </a:endParaRPr>
                    </a:p>
                  </a:txBody>
                  <a:tcPr/>
                </a:tc>
                <a:tc>
                  <a:txBody>
                    <a:bodyPr/>
                    <a:lstStyle/>
                    <a:p>
                      <a:pPr marL="171450" indent="-171450">
                        <a:buFont typeface="Arial" panose="020B0604020202020204" pitchFamily="34" charset="0"/>
                        <a:buChar char="•"/>
                      </a:pPr>
                      <a:r>
                        <a:rPr kumimoji="1" lang="ja-JP" altLang="en-US" sz="1050">
                          <a:latin typeface="メイリオ" panose="020B0604030504040204" pitchFamily="50" charset="-128"/>
                          <a:ea typeface="メイリオ" panose="020B0604030504040204" pitchFamily="50" charset="-128"/>
                        </a:rPr>
                        <a:t>組織全体で検索して、ドキュメント、メッセージ、および情報を検索</a:t>
                      </a:r>
                      <a:endParaRPr kumimoji="1" lang="en-US" altLang="ja-JP" sz="1050">
                        <a:latin typeface="メイリオ" panose="020B0604030504040204" pitchFamily="50" charset="-128"/>
                        <a:ea typeface="メイリオ" panose="020B0604030504040204" pitchFamily="50" charset="-128"/>
                      </a:endParaRPr>
                    </a:p>
                    <a:p>
                      <a:pPr marL="171450" indent="-171450">
                        <a:buFont typeface="Arial" panose="020B0604020202020204" pitchFamily="34" charset="0"/>
                        <a:buChar char="•"/>
                      </a:pPr>
                      <a:r>
                        <a:rPr kumimoji="1" lang="ja-JP" altLang="en-US" sz="1050">
                          <a:latin typeface="メイリオ" panose="020B0604030504040204" pitchFamily="50" charset="-128"/>
                          <a:ea typeface="メイリオ" panose="020B0604030504040204" pitchFamily="50" charset="-128"/>
                        </a:rPr>
                        <a:t>複数のソースから包括的なレポートに情報を合成する詳細な調査を実行</a:t>
                      </a:r>
                      <a:endParaRPr kumimoji="1" lang="en-US" altLang="ja-JP" sz="1050">
                        <a:latin typeface="メイリオ" panose="020B0604030504040204" pitchFamily="50" charset="-128"/>
                        <a:ea typeface="メイリオ" panose="020B0604030504040204" pitchFamily="50" charset="-128"/>
                      </a:endParaRPr>
                    </a:p>
                  </a:txBody>
                  <a:tcPr/>
                </a:tc>
                <a:extLst>
                  <a:ext uri="{0D108BD9-81ED-4DB2-BD59-A6C34878D82A}">
                    <a16:rowId xmlns:a16="http://schemas.microsoft.com/office/drawing/2014/main" val="2769939081"/>
                  </a:ext>
                </a:extLst>
              </a:tr>
            </a:tbl>
          </a:graphicData>
        </a:graphic>
      </p:graphicFrame>
      <p:sp>
        <p:nvSpPr>
          <p:cNvPr id="133" name="二等辺三角形 132">
            <a:extLst>
              <a:ext uri="{FF2B5EF4-FFF2-40B4-BE49-F238E27FC236}">
                <a16:creationId xmlns:a16="http://schemas.microsoft.com/office/drawing/2014/main" id="{2A9B4B56-BFEB-9019-0071-BEF83299ACA9}"/>
              </a:ext>
            </a:extLst>
          </p:cNvPr>
          <p:cNvSpPr/>
          <p:nvPr/>
        </p:nvSpPr>
        <p:spPr>
          <a:xfrm rot="10800000">
            <a:off x="2801754" y="5101460"/>
            <a:ext cx="765104" cy="214473"/>
          </a:xfrm>
          <a:prstGeom prst="triangle">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4" name="テキスト ボックス 133">
            <a:extLst>
              <a:ext uri="{FF2B5EF4-FFF2-40B4-BE49-F238E27FC236}">
                <a16:creationId xmlns:a16="http://schemas.microsoft.com/office/drawing/2014/main" id="{572BBF63-6B1F-FD3B-B82B-06F3E110A4FF}"/>
              </a:ext>
            </a:extLst>
          </p:cNvPr>
          <p:cNvSpPr txBox="1"/>
          <p:nvPr/>
        </p:nvSpPr>
        <p:spPr>
          <a:xfrm>
            <a:off x="294445" y="5392661"/>
            <a:ext cx="5719912" cy="800219"/>
          </a:xfrm>
          <a:prstGeom prst="rect">
            <a:avLst/>
          </a:prstGeom>
          <a:noFill/>
        </p:spPr>
        <p:txBody>
          <a:bodyPr wrap="square" rtlCol="0">
            <a:spAutoFit/>
          </a:bodyPr>
          <a:lstStyle/>
          <a:p>
            <a:pPr algn="ctr">
              <a:lnSpc>
                <a:spcPct val="150000"/>
              </a:lnSpc>
            </a:pPr>
            <a:r>
              <a:rPr lang="ja-JP" altLang="en-US" sz="1600">
                <a:latin typeface="メイリオ" panose="020B0604030504040204" pitchFamily="50" charset="-128"/>
                <a:ea typeface="メイリオ" panose="020B0604030504040204" pitchFamily="50" charset="-128"/>
              </a:rPr>
              <a:t>ゴールを渡したらこれらの部品を適切に組み合わせて、</a:t>
            </a:r>
            <a:endParaRPr lang="en-US" altLang="ja-JP" sz="1600">
              <a:latin typeface="メイリオ" panose="020B0604030504040204" pitchFamily="50" charset="-128"/>
              <a:ea typeface="メイリオ" panose="020B0604030504040204" pitchFamily="50" charset="-128"/>
            </a:endParaRPr>
          </a:p>
          <a:p>
            <a:pPr algn="ctr">
              <a:lnSpc>
                <a:spcPct val="150000"/>
              </a:lnSpc>
            </a:pPr>
            <a:r>
              <a:rPr lang="ja-JP" altLang="en-US" sz="1600">
                <a:latin typeface="メイリオ" panose="020B0604030504040204" pitchFamily="50" charset="-128"/>
                <a:ea typeface="メイリオ" panose="020B0604030504040204" pitchFamily="50" charset="-128"/>
              </a:rPr>
              <a:t>途中で確認を挟みながら完成まで持っていく</a:t>
            </a:r>
            <a:endParaRPr lang="ja-JP" altLang="en-US" sz="1400">
              <a:latin typeface="メイリオ" panose="020B0604030504040204" pitchFamily="50" charset="-128"/>
              <a:ea typeface="メイリオ" panose="020B0604030504040204" pitchFamily="50" charset="-128"/>
            </a:endParaRPr>
          </a:p>
        </p:txBody>
      </p:sp>
      <p:sp>
        <p:nvSpPr>
          <p:cNvPr id="135" name="テキスト ボックス 134">
            <a:extLst>
              <a:ext uri="{FF2B5EF4-FFF2-40B4-BE49-F238E27FC236}">
                <a16:creationId xmlns:a16="http://schemas.microsoft.com/office/drawing/2014/main" id="{8FB477FE-217F-1001-89E5-4C01851075E9}"/>
              </a:ext>
            </a:extLst>
          </p:cNvPr>
          <p:cNvSpPr txBox="1"/>
          <p:nvPr/>
        </p:nvSpPr>
        <p:spPr>
          <a:xfrm>
            <a:off x="6140012" y="1001123"/>
            <a:ext cx="5850602" cy="1223412"/>
          </a:xfrm>
          <a:prstGeom prst="rect">
            <a:avLst/>
          </a:prstGeom>
          <a:noFill/>
        </p:spPr>
        <p:txBody>
          <a:bodyPr wrap="square" rtlCol="0">
            <a:spAutoFit/>
          </a:bodyPr>
          <a:lstStyle/>
          <a:p>
            <a:pPr>
              <a:lnSpc>
                <a:spcPct val="150000"/>
              </a:lnSpc>
            </a:pPr>
            <a:r>
              <a:rPr lang="ja-JP" altLang="en-US" sz="1400" b="1">
                <a:latin typeface="メイリオ" panose="020B0604030504040204" pitchFamily="50" charset="-128"/>
                <a:ea typeface="メイリオ" panose="020B0604030504040204" pitchFamily="50" charset="-128"/>
              </a:rPr>
              <a:t>スケジュール実行</a:t>
            </a:r>
            <a:endParaRPr lang="en-US" altLang="ja-JP" sz="1400" b="1">
              <a:latin typeface="メイリオ" panose="020B0604030504040204" pitchFamily="50" charset="-128"/>
              <a:ea typeface="メイリオ" panose="020B0604030504040204" pitchFamily="50" charset="-128"/>
            </a:endParaRPr>
          </a:p>
          <a:p>
            <a:pPr marL="285750" indent="-285750">
              <a:lnSpc>
                <a:spcPct val="150000"/>
              </a:lnSpc>
              <a:buFont typeface="Arial" panose="020B0604020202020204" pitchFamily="34" charset="0"/>
              <a:buChar char="•"/>
            </a:pPr>
            <a:r>
              <a:rPr kumimoji="1" lang="ja-JP" altLang="en-US" sz="1200">
                <a:latin typeface="メイリオ" panose="020B0604030504040204" pitchFamily="50" charset="-128"/>
                <a:ea typeface="メイリオ" panose="020B0604030504040204" pitchFamily="50" charset="-128"/>
              </a:rPr>
              <a:t>「毎朝</a:t>
            </a:r>
            <a:r>
              <a:rPr kumimoji="1" lang="en-US" altLang="ja-JP" sz="1200">
                <a:latin typeface="メイリオ" panose="020B0604030504040204" pitchFamily="50" charset="-128"/>
                <a:ea typeface="メイリオ" panose="020B0604030504040204" pitchFamily="50" charset="-128"/>
              </a:rPr>
              <a:t>9</a:t>
            </a:r>
            <a:r>
              <a:rPr kumimoji="1" lang="ja-JP" altLang="en-US" sz="1200">
                <a:latin typeface="メイリオ" panose="020B0604030504040204" pitchFamily="50" charset="-128"/>
                <a:ea typeface="メイリオ" panose="020B0604030504040204" pitchFamily="50" charset="-128"/>
              </a:rPr>
              <a:t>時に日次ブリーフィングを送る」「毎週レポートを準備する」のような定期実行を自然言語で設定可能</a:t>
            </a:r>
            <a:endParaRPr kumimoji="1" lang="en-US" altLang="ja-JP" sz="1200">
              <a:latin typeface="メイリオ" panose="020B0604030504040204" pitchFamily="50" charset="-128"/>
              <a:ea typeface="メイリオ" panose="020B0604030504040204" pitchFamily="50" charset="-128"/>
            </a:endParaRPr>
          </a:p>
          <a:p>
            <a:pPr marL="285750" indent="-2857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スケジュールタブやサイドパネルから編集・一時停止・再開・削除が可能</a:t>
            </a:r>
            <a:endParaRPr lang="en-US" altLang="ja-JP" sz="1200">
              <a:latin typeface="メイリオ" panose="020B0604030504040204" pitchFamily="50" charset="-128"/>
              <a:ea typeface="メイリオ" panose="020B0604030504040204" pitchFamily="50" charset="-128"/>
            </a:endParaRPr>
          </a:p>
        </p:txBody>
      </p:sp>
      <p:sp>
        <p:nvSpPr>
          <p:cNvPr id="137" name="テキスト ボックス 136">
            <a:extLst>
              <a:ext uri="{FF2B5EF4-FFF2-40B4-BE49-F238E27FC236}">
                <a16:creationId xmlns:a16="http://schemas.microsoft.com/office/drawing/2014/main" id="{109C511B-E13D-FA31-23E4-C6D0C338602C}"/>
              </a:ext>
            </a:extLst>
          </p:cNvPr>
          <p:cNvSpPr txBox="1"/>
          <p:nvPr/>
        </p:nvSpPr>
        <p:spPr>
          <a:xfrm>
            <a:off x="6140012" y="2234733"/>
            <a:ext cx="5850602" cy="1223412"/>
          </a:xfrm>
          <a:prstGeom prst="rect">
            <a:avLst/>
          </a:prstGeom>
          <a:noFill/>
        </p:spPr>
        <p:txBody>
          <a:bodyPr wrap="square" rtlCol="0">
            <a:spAutoFit/>
          </a:bodyPr>
          <a:lstStyle/>
          <a:p>
            <a:pPr>
              <a:lnSpc>
                <a:spcPct val="150000"/>
              </a:lnSpc>
            </a:pPr>
            <a:r>
              <a:rPr lang="ja-JP" altLang="en-US" sz="1400" b="1">
                <a:latin typeface="メイリオ" panose="020B0604030504040204" pitchFamily="50" charset="-128"/>
                <a:ea typeface="メイリオ" panose="020B0604030504040204" pitchFamily="50" charset="-128"/>
              </a:rPr>
              <a:t>制約</a:t>
            </a:r>
            <a:endParaRPr lang="en-US" altLang="ja-JP" sz="1400" b="1">
              <a:latin typeface="メイリオ" panose="020B0604030504040204" pitchFamily="50" charset="-128"/>
              <a:ea typeface="メイリオ" panose="020B0604030504040204" pitchFamily="50" charset="-128"/>
            </a:endParaRPr>
          </a:p>
          <a:p>
            <a:pPr marL="171450" indent="-171450">
              <a:lnSpc>
                <a:spcPct val="150000"/>
              </a:lnSpc>
              <a:buFont typeface="Arial" panose="020B0604020202020204" pitchFamily="34" charset="0"/>
              <a:buChar char="•"/>
            </a:pPr>
            <a:r>
              <a:rPr lang="en-US" altLang="ja-JP" sz="1200">
                <a:latin typeface="メイリオ" panose="020B0604030504040204" pitchFamily="50" charset="-128"/>
                <a:ea typeface="メイリオ" panose="020B0604030504040204" pitchFamily="50" charset="-128"/>
              </a:rPr>
              <a:t>Claude</a:t>
            </a:r>
            <a:r>
              <a:rPr lang="ja-JP" altLang="en-US" sz="1200">
                <a:latin typeface="メイリオ" panose="020B0604030504040204" pitchFamily="50" charset="-128"/>
                <a:ea typeface="メイリオ" panose="020B0604030504040204" pitchFamily="50" charset="-128"/>
              </a:rPr>
              <a:t> </a:t>
            </a:r>
            <a:r>
              <a:rPr lang="en-US" altLang="ja-JP" sz="1200">
                <a:latin typeface="メイリオ" panose="020B0604030504040204" pitchFamily="50" charset="-128"/>
                <a:ea typeface="メイリオ" panose="020B0604030504040204" pitchFamily="50" charset="-128"/>
              </a:rPr>
              <a:t>Cowork</a:t>
            </a:r>
            <a:r>
              <a:rPr lang="ja-JP" altLang="en-US" sz="1200">
                <a:latin typeface="メイリオ" panose="020B0604030504040204" pitchFamily="50" charset="-128"/>
                <a:ea typeface="メイリオ" panose="020B0604030504040204" pitchFamily="50" charset="-128"/>
              </a:rPr>
              <a:t>とは異なりローカルファイルの操作は不可で、</a:t>
            </a:r>
            <a:r>
              <a:rPr lang="en-US" altLang="ja-JP" sz="1200">
                <a:latin typeface="メイリオ" panose="020B0604030504040204" pitchFamily="50" charset="-128"/>
                <a:ea typeface="メイリオ" panose="020B0604030504040204" pitchFamily="50" charset="-128"/>
              </a:rPr>
              <a:t>SharePoint</a:t>
            </a:r>
            <a:r>
              <a:rPr lang="ja-JP" altLang="en-US" sz="1200">
                <a:latin typeface="メイリオ" panose="020B0604030504040204" pitchFamily="50" charset="-128"/>
                <a:ea typeface="メイリオ" panose="020B0604030504040204" pitchFamily="50" charset="-128"/>
              </a:rPr>
              <a:t>や</a:t>
            </a:r>
            <a:r>
              <a:rPr lang="en-US" altLang="ja-JP" sz="1200">
                <a:latin typeface="メイリオ" panose="020B0604030504040204" pitchFamily="50" charset="-128"/>
                <a:ea typeface="メイリオ" panose="020B0604030504040204" pitchFamily="50" charset="-128"/>
              </a:rPr>
              <a:t>OneDrive</a:t>
            </a:r>
            <a:r>
              <a:rPr lang="ja-JP" altLang="en-US" sz="1200">
                <a:latin typeface="メイリオ" panose="020B0604030504040204" pitchFamily="50" charset="-128"/>
                <a:ea typeface="メイリオ" panose="020B0604030504040204" pitchFamily="50" charset="-128"/>
              </a:rPr>
              <a:t>上のファイルの操作のみとなる</a:t>
            </a:r>
            <a:endParaRPr lang="en-US" altLang="ja-JP" sz="1200">
              <a:latin typeface="メイリオ" panose="020B0604030504040204" pitchFamily="50" charset="-128"/>
              <a:ea typeface="メイリオ" panose="020B0604030504040204" pitchFamily="50" charset="-128"/>
            </a:endParaRPr>
          </a:p>
          <a:p>
            <a:pPr marL="171450" indent="-171450">
              <a:lnSpc>
                <a:spcPct val="150000"/>
              </a:lnSpc>
              <a:buFont typeface="Arial" panose="020B0604020202020204" pitchFamily="34" charset="0"/>
              <a:buChar char="•"/>
            </a:pPr>
            <a:r>
              <a:rPr lang="en-US" altLang="ja-JP" sz="1200">
                <a:latin typeface="メイリオ" panose="020B0604030504040204" pitchFamily="50" charset="-128"/>
                <a:ea typeface="メイリオ" panose="020B0604030504040204" pitchFamily="50" charset="-128"/>
              </a:rPr>
              <a:t>SharePoint</a:t>
            </a:r>
            <a:r>
              <a:rPr lang="ja-JP" altLang="en-US" sz="1200">
                <a:latin typeface="メイリオ" panose="020B0604030504040204" pitchFamily="50" charset="-128"/>
                <a:ea typeface="メイリオ" panose="020B0604030504040204" pitchFamily="50" charset="-128"/>
              </a:rPr>
              <a:t>や</a:t>
            </a:r>
            <a:r>
              <a:rPr lang="en-US" altLang="ja-JP" sz="1200">
                <a:latin typeface="メイリオ" panose="020B0604030504040204" pitchFamily="50" charset="-128"/>
                <a:ea typeface="メイリオ" panose="020B0604030504040204" pitchFamily="50" charset="-128"/>
              </a:rPr>
              <a:t>OneDrive</a:t>
            </a:r>
            <a:r>
              <a:rPr lang="ja-JP" altLang="en-US" sz="1200">
                <a:latin typeface="メイリオ" panose="020B0604030504040204" pitchFamily="50" charset="-128"/>
                <a:ea typeface="メイリオ" panose="020B0604030504040204" pitchFamily="50" charset="-128"/>
              </a:rPr>
              <a:t>上のファイル・フォルダの削除は行わない</a:t>
            </a:r>
            <a:endParaRPr lang="en-US" altLang="ja-JP" sz="1200">
              <a:latin typeface="メイリオ" panose="020B0604030504040204" pitchFamily="50" charset="-128"/>
              <a:ea typeface="メイリオ" panose="020B0604030504040204" pitchFamily="50" charset="-128"/>
            </a:endParaRPr>
          </a:p>
        </p:txBody>
      </p:sp>
      <p:pic>
        <p:nvPicPr>
          <p:cNvPr id="140" name="オンライン メディア 139" title="Copilot Cowork 概要解説｜チームで AI が「一緒に働く」新しい Copilot の形">
            <a:hlinkClick r:id="" action="ppaction://media"/>
            <a:extLst>
              <a:ext uri="{FF2B5EF4-FFF2-40B4-BE49-F238E27FC236}">
                <a16:creationId xmlns:a16="http://schemas.microsoft.com/office/drawing/2014/main" id="{8E09B155-AD88-6FFE-6563-E43C53589ACB}"/>
              </a:ext>
            </a:extLst>
          </p:cNvPr>
          <p:cNvPicPr>
            <a:picLocks noRot="1" noChangeAspect="1"/>
          </p:cNvPicPr>
          <p:nvPr>
            <a:videoFile r:link="rId1"/>
          </p:nvPr>
        </p:nvPicPr>
        <p:blipFill>
          <a:blip r:embed="rId3"/>
          <a:stretch>
            <a:fillRect/>
          </a:stretch>
        </p:blipFill>
        <p:spPr>
          <a:xfrm>
            <a:off x="6564781" y="3973642"/>
            <a:ext cx="5023062" cy="2838037"/>
          </a:xfrm>
          <a:prstGeom prst="rect">
            <a:avLst/>
          </a:prstGeom>
          <a:ln>
            <a:noFill/>
          </a:ln>
          <a:effectLst>
            <a:outerShdw blurRad="190500" algn="tl" rotWithShape="0">
              <a:srgbClr val="000000">
                <a:alpha val="70000"/>
              </a:srgbClr>
            </a:outerShdw>
          </a:effectLst>
        </p:spPr>
      </p:pic>
      <p:sp>
        <p:nvSpPr>
          <p:cNvPr id="141" name="テキスト ボックス 140">
            <a:extLst>
              <a:ext uri="{FF2B5EF4-FFF2-40B4-BE49-F238E27FC236}">
                <a16:creationId xmlns:a16="http://schemas.microsoft.com/office/drawing/2014/main" id="{0B6F9ED8-4DDB-64C3-FC02-CB8B3B7BA40A}"/>
              </a:ext>
            </a:extLst>
          </p:cNvPr>
          <p:cNvSpPr txBox="1"/>
          <p:nvPr/>
        </p:nvSpPr>
        <p:spPr>
          <a:xfrm>
            <a:off x="6140012" y="3528109"/>
            <a:ext cx="5447831" cy="388568"/>
          </a:xfrm>
          <a:prstGeom prst="rect">
            <a:avLst/>
          </a:prstGeom>
          <a:noFill/>
        </p:spPr>
        <p:txBody>
          <a:bodyPr wrap="square" rtlCol="0">
            <a:spAutoFit/>
          </a:bodyPr>
          <a:lstStyle/>
          <a:p>
            <a:pPr>
              <a:lnSpc>
                <a:spcPct val="150000"/>
              </a:lnSpc>
            </a:pPr>
            <a:r>
              <a:rPr lang="ja-JP" altLang="en-US" sz="1400" b="1">
                <a:latin typeface="メイリオ" panose="020B0604030504040204" pitchFamily="50" charset="-128"/>
                <a:ea typeface="メイリオ" panose="020B0604030504040204" pitchFamily="50" charset="-128"/>
              </a:rPr>
              <a:t>参考：</a:t>
            </a:r>
            <a:r>
              <a:rPr lang="en-US" altLang="ja-JP" sz="1400" b="1">
                <a:latin typeface="メイリオ" panose="020B0604030504040204" pitchFamily="50" charset="-128"/>
                <a:ea typeface="メイリオ" panose="020B0604030504040204" pitchFamily="50" charset="-128"/>
              </a:rPr>
              <a:t>Copilot Cowork</a:t>
            </a:r>
            <a:r>
              <a:rPr lang="ja-JP" altLang="en-US" sz="1400" b="1">
                <a:latin typeface="メイリオ" panose="020B0604030504040204" pitchFamily="50" charset="-128"/>
                <a:ea typeface="メイリオ" panose="020B0604030504040204" pitchFamily="50" charset="-128"/>
              </a:rPr>
              <a:t>概要解説</a:t>
            </a:r>
            <a:endParaRPr lang="en-US" altLang="ja-JP" sz="120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925149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140"/>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40"/>
                </p:tgtEl>
              </p:cMediaNode>
            </p:video>
            <p:seq concurrent="1" nextAc="seek">
              <p:cTn id="8" restart="whenNotActive" fill="hold" evtFilter="cancelBubble" nodeType="interactiveSeq">
                <p:stCondLst>
                  <p:cond evt="onClick" delay="0">
                    <p:tgtEl>
                      <p:spTgt spid="140"/>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40"/>
                                        </p:tgtEl>
                                      </p:cBhvr>
                                    </p:cmd>
                                  </p:childTnLst>
                                </p:cTn>
                              </p:par>
                            </p:childTnLst>
                          </p:cTn>
                        </p:par>
                      </p:childTnLst>
                    </p:cTn>
                  </p:par>
                </p:childTnLst>
              </p:cTn>
              <p:nextCondLst>
                <p:cond evt="onClick" delay="0">
                  <p:tgtEl>
                    <p:spTgt spid="140"/>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B59152-CA0A-52AB-7D28-ACD54A4EBC86}"/>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F5F4FDBF-FCBE-8668-6D6E-FCEA8A9BE889}"/>
              </a:ext>
            </a:extLst>
          </p:cNvPr>
          <p:cNvSpPr txBox="1"/>
          <p:nvPr/>
        </p:nvSpPr>
        <p:spPr>
          <a:xfrm>
            <a:off x="443466" y="317212"/>
            <a:ext cx="11215133" cy="584775"/>
          </a:xfrm>
          <a:prstGeom prst="rect">
            <a:avLst/>
          </a:prstGeom>
          <a:noFill/>
        </p:spPr>
        <p:txBody>
          <a:bodyPr wrap="square" rtlCol="0">
            <a:spAutoFit/>
          </a:bodyPr>
          <a:lstStyle/>
          <a:p>
            <a:r>
              <a:rPr lang="ja-JP" altLang="en-US" sz="3200" b="1">
                <a:latin typeface="メイリオ" panose="020B0604030504040204" pitchFamily="50" charset="-128"/>
                <a:ea typeface="メイリオ" panose="020B0604030504040204" pitchFamily="50" charset="-128"/>
              </a:rPr>
              <a:t>さらに強くする仕組み　カスタムスキルとサブエージェント</a:t>
            </a:r>
          </a:p>
        </p:txBody>
      </p:sp>
      <p:pic>
        <p:nvPicPr>
          <p:cNvPr id="143" name="図 142">
            <a:extLst>
              <a:ext uri="{FF2B5EF4-FFF2-40B4-BE49-F238E27FC236}">
                <a16:creationId xmlns:a16="http://schemas.microsoft.com/office/drawing/2014/main" id="{52E64528-134A-ECC7-CD15-0CDB397F15E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10474" y="1685796"/>
            <a:ext cx="1375408" cy="1375408"/>
          </a:xfrm>
          <a:prstGeom prst="rect">
            <a:avLst/>
          </a:prstGeom>
        </p:spPr>
      </p:pic>
      <p:sp>
        <p:nvSpPr>
          <p:cNvPr id="144" name="正方形/長方形 143">
            <a:extLst>
              <a:ext uri="{FF2B5EF4-FFF2-40B4-BE49-F238E27FC236}">
                <a16:creationId xmlns:a16="http://schemas.microsoft.com/office/drawing/2014/main" id="{D2FA5A1E-0DE7-D0D1-D5A5-8B43BAD42140}"/>
              </a:ext>
            </a:extLst>
          </p:cNvPr>
          <p:cNvSpPr/>
          <p:nvPr/>
        </p:nvSpPr>
        <p:spPr>
          <a:xfrm>
            <a:off x="255145" y="1186023"/>
            <a:ext cx="5687506" cy="340403"/>
          </a:xfrm>
          <a:prstGeom prst="rect">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sz="1500" b="1">
                <a:solidFill>
                  <a:srgbClr val="FFFFFF"/>
                </a:solidFill>
                <a:latin typeface="メイリオ"/>
              </a:defRPr>
            </a:pPr>
            <a:r>
              <a:rPr lang="en-US" altLang="ja-JP" sz="1600">
                <a:latin typeface="メイリオ" panose="020B0604030504040204" pitchFamily="50" charset="-128"/>
                <a:ea typeface="メイリオ" panose="020B0604030504040204" pitchFamily="50" charset="-128"/>
              </a:rPr>
              <a:t>Skill</a:t>
            </a:r>
            <a:r>
              <a:rPr lang="ja-JP" altLang="en-US" sz="1600">
                <a:latin typeface="メイリオ" panose="020B0604030504040204" pitchFamily="50" charset="-128"/>
                <a:ea typeface="メイリオ" panose="020B0604030504040204" pitchFamily="50" charset="-128"/>
              </a:rPr>
              <a:t>（スキル） </a:t>
            </a:r>
            <a:r>
              <a:rPr lang="en-US" altLang="ja-JP" sz="1600">
                <a:latin typeface="メイリオ" panose="020B0604030504040204" pitchFamily="50" charset="-128"/>
                <a:ea typeface="メイリオ" panose="020B0604030504040204" pitchFamily="50" charset="-128"/>
              </a:rPr>
              <a:t>= </a:t>
            </a:r>
            <a:r>
              <a:rPr lang="ja-JP" altLang="en-US" sz="1600">
                <a:latin typeface="メイリオ" panose="020B0604030504040204" pitchFamily="50" charset="-128"/>
                <a:ea typeface="メイリオ" panose="020B0604030504040204" pitchFamily="50" charset="-128"/>
              </a:rPr>
              <a:t>事前に書いておく指示書</a:t>
            </a:r>
          </a:p>
        </p:txBody>
      </p:sp>
      <p:sp>
        <p:nvSpPr>
          <p:cNvPr id="145" name="正方形/長方形 144">
            <a:extLst>
              <a:ext uri="{FF2B5EF4-FFF2-40B4-BE49-F238E27FC236}">
                <a16:creationId xmlns:a16="http://schemas.microsoft.com/office/drawing/2014/main" id="{7B98D4F7-1D89-D509-38E9-EA17BA54C68A}"/>
              </a:ext>
            </a:extLst>
          </p:cNvPr>
          <p:cNvSpPr/>
          <p:nvPr/>
        </p:nvSpPr>
        <p:spPr>
          <a:xfrm>
            <a:off x="6249350" y="1186022"/>
            <a:ext cx="5687505" cy="340403"/>
          </a:xfrm>
          <a:prstGeom prst="rect">
            <a:avLst/>
          </a:prstGeom>
          <a:solidFill>
            <a:schemeClr val="accent6">
              <a:lumMod val="75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sz="1500" b="1">
                <a:solidFill>
                  <a:srgbClr val="FFFFFF"/>
                </a:solidFill>
                <a:latin typeface="メイリオ"/>
              </a:defRPr>
            </a:pPr>
            <a:r>
              <a:rPr lang="ja-JP" altLang="en-US" sz="1600">
                <a:latin typeface="メイリオ" panose="020B0604030504040204" pitchFamily="50" charset="-128"/>
                <a:ea typeface="メイリオ" panose="020B0604030504040204" pitchFamily="50" charset="-128"/>
              </a:rPr>
              <a:t>サブエージェント </a:t>
            </a:r>
            <a:r>
              <a:rPr lang="en-US" altLang="ja-JP" sz="1600">
                <a:latin typeface="メイリオ" panose="020B0604030504040204" pitchFamily="50" charset="-128"/>
                <a:ea typeface="メイリオ" panose="020B0604030504040204" pitchFamily="50" charset="-128"/>
              </a:rPr>
              <a:t>= </a:t>
            </a:r>
            <a:r>
              <a:rPr lang="ja-JP" altLang="en-US" sz="1600">
                <a:latin typeface="メイリオ" panose="020B0604030504040204" pitchFamily="50" charset="-128"/>
                <a:ea typeface="メイリオ" panose="020B0604030504040204" pitchFamily="50" charset="-128"/>
              </a:rPr>
              <a:t>並列で動く分身</a:t>
            </a:r>
          </a:p>
        </p:txBody>
      </p:sp>
      <p:pic>
        <p:nvPicPr>
          <p:cNvPr id="147" name="グラフィックス 146" descr="ドキュメント 単色塗りつぶし">
            <a:extLst>
              <a:ext uri="{FF2B5EF4-FFF2-40B4-BE49-F238E27FC236}">
                <a16:creationId xmlns:a16="http://schemas.microsoft.com/office/drawing/2014/main" id="{2785398F-5B36-6EDE-4D31-C0AE5404F6F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67845" y="1630530"/>
            <a:ext cx="552403" cy="552403"/>
          </a:xfrm>
          <a:prstGeom prst="rect">
            <a:avLst/>
          </a:prstGeom>
        </p:spPr>
      </p:pic>
      <p:sp>
        <p:nvSpPr>
          <p:cNvPr id="148" name="矢印: 下 147">
            <a:extLst>
              <a:ext uri="{FF2B5EF4-FFF2-40B4-BE49-F238E27FC236}">
                <a16:creationId xmlns:a16="http://schemas.microsoft.com/office/drawing/2014/main" id="{9B79A6D9-7C4A-0F9F-91D2-076E40318B22}"/>
              </a:ext>
            </a:extLst>
          </p:cNvPr>
          <p:cNvSpPr/>
          <p:nvPr/>
        </p:nvSpPr>
        <p:spPr>
          <a:xfrm rot="3054614">
            <a:off x="3668993" y="1993483"/>
            <a:ext cx="288302" cy="535318"/>
          </a:xfrm>
          <a:prstGeom prst="downArrow">
            <a:avLst>
              <a:gd name="adj1" fmla="val 50000"/>
              <a:gd name="adj2" fmla="val 70685"/>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9" name="テキスト ボックス 148">
            <a:extLst>
              <a:ext uri="{FF2B5EF4-FFF2-40B4-BE49-F238E27FC236}">
                <a16:creationId xmlns:a16="http://schemas.microsoft.com/office/drawing/2014/main" id="{D0D1ACBB-E381-2A9E-28EA-A8953A8FFD6C}"/>
              </a:ext>
            </a:extLst>
          </p:cNvPr>
          <p:cNvSpPr txBox="1"/>
          <p:nvPr/>
        </p:nvSpPr>
        <p:spPr>
          <a:xfrm>
            <a:off x="356340" y="3062968"/>
            <a:ext cx="5586311" cy="1754326"/>
          </a:xfrm>
          <a:prstGeom prst="rect">
            <a:avLst/>
          </a:prstGeom>
          <a:noFill/>
        </p:spPr>
        <p:txBody>
          <a:bodyPr wrap="square" rtlCol="0">
            <a:spAutoFit/>
          </a:bodyPr>
          <a:lstStyle/>
          <a:p>
            <a:pPr marL="285750" indent="-285750">
              <a:buFont typeface="Arial" panose="020B0604020202020204" pitchFamily="34" charset="0"/>
              <a:buChar char="•"/>
            </a:pPr>
            <a:r>
              <a:rPr lang="en-US" altLang="ja-JP" sz="1200">
                <a:latin typeface="メイリオ" panose="020B0604030504040204" pitchFamily="50" charset="-128"/>
                <a:ea typeface="メイリオ" panose="020B0604030504040204" pitchFamily="50" charset="-128"/>
              </a:rPr>
              <a:t>SKILL.md</a:t>
            </a:r>
            <a:r>
              <a:rPr lang="ja-JP" altLang="en-US" sz="1200">
                <a:latin typeface="メイリオ" panose="020B0604030504040204" pitchFamily="50" charset="-128"/>
                <a:ea typeface="メイリオ" panose="020B0604030504040204" pitchFamily="50" charset="-128"/>
              </a:rPr>
              <a:t>というファイルに業務手順を書いて</a:t>
            </a:r>
            <a:r>
              <a:rPr lang="en-US" altLang="ja-JP" sz="1200">
                <a:latin typeface="メイリオ" panose="020B0604030504040204" pitchFamily="50" charset="-128"/>
                <a:ea typeface="メイリオ" panose="020B0604030504040204" pitchFamily="50" charset="-128"/>
              </a:rPr>
              <a:t>OneDrive</a:t>
            </a:r>
            <a:r>
              <a:rPr lang="ja-JP" altLang="en-US" sz="1200">
                <a:latin typeface="メイリオ" panose="020B0604030504040204" pitchFamily="50" charset="-128"/>
                <a:ea typeface="メイリオ" panose="020B0604030504040204" pitchFamily="50" charset="-128"/>
              </a:rPr>
              <a:t>に置くことで利用</a:t>
            </a:r>
            <a:endParaRPr lang="en-US" altLang="ja-JP" sz="1200">
              <a:latin typeface="メイリオ" panose="020B0604030504040204" pitchFamily="50" charset="-128"/>
              <a:ea typeface="メイリオ" panose="020B0604030504040204" pitchFamily="50" charset="-128"/>
            </a:endParaRPr>
          </a:p>
          <a:p>
            <a:pPr marL="285750" indent="-285750">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「こういう仕事はこのルールでやる」と事前に教えておく指示書であり、手順に限らずルール・品質基準などを書いておくことで毎回プロンプトで説明する必要がなくなる</a:t>
            </a:r>
            <a:endParaRPr lang="en-US" altLang="ja-JP" sz="1200">
              <a:latin typeface="メイリオ" panose="020B0604030504040204" pitchFamily="50" charset="-128"/>
              <a:ea typeface="メイリオ" panose="020B0604030504040204" pitchFamily="50" charset="-128"/>
            </a:endParaRPr>
          </a:p>
          <a:p>
            <a:pPr marL="285750" indent="-285750">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クライアント別の書式ルール、定型レポートのデザインフォーマット、受信トレイの振分ルールなど、独自のやり方を定義しておける</a:t>
            </a:r>
            <a:endParaRPr lang="en-US" altLang="ja-JP" sz="1200">
              <a:latin typeface="メイリオ" panose="020B0604030504040204" pitchFamily="50" charset="-128"/>
              <a:ea typeface="メイリオ" panose="020B0604030504040204" pitchFamily="50" charset="-128"/>
            </a:endParaRPr>
          </a:p>
          <a:p>
            <a:pPr marL="285750" indent="-285750">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スケジュール実行との組み合わせも可能</a:t>
            </a:r>
            <a:endParaRPr lang="en-US" altLang="ja-JP" sz="1200">
              <a:latin typeface="メイリオ" panose="020B0604030504040204" pitchFamily="50" charset="-128"/>
              <a:ea typeface="メイリオ" panose="020B0604030504040204" pitchFamily="50" charset="-128"/>
            </a:endParaRPr>
          </a:p>
          <a:p>
            <a:pPr marL="285750" indent="-285750">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スキルファイルをチームで共有すれば、誰が実行しても同じ手順・同じ品質で出力される</a:t>
            </a:r>
            <a:endParaRPr lang="en-US" altLang="ja-JP" sz="1200">
              <a:latin typeface="メイリオ" panose="020B0604030504040204" pitchFamily="50" charset="-128"/>
              <a:ea typeface="メイリオ" panose="020B0604030504040204" pitchFamily="50" charset="-128"/>
            </a:endParaRPr>
          </a:p>
        </p:txBody>
      </p:sp>
      <p:sp>
        <p:nvSpPr>
          <p:cNvPr id="157" name="テキスト ボックス 156">
            <a:extLst>
              <a:ext uri="{FF2B5EF4-FFF2-40B4-BE49-F238E27FC236}">
                <a16:creationId xmlns:a16="http://schemas.microsoft.com/office/drawing/2014/main" id="{2226D14E-989E-D937-E9A5-81E3A0525D03}"/>
              </a:ext>
            </a:extLst>
          </p:cNvPr>
          <p:cNvSpPr txBox="1"/>
          <p:nvPr/>
        </p:nvSpPr>
        <p:spPr>
          <a:xfrm>
            <a:off x="6370309" y="3062968"/>
            <a:ext cx="5465351" cy="1731243"/>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a:t>
            </a:r>
            <a:r>
              <a:rPr lang="en-US" altLang="ja-JP" sz="1200">
                <a:latin typeface="メイリオ" panose="020B0604030504040204" pitchFamily="50" charset="-128"/>
                <a:ea typeface="メイリオ" panose="020B0604030504040204" pitchFamily="50" charset="-128"/>
              </a:rPr>
              <a:t>5</a:t>
            </a:r>
            <a:r>
              <a:rPr lang="ja-JP" altLang="en-US" sz="1200">
                <a:latin typeface="メイリオ" panose="020B0604030504040204" pitchFamily="50" charset="-128"/>
                <a:ea typeface="メイリオ" panose="020B0604030504040204" pitchFamily="50" charset="-128"/>
              </a:rPr>
              <a:t>社を調べて」のような依頼なら</a:t>
            </a:r>
            <a:r>
              <a:rPr lang="en-US" altLang="ja-JP" sz="1200">
                <a:latin typeface="メイリオ" panose="020B0604030504040204" pitchFamily="50" charset="-128"/>
                <a:ea typeface="メイリオ" panose="020B0604030504040204" pitchFamily="50" charset="-128"/>
              </a:rPr>
              <a:t>5</a:t>
            </a:r>
            <a:r>
              <a:rPr lang="ja-JP" altLang="en-US" sz="1200">
                <a:latin typeface="メイリオ" panose="020B0604030504040204" pitchFamily="50" charset="-128"/>
                <a:ea typeface="メイリオ" panose="020B0604030504040204" pitchFamily="50" charset="-128"/>
              </a:rPr>
              <a:t>体のサブエージェントが同時に起動して各社を調査し、メインの</a:t>
            </a:r>
            <a:r>
              <a:rPr lang="en-US" altLang="ja-JP" sz="1200">
                <a:latin typeface="メイリオ" panose="020B0604030504040204" pitchFamily="50" charset="-128"/>
                <a:ea typeface="メイリオ" panose="020B0604030504040204" pitchFamily="50" charset="-128"/>
              </a:rPr>
              <a:t>Cowork</a:t>
            </a:r>
            <a:r>
              <a:rPr lang="ja-JP" altLang="en-US" sz="1200">
                <a:latin typeface="メイリオ" panose="020B0604030504040204" pitchFamily="50" charset="-128"/>
                <a:ea typeface="メイリオ" panose="020B0604030504040204" pitchFamily="50" charset="-128"/>
              </a:rPr>
              <a:t>が結果を統合する。直列作業と比べると時短になり、精度向上にもつながる</a:t>
            </a:r>
            <a:endParaRPr lang="en-US" altLang="ja-JP" sz="1200">
              <a:latin typeface="メイリオ" panose="020B0604030504040204" pitchFamily="50" charset="-128"/>
              <a:ea typeface="メイリオ" panose="020B0604030504040204" pitchFamily="50" charset="-128"/>
            </a:endParaRPr>
          </a:p>
          <a:p>
            <a:pPr marL="285750" indent="-2857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a:t>
            </a:r>
            <a:r>
              <a:rPr lang="en-US" altLang="ja-JP" sz="1200">
                <a:latin typeface="メイリオ" panose="020B0604030504040204" pitchFamily="50" charset="-128"/>
                <a:ea typeface="メイリオ" panose="020B0604030504040204" pitchFamily="50" charset="-128"/>
              </a:rPr>
              <a:t>for each</a:t>
            </a:r>
            <a:r>
              <a:rPr lang="ja-JP" altLang="en-US" sz="1200">
                <a:latin typeface="メイリオ" panose="020B0604030504040204" pitchFamily="50" charset="-128"/>
                <a:ea typeface="メイリオ" panose="020B0604030504040204" pitchFamily="50" charset="-128"/>
              </a:rPr>
              <a:t>」「それぞれ」「各社」のような表現が含まれていると並列が実行することもあるが確実ではない為、「並列でサブエージェントを使って」「</a:t>
            </a:r>
            <a:r>
              <a:rPr lang="en-US" altLang="ja-JP" sz="1200">
                <a:latin typeface="メイリオ" panose="020B0604030504040204" pitchFamily="50" charset="-128"/>
                <a:ea typeface="メイリオ" panose="020B0604030504040204" pitchFamily="50" charset="-128"/>
              </a:rPr>
              <a:t>use parallel sub-agents</a:t>
            </a:r>
            <a:r>
              <a:rPr lang="ja-JP" altLang="en-US" sz="1200">
                <a:latin typeface="メイリオ" panose="020B0604030504040204" pitchFamily="50" charset="-128"/>
                <a:ea typeface="メイリオ" panose="020B0604030504040204" pitchFamily="50" charset="-128"/>
              </a:rPr>
              <a:t>」などと明示するほうがよい</a:t>
            </a:r>
            <a:endParaRPr lang="en-US" altLang="ja-JP" sz="1200">
              <a:latin typeface="メイリオ" panose="020B0604030504040204" pitchFamily="50" charset="-128"/>
              <a:ea typeface="メイリオ" panose="020B0604030504040204" pitchFamily="50" charset="-128"/>
            </a:endParaRPr>
          </a:p>
        </p:txBody>
      </p:sp>
      <p:grpSp>
        <p:nvGrpSpPr>
          <p:cNvPr id="165" name="グループ化 164">
            <a:extLst>
              <a:ext uri="{FF2B5EF4-FFF2-40B4-BE49-F238E27FC236}">
                <a16:creationId xmlns:a16="http://schemas.microsoft.com/office/drawing/2014/main" id="{7A141B3A-B3B3-87B8-8BB1-70768F9568C7}"/>
              </a:ext>
            </a:extLst>
          </p:cNvPr>
          <p:cNvGrpSpPr/>
          <p:nvPr/>
        </p:nvGrpSpPr>
        <p:grpSpPr>
          <a:xfrm>
            <a:off x="8456563" y="1650797"/>
            <a:ext cx="1273078" cy="1350278"/>
            <a:chOff x="7016394" y="1549314"/>
            <a:chExt cx="1273078" cy="1350278"/>
          </a:xfrm>
        </p:grpSpPr>
        <p:pic>
          <p:nvPicPr>
            <p:cNvPr id="150" name="グラフィックス 149" descr="人工知能 単色塗りつぶし">
              <a:extLst>
                <a:ext uri="{FF2B5EF4-FFF2-40B4-BE49-F238E27FC236}">
                  <a16:creationId xmlns:a16="http://schemas.microsoft.com/office/drawing/2014/main" id="{41CDAEFF-3728-AA97-7C17-6514A322D1E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16394" y="2040291"/>
              <a:ext cx="427644" cy="427644"/>
            </a:xfrm>
            <a:prstGeom prst="rect">
              <a:avLst/>
            </a:prstGeom>
          </p:spPr>
        </p:pic>
        <p:pic>
          <p:nvPicPr>
            <p:cNvPr id="151" name="グラフィックス 150" descr="人工知能 単色塗りつぶし">
              <a:extLst>
                <a:ext uri="{FF2B5EF4-FFF2-40B4-BE49-F238E27FC236}">
                  <a16:creationId xmlns:a16="http://schemas.microsoft.com/office/drawing/2014/main" id="{3BFC94ED-878F-A34A-53E0-5A28CD0C295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039344" y="1824352"/>
              <a:ext cx="250128" cy="250128"/>
            </a:xfrm>
            <a:prstGeom prst="rect">
              <a:avLst/>
            </a:prstGeom>
          </p:spPr>
        </p:pic>
        <p:pic>
          <p:nvPicPr>
            <p:cNvPr id="152" name="グラフィックス 151" descr="人工知能 単色塗りつぶし">
              <a:extLst>
                <a:ext uri="{FF2B5EF4-FFF2-40B4-BE49-F238E27FC236}">
                  <a16:creationId xmlns:a16="http://schemas.microsoft.com/office/drawing/2014/main" id="{E5467CF6-9E97-A49A-592E-2017C797074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039344" y="2099390"/>
              <a:ext cx="250128" cy="250128"/>
            </a:xfrm>
            <a:prstGeom prst="rect">
              <a:avLst/>
            </a:prstGeom>
          </p:spPr>
        </p:pic>
        <p:pic>
          <p:nvPicPr>
            <p:cNvPr id="153" name="グラフィックス 152" descr="人工知能 単色塗りつぶし">
              <a:extLst>
                <a:ext uri="{FF2B5EF4-FFF2-40B4-BE49-F238E27FC236}">
                  <a16:creationId xmlns:a16="http://schemas.microsoft.com/office/drawing/2014/main" id="{E4FD3FCF-6EE0-7892-0666-C88832807A0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039344" y="2374428"/>
              <a:ext cx="250128" cy="250128"/>
            </a:xfrm>
            <a:prstGeom prst="rect">
              <a:avLst/>
            </a:prstGeom>
          </p:spPr>
        </p:pic>
        <p:pic>
          <p:nvPicPr>
            <p:cNvPr id="158" name="グラフィックス 157" descr="人工知能 単色塗りつぶし">
              <a:extLst>
                <a:ext uri="{FF2B5EF4-FFF2-40B4-BE49-F238E27FC236}">
                  <a16:creationId xmlns:a16="http://schemas.microsoft.com/office/drawing/2014/main" id="{F2C0A4D1-52C7-65D2-0668-9E2BE10977E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039344" y="1549314"/>
              <a:ext cx="250128" cy="250128"/>
            </a:xfrm>
            <a:prstGeom prst="rect">
              <a:avLst/>
            </a:prstGeom>
          </p:spPr>
        </p:pic>
        <p:pic>
          <p:nvPicPr>
            <p:cNvPr id="159" name="グラフィックス 158" descr="人工知能 単色塗りつぶし">
              <a:extLst>
                <a:ext uri="{FF2B5EF4-FFF2-40B4-BE49-F238E27FC236}">
                  <a16:creationId xmlns:a16="http://schemas.microsoft.com/office/drawing/2014/main" id="{317AFCFB-C862-5DEB-D630-1FB7B6C6C0B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039344" y="2649464"/>
              <a:ext cx="250128" cy="250128"/>
            </a:xfrm>
            <a:prstGeom prst="rect">
              <a:avLst/>
            </a:prstGeom>
          </p:spPr>
        </p:pic>
        <p:sp>
          <p:nvSpPr>
            <p:cNvPr id="160" name="矢印: 下 159">
              <a:extLst>
                <a:ext uri="{FF2B5EF4-FFF2-40B4-BE49-F238E27FC236}">
                  <a16:creationId xmlns:a16="http://schemas.microsoft.com/office/drawing/2014/main" id="{A96DC0F5-3C62-5267-511F-62331BF89955}"/>
                </a:ext>
              </a:extLst>
            </p:cNvPr>
            <p:cNvSpPr/>
            <p:nvPr/>
          </p:nvSpPr>
          <p:spPr>
            <a:xfrm rot="16200000">
              <a:off x="7670511" y="1758297"/>
              <a:ext cx="142360" cy="421628"/>
            </a:xfrm>
            <a:prstGeom prst="downArrow">
              <a:avLst>
                <a:gd name="adj1" fmla="val 50000"/>
                <a:gd name="adj2" fmla="val 103794"/>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1" name="矢印: 下 160">
              <a:extLst>
                <a:ext uri="{FF2B5EF4-FFF2-40B4-BE49-F238E27FC236}">
                  <a16:creationId xmlns:a16="http://schemas.microsoft.com/office/drawing/2014/main" id="{47C8242D-0AD8-3585-7D60-D59C405266D7}"/>
                </a:ext>
              </a:extLst>
            </p:cNvPr>
            <p:cNvSpPr/>
            <p:nvPr/>
          </p:nvSpPr>
          <p:spPr>
            <a:xfrm rot="16200000">
              <a:off x="7670511" y="2043299"/>
              <a:ext cx="142360" cy="421628"/>
            </a:xfrm>
            <a:prstGeom prst="downArrow">
              <a:avLst>
                <a:gd name="adj1" fmla="val 50000"/>
                <a:gd name="adj2" fmla="val 103794"/>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2" name="矢印: 下 161">
              <a:extLst>
                <a:ext uri="{FF2B5EF4-FFF2-40B4-BE49-F238E27FC236}">
                  <a16:creationId xmlns:a16="http://schemas.microsoft.com/office/drawing/2014/main" id="{350C34B7-6873-4873-8A9B-5FF6742EFCB7}"/>
                </a:ext>
              </a:extLst>
            </p:cNvPr>
            <p:cNvSpPr/>
            <p:nvPr/>
          </p:nvSpPr>
          <p:spPr>
            <a:xfrm rot="16200000">
              <a:off x="7670511" y="1473295"/>
              <a:ext cx="142360" cy="421628"/>
            </a:xfrm>
            <a:prstGeom prst="downArrow">
              <a:avLst>
                <a:gd name="adj1" fmla="val 50000"/>
                <a:gd name="adj2" fmla="val 103794"/>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矢印: 下 162">
              <a:extLst>
                <a:ext uri="{FF2B5EF4-FFF2-40B4-BE49-F238E27FC236}">
                  <a16:creationId xmlns:a16="http://schemas.microsoft.com/office/drawing/2014/main" id="{5FF8A932-050C-EC52-7CD9-36EDB43B6218}"/>
                </a:ext>
              </a:extLst>
            </p:cNvPr>
            <p:cNvSpPr/>
            <p:nvPr/>
          </p:nvSpPr>
          <p:spPr>
            <a:xfrm rot="16200000">
              <a:off x="7670511" y="2288301"/>
              <a:ext cx="142360" cy="421628"/>
            </a:xfrm>
            <a:prstGeom prst="downArrow">
              <a:avLst>
                <a:gd name="adj1" fmla="val 50000"/>
                <a:gd name="adj2" fmla="val 103794"/>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4" name="矢印: 下 163">
              <a:extLst>
                <a:ext uri="{FF2B5EF4-FFF2-40B4-BE49-F238E27FC236}">
                  <a16:creationId xmlns:a16="http://schemas.microsoft.com/office/drawing/2014/main" id="{0585F926-DFB5-9DFC-8BE2-AA474539B7EF}"/>
                </a:ext>
              </a:extLst>
            </p:cNvPr>
            <p:cNvSpPr/>
            <p:nvPr/>
          </p:nvSpPr>
          <p:spPr>
            <a:xfrm rot="16200000">
              <a:off x="7670511" y="2573303"/>
              <a:ext cx="142360" cy="421628"/>
            </a:xfrm>
            <a:prstGeom prst="downArrow">
              <a:avLst>
                <a:gd name="adj1" fmla="val 50000"/>
                <a:gd name="adj2" fmla="val 103794"/>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7" name="正方形/長方形 166">
            <a:extLst>
              <a:ext uri="{FF2B5EF4-FFF2-40B4-BE49-F238E27FC236}">
                <a16:creationId xmlns:a16="http://schemas.microsoft.com/office/drawing/2014/main" id="{3AEB2BA1-179D-802A-AB51-4E7D90C546EE}"/>
              </a:ext>
            </a:extLst>
          </p:cNvPr>
          <p:cNvSpPr/>
          <p:nvPr/>
        </p:nvSpPr>
        <p:spPr>
          <a:xfrm>
            <a:off x="255145" y="4876637"/>
            <a:ext cx="11681710" cy="1845291"/>
          </a:xfrm>
          <a:prstGeom prst="rect">
            <a:avLst/>
          </a:prstGeom>
          <a:solidFill>
            <a:schemeClr val="bg1">
              <a:lumMod val="65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sz="1500" b="1">
                <a:solidFill>
                  <a:srgbClr val="FFFFFF"/>
                </a:solidFill>
                <a:latin typeface="メイリオ"/>
              </a:defRPr>
            </a:pPr>
            <a:endParaRPr lang="ja-JP" altLang="en-US" sz="1600">
              <a:latin typeface="メイリオ" panose="020B0604030504040204" pitchFamily="50" charset="-128"/>
              <a:ea typeface="メイリオ" panose="020B0604030504040204" pitchFamily="50" charset="-128"/>
            </a:endParaRPr>
          </a:p>
        </p:txBody>
      </p:sp>
      <p:sp>
        <p:nvSpPr>
          <p:cNvPr id="168" name="正方形/長方形 167">
            <a:extLst>
              <a:ext uri="{FF2B5EF4-FFF2-40B4-BE49-F238E27FC236}">
                <a16:creationId xmlns:a16="http://schemas.microsoft.com/office/drawing/2014/main" id="{956485AA-3BF3-42B1-A98F-7689F9F59CC0}"/>
              </a:ext>
            </a:extLst>
          </p:cNvPr>
          <p:cNvSpPr/>
          <p:nvPr/>
        </p:nvSpPr>
        <p:spPr>
          <a:xfrm>
            <a:off x="543616" y="5356066"/>
            <a:ext cx="2618684" cy="1287133"/>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sz="1500" b="1">
                <a:solidFill>
                  <a:srgbClr val="FFFFFF"/>
                </a:solidFill>
                <a:latin typeface="メイリオ"/>
              </a:defRPr>
            </a:pPr>
            <a:r>
              <a:rPr lang="ja-JP" altLang="en-US" sz="1600">
                <a:solidFill>
                  <a:schemeClr val="tx1"/>
                </a:solidFill>
                <a:latin typeface="メイリオ" panose="020B0604030504040204" pitchFamily="50" charset="-128"/>
                <a:ea typeface="メイリオ" panose="020B0604030504040204" pitchFamily="50" charset="-128"/>
              </a:rPr>
              <a:t>ビルドインスキル</a:t>
            </a:r>
            <a:endParaRPr lang="en-US" altLang="ja-JP" sz="1600">
              <a:solidFill>
                <a:schemeClr val="tx1"/>
              </a:solidFill>
              <a:latin typeface="メイリオ" panose="020B0604030504040204" pitchFamily="50" charset="-128"/>
              <a:ea typeface="メイリオ" panose="020B0604030504040204" pitchFamily="50" charset="-128"/>
            </a:endParaRPr>
          </a:p>
          <a:p>
            <a:pPr algn="ctr">
              <a:defRPr sz="1500" b="1">
                <a:solidFill>
                  <a:srgbClr val="FFFFFF"/>
                </a:solidFill>
                <a:latin typeface="メイリオ"/>
              </a:defRPr>
            </a:pPr>
            <a:r>
              <a:rPr lang="ja-JP" altLang="en-US" sz="1600">
                <a:solidFill>
                  <a:schemeClr val="tx1"/>
                </a:solidFill>
                <a:latin typeface="メイリオ" panose="020B0604030504040204" pitchFamily="50" charset="-128"/>
                <a:ea typeface="メイリオ" panose="020B0604030504040204" pitchFamily="50" charset="-128"/>
              </a:rPr>
              <a:t>スケジュール実行</a:t>
            </a:r>
            <a:endParaRPr lang="en-US" altLang="ja-JP" sz="1600">
              <a:solidFill>
                <a:schemeClr val="tx1"/>
              </a:solidFill>
              <a:latin typeface="メイリオ" panose="020B0604030504040204" pitchFamily="50" charset="-128"/>
              <a:ea typeface="メイリオ" panose="020B0604030504040204" pitchFamily="50" charset="-128"/>
            </a:endParaRPr>
          </a:p>
          <a:p>
            <a:pPr algn="ctr">
              <a:defRPr sz="1500" b="1">
                <a:solidFill>
                  <a:srgbClr val="FFFFFF"/>
                </a:solidFill>
                <a:latin typeface="メイリオ"/>
              </a:defRPr>
            </a:pPr>
            <a:r>
              <a:rPr lang="ja-JP" altLang="en-US" sz="1600">
                <a:solidFill>
                  <a:schemeClr val="tx1"/>
                </a:solidFill>
                <a:latin typeface="メイリオ" panose="020B0604030504040204" pitchFamily="50" charset="-128"/>
                <a:ea typeface="メイリオ" panose="020B0604030504040204" pitchFamily="50" charset="-128"/>
              </a:rPr>
              <a:t>などの初期機能</a:t>
            </a:r>
          </a:p>
        </p:txBody>
      </p:sp>
      <p:sp>
        <p:nvSpPr>
          <p:cNvPr id="169" name="正方形/長方形 168">
            <a:extLst>
              <a:ext uri="{FF2B5EF4-FFF2-40B4-BE49-F238E27FC236}">
                <a16:creationId xmlns:a16="http://schemas.microsoft.com/office/drawing/2014/main" id="{8B40A4FC-49F4-EC87-8C8D-5C4AE7B49EFF}"/>
              </a:ext>
            </a:extLst>
          </p:cNvPr>
          <p:cNvSpPr/>
          <p:nvPr/>
        </p:nvSpPr>
        <p:spPr>
          <a:xfrm>
            <a:off x="3754781" y="5356066"/>
            <a:ext cx="2618684" cy="1287133"/>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sz="1500" b="1">
                <a:solidFill>
                  <a:srgbClr val="FFFFFF"/>
                </a:solidFill>
                <a:latin typeface="メイリオ"/>
              </a:defRPr>
            </a:pPr>
            <a:r>
              <a:rPr lang="ja-JP" altLang="en-US" sz="1600">
                <a:solidFill>
                  <a:schemeClr val="tx1"/>
                </a:solidFill>
                <a:latin typeface="メイリオ" panose="020B0604030504040204" pitchFamily="50" charset="-128"/>
                <a:ea typeface="メイリオ" panose="020B0604030504040204" pitchFamily="50" charset="-128"/>
              </a:rPr>
              <a:t>カスタムスキル</a:t>
            </a:r>
            <a:endParaRPr lang="en-US" altLang="ja-JP" sz="1600">
              <a:solidFill>
                <a:schemeClr val="tx1"/>
              </a:solidFill>
              <a:latin typeface="メイリオ" panose="020B0604030504040204" pitchFamily="50" charset="-128"/>
              <a:ea typeface="メイリオ" panose="020B0604030504040204" pitchFamily="50" charset="-128"/>
            </a:endParaRPr>
          </a:p>
          <a:p>
            <a:pPr algn="ctr">
              <a:defRPr sz="1500" b="1">
                <a:solidFill>
                  <a:srgbClr val="FFFFFF"/>
                </a:solidFill>
                <a:latin typeface="メイリオ"/>
              </a:defRPr>
            </a:pPr>
            <a:r>
              <a:rPr lang="ja-JP" altLang="en-US" sz="1600">
                <a:solidFill>
                  <a:schemeClr val="tx1"/>
                </a:solidFill>
                <a:latin typeface="メイリオ" panose="020B0604030504040204" pitchFamily="50" charset="-128"/>
                <a:ea typeface="メイリオ" panose="020B0604030504040204" pitchFamily="50" charset="-128"/>
              </a:rPr>
              <a:t>手順の定型化</a:t>
            </a:r>
          </a:p>
        </p:txBody>
      </p:sp>
      <p:sp>
        <p:nvSpPr>
          <p:cNvPr id="170" name="正方形/長方形 169">
            <a:extLst>
              <a:ext uri="{FF2B5EF4-FFF2-40B4-BE49-F238E27FC236}">
                <a16:creationId xmlns:a16="http://schemas.microsoft.com/office/drawing/2014/main" id="{6A4BDFF6-6CB5-0C41-93BD-3D4CF8B8E651}"/>
              </a:ext>
            </a:extLst>
          </p:cNvPr>
          <p:cNvSpPr/>
          <p:nvPr/>
        </p:nvSpPr>
        <p:spPr>
          <a:xfrm>
            <a:off x="6965946" y="5356066"/>
            <a:ext cx="2618684" cy="1287133"/>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sz="1500" b="1">
                <a:solidFill>
                  <a:srgbClr val="FFFFFF"/>
                </a:solidFill>
                <a:latin typeface="メイリオ"/>
              </a:defRPr>
            </a:pPr>
            <a:r>
              <a:rPr lang="ja-JP" altLang="en-US" sz="1600">
                <a:solidFill>
                  <a:schemeClr val="tx1"/>
                </a:solidFill>
                <a:latin typeface="メイリオ" panose="020B0604030504040204" pitchFamily="50" charset="-128"/>
                <a:ea typeface="メイリオ" panose="020B0604030504040204" pitchFamily="50" charset="-128"/>
              </a:rPr>
              <a:t>サブエージェント</a:t>
            </a:r>
            <a:endParaRPr lang="en-US" altLang="ja-JP" sz="1600">
              <a:solidFill>
                <a:schemeClr val="tx1"/>
              </a:solidFill>
              <a:latin typeface="メイリオ" panose="020B0604030504040204" pitchFamily="50" charset="-128"/>
              <a:ea typeface="メイリオ" panose="020B0604030504040204" pitchFamily="50" charset="-128"/>
            </a:endParaRPr>
          </a:p>
          <a:p>
            <a:pPr algn="ctr">
              <a:defRPr sz="1500" b="1">
                <a:solidFill>
                  <a:srgbClr val="FFFFFF"/>
                </a:solidFill>
                <a:latin typeface="メイリオ"/>
              </a:defRPr>
            </a:pPr>
            <a:r>
              <a:rPr lang="ja-JP" altLang="en-US" sz="1600">
                <a:solidFill>
                  <a:schemeClr val="tx1"/>
                </a:solidFill>
                <a:latin typeface="メイリオ" panose="020B0604030504040204" pitchFamily="50" charset="-128"/>
                <a:ea typeface="メイリオ" panose="020B0604030504040204" pitchFamily="50" charset="-128"/>
              </a:rPr>
              <a:t>並列実行：時短</a:t>
            </a:r>
            <a:r>
              <a:rPr lang="en-US" altLang="ja-JP" sz="1600">
                <a:solidFill>
                  <a:schemeClr val="tx1"/>
                </a:solidFill>
                <a:latin typeface="メイリオ" panose="020B0604030504040204" pitchFamily="50" charset="-128"/>
                <a:ea typeface="メイリオ" panose="020B0604030504040204" pitchFamily="50" charset="-128"/>
              </a:rPr>
              <a:t>/</a:t>
            </a:r>
            <a:r>
              <a:rPr lang="ja-JP" altLang="en-US" sz="1600">
                <a:solidFill>
                  <a:schemeClr val="tx1"/>
                </a:solidFill>
                <a:latin typeface="メイリオ" panose="020B0604030504040204" pitchFamily="50" charset="-128"/>
                <a:ea typeface="メイリオ" panose="020B0604030504040204" pitchFamily="50" charset="-128"/>
              </a:rPr>
              <a:t>精度向上</a:t>
            </a:r>
          </a:p>
        </p:txBody>
      </p:sp>
      <p:sp>
        <p:nvSpPr>
          <p:cNvPr id="171" name="乗算記号 170">
            <a:extLst>
              <a:ext uri="{FF2B5EF4-FFF2-40B4-BE49-F238E27FC236}">
                <a16:creationId xmlns:a16="http://schemas.microsoft.com/office/drawing/2014/main" id="{062F6C3A-D0AD-6A3D-4DA7-0F126664582D}"/>
              </a:ext>
            </a:extLst>
          </p:cNvPr>
          <p:cNvSpPr/>
          <p:nvPr/>
        </p:nvSpPr>
        <p:spPr>
          <a:xfrm>
            <a:off x="3255271" y="5768388"/>
            <a:ext cx="406539" cy="534308"/>
          </a:xfrm>
          <a:prstGeom prst="mathMultiply">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2" name="乗算記号 171">
            <a:extLst>
              <a:ext uri="{FF2B5EF4-FFF2-40B4-BE49-F238E27FC236}">
                <a16:creationId xmlns:a16="http://schemas.microsoft.com/office/drawing/2014/main" id="{F92E064A-D7E6-3638-6C05-1289D48332A1}"/>
              </a:ext>
            </a:extLst>
          </p:cNvPr>
          <p:cNvSpPr/>
          <p:nvPr/>
        </p:nvSpPr>
        <p:spPr>
          <a:xfrm>
            <a:off x="6466436" y="5768388"/>
            <a:ext cx="406539" cy="534308"/>
          </a:xfrm>
          <a:prstGeom prst="mathMultiply">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3" name="二等辺三角形 172">
            <a:extLst>
              <a:ext uri="{FF2B5EF4-FFF2-40B4-BE49-F238E27FC236}">
                <a16:creationId xmlns:a16="http://schemas.microsoft.com/office/drawing/2014/main" id="{F8104E63-B1FC-CE91-FCAE-08347F7FC624}"/>
              </a:ext>
            </a:extLst>
          </p:cNvPr>
          <p:cNvSpPr/>
          <p:nvPr/>
        </p:nvSpPr>
        <p:spPr>
          <a:xfrm rot="5400000">
            <a:off x="9619515" y="5945963"/>
            <a:ext cx="639140" cy="179163"/>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4" name="テキスト ボックス 173">
            <a:extLst>
              <a:ext uri="{FF2B5EF4-FFF2-40B4-BE49-F238E27FC236}">
                <a16:creationId xmlns:a16="http://schemas.microsoft.com/office/drawing/2014/main" id="{14358752-8C28-5E99-C98C-339DA37C2B40}"/>
              </a:ext>
            </a:extLst>
          </p:cNvPr>
          <p:cNvSpPr txBox="1"/>
          <p:nvPr/>
        </p:nvSpPr>
        <p:spPr>
          <a:xfrm>
            <a:off x="10038394" y="5689081"/>
            <a:ext cx="1576662" cy="738664"/>
          </a:xfrm>
          <a:prstGeom prst="rect">
            <a:avLst/>
          </a:prstGeom>
          <a:noFill/>
        </p:spPr>
        <p:txBody>
          <a:bodyPr wrap="square" rtlCol="0">
            <a:spAutoFit/>
          </a:bodyPr>
          <a:lstStyle/>
          <a:p>
            <a:pPr algn="ctr"/>
            <a:r>
              <a:rPr lang="en-US" altLang="ja-JP" sz="1400" b="1">
                <a:latin typeface="メイリオ" panose="020B0604030504040204" pitchFamily="50" charset="-128"/>
                <a:ea typeface="メイリオ" panose="020B0604030504040204" pitchFamily="50" charset="-128"/>
              </a:rPr>
              <a:t>AI</a:t>
            </a:r>
            <a:r>
              <a:rPr lang="ja-JP" altLang="en-US" sz="1400" b="1">
                <a:latin typeface="メイリオ" panose="020B0604030504040204" pitchFamily="50" charset="-128"/>
                <a:ea typeface="メイリオ" panose="020B0604030504040204" pitchFamily="50" charset="-128"/>
              </a:rPr>
              <a:t>の業務への</a:t>
            </a:r>
            <a:endParaRPr lang="en-US" altLang="ja-JP" sz="1400" b="1">
              <a:latin typeface="メイリオ" panose="020B0604030504040204" pitchFamily="50" charset="-128"/>
              <a:ea typeface="メイリオ" panose="020B0604030504040204" pitchFamily="50" charset="-128"/>
            </a:endParaRPr>
          </a:p>
          <a:p>
            <a:pPr algn="ctr"/>
            <a:r>
              <a:rPr lang="ja-JP" altLang="en-US" sz="1400" b="1">
                <a:latin typeface="メイリオ" panose="020B0604030504040204" pitchFamily="50" charset="-128"/>
                <a:ea typeface="メイリオ" panose="020B0604030504040204" pitchFamily="50" charset="-128"/>
              </a:rPr>
              <a:t>食い込み方が</a:t>
            </a:r>
            <a:endParaRPr lang="en-US" altLang="ja-JP" sz="1400" b="1">
              <a:latin typeface="メイリオ" panose="020B0604030504040204" pitchFamily="50" charset="-128"/>
              <a:ea typeface="メイリオ" panose="020B0604030504040204" pitchFamily="50" charset="-128"/>
            </a:endParaRPr>
          </a:p>
          <a:p>
            <a:pPr algn="ctr"/>
            <a:r>
              <a:rPr lang="ja-JP" altLang="en-US" sz="1400" b="1">
                <a:latin typeface="メイリオ" panose="020B0604030504040204" pitchFamily="50" charset="-128"/>
                <a:ea typeface="メイリオ" panose="020B0604030504040204" pitchFamily="50" charset="-128"/>
              </a:rPr>
              <a:t>変わる</a:t>
            </a:r>
            <a:endParaRPr lang="en-US" altLang="ja-JP" sz="1400" b="1">
              <a:latin typeface="メイリオ" panose="020B0604030504040204" pitchFamily="50" charset="-128"/>
              <a:ea typeface="メイリオ" panose="020B0604030504040204" pitchFamily="50" charset="-128"/>
            </a:endParaRPr>
          </a:p>
        </p:txBody>
      </p:sp>
      <p:sp>
        <p:nvSpPr>
          <p:cNvPr id="176" name="テキスト ボックス 175">
            <a:extLst>
              <a:ext uri="{FF2B5EF4-FFF2-40B4-BE49-F238E27FC236}">
                <a16:creationId xmlns:a16="http://schemas.microsoft.com/office/drawing/2014/main" id="{DADC1B43-CD2E-1167-9E97-63DA87031ACF}"/>
              </a:ext>
            </a:extLst>
          </p:cNvPr>
          <p:cNvSpPr txBox="1"/>
          <p:nvPr/>
        </p:nvSpPr>
        <p:spPr>
          <a:xfrm>
            <a:off x="4297444" y="4941772"/>
            <a:ext cx="3510027" cy="369332"/>
          </a:xfrm>
          <a:prstGeom prst="rect">
            <a:avLst/>
          </a:prstGeom>
          <a:noFill/>
        </p:spPr>
        <p:txBody>
          <a:bodyPr wrap="square" rtlCol="0">
            <a:spAutoFit/>
          </a:bodyPr>
          <a:lstStyle/>
          <a:p>
            <a:pPr algn="ctr"/>
            <a:r>
              <a:rPr lang="ja-JP" altLang="en-US" b="1">
                <a:latin typeface="メイリオ" panose="020B0604030504040204" pitchFamily="50" charset="-128"/>
                <a:ea typeface="メイリオ" panose="020B0604030504040204" pitchFamily="50" charset="-128"/>
              </a:rPr>
              <a:t>掛け算で回る</a:t>
            </a:r>
            <a:endParaRPr lang="en-US" altLang="ja-JP" b="1">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38114663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339CDA-98E2-BC75-3E35-A1A980C09CD3}"/>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DE9AF31B-5730-8FD8-7DD5-E73F3010B6B2}"/>
              </a:ext>
            </a:extLst>
          </p:cNvPr>
          <p:cNvSpPr txBox="1"/>
          <p:nvPr/>
        </p:nvSpPr>
        <p:spPr>
          <a:xfrm>
            <a:off x="443466" y="317212"/>
            <a:ext cx="11215133" cy="584775"/>
          </a:xfrm>
          <a:prstGeom prst="rect">
            <a:avLst/>
          </a:prstGeom>
          <a:noFill/>
        </p:spPr>
        <p:txBody>
          <a:bodyPr wrap="square" rtlCol="0">
            <a:spAutoFit/>
          </a:bodyPr>
          <a:lstStyle/>
          <a:p>
            <a:r>
              <a:rPr lang="ja-JP" altLang="en-US" sz="3200" b="1">
                <a:latin typeface="メイリオ" panose="020B0604030504040204" pitchFamily="50" charset="-128"/>
                <a:ea typeface="メイリオ" panose="020B0604030504040204" pitchFamily="50" charset="-128"/>
              </a:rPr>
              <a:t>できることの例</a:t>
            </a:r>
          </a:p>
        </p:txBody>
      </p:sp>
      <p:graphicFrame>
        <p:nvGraphicFramePr>
          <p:cNvPr id="2" name="表 1">
            <a:extLst>
              <a:ext uri="{FF2B5EF4-FFF2-40B4-BE49-F238E27FC236}">
                <a16:creationId xmlns:a16="http://schemas.microsoft.com/office/drawing/2014/main" id="{1209DCA6-61E0-9267-4353-95BC5F61D7E1}"/>
              </a:ext>
            </a:extLst>
          </p:cNvPr>
          <p:cNvGraphicFramePr>
            <a:graphicFrameLocks noGrp="1"/>
          </p:cNvGraphicFramePr>
          <p:nvPr>
            <p:extLst>
              <p:ext uri="{D42A27DB-BD31-4B8C-83A1-F6EECF244321}">
                <p14:modId xmlns:p14="http://schemas.microsoft.com/office/powerpoint/2010/main" val="1673098839"/>
              </p:ext>
            </p:extLst>
          </p:nvPr>
        </p:nvGraphicFramePr>
        <p:xfrm>
          <a:off x="443466" y="963023"/>
          <a:ext cx="11280448" cy="3937000"/>
        </p:xfrm>
        <a:graphic>
          <a:graphicData uri="http://schemas.openxmlformats.org/drawingml/2006/table">
            <a:tbl>
              <a:tblPr firstRow="1" bandRow="1">
                <a:tableStyleId>{5C22544A-7EE6-4342-B048-85BDC9FD1C3A}</a:tableStyleId>
              </a:tblPr>
              <a:tblGrid>
                <a:gridCol w="2479348">
                  <a:extLst>
                    <a:ext uri="{9D8B030D-6E8A-4147-A177-3AD203B41FA5}">
                      <a16:colId xmlns:a16="http://schemas.microsoft.com/office/drawing/2014/main" val="2988868055"/>
                    </a:ext>
                  </a:extLst>
                </a:gridCol>
                <a:gridCol w="8801100">
                  <a:extLst>
                    <a:ext uri="{9D8B030D-6E8A-4147-A177-3AD203B41FA5}">
                      <a16:colId xmlns:a16="http://schemas.microsoft.com/office/drawing/2014/main" val="1436398538"/>
                    </a:ext>
                  </a:extLst>
                </a:gridCol>
              </a:tblGrid>
              <a:tr h="370840">
                <a:tc>
                  <a:txBody>
                    <a:bodyPr/>
                    <a:lstStyle/>
                    <a:p>
                      <a:pPr algn="ctr"/>
                      <a:r>
                        <a:rPr kumimoji="1" lang="ja-JP" altLang="en-US" sz="1400">
                          <a:latin typeface="メイリオ" panose="020B0604030504040204" pitchFamily="50" charset="-128"/>
                          <a:ea typeface="メイリオ" panose="020B0604030504040204" pitchFamily="50" charset="-128"/>
                        </a:rPr>
                        <a:t>できること</a:t>
                      </a:r>
                    </a:p>
                  </a:txBody>
                  <a:tcPr anchor="ctr"/>
                </a:tc>
                <a:tc>
                  <a:txBody>
                    <a:bodyPr/>
                    <a:lstStyle/>
                    <a:p>
                      <a:pPr algn="ctr"/>
                      <a:r>
                        <a:rPr kumimoji="1" lang="ja-JP" altLang="en-US" sz="1400">
                          <a:latin typeface="メイリオ" panose="020B0604030504040204" pitchFamily="50" charset="-128"/>
                          <a:ea typeface="メイリオ" panose="020B0604030504040204" pitchFamily="50" charset="-128"/>
                        </a:rPr>
                        <a:t>概要</a:t>
                      </a:r>
                    </a:p>
                  </a:txBody>
                  <a:tcPr anchor="ctr"/>
                </a:tc>
                <a:extLst>
                  <a:ext uri="{0D108BD9-81ED-4DB2-BD59-A6C34878D82A}">
                    <a16:rowId xmlns:a16="http://schemas.microsoft.com/office/drawing/2014/main" val="2284807591"/>
                  </a:ext>
                </a:extLst>
              </a:tr>
              <a:tr h="370840">
                <a:tc>
                  <a:txBody>
                    <a:bodyPr/>
                    <a:lstStyle/>
                    <a:p>
                      <a:r>
                        <a:rPr kumimoji="1" lang="ja-JP" altLang="en-US" sz="1400">
                          <a:latin typeface="メイリオ" panose="020B0604030504040204" pitchFamily="50" charset="-128"/>
                          <a:ea typeface="メイリオ" panose="020B0604030504040204" pitchFamily="50" charset="-128"/>
                        </a:rPr>
                        <a:t>レシート</a:t>
                      </a:r>
                      <a:r>
                        <a:rPr kumimoji="1" lang="en-US" altLang="ja-JP" sz="1400">
                          <a:latin typeface="メイリオ" panose="020B0604030504040204" pitchFamily="50" charset="-128"/>
                          <a:ea typeface="メイリオ" panose="020B0604030504040204" pitchFamily="50" charset="-128"/>
                        </a:rPr>
                        <a:t>40</a:t>
                      </a:r>
                      <a:r>
                        <a:rPr kumimoji="1" lang="ja-JP" altLang="en-US" sz="1400">
                          <a:latin typeface="メイリオ" panose="020B0604030504040204" pitchFamily="50" charset="-128"/>
                          <a:ea typeface="メイリオ" panose="020B0604030504040204" pitchFamily="50" charset="-128"/>
                        </a:rPr>
                        <a:t>枚 → 経費精算</a:t>
                      </a:r>
                      <a:r>
                        <a:rPr kumimoji="1" lang="en-US" altLang="ja-JP" sz="1400">
                          <a:latin typeface="メイリオ" panose="020B0604030504040204" pitchFamily="50" charset="-128"/>
                          <a:ea typeface="メイリオ" panose="020B0604030504040204" pitchFamily="50" charset="-128"/>
                        </a:rPr>
                        <a:t>Excel</a:t>
                      </a:r>
                      <a:endParaRPr kumimoji="1" lang="ja-JP" altLang="en-US" sz="1400">
                        <a:latin typeface="メイリオ" panose="020B0604030504040204" pitchFamily="50" charset="-128"/>
                        <a:ea typeface="メイリオ" panose="020B0604030504040204" pitchFamily="50" charset="-128"/>
                      </a:endParaRPr>
                    </a:p>
                  </a:txBody>
                  <a:tcPr/>
                </a:tc>
                <a:tc>
                  <a:txBody>
                    <a:bodyPr/>
                    <a:lstStyle/>
                    <a:p>
                      <a:pPr marL="285750" indent="-285750">
                        <a:buFont typeface="Arial" panose="020B0604020202020204" pitchFamily="34" charset="0"/>
                        <a:buChar char="•"/>
                      </a:pPr>
                      <a:r>
                        <a:rPr kumimoji="1" lang="ja-JP" altLang="en-US" sz="1400">
                          <a:latin typeface="メイリオ" panose="020B0604030504040204" pitchFamily="50" charset="-128"/>
                          <a:ea typeface="メイリオ" panose="020B0604030504040204" pitchFamily="50" charset="-128"/>
                        </a:rPr>
                        <a:t>「</a:t>
                      </a:r>
                      <a:r>
                        <a:rPr kumimoji="1" lang="en-US" altLang="ja-JP" sz="1400">
                          <a:latin typeface="メイリオ" panose="020B0604030504040204" pitchFamily="50" charset="-128"/>
                          <a:ea typeface="メイリオ" panose="020B0604030504040204" pitchFamily="50" charset="-128"/>
                        </a:rPr>
                        <a:t>40</a:t>
                      </a:r>
                      <a:r>
                        <a:rPr kumimoji="1" lang="ja-JP" altLang="en-US" sz="1400">
                          <a:latin typeface="メイリオ" panose="020B0604030504040204" pitchFamily="50" charset="-128"/>
                          <a:ea typeface="メイリオ" panose="020B0604030504040204" pitchFamily="50" charset="-128"/>
                        </a:rPr>
                        <a:t>枚のレシートから経費精算</a:t>
                      </a:r>
                      <a:r>
                        <a:rPr kumimoji="1" lang="en-US" altLang="ja-JP" sz="1400">
                          <a:latin typeface="メイリオ" panose="020B0604030504040204" pitchFamily="50" charset="-128"/>
                          <a:ea typeface="メイリオ" panose="020B0604030504040204" pitchFamily="50" charset="-128"/>
                        </a:rPr>
                        <a:t>Excel</a:t>
                      </a:r>
                      <a:r>
                        <a:rPr kumimoji="1" lang="ja-JP" altLang="en-US" sz="1400">
                          <a:latin typeface="メイリオ" panose="020B0604030504040204" pitchFamily="50" charset="-128"/>
                          <a:ea typeface="メイリオ" panose="020B0604030504040204" pitchFamily="50" charset="-128"/>
                        </a:rPr>
                        <a:t>にして」 </a:t>
                      </a:r>
                      <a:r>
                        <a:rPr kumimoji="1" lang="en-US" altLang="ja-JP" sz="1400">
                          <a:latin typeface="メイリオ" panose="020B0604030504040204" pitchFamily="50" charset="-128"/>
                          <a:ea typeface="メイリオ" panose="020B0604030504040204" pitchFamily="50" charset="-128"/>
                        </a:rPr>
                        <a:t>※</a:t>
                      </a:r>
                      <a:r>
                        <a:rPr kumimoji="1" lang="ja-JP" altLang="en-US" sz="1400">
                          <a:latin typeface="メイリオ" panose="020B0604030504040204" pitchFamily="50" charset="-128"/>
                          <a:ea typeface="メイリオ" panose="020B0604030504040204" pitchFamily="50" charset="-128"/>
                        </a:rPr>
                        <a:t>あらかじめレシート画像をフォルダに入れておく</a:t>
                      </a:r>
                      <a:endParaRPr kumimoji="1" lang="en-US" altLang="ja-JP" sz="1400">
                        <a:latin typeface="メイリオ" panose="020B0604030504040204" pitchFamily="50" charset="-128"/>
                        <a:ea typeface="メイリオ" panose="020B0604030504040204" pitchFamily="50" charset="-128"/>
                      </a:endParaRPr>
                    </a:p>
                    <a:p>
                      <a:pPr marL="285750" indent="-285750">
                        <a:buFont typeface="Arial" panose="020B0604020202020204" pitchFamily="34" charset="0"/>
                        <a:buChar char="•"/>
                      </a:pPr>
                      <a:r>
                        <a:rPr kumimoji="1" lang="en-US" altLang="ja-JP" sz="1400">
                          <a:latin typeface="メイリオ" panose="020B0604030504040204" pitchFamily="50" charset="-128"/>
                          <a:ea typeface="メイリオ" panose="020B0604030504040204" pitchFamily="50" charset="-128"/>
                        </a:rPr>
                        <a:t>Agent</a:t>
                      </a:r>
                      <a:r>
                        <a:rPr kumimoji="1" lang="ja-JP" altLang="en-US" sz="1400">
                          <a:latin typeface="メイリオ" panose="020B0604030504040204" pitchFamily="50" charset="-128"/>
                          <a:ea typeface="メイリオ" panose="020B0604030504040204" pitchFamily="50" charset="-128"/>
                        </a:rPr>
                        <a:t>上の</a:t>
                      </a:r>
                      <a:r>
                        <a:rPr kumimoji="1" lang="en-US" altLang="ja-JP" sz="1400">
                          <a:latin typeface="メイリオ" panose="020B0604030504040204" pitchFamily="50" charset="-128"/>
                          <a:ea typeface="メイリオ" panose="020B0604030504040204" pitchFamily="50" charset="-128"/>
                        </a:rPr>
                        <a:t>OCR</a:t>
                      </a:r>
                      <a:r>
                        <a:rPr kumimoji="1" lang="ja-JP" altLang="en-US" sz="1400">
                          <a:latin typeface="メイリオ" panose="020B0604030504040204" pitchFamily="50" charset="-128"/>
                          <a:ea typeface="メイリオ" panose="020B0604030504040204" pitchFamily="50" charset="-128"/>
                        </a:rPr>
                        <a:t>でデータを抽出</a:t>
                      </a:r>
                      <a:endParaRPr kumimoji="1" lang="en-US" altLang="ja-JP" sz="1400">
                        <a:latin typeface="メイリオ" panose="020B0604030504040204" pitchFamily="50" charset="-128"/>
                        <a:ea typeface="メイリオ" panose="020B0604030504040204" pitchFamily="50" charset="-128"/>
                      </a:endParaRPr>
                    </a:p>
                    <a:p>
                      <a:pPr marL="285750" indent="-285750">
                        <a:buFont typeface="Arial" panose="020B0604020202020204" pitchFamily="34" charset="0"/>
                        <a:buChar char="•"/>
                      </a:pPr>
                      <a:r>
                        <a:rPr kumimoji="1" lang="ja-JP" altLang="en-US" sz="1400">
                          <a:latin typeface="メイリオ" panose="020B0604030504040204" pitchFamily="50" charset="-128"/>
                          <a:ea typeface="メイリオ" panose="020B0604030504040204" pitchFamily="50" charset="-128"/>
                        </a:rPr>
                        <a:t>関数入り</a:t>
                      </a:r>
                      <a:r>
                        <a:rPr kumimoji="1" lang="en-US" altLang="ja-JP" sz="1400">
                          <a:latin typeface="メイリオ" panose="020B0604030504040204" pitchFamily="50" charset="-128"/>
                          <a:ea typeface="メイリオ" panose="020B0604030504040204" pitchFamily="50" charset="-128"/>
                        </a:rPr>
                        <a:t>Excel</a:t>
                      </a:r>
                      <a:r>
                        <a:rPr kumimoji="1" lang="ja-JP" altLang="en-US" sz="1400">
                          <a:latin typeface="メイリオ" panose="020B0604030504040204" pitchFamily="50" charset="-128"/>
                          <a:ea typeface="メイリオ" panose="020B0604030504040204" pitchFamily="50" charset="-128"/>
                        </a:rPr>
                        <a:t>に転記していく</a:t>
                      </a:r>
                      <a:endParaRPr kumimoji="1" lang="en-US" altLang="ja-JP" sz="1400">
                        <a:latin typeface="メイリオ" panose="020B0604030504040204" pitchFamily="50" charset="-128"/>
                        <a:ea typeface="メイリオ" panose="020B0604030504040204" pitchFamily="50" charset="-128"/>
                      </a:endParaRPr>
                    </a:p>
                    <a:p>
                      <a:pPr marL="285750" indent="-285750">
                        <a:buFont typeface="Arial" panose="020B0604020202020204" pitchFamily="34" charset="0"/>
                        <a:buChar char="•"/>
                      </a:pPr>
                      <a:r>
                        <a:rPr kumimoji="1" lang="ja-JP" altLang="en-US" sz="1400">
                          <a:latin typeface="メイリオ" panose="020B0604030504040204" pitchFamily="50" charset="-128"/>
                          <a:ea typeface="メイリオ" panose="020B0604030504040204" pitchFamily="50" charset="-128"/>
                        </a:rPr>
                        <a:t>読み取れなかった部分は「</a:t>
                      </a:r>
                      <a:r>
                        <a:rPr kumimoji="1" lang="en-US" altLang="ja-JP" sz="1400">
                          <a:latin typeface="メイリオ" panose="020B0604030504040204" pitchFamily="50" charset="-128"/>
                          <a:ea typeface="メイリオ" panose="020B0604030504040204" pitchFamily="50" charset="-128"/>
                        </a:rPr>
                        <a:t>Verify</a:t>
                      </a:r>
                      <a:r>
                        <a:rPr kumimoji="1" lang="ja-JP" altLang="en-US" sz="1400">
                          <a:latin typeface="メイリオ" panose="020B0604030504040204" pitchFamily="50" charset="-128"/>
                          <a:ea typeface="メイリオ" panose="020B0604030504040204" pitchFamily="50" charset="-128"/>
                        </a:rPr>
                        <a:t>」と表示する</a:t>
                      </a:r>
                      <a:endParaRPr kumimoji="1" lang="en-US" altLang="ja-JP" sz="1400">
                        <a:latin typeface="メイリオ" panose="020B0604030504040204" pitchFamily="50" charset="-128"/>
                        <a:ea typeface="メイリオ" panose="020B0604030504040204" pitchFamily="50" charset="-128"/>
                      </a:endParaRPr>
                    </a:p>
                  </a:txBody>
                  <a:tcPr/>
                </a:tc>
                <a:extLst>
                  <a:ext uri="{0D108BD9-81ED-4DB2-BD59-A6C34878D82A}">
                    <a16:rowId xmlns:a16="http://schemas.microsoft.com/office/drawing/2014/main" val="1024406141"/>
                  </a:ext>
                </a:extLst>
              </a:tr>
              <a:tr h="370840">
                <a:tc>
                  <a:txBody>
                    <a:bodyPr/>
                    <a:lstStyle/>
                    <a:p>
                      <a:r>
                        <a:rPr kumimoji="1" lang="ja-JP" altLang="en-US" sz="1400">
                          <a:latin typeface="メイリオ" panose="020B0604030504040204" pitchFamily="50" charset="-128"/>
                          <a:ea typeface="メイリオ" panose="020B0604030504040204" pitchFamily="50" charset="-128"/>
                        </a:rPr>
                        <a:t>デザインルールを</a:t>
                      </a:r>
                      <a:r>
                        <a:rPr kumimoji="1" lang="en-US" altLang="ja-JP" sz="1400">
                          <a:latin typeface="メイリオ" panose="020B0604030504040204" pitchFamily="50" charset="-128"/>
                          <a:ea typeface="メイリオ" panose="020B0604030504040204" pitchFamily="50" charset="-128"/>
                        </a:rPr>
                        <a:t>Skill</a:t>
                      </a:r>
                      <a:r>
                        <a:rPr kumimoji="1" lang="ja-JP" altLang="en-US" sz="1400">
                          <a:latin typeface="メイリオ" panose="020B0604030504040204" pitchFamily="50" charset="-128"/>
                          <a:ea typeface="メイリオ" panose="020B0604030504040204" pitchFamily="50" charset="-128"/>
                        </a:rPr>
                        <a:t>化して、定型フォーマットで資料作成</a:t>
                      </a:r>
                    </a:p>
                  </a:txBody>
                  <a:tcPr/>
                </a:tc>
                <a:tc>
                  <a:txBody>
                    <a:bodyPr/>
                    <a:lstStyle/>
                    <a:p>
                      <a:pPr marL="285750" indent="-285750">
                        <a:buFont typeface="Arial" panose="020B0604020202020204" pitchFamily="34" charset="0"/>
                        <a:buChar char="•"/>
                      </a:pPr>
                      <a:r>
                        <a:rPr kumimoji="1" lang="ja-JP" altLang="en-US" sz="1400">
                          <a:latin typeface="メイリオ" panose="020B0604030504040204" pitchFamily="50" charset="-128"/>
                          <a:ea typeface="メイリオ" panose="020B0604030504040204" pitchFamily="50" charset="-128"/>
                        </a:rPr>
                        <a:t>「この資料をスライドにして」</a:t>
                      </a:r>
                      <a:endParaRPr kumimoji="1" lang="en-US" altLang="ja-JP" sz="1400">
                        <a:latin typeface="メイリオ" panose="020B0604030504040204" pitchFamily="50" charset="-128"/>
                        <a:ea typeface="メイリオ" panose="020B0604030504040204" pitchFamily="50" charset="-128"/>
                      </a:endParaRPr>
                    </a:p>
                    <a:p>
                      <a:pPr marL="285750" indent="-285750">
                        <a:buFont typeface="Arial" panose="020B0604020202020204" pitchFamily="34" charset="0"/>
                        <a:buChar char="•"/>
                      </a:pPr>
                      <a:r>
                        <a:rPr kumimoji="1" lang="en-US" altLang="ja-JP" sz="1400">
                          <a:latin typeface="メイリオ" panose="020B0604030504040204" pitchFamily="50" charset="-128"/>
                          <a:ea typeface="メイリオ" panose="020B0604030504040204" pitchFamily="50" charset="-128"/>
                        </a:rPr>
                        <a:t>SKILL.md</a:t>
                      </a:r>
                      <a:r>
                        <a:rPr kumimoji="1" lang="ja-JP" altLang="en-US" sz="1400">
                          <a:latin typeface="メイリオ" panose="020B0604030504040204" pitchFamily="50" charset="-128"/>
                          <a:ea typeface="メイリオ" panose="020B0604030504040204" pitchFamily="50" charset="-128"/>
                        </a:rPr>
                        <a:t>に色・フォント・ロゴ・パターン定義などを記載しておく</a:t>
                      </a:r>
                      <a:endParaRPr kumimoji="1" lang="en-US" altLang="ja-JP" sz="1400">
                        <a:latin typeface="メイリオ" panose="020B0604030504040204" pitchFamily="50" charset="-128"/>
                        <a:ea typeface="メイリオ" panose="020B0604030504040204" pitchFamily="50" charset="-128"/>
                      </a:endParaRPr>
                    </a:p>
                    <a:p>
                      <a:pPr marL="285750" indent="-285750">
                        <a:buFont typeface="Arial" panose="020B0604020202020204" pitchFamily="34" charset="0"/>
                        <a:buChar char="•"/>
                      </a:pPr>
                      <a:r>
                        <a:rPr kumimoji="1" lang="ja-JP" altLang="en-US" sz="1400">
                          <a:latin typeface="メイリオ" panose="020B0604030504040204" pitchFamily="50" charset="-128"/>
                          <a:ea typeface="メイリオ" panose="020B0604030504040204" pitchFamily="50" charset="-128"/>
                        </a:rPr>
                        <a:t>人によって品質が変わらず、属人化を防いだブランド基準の資料が完成</a:t>
                      </a:r>
                    </a:p>
                  </a:txBody>
                  <a:tcPr/>
                </a:tc>
                <a:extLst>
                  <a:ext uri="{0D108BD9-81ED-4DB2-BD59-A6C34878D82A}">
                    <a16:rowId xmlns:a16="http://schemas.microsoft.com/office/drawing/2014/main" val="3578875982"/>
                  </a:ext>
                </a:extLst>
              </a:tr>
              <a:tr h="370840">
                <a:tc>
                  <a:txBody>
                    <a:bodyPr/>
                    <a:lstStyle/>
                    <a:p>
                      <a:r>
                        <a:rPr kumimoji="1" lang="ja-JP" altLang="en-US" sz="1400">
                          <a:latin typeface="メイリオ" panose="020B0604030504040204" pitchFamily="50" charset="-128"/>
                          <a:ea typeface="メイリオ" panose="020B0604030504040204" pitchFamily="50" charset="-128"/>
                        </a:rPr>
                        <a:t>ニュースモニタリング → スコアリング → </a:t>
                      </a:r>
                      <a:r>
                        <a:rPr kumimoji="1" lang="en-US" altLang="ja-JP" sz="1400">
                          <a:latin typeface="メイリオ" panose="020B0604030504040204" pitchFamily="50" charset="-128"/>
                          <a:ea typeface="メイリオ" panose="020B0604030504040204" pitchFamily="50" charset="-128"/>
                        </a:rPr>
                        <a:t>HTML</a:t>
                      </a:r>
                      <a:r>
                        <a:rPr kumimoji="1" lang="ja-JP" altLang="en-US" sz="1400">
                          <a:latin typeface="メイリオ" panose="020B0604030504040204" pitchFamily="50" charset="-128"/>
                          <a:ea typeface="メイリオ" panose="020B0604030504040204" pitchFamily="50" charset="-128"/>
                        </a:rPr>
                        <a:t>ニュースレター</a:t>
                      </a:r>
                    </a:p>
                  </a:txBody>
                  <a:tcPr/>
                </a:tc>
                <a:tc>
                  <a:txBody>
                    <a:bodyPr/>
                    <a:lstStyle/>
                    <a:p>
                      <a:pPr marL="171450" indent="-171450">
                        <a:buFont typeface="Arial" panose="020B0604020202020204" pitchFamily="34" charset="0"/>
                        <a:buChar char="•"/>
                      </a:pPr>
                      <a:r>
                        <a:rPr kumimoji="1" lang="ja-JP" altLang="en-US" sz="1400">
                          <a:latin typeface="メイリオ" panose="020B0604030504040204" pitchFamily="50" charset="-128"/>
                          <a:ea typeface="メイリオ" panose="020B0604030504040204" pitchFamily="50" charset="-128"/>
                        </a:rPr>
                        <a:t>「毎朝ニュースを集めて」をスケジュール実行</a:t>
                      </a:r>
                      <a:endParaRPr kumimoji="1" lang="en-US" altLang="ja-JP" sz="1400">
                        <a:latin typeface="メイリオ" panose="020B0604030504040204" pitchFamily="50" charset="-128"/>
                        <a:ea typeface="メイリオ" panose="020B0604030504040204" pitchFamily="50" charset="-128"/>
                      </a:endParaRPr>
                    </a:p>
                    <a:p>
                      <a:pPr marL="171450" indent="-171450">
                        <a:buFont typeface="Arial" panose="020B0604020202020204" pitchFamily="34" charset="0"/>
                        <a:buChar char="•"/>
                      </a:pPr>
                      <a:r>
                        <a:rPr kumimoji="1" lang="ja-JP" altLang="en-US" sz="1400">
                          <a:latin typeface="メイリオ" panose="020B0604030504040204" pitchFamily="50" charset="-128"/>
                          <a:ea typeface="メイリオ" panose="020B0604030504040204" pitchFamily="50" charset="-128"/>
                        </a:rPr>
                        <a:t>定義した関連度スコアリングで優先度の高いものだけ抽出 → おしゃれな</a:t>
                      </a:r>
                      <a:r>
                        <a:rPr kumimoji="1" lang="en-US" altLang="ja-JP" sz="1400">
                          <a:latin typeface="メイリオ" panose="020B0604030504040204" pitchFamily="50" charset="-128"/>
                          <a:ea typeface="メイリオ" panose="020B0604030504040204" pitchFamily="50" charset="-128"/>
                        </a:rPr>
                        <a:t>HTML</a:t>
                      </a:r>
                      <a:r>
                        <a:rPr kumimoji="1" lang="ja-JP" altLang="en-US" sz="1400">
                          <a:latin typeface="メイリオ" panose="020B0604030504040204" pitchFamily="50" charset="-128"/>
                          <a:ea typeface="メイリオ" panose="020B0604030504040204" pitchFamily="50" charset="-128"/>
                        </a:rPr>
                        <a:t>ニュースレターにまとめてメールで配信するところまで一気通貫で回せる</a:t>
                      </a:r>
                    </a:p>
                  </a:txBody>
                  <a:tcPr/>
                </a:tc>
                <a:extLst>
                  <a:ext uri="{0D108BD9-81ED-4DB2-BD59-A6C34878D82A}">
                    <a16:rowId xmlns:a16="http://schemas.microsoft.com/office/drawing/2014/main" val="917245462"/>
                  </a:ext>
                </a:extLst>
              </a:tr>
              <a:tr h="370840">
                <a:tc>
                  <a:txBody>
                    <a:bodyPr/>
                    <a:lstStyle/>
                    <a:p>
                      <a:r>
                        <a:rPr kumimoji="1" lang="ja-JP" altLang="en-US" sz="1400">
                          <a:latin typeface="メイリオ" panose="020B0604030504040204" pitchFamily="50" charset="-128"/>
                          <a:ea typeface="メイリオ" panose="020B0604030504040204" pitchFamily="50" charset="-128"/>
                        </a:rPr>
                        <a:t>レビュー結果を</a:t>
                      </a:r>
                      <a:r>
                        <a:rPr kumimoji="1" lang="en-US" altLang="ja-JP" sz="1400">
                          <a:latin typeface="メイリオ" panose="020B0604030504040204" pitchFamily="50" charset="-128"/>
                          <a:ea typeface="メイリオ" panose="020B0604030504040204" pitchFamily="50" charset="-128"/>
                        </a:rPr>
                        <a:t>OneDrive</a:t>
                      </a:r>
                      <a:r>
                        <a:rPr kumimoji="1" lang="ja-JP" altLang="en-US" sz="1400">
                          <a:latin typeface="メイリオ" panose="020B0604030504040204" pitchFamily="50" charset="-128"/>
                          <a:ea typeface="メイリオ" panose="020B0604030504040204" pitchFamily="50" charset="-128"/>
                        </a:rPr>
                        <a:t>に蓄積 → ダッシュボード</a:t>
                      </a:r>
                    </a:p>
                  </a:txBody>
                  <a:tcPr/>
                </a:tc>
                <a:tc>
                  <a:txBody>
                    <a:bodyPr/>
                    <a:lstStyle/>
                    <a:p>
                      <a:pPr marL="171450" indent="-171450">
                        <a:buFont typeface="Arial" panose="020B0604020202020204" pitchFamily="34" charset="0"/>
                        <a:buChar char="•"/>
                      </a:pPr>
                      <a:r>
                        <a:rPr kumimoji="1" lang="ja-JP" altLang="en-US" sz="1400">
                          <a:latin typeface="メイリオ" panose="020B0604030504040204" pitchFamily="50" charset="-128"/>
                          <a:ea typeface="メイリオ" panose="020B0604030504040204" pitchFamily="50" charset="-128"/>
                        </a:rPr>
                        <a:t>「部長</a:t>
                      </a:r>
                      <a:r>
                        <a:rPr kumimoji="1" lang="en-US" altLang="ja-JP" sz="1400">
                          <a:latin typeface="メイリオ" panose="020B0604030504040204" pitchFamily="50" charset="-128"/>
                          <a:ea typeface="メイリオ" panose="020B0604030504040204" pitchFamily="50" charset="-128"/>
                        </a:rPr>
                        <a:t>AI</a:t>
                      </a:r>
                      <a:r>
                        <a:rPr kumimoji="1" lang="ja-JP" altLang="en-US" sz="1400">
                          <a:latin typeface="メイリオ" panose="020B0604030504040204" pitchFamily="50" charset="-128"/>
                          <a:ea typeface="メイリオ" panose="020B0604030504040204" pitchFamily="50" charset="-128"/>
                        </a:rPr>
                        <a:t>」や「レビュー</a:t>
                      </a:r>
                      <a:r>
                        <a:rPr kumimoji="1" lang="en-US" altLang="ja-JP" sz="1400">
                          <a:latin typeface="メイリオ" panose="020B0604030504040204" pitchFamily="50" charset="-128"/>
                          <a:ea typeface="メイリオ" panose="020B0604030504040204" pitchFamily="50" charset="-128"/>
                        </a:rPr>
                        <a:t>AI</a:t>
                      </a:r>
                      <a:r>
                        <a:rPr kumimoji="1" lang="ja-JP" altLang="en-US" sz="1400">
                          <a:latin typeface="メイリオ" panose="020B0604030504040204" pitchFamily="50" charset="-128"/>
                          <a:ea typeface="メイリオ" panose="020B0604030504040204" pitchFamily="50" charset="-128"/>
                        </a:rPr>
                        <a:t>」のようなものがあったとして、その結果を</a:t>
                      </a:r>
                      <a:r>
                        <a:rPr kumimoji="1" lang="en-US" altLang="ja-JP" sz="1400">
                          <a:latin typeface="メイリオ" panose="020B0604030504040204" pitchFamily="50" charset="-128"/>
                          <a:ea typeface="メイリオ" panose="020B0604030504040204" pitchFamily="50" charset="-128"/>
                        </a:rPr>
                        <a:t>OneDrive</a:t>
                      </a:r>
                      <a:r>
                        <a:rPr kumimoji="1" lang="ja-JP" altLang="en-US" sz="1400">
                          <a:latin typeface="メイリオ" panose="020B0604030504040204" pitchFamily="50" charset="-128"/>
                          <a:ea typeface="メイリオ" panose="020B0604030504040204" pitchFamily="50" charset="-128"/>
                        </a:rPr>
                        <a:t>の特定のフォルダに集約する処理を</a:t>
                      </a:r>
                      <a:r>
                        <a:rPr kumimoji="1" lang="en-US" altLang="ja-JP" sz="1400">
                          <a:latin typeface="メイリオ" panose="020B0604030504040204" pitchFamily="50" charset="-128"/>
                          <a:ea typeface="メイリオ" panose="020B0604030504040204" pitchFamily="50" charset="-128"/>
                        </a:rPr>
                        <a:t>Skills</a:t>
                      </a:r>
                      <a:r>
                        <a:rPr kumimoji="1" lang="ja-JP" altLang="en-US" sz="1400">
                          <a:latin typeface="メイリオ" panose="020B0604030504040204" pitchFamily="50" charset="-128"/>
                          <a:ea typeface="メイリオ" panose="020B0604030504040204" pitchFamily="50" charset="-128"/>
                        </a:rPr>
                        <a:t>の手順に入れておくことで、過去のレビュー結果を自動蓄積</a:t>
                      </a:r>
                      <a:endParaRPr kumimoji="1" lang="en-US" altLang="ja-JP" sz="1400">
                        <a:latin typeface="メイリオ" panose="020B0604030504040204" pitchFamily="50" charset="-128"/>
                        <a:ea typeface="メイリオ" panose="020B0604030504040204" pitchFamily="50" charset="-128"/>
                      </a:endParaRPr>
                    </a:p>
                    <a:p>
                      <a:pPr marL="171450" indent="-171450">
                        <a:buFont typeface="Arial" panose="020B0604020202020204" pitchFamily="34" charset="0"/>
                        <a:buChar char="•"/>
                      </a:pPr>
                      <a:r>
                        <a:rPr kumimoji="1" lang="ja-JP" altLang="en-US" sz="1400">
                          <a:latin typeface="メイリオ" panose="020B0604030504040204" pitchFamily="50" charset="-128"/>
                          <a:ea typeface="メイリオ" panose="020B0604030504040204" pitchFamily="50" charset="-128"/>
                        </a:rPr>
                        <a:t>そのフォルダ内で分析</a:t>
                      </a:r>
                      <a:r>
                        <a:rPr kumimoji="1" lang="en-US" altLang="ja-JP" sz="1400">
                          <a:latin typeface="メイリオ" panose="020B0604030504040204" pitchFamily="50" charset="-128"/>
                          <a:ea typeface="メイリオ" panose="020B0604030504040204" pitchFamily="50" charset="-128"/>
                        </a:rPr>
                        <a:t>Skill</a:t>
                      </a:r>
                      <a:r>
                        <a:rPr kumimoji="1" lang="ja-JP" altLang="en-US" sz="1400">
                          <a:latin typeface="メイリオ" panose="020B0604030504040204" pitchFamily="50" charset="-128"/>
                          <a:ea typeface="メイリオ" panose="020B0604030504040204" pitchFamily="50" charset="-128"/>
                        </a:rPr>
                        <a:t>を実行する</a:t>
                      </a:r>
                      <a:endParaRPr kumimoji="1" lang="en-US" altLang="ja-JP" sz="1400">
                        <a:latin typeface="メイリオ" panose="020B0604030504040204" pitchFamily="50" charset="-128"/>
                        <a:ea typeface="メイリオ" panose="020B0604030504040204" pitchFamily="50" charset="-128"/>
                      </a:endParaRPr>
                    </a:p>
                    <a:p>
                      <a:pPr marL="171450" indent="-171450">
                        <a:buFont typeface="Arial" panose="020B0604020202020204" pitchFamily="34" charset="0"/>
                        <a:buChar char="•"/>
                      </a:pPr>
                      <a:r>
                        <a:rPr kumimoji="1" lang="ja-JP" altLang="en-US" sz="1400">
                          <a:latin typeface="メイリオ" panose="020B0604030504040204" pitchFamily="50" charset="-128"/>
                          <a:ea typeface="メイリオ" panose="020B0604030504040204" pitchFamily="50" charset="-128"/>
                        </a:rPr>
                        <a:t>追加で、見た目・配色などを定義した</a:t>
                      </a:r>
                      <a:r>
                        <a:rPr kumimoji="1" lang="en-US" altLang="ja-JP" sz="1400">
                          <a:latin typeface="メイリオ" panose="020B0604030504040204" pitchFamily="50" charset="-128"/>
                          <a:ea typeface="メイリオ" panose="020B0604030504040204" pitchFamily="50" charset="-128"/>
                        </a:rPr>
                        <a:t>Skill</a:t>
                      </a:r>
                      <a:r>
                        <a:rPr kumimoji="1" lang="ja-JP" altLang="en-US" sz="1400">
                          <a:latin typeface="メイリオ" panose="020B0604030504040204" pitchFamily="50" charset="-128"/>
                          <a:ea typeface="メイリオ" panose="020B0604030504040204" pitchFamily="50" charset="-128"/>
                        </a:rPr>
                        <a:t>を用意することで自分の用途に特化したダッシュボードを生成するなどができる</a:t>
                      </a:r>
                    </a:p>
                  </a:txBody>
                  <a:tcPr/>
                </a:tc>
                <a:extLst>
                  <a:ext uri="{0D108BD9-81ED-4DB2-BD59-A6C34878D82A}">
                    <a16:rowId xmlns:a16="http://schemas.microsoft.com/office/drawing/2014/main" val="2779978115"/>
                  </a:ext>
                </a:extLst>
              </a:tr>
            </a:tbl>
          </a:graphicData>
        </a:graphic>
      </p:graphicFrame>
      <p:sp>
        <p:nvSpPr>
          <p:cNvPr id="3" name="二等辺三角形 2">
            <a:extLst>
              <a:ext uri="{FF2B5EF4-FFF2-40B4-BE49-F238E27FC236}">
                <a16:creationId xmlns:a16="http://schemas.microsoft.com/office/drawing/2014/main" id="{1BC0DFC6-F7B5-0963-8722-06AD63E99360}"/>
              </a:ext>
            </a:extLst>
          </p:cNvPr>
          <p:cNvSpPr/>
          <p:nvPr/>
        </p:nvSpPr>
        <p:spPr>
          <a:xfrm rot="10800000">
            <a:off x="5713449" y="5101460"/>
            <a:ext cx="765104" cy="214473"/>
          </a:xfrm>
          <a:prstGeom prst="triangle">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5B05FC33-64BD-3EEA-8A37-8987E9EF21C7}"/>
              </a:ext>
            </a:extLst>
          </p:cNvPr>
          <p:cNvSpPr txBox="1"/>
          <p:nvPr/>
        </p:nvSpPr>
        <p:spPr>
          <a:xfrm>
            <a:off x="3236044" y="5392661"/>
            <a:ext cx="5719912" cy="800219"/>
          </a:xfrm>
          <a:prstGeom prst="rect">
            <a:avLst/>
          </a:prstGeom>
          <a:noFill/>
        </p:spPr>
        <p:txBody>
          <a:bodyPr wrap="square" rtlCol="0">
            <a:spAutoFit/>
          </a:bodyPr>
          <a:lstStyle/>
          <a:p>
            <a:pPr algn="ctr">
              <a:lnSpc>
                <a:spcPct val="150000"/>
              </a:lnSpc>
            </a:pPr>
            <a:r>
              <a:rPr lang="ja-JP" altLang="en-US" sz="1600">
                <a:latin typeface="メイリオ" panose="020B0604030504040204" pitchFamily="50" charset="-128"/>
                <a:ea typeface="メイリオ" panose="020B0604030504040204" pitchFamily="50" charset="-128"/>
              </a:rPr>
              <a:t>今まで</a:t>
            </a:r>
            <a:r>
              <a:rPr lang="en-US" altLang="ja-JP" sz="1600">
                <a:latin typeface="メイリオ" panose="020B0604030504040204" pitchFamily="50" charset="-128"/>
                <a:ea typeface="メイリオ" panose="020B0604030504040204" pitchFamily="50" charset="-128"/>
              </a:rPr>
              <a:t>PC</a:t>
            </a:r>
            <a:r>
              <a:rPr lang="ja-JP" altLang="en-US" sz="1600">
                <a:latin typeface="メイリオ" panose="020B0604030504040204" pitchFamily="50" charset="-128"/>
                <a:ea typeface="メイリオ" panose="020B0604030504040204" pitchFamily="50" charset="-128"/>
              </a:rPr>
              <a:t>上で行っていた多くの作業が、</a:t>
            </a:r>
            <a:endParaRPr lang="en-US" altLang="ja-JP" sz="1600">
              <a:latin typeface="メイリオ" panose="020B0604030504040204" pitchFamily="50" charset="-128"/>
              <a:ea typeface="メイリオ" panose="020B0604030504040204" pitchFamily="50" charset="-128"/>
            </a:endParaRPr>
          </a:p>
          <a:p>
            <a:pPr algn="ctr">
              <a:lnSpc>
                <a:spcPct val="150000"/>
              </a:lnSpc>
            </a:pPr>
            <a:r>
              <a:rPr lang="en-US" altLang="ja-JP" sz="1600">
                <a:latin typeface="メイリオ" panose="020B0604030504040204" pitchFamily="50" charset="-128"/>
                <a:ea typeface="メイリオ" panose="020B0604030504040204" pitchFamily="50" charset="-128"/>
              </a:rPr>
              <a:t>Cowork</a:t>
            </a:r>
            <a:r>
              <a:rPr lang="ja-JP" altLang="en-US" sz="1600">
                <a:latin typeface="メイリオ" panose="020B0604030504040204" pitchFamily="50" charset="-128"/>
                <a:ea typeface="メイリオ" panose="020B0604030504040204" pitchFamily="50" charset="-128"/>
              </a:rPr>
              <a:t>、スキルを用いることで代替できる可能性がある</a:t>
            </a:r>
            <a:endParaRPr lang="ja-JP" altLang="en-US" sz="140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524802772"/>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2">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13FB276B-C25D-46DD-BACC-F1C1E3FC6EF4}">
  <we:reference id="wa200010001" version="1.0.0.0" store="en-US" storeType="OMEX"/>
  <we:alternateReferences>
    <we:reference id="WA200010001" version="1.0.0.0" store=""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1688</TotalTime>
  <Words>4342</Words>
  <Application>Microsoft Office PowerPoint</Application>
  <PresentationFormat>ワイド画面</PresentationFormat>
  <Paragraphs>538</Paragraphs>
  <Slides>16</Slides>
  <Notes>1</Notes>
  <HiddenSlides>0</HiddenSlides>
  <MMClips>1</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16</vt:i4>
      </vt:variant>
    </vt:vector>
  </HeadingPairs>
  <TitlesOfParts>
    <vt:vector size="20" baseType="lpstr">
      <vt:lpstr>メイリオ</vt:lpstr>
      <vt:lpstr>游ゴシック</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kodai higuchi</dc:creator>
  <cp:lastModifiedBy>kodai higuchi</cp:lastModifiedBy>
  <cp:revision>102</cp:revision>
  <dcterms:created xsi:type="dcterms:W3CDTF">2026-02-04T06:28:26Z</dcterms:created>
  <dcterms:modified xsi:type="dcterms:W3CDTF">2026-04-02T09:37:37Z</dcterms:modified>
</cp:coreProperties>
</file>