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300" r:id="rId9"/>
    <p:sldId id="263" r:id="rId10"/>
    <p:sldId id="301" r:id="rId11"/>
    <p:sldId id="264" r:id="rId12"/>
    <p:sldId id="302" r:id="rId13"/>
    <p:sldId id="265" r:id="rId14"/>
    <p:sldId id="266" r:id="rId15"/>
    <p:sldId id="303" r:id="rId16"/>
    <p:sldId id="267" r:id="rId17"/>
    <p:sldId id="268" r:id="rId18"/>
    <p:sldId id="269" r:id="rId19"/>
    <p:sldId id="270" r:id="rId20"/>
    <p:sldId id="271" r:id="rId21"/>
    <p:sldId id="272" r:id="rId22"/>
    <p:sldId id="304" r:id="rId23"/>
    <p:sldId id="273" r:id="rId24"/>
    <p:sldId id="274" r:id="rId25"/>
    <p:sldId id="305" r:id="rId26"/>
    <p:sldId id="306" r:id="rId27"/>
    <p:sldId id="307" r:id="rId28"/>
    <p:sldId id="275" r:id="rId29"/>
    <p:sldId id="276" r:id="rId30"/>
    <p:sldId id="277" r:id="rId31"/>
    <p:sldId id="278" r:id="rId32"/>
    <p:sldId id="279" r:id="rId33"/>
    <p:sldId id="280" r:id="rId34"/>
    <p:sldId id="281" r:id="rId35"/>
    <p:sldId id="282" r:id="rId36"/>
    <p:sldId id="283" r:id="rId37"/>
    <p:sldId id="284" r:id="rId38"/>
    <p:sldId id="285" r:id="rId39"/>
    <p:sldId id="286" r:id="rId40"/>
    <p:sldId id="287" r:id="rId41"/>
    <p:sldId id="288" r:id="rId42"/>
    <p:sldId id="289" r:id="rId43"/>
    <p:sldId id="290" r:id="rId44"/>
    <p:sldId id="291" r:id="rId45"/>
    <p:sldId id="292" r:id="rId46"/>
    <p:sldId id="293" r:id="rId47"/>
    <p:sldId id="294" r:id="rId48"/>
    <p:sldId id="295" r:id="rId49"/>
    <p:sldId id="296" r:id="rId50"/>
    <p:sldId id="297" r:id="rId51"/>
    <p:sldId id="298" r:id="rId52"/>
    <p:sldId id="299" r:id="rId5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50" d="100"/>
          <a:sy n="150" d="100"/>
        </p:scale>
        <p:origin x="1176" y="9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27236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全6章の要点を1枚に。忙しい人はここだけ読めばいい。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6章構成。前半は世の中の動向、後半は実際にやってみてわかったこと。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うちの会社は真ん中あたり。でも世の中はもう一段上に行ってる。「任せる」っていうのは、人間が手順を組むんじゃなくて、AIが自分で判断して動くフェーズ。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「手順を組む」じゃない。AIが自分でファイル読んで、判断して、コード書いて、テスト回す。人間が間に入らなくても回る。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出典: せんにゅう氏 / 村田氏 / まつにぃ氏のポスト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84BA1-9982-4562-887C-80EE8C9B9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20CEFC-ED26-A785-9DB5-C96C1F21AB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FAC296-9C40-EC34-D3B4-2EA1501AA4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出典: せんにゅう氏 / 村田氏 / まつにぃ氏のポスト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7CC7F3-0B8E-5C5E-0CF7-13A8132521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1199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Difyだけの話じゃない。これ社内で使えるツールだからね。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42ACD-1FCA-44F4-CD48-BAFCFE1DC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03F74C-B954-01E8-0407-0790BD67D6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B6998C-1368-D093-54DD-FA414438F8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Difyだけの話じゃない。これ社内で使えるツールだからね。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1B2D8F-C84A-3388-213C-0E172F21EA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1121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ノーコード/ローコード全般でGUIが不要になりつつある。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C30BBF-CDF4-B75B-E930-0D20F2EC4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CC0D61-8DD8-EBFF-1604-C07BC92F5F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122CD3-4FDF-C70F-182B-B0403D0717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ノーコード/ローコード全般でGUIが不要になりつつある。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9F4842-0862-6216-53CB-271D93947E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4194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ただし「任せる」には前提条件がある。それが次の話。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C176A-2535-BEF4-759B-70DCFDAD0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A12B99-7818-E23D-B4EE-12402063B8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0C3CB9-D13D-3AA5-5037-DD01A151A7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AIに自由度を渡すほど、ガードレールが要る。壊れない前提があるから雑に投げられる。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CFA1C2-0FBA-FDD1-E90F-BE3D5BDCC0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73572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もちろん大事。でもこれだけで「毎回ブレずに動く」かって言うとそうじゃない。核心は別にある。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2つの問題を分けて提示してから掛け算で結合。聴衆に「だから仕組みが要るのか」と腹落ちさせる。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Excelのマクロが増えて動かなくなるのと同じ構造。エンジニアじゃない人にも伝わる説明。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AIに自由度を渡すほど、ガードレールが要る。壊れない前提があるから雑に投げられる。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3本柱それぞれが前のスライドで提示した問題に対応している。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DeckPilotっていう個人で作ってるデスクトップOS風の開発環境。コードを1文字も自分で書いてない。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DDDCA-BE04-496E-6E93-2C362EBC9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275482-7699-285A-F0CE-4ED2AE7266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AC925B-D1DA-DB60-329A-79D5E69611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DeckPilotっていう個人で作ってるデスクトップOS風の開発環境。コードを1文字も自分で書いてない。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5E5C57-99D4-D657-FCE8-5ED2CA4DD0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58312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しかもこの仕組み自体を作るときも「よさげな記事コピペして、これやりたい！」程度の指示で育てた。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自分のコード23万行、1,103ファイル。Vendor込みで48万行。TypeScript 15万行超、ドキュメントも2万行。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2A2CC-C696-697F-D47D-78C2429FD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A44FC7-3F35-4A6C-6F63-75D1922A10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9771A7-6AB7-BA95-8349-748B6495BC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自分のコード23万行、1,103ファイル。Vendor込みで48万行。TypeScript 15万行超、ドキュメントも2万行。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850410-73C6-3A02-F107-F10D5427A0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09676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9468D-8B02-7275-867A-F7342C355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08DDA6-AAD4-400E-A87E-84A43CB9E0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26041A-E676-3CDE-DDFE-EC728A8861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自分のコード23万行、1,103ファイル。Vendor込みで48万行。TypeScript 15万行超、ドキュメントも2万行。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8FCD86-93D0-7285-44D8-A93BBA0B67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41065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BE599-3DD7-BE73-A8FB-735B93D24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24FF2E-3E7E-2F54-EDC9-B6984BA9EF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3B9CD3-BDF0-CD0A-0E9B-6A0A6EB73F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自分のコード23万行、1,103ファイル。Vendor込みで48万行。TypeScript 15万行超、ドキュメントも2万行。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10BDD8-6E86-3954-AE25-212D797BEC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94520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30個のアイコンが全部同じUI統一されてるのはCore OS層があるから。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スケールが大きくなるほど認知がついていかない。ビジネスまで広がったら完全に不可能。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今まさにメタファーで説明してるから構造がすぐ掴める。これがメタファーの効果。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メタファーは認知圧縮だけじゃない。AIへの指示インターフェースとしても機能する。難しい言葉を覚えなくても意味が伝われば動く。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これ第3章のメタファーの実例でもある。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この変身シーケンスを通すと毎回同じキャラが生まれる。これが品質再現の仕組み。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この責務分離もドメイン分割と同じ考え方。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楽しいだけじゃない。世界観の統一と役割付与が実利。楽しさは持続力の源泉。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この殴り返しの質がそのまま成果物の質になる。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全部が永遠に使えるわけじゃない。ここを切り分ける。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プロンプトエンジニアリングは「まだ仕組みがない段階の応急処置」だった可能性がある。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判断基準はシンプル。前者は能力が上がれば不要。後者は人間が変わらない限り必要。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ツールが変わったら終わり。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スケールが上がるほど第3章・第4章が必要になる。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第2章で話したルール・パターン・ガードがそのままスケールアップする。これがソフトスキルの正体。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ハードスキルは手順書で全員同じレベルに到達できる。ソフトスキルはできない。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無知の知。全部わかった気になった瞬間が一番危ない。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プロダクト固有の成果物は場所に紐づくが、考え方は人に紐づく。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これが第4章で話した「AIを研ぐ」の具体版。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意識を変える話。でも入口として、この3つは今あるツールの上でも始められる。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hyperlink" Target="https://x.com/yusuke_m_MU/status/2031561413949534557" TargetMode="External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hyperlink" Target="https://x.com/kokisennyu/status/2035247685309972880" TargetMode="Externa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hyperlink" Target="https://koruneko.hatenablog.com/entry/2025/08/13/081703" TargetMode="External"/><Relationship Id="rId7" Type="http://schemas.openxmlformats.org/officeDocument/2006/relationships/hyperlink" Target="https://www.youtube.com/watch?v=zsSRkXGmrI4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hyperlink" Target="https://learn.microsoft.com/ja-jp/microsoft-copilot-studio/visual-studio-code-extension-install-configure" TargetMode="Externa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note.com/imp0820/n/n38a985ca7bd6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社内勉強会 2026.03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AI技術動向 × 開発知見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731520" y="2788920"/>
            <a:ext cx="54864" cy="59436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960120" y="274320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ツールの使い方を覚えるその先へ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31520" y="3840480"/>
            <a:ext cx="7680960" cy="0"/>
          </a:xfrm>
          <a:prstGeom prst="line">
            <a:avLst/>
          </a:prstGeom>
          <a:noFill/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エグゼクティブサマリー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7680960" cy="0"/>
          </a:xfrm>
          <a:prstGeom prst="line">
            <a:avLst/>
          </a:prstGeom>
          <a:noFill/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731520" y="941832"/>
            <a:ext cx="1152144" cy="292608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731520" y="941832"/>
            <a:ext cx="1152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SUMMARY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344169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AIは「使う」から「任せる」に進化した。任せるには壊さない仕組みが要る。どういう仕組みが必要かを構想し、出来上がったものの良し悪しを判断できるかどうかで、AIを活かせるかが決まる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2223257"/>
            <a:ext cx="768096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731520" y="2270821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554480" y="2286001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世の中はもう「AIに委任する」フェーズ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554480" y="258385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Dify / Copilot Studio / n8n — GUI不要、AIが直接構築する時代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1520" y="2952283"/>
            <a:ext cx="76809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731520" y="2996332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554480" y="3020863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任せるほど壊れる。だから仕組みが先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554480" y="3334895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ルール・パターン・ガードの3本柱で「適当にやっといて」を成立させる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3661802"/>
            <a:ext cx="76809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731520" y="3798963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554480" y="3818389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メタファーとペルソナで認知負荷を圧縮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554480" y="4151304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30機能超を1人で回すために、世界観と人格を統一する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31520" y="4510377"/>
            <a:ext cx="76809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731520" y="4517425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1554480" y="458171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陳腐化するものとしないものを見極める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554480" y="48691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AIの能力不足を補う工夫は消える。人間の認知に関わる仕組みは残る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31520" y="5486400"/>
            <a:ext cx="768096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目次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7680960" cy="0"/>
          </a:xfrm>
          <a:prstGeom prst="line">
            <a:avLst/>
          </a:prstGeom>
          <a:noFill/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1316736" cy="292608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731520" y="1051560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CONTENTS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1508580"/>
            <a:ext cx="768096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731520" y="1621379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554480" y="1737360"/>
            <a:ext cx="6263098" cy="45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第1章: AIエージェントの現在地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554480" y="2057400"/>
            <a:ext cx="6263098" cy="45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「使う」→「自動化する」→「任せる」の3段階と事例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2218233"/>
            <a:ext cx="76809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731520" y="2240279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554480" y="2377439"/>
            <a:ext cx="6263098" cy="45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第2章: 「適当にやっといて」を通すための仕組み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554480" y="2697479"/>
            <a:ext cx="6263098" cy="45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壊れない保証を先に作る。ルール・パターン・ガード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31520" y="2886865"/>
            <a:ext cx="76809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731520" y="2871056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554480" y="3073359"/>
            <a:ext cx="6263098" cy="45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第3章: メタファーで認知負荷を圧縮する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54480" y="3370539"/>
            <a:ext cx="6263098" cy="45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航空メタファーの実例と受益者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31520" y="3545016"/>
            <a:ext cx="76809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731520" y="3529206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1554480" y="3744389"/>
            <a:ext cx="6263098" cy="45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第4章: AIにペルソナを与える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554480" y="4041569"/>
            <a:ext cx="6263098" cy="45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毎回同じ人格で起動する仕組みと記憶管理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31520" y="4231901"/>
            <a:ext cx="76809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731520" y="4231901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1554480" y="4394721"/>
            <a:ext cx="6263098" cy="45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第5章</a:t>
            </a:r>
            <a:r>
              <a:rPr lang="en-US" sz="2000" b="1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: 陳腐化するものとしないもの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554480" y="4705277"/>
            <a:ext cx="6263098" cy="45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投資判断の基準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731520" y="5623560"/>
            <a:ext cx="76809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/>
          <p:nvPr/>
        </p:nvSpPr>
        <p:spPr>
          <a:xfrm>
            <a:off x="731520" y="56235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1554480" y="56235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第6章: まとめ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554480" y="59436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ツールは変わる。仕組みの設計力は残る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731520" y="6400800"/>
            <a:ext cx="768096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-274320"/>
            <a:ext cx="411480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28000" dirty="0"/>
          </a:p>
        </p:txBody>
      </p:sp>
      <p:sp>
        <p:nvSpPr>
          <p:cNvPr id="3" name="Shape 1"/>
          <p:cNvSpPr/>
          <p:nvPr/>
        </p:nvSpPr>
        <p:spPr>
          <a:xfrm>
            <a:off x="4114800" y="731520"/>
            <a:ext cx="54864" cy="3657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4572000" y="7315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400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CHAPTER 01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0" y="1280160"/>
            <a:ext cx="4114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AIエージェントの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現在地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0" y="2926080"/>
            <a:ext cx="4114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■ AI活用の3段階</a:t>
            </a:r>
            <a:endParaRPr lang="en-US" sz="20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■ エージェント型とは</a:t>
            </a:r>
            <a:endParaRPr lang="en-US" sz="20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■ Dify / Copilot Studio / n8n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「使う」→「自動化する」→「任せる」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0" y="3657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868680"/>
            <a:ext cx="7680960" cy="0"/>
          </a:xfrm>
          <a:prstGeom prst="line">
            <a:avLst/>
          </a:prstGeom>
          <a:noFill/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731520" y="1051560"/>
            <a:ext cx="1316736" cy="292608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731520" y="1051560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 STAGES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4173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社内は「自動化」</a:t>
            </a:r>
            <a:r>
              <a:rPr lang="en-US" sz="2800" b="1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あたり。</a:t>
            </a:r>
          </a:p>
          <a:p>
            <a:r>
              <a:rPr lang="en-US" sz="2800" b="1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世の中はもう</a:t>
            </a:r>
            <a:r>
              <a:rPr lang="en-US" sz="28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「任せる</a:t>
            </a:r>
            <a:r>
              <a:rPr lang="en-US" sz="2800" b="1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」に入ってる</a:t>
            </a:r>
            <a:r>
              <a:rPr lang="en-US" altLang="ja-JP" sz="2800" b="1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。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31520" y="2286000"/>
            <a:ext cx="768096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731520" y="23774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554480" y="23774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聞く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554480" y="26974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ChatGPT（社内の大半）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3154680"/>
            <a:ext cx="76809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731520" y="315468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554480" y="31546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自動化する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554480" y="3474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Dify / GPTs / Power Automate（社内の先進層）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31520" y="3931920"/>
            <a:ext cx="76809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731520" y="393192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554480" y="39319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委任する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554480" y="42519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Claude Code / Devin / OpenHands（世の中はここ）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31520" y="4709160"/>
            <a:ext cx="768096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AIが自分で判断して動く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0" y="3657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868680"/>
            <a:ext cx="7680960" cy="0"/>
          </a:xfrm>
          <a:prstGeom prst="line">
            <a:avLst/>
          </a:prstGeom>
          <a:noFill/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731520" y="982979"/>
            <a:ext cx="1097280" cy="292608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731520" y="982979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AGENT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348739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指示→実行→結果報告のサイクルが人間の介在なしに回る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31520" y="2217419"/>
            <a:ext cx="768096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731520" y="2308859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554480" y="2308859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ファイルを読む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554480" y="2628899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コードベース・ドキュメントを自律的に探索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2971800"/>
            <a:ext cx="76809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731520" y="3040377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554480" y="3040377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判断する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554480" y="3360417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何をどう変更するか、AIが自分で決める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31520" y="3726178"/>
            <a:ext cx="76809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731520" y="3726178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554480" y="372617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コードを書く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554480" y="404621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実装・テスト・ドキュメント更新まで一気通貫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31520" y="4457700"/>
            <a:ext cx="76809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731520" y="445770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1554480" y="44577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結果報告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554480" y="47777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人間は最後に確認するだけ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731520" y="5486400"/>
            <a:ext cx="768096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4691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Difyのワークフロー、もうGUIで作らなくていい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0" y="3657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868680"/>
            <a:ext cx="7680960" cy="0"/>
          </a:xfrm>
          <a:prstGeom prst="line">
            <a:avLst/>
          </a:prstGeom>
          <a:noFill/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731520" y="1051560"/>
            <a:ext cx="1152144" cy="292608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731520" y="1051560"/>
            <a:ext cx="1152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CASE 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4173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ワークフローの実体はYAML。AIで直接生成・編集できる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31520" y="2286000"/>
            <a:ext cx="768096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731520" y="23774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554480" y="23774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GUI画面でノードをドラッグ＆ドロップ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554480" y="26974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 これが従来のやり方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3154680"/>
            <a:ext cx="76809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731520" y="315468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554480" y="31546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実体はただのYAMLテキスト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554480" y="3474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 Claude Codeに「こういうの作って」で生成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31520" y="3931920"/>
            <a:ext cx="76809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731520" y="393192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554480" y="39319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テンプレ蓄積で精度向上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554480" y="42519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 ポン出しで作れないワークフローはほぼなくなる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31520" y="4709160"/>
            <a:ext cx="768096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E84F0A-E1BF-BA5E-39E9-95C191391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E453983-6CDD-181F-EE81-24704BF73A4E}"/>
              </a:ext>
            </a:extLst>
          </p:cNvPr>
          <p:cNvSpPr/>
          <p:nvPr/>
        </p:nvSpPr>
        <p:spPr>
          <a:xfrm>
            <a:off x="731520" y="365760"/>
            <a:ext cx="74691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Difyのワークフロー、もうGUIで作らなくていい</a:t>
            </a:r>
            <a:endParaRPr lang="en-US" sz="2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A8B9B5B-FEAE-C5E8-6A41-F86B9371D516}"/>
              </a:ext>
            </a:extLst>
          </p:cNvPr>
          <p:cNvSpPr/>
          <p:nvPr/>
        </p:nvSpPr>
        <p:spPr>
          <a:xfrm>
            <a:off x="731520" y="868680"/>
            <a:ext cx="7680960" cy="0"/>
          </a:xfrm>
          <a:prstGeom prst="line">
            <a:avLst/>
          </a:prstGeom>
          <a:noFill/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2" name="図 21">
            <a:hlinkClick r:id="rId3"/>
            <a:extLst>
              <a:ext uri="{FF2B5EF4-FFF2-40B4-BE49-F238E27FC236}">
                <a16:creationId xmlns:a16="http://schemas.microsoft.com/office/drawing/2014/main" id="{4322283A-4EAF-4944-0CA8-2C4F1E36D0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758" y="1022826"/>
            <a:ext cx="2848684" cy="2301218"/>
          </a:xfrm>
          <a:prstGeom prst="rect">
            <a:avLst/>
          </a:prstGeom>
        </p:spPr>
      </p:pic>
      <p:pic>
        <p:nvPicPr>
          <p:cNvPr id="24" name="図 23">
            <a:hlinkClick r:id="rId5"/>
            <a:extLst>
              <a:ext uri="{FF2B5EF4-FFF2-40B4-BE49-F238E27FC236}">
                <a16:creationId xmlns:a16="http://schemas.microsoft.com/office/drawing/2014/main" id="{AB9E4C2C-4202-ACA7-9B71-66E9D0BEA7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9416" y="1022826"/>
            <a:ext cx="2935929" cy="3954419"/>
          </a:xfrm>
          <a:prstGeom prst="rect">
            <a:avLst/>
          </a:prstGeom>
        </p:spPr>
      </p:pic>
      <p:pic>
        <p:nvPicPr>
          <p:cNvPr id="26" name="図 25">
            <a:extLst>
              <a:ext uri="{FF2B5EF4-FFF2-40B4-BE49-F238E27FC236}">
                <a16:creationId xmlns:a16="http://schemas.microsoft.com/office/drawing/2014/main" id="{C9CFDF3D-626D-97E6-E871-6BDFEE8DA93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5143" y="1410350"/>
            <a:ext cx="3017572" cy="1602776"/>
          </a:xfrm>
          <a:prstGeom prst="rect">
            <a:avLst/>
          </a:prstGeom>
        </p:spPr>
      </p:pic>
      <p:pic>
        <p:nvPicPr>
          <p:cNvPr id="28" name="図 27">
            <a:extLst>
              <a:ext uri="{FF2B5EF4-FFF2-40B4-BE49-F238E27FC236}">
                <a16:creationId xmlns:a16="http://schemas.microsoft.com/office/drawing/2014/main" id="{F9DA52B5-5912-C893-8332-54D26688647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94100" y="3554796"/>
            <a:ext cx="3008130" cy="1260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8764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19" y="365760"/>
            <a:ext cx="74185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Copilot Studio — VS Code拡張でGUI不要に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0" y="3657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868680"/>
            <a:ext cx="7680960" cy="0"/>
          </a:xfrm>
          <a:prstGeom prst="line">
            <a:avLst/>
          </a:prstGeom>
          <a:noFill/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731520" y="1051560"/>
            <a:ext cx="1152144" cy="292608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731520" y="1051560"/>
            <a:ext cx="1152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CASE 02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4173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Microsoftが公式にコードベース構築の導線を整備。社内で使えるツール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31520" y="2286000"/>
            <a:ext cx="768096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731520" y="23774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554480" y="23774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VS Code拡張が公式リリース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554480" y="26974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GUIを経由せずコードベースで直接構築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3154680"/>
            <a:ext cx="76809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731520" y="315468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554480" y="31546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コードベース = AIに書かせる導線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554480" y="3474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AIで自動生成する道が公式に開いた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31520" y="3931920"/>
            <a:ext cx="768096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714E4-D0A4-127B-9B86-D5BA4BEDA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700AC01-1888-EB9E-3129-EA0DBC2D5E03}"/>
              </a:ext>
            </a:extLst>
          </p:cNvPr>
          <p:cNvSpPr/>
          <p:nvPr/>
        </p:nvSpPr>
        <p:spPr>
          <a:xfrm>
            <a:off x="731519" y="365760"/>
            <a:ext cx="74185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Copilot Studio — VS Code拡張でGUI不要に</a:t>
            </a:r>
            <a:endParaRPr lang="en-US" sz="2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4F39DF1-778A-962B-031F-94709CCF9315}"/>
              </a:ext>
            </a:extLst>
          </p:cNvPr>
          <p:cNvSpPr/>
          <p:nvPr/>
        </p:nvSpPr>
        <p:spPr>
          <a:xfrm>
            <a:off x="7315200" y="3657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615EFD7-AC8B-2664-4A1B-D43166D164D2}"/>
              </a:ext>
            </a:extLst>
          </p:cNvPr>
          <p:cNvSpPr/>
          <p:nvPr/>
        </p:nvSpPr>
        <p:spPr>
          <a:xfrm>
            <a:off x="731520" y="868680"/>
            <a:ext cx="7680960" cy="0"/>
          </a:xfrm>
          <a:prstGeom prst="line">
            <a:avLst/>
          </a:prstGeom>
          <a:noFill/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8" name="図 17">
            <a:hlinkClick r:id="rId3"/>
            <a:extLst>
              <a:ext uri="{FF2B5EF4-FFF2-40B4-BE49-F238E27FC236}">
                <a16:creationId xmlns:a16="http://schemas.microsoft.com/office/drawing/2014/main" id="{AD63B341-A923-4D2A-95C7-6B955B4BD9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608" y="1029317"/>
            <a:ext cx="3880530" cy="2780081"/>
          </a:xfrm>
          <a:prstGeom prst="rect">
            <a:avLst/>
          </a:prstGeom>
        </p:spPr>
      </p:pic>
      <p:pic>
        <p:nvPicPr>
          <p:cNvPr id="24" name="図 23">
            <a:hlinkClick r:id="rId5"/>
            <a:extLst>
              <a:ext uri="{FF2B5EF4-FFF2-40B4-BE49-F238E27FC236}">
                <a16:creationId xmlns:a16="http://schemas.microsoft.com/office/drawing/2014/main" id="{F052232B-5C60-9A0E-DCB4-24C3384AF2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35891" y="2810056"/>
            <a:ext cx="3330041" cy="2319956"/>
          </a:xfrm>
          <a:prstGeom prst="rect">
            <a:avLst/>
          </a:prstGeom>
        </p:spPr>
      </p:pic>
      <p:pic>
        <p:nvPicPr>
          <p:cNvPr id="22" name="図 21">
            <a:hlinkClick r:id="rId7"/>
            <a:extLst>
              <a:ext uri="{FF2B5EF4-FFF2-40B4-BE49-F238E27FC236}">
                <a16:creationId xmlns:a16="http://schemas.microsoft.com/office/drawing/2014/main" id="{C9C170C0-CE01-3D66-37FD-CA94F20B9E7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0" y="1029317"/>
            <a:ext cx="4184722" cy="2656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2968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n8n — JSON定義。コードで行ける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0" y="3657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868680"/>
            <a:ext cx="7680960" cy="0"/>
          </a:xfrm>
          <a:prstGeom prst="line">
            <a:avLst/>
          </a:prstGeom>
          <a:noFill/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731520" y="1051560"/>
            <a:ext cx="1152144" cy="292608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731520" y="1051560"/>
            <a:ext cx="1152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CASE 03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4173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Dify、Copilot Studio、n8n。ノーコード/ローコード全般でこの流れ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31520" y="2286000"/>
            <a:ext cx="768096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731520" y="23774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554480" y="23774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n8nのワークフローもJSON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554480" y="26974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構造はDifyと全く同じ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3154680"/>
            <a:ext cx="76809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731520" y="315468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554480" y="31546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3つ並べると見えてくる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554480" y="3474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特定のツールの話じゃない。全般的な流れ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31520" y="3931920"/>
            <a:ext cx="768096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CAF37-EC13-CEFD-947A-FD9AE3071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0EEE925-1F3E-655A-13BE-1C39D56F7271}"/>
              </a:ext>
            </a:extLst>
          </p:cNvPr>
          <p:cNvSpPr/>
          <p:nvPr/>
        </p:nvSpPr>
        <p:spPr>
          <a:xfrm>
            <a:off x="731520" y="3657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n8n — JSON定義。コードで行ける</a:t>
            </a:r>
            <a:endParaRPr lang="en-US" sz="2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F769D99-F9C9-72B5-1A2A-4A3B1D92FB83}"/>
              </a:ext>
            </a:extLst>
          </p:cNvPr>
          <p:cNvSpPr/>
          <p:nvPr/>
        </p:nvSpPr>
        <p:spPr>
          <a:xfrm>
            <a:off x="7315200" y="3657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2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3F6E3B8-CF0A-86C3-07E9-5BAB4362220A}"/>
              </a:ext>
            </a:extLst>
          </p:cNvPr>
          <p:cNvSpPr/>
          <p:nvPr/>
        </p:nvSpPr>
        <p:spPr>
          <a:xfrm>
            <a:off x="731520" y="868680"/>
            <a:ext cx="7680960" cy="0"/>
          </a:xfrm>
          <a:prstGeom prst="line">
            <a:avLst/>
          </a:prstGeom>
          <a:noFill/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8" name="図 17">
            <a:hlinkClick r:id="rId3"/>
            <a:extLst>
              <a:ext uri="{FF2B5EF4-FFF2-40B4-BE49-F238E27FC236}">
                <a16:creationId xmlns:a16="http://schemas.microsoft.com/office/drawing/2014/main" id="{23BD0AAB-22E9-5241-9E24-07B70C9982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684" y="1262747"/>
            <a:ext cx="3009207" cy="364805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0" name="図 19">
            <a:extLst>
              <a:ext uri="{FF2B5EF4-FFF2-40B4-BE49-F238E27FC236}">
                <a16:creationId xmlns:a16="http://schemas.microsoft.com/office/drawing/2014/main" id="{7FFC8AAD-A2E2-CC5F-6C49-B0CC7CD511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5688" y="1479752"/>
            <a:ext cx="5555235" cy="317898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762034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人間に要るのは上流の判断だけ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0" y="3657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868680"/>
            <a:ext cx="7680960" cy="0"/>
          </a:xfrm>
          <a:prstGeom prst="line">
            <a:avLst/>
          </a:prstGeom>
          <a:noFill/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731520" y="1051560"/>
            <a:ext cx="1152144" cy="292608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731520" y="1051560"/>
            <a:ext cx="1152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INSIGHT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4173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「何ができるか」を理解する力 + 「どう構築するか」の設計力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31520" y="2286000"/>
            <a:ext cx="768096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731520" y="23774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554480" y="23774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何を作るか・なぜ作るか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554480" y="26974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 人間の領域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3154680"/>
            <a:ext cx="76809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731520" y="315468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554480" y="31546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どう構築するか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554480" y="3474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 設計力（人間 + AI）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31520" y="3931920"/>
            <a:ext cx="76809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731520" y="393192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554480" y="39319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実際に組む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554480" y="42519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 AIの領域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31520" y="4709160"/>
            <a:ext cx="768096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-274320"/>
            <a:ext cx="411480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28000" dirty="0"/>
          </a:p>
        </p:txBody>
      </p:sp>
      <p:sp>
        <p:nvSpPr>
          <p:cNvPr id="3" name="Shape 1"/>
          <p:cNvSpPr/>
          <p:nvPr/>
        </p:nvSpPr>
        <p:spPr>
          <a:xfrm>
            <a:off x="4114800" y="731520"/>
            <a:ext cx="54864" cy="3657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4391289" y="7315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400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CHAPTER 02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391289" y="1280160"/>
            <a:ext cx="46045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AIに“適当にやっといて”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を通すための仕組み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0" y="2926080"/>
            <a:ext cx="4114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■ なぜ壊れるか</a:t>
            </a:r>
            <a:endParaRPr lang="en-US" sz="20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■ ルール・パターン・ガード</a:t>
            </a:r>
            <a:endParaRPr lang="en-US" sz="20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■ DeckPilotの実例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04416-BA06-81FA-7ADC-48B5AD046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32C364F-FB40-D836-1A4C-42203CA7E5F2}"/>
              </a:ext>
            </a:extLst>
          </p:cNvPr>
          <p:cNvSpPr/>
          <p:nvPr/>
        </p:nvSpPr>
        <p:spPr>
          <a:xfrm>
            <a:off x="731519" y="365760"/>
            <a:ext cx="713665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0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</a:t>
            </a:r>
            <a:r>
              <a:rPr lang="ja-JP" altLang="en-US" sz="2400" b="1" kern="0" spc="20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駆動開発をやってみた</a:t>
            </a:r>
            <a:endParaRPr lang="en-US" sz="2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803A599-0BD0-4C29-2D6F-BBBA56376949}"/>
              </a:ext>
            </a:extLst>
          </p:cNvPr>
          <p:cNvSpPr/>
          <p:nvPr/>
        </p:nvSpPr>
        <p:spPr>
          <a:xfrm>
            <a:off x="7315200" y="3657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00</a:t>
            </a:r>
            <a:endParaRPr lang="en-US" sz="2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3BFAD34-AF27-9D08-2058-95971D6C8636}"/>
              </a:ext>
            </a:extLst>
          </p:cNvPr>
          <p:cNvSpPr/>
          <p:nvPr/>
        </p:nvSpPr>
        <p:spPr>
          <a:xfrm>
            <a:off x="731520" y="868680"/>
            <a:ext cx="7680960" cy="0"/>
          </a:xfrm>
          <a:prstGeom prst="line">
            <a:avLst/>
          </a:prstGeom>
          <a:noFill/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DADB256-CE88-6A0E-AB8F-D7DBD0427BA4}"/>
              </a:ext>
            </a:extLst>
          </p:cNvPr>
          <p:cNvSpPr/>
          <p:nvPr/>
        </p:nvSpPr>
        <p:spPr>
          <a:xfrm>
            <a:off x="731520" y="1051560"/>
            <a:ext cx="1481328" cy="292608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DA7D307-239B-7DD8-34EB-F634FD77EFBD}"/>
              </a:ext>
            </a:extLst>
          </p:cNvPr>
          <p:cNvSpPr/>
          <p:nvPr/>
        </p:nvSpPr>
        <p:spPr>
          <a:xfrm>
            <a:off x="731520" y="1051560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PRINCIPLE</a:t>
            </a:r>
            <a:endParaRPr lang="en-US" sz="1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7F96FCC-0100-0CAE-61F4-F39B5C86EC84}"/>
              </a:ext>
            </a:extLst>
          </p:cNvPr>
          <p:cNvSpPr/>
          <p:nvPr/>
        </p:nvSpPr>
        <p:spPr>
          <a:xfrm>
            <a:off x="731520" y="1645920"/>
            <a:ext cx="7680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4000" b="1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最近ずっと自宅で</a:t>
            </a:r>
            <a:endParaRPr lang="en-US" altLang="ja-JP" sz="4000" b="1">
              <a:solidFill>
                <a:srgbClr val="000000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ctr">
              <a:buNone/>
            </a:pPr>
            <a:r>
              <a:rPr lang="ja-JP" altLang="en-US" sz="4000" b="1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デスクトップアプリ</a:t>
            </a:r>
            <a:endParaRPr lang="en-US" altLang="ja-JP" sz="4000" b="1">
              <a:solidFill>
                <a:srgbClr val="000000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ctr">
              <a:buNone/>
            </a:pPr>
            <a:r>
              <a:rPr lang="ja-JP" altLang="en-US" sz="4000" b="1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</a:rPr>
              <a:t>つくってました</a:t>
            </a:r>
            <a:endParaRPr lang="en-US" sz="40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E7563A1-86A0-865D-DC6A-7FAF32A45F9E}"/>
              </a:ext>
            </a:extLst>
          </p:cNvPr>
          <p:cNvSpPr/>
          <p:nvPr/>
        </p:nvSpPr>
        <p:spPr>
          <a:xfrm>
            <a:off x="731520" y="38404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r>
              <a:rPr lang="ja-JP" altLang="en-US" sz="180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か月くらい、一つのアプリを拡張し続けています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9563487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19" y="365760"/>
            <a:ext cx="7255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プロンプト、RAG</a:t>
            </a:r>
            <a:r>
              <a:rPr lang="en-US" sz="2400" b="1" kern="0" spc="20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、ファインチューニング</a:t>
            </a:r>
            <a:r>
              <a:rPr lang="en-US" altLang="ja-JP" sz="2400" b="1" kern="0" spc="20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…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0" y="3657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07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868680"/>
            <a:ext cx="7680960" cy="0"/>
          </a:xfrm>
          <a:prstGeom prst="line">
            <a:avLst/>
          </a:prstGeom>
          <a:noFill/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731520" y="1051560"/>
            <a:ext cx="1097280" cy="292608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731520" y="105156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COMMON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4173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でも「毎回ブレずに動かす</a:t>
            </a:r>
            <a:r>
              <a:rPr lang="en-US" sz="2800" b="1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」には</a:t>
            </a:r>
          </a:p>
          <a:p>
            <a:pPr marL="0" indent="0">
              <a:buNone/>
            </a:pPr>
            <a:r>
              <a:rPr lang="en-US" sz="2800" b="1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それだけじゃ足りない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31520" y="2286000"/>
            <a:ext cx="768096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731520" y="23774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554480" y="23774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プロンプトエンジニアリング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554480" y="26974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△ 入力の工夫だけでは再現性に限界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3154680"/>
            <a:ext cx="76809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731520" y="315468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554480" y="31546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RAG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554480" y="3474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△ 情報の補強だけでは行動の一貫性は担保できない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31520" y="3931920"/>
            <a:ext cx="76809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731520" y="393192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554480" y="39319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ファインチューニング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554480" y="42519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△ コストが高く、汎用性との両立が難しい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31520" y="4709160"/>
            <a:ext cx="768096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AIに任せると壊れる理由は2つある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0" y="3657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08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868680"/>
            <a:ext cx="7680960" cy="0"/>
          </a:xfrm>
          <a:prstGeom prst="line">
            <a:avLst/>
          </a:prstGeom>
          <a:noFill/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731520" y="1051560"/>
            <a:ext cx="1097280" cy="292608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731520" y="105156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4173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「毎回忘れる」と「足すほど壊れる」の掛け算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31520" y="2286000"/>
            <a:ext cx="768096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731520" y="23774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554480" y="23774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AIは毎回記憶喪失で来る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554480" y="26974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前の会話を覚えてない。毎回ゼロから全体を把握し直す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3154680"/>
            <a:ext cx="76809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731520" y="315468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554480" y="31546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機能が増えるほど壊れやすくなる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554480" y="3474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新しいものを足すと、前に作ったものが動かなくなる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31520" y="3931920"/>
            <a:ext cx="76809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731520" y="393192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554480" y="39319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記憶喪失 × 複雑性 = 毎回どこかを壊す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554480" y="42519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全体を知らないAIが複雑なシステムに手を入れる。壊さない方が奇跡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31520" y="4709160"/>
            <a:ext cx="768096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新しい機能を足すと、前のが壊れる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0" y="3657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09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868680"/>
            <a:ext cx="7680960" cy="0"/>
          </a:xfrm>
          <a:prstGeom prst="line">
            <a:avLst/>
          </a:prstGeom>
          <a:noFill/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731520" y="1051560"/>
            <a:ext cx="1152144" cy="292608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731520" y="1051560"/>
            <a:ext cx="1152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REALITY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4173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単機能なら平気。</a:t>
            </a:r>
            <a:r>
              <a:rPr lang="en-US" sz="2800" b="1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でも増やし続けるなら、</a:t>
            </a:r>
          </a:p>
          <a:p>
            <a:pPr marL="0" indent="0">
              <a:buNone/>
            </a:pPr>
            <a:r>
              <a:rPr lang="en-US" sz="2800" b="1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壊さない仕組みが先に要る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31520" y="2286000"/>
            <a:ext cx="768096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731520" y="23774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554480" y="23774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1個目は自由に作れる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554480" y="26974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他に影響するものがない。何をやっても壊れない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3154680"/>
            <a:ext cx="76809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731520" y="3238349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554480" y="31546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10個目から「足したら別の何かが壊れる」が起きる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554480" y="3520441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設定の競合、画面の干渉</a:t>
            </a:r>
            <a:r>
              <a:rPr lang="en-US" sz="150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、データの上書き</a:t>
            </a:r>
            <a:r>
              <a:rPr lang="en-US" altLang="ja-JP" sz="150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…etc</a:t>
            </a:r>
            <a:r>
              <a:rPr lang="ja-JP" altLang="en-US" sz="150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。</a:t>
            </a:r>
            <a:endParaRPr lang="en-US" sz="1500">
              <a:solidFill>
                <a:srgbClr val="4A4A4A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>
              <a:buNone/>
            </a:pPr>
            <a:r>
              <a:rPr lang="en-US" sz="150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全体を見ないと既存機能が動かなくなる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31520" y="3931920"/>
            <a:ext cx="76809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731520" y="4004747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554480" y="4004747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30個超えると人間もAIも全体を把握できない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554480" y="4324787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仕組みがないと、足すたびにどこかが壊れるループに入る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31520" y="4709160"/>
            <a:ext cx="768096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19" y="365760"/>
            <a:ext cx="713665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壊れたら終わり。だから壊れない仕組みが先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0" y="3657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868680"/>
            <a:ext cx="7680960" cy="0"/>
          </a:xfrm>
          <a:prstGeom prst="line">
            <a:avLst/>
          </a:prstGeom>
          <a:noFill/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731520" y="1051560"/>
            <a:ext cx="1481328" cy="292608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731520" y="1051560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PRINCIPLE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645920"/>
            <a:ext cx="7680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「適当にやっといて」が通るのは</a:t>
            </a:r>
            <a:endParaRPr lang="en-US" sz="4000" dirty="0"/>
          </a:p>
          <a:p>
            <a:pPr marL="0" indent="0" algn="ctr">
              <a:buNone/>
            </a:pPr>
            <a:r>
              <a:rPr lang="en-US" sz="40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壊さない保証があるから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31520" y="38404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自由に任せるほど</a:t>
            </a:r>
            <a:r>
              <a:rPr lang="en-US" sz="180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、破綻を防ぐ仕組みの厚みが要る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ルール・パターン・ガード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0" y="3657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868680"/>
            <a:ext cx="7680960" cy="0"/>
          </a:xfrm>
          <a:prstGeom prst="line">
            <a:avLst/>
          </a:prstGeom>
          <a:noFill/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731520" y="1051560"/>
            <a:ext cx="1481328" cy="292608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731520" y="1051560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 PILLARS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4173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この3つが揃うと「適当にやっといて」が通る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31520" y="2286000"/>
            <a:ext cx="768096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731520" y="23774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554480" y="23774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ルールの体系化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554480" y="26974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指示書を1箇所に集約。毎回読ませる → 記憶喪失を解決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3154680"/>
            <a:ext cx="76809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731520" y="315468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554480" y="31546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パターンの固定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554480" y="3474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同じ作業は同じ手順。ブレをなくす → 再現性を確保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31520" y="3931920"/>
            <a:ext cx="76809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731520" y="393192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554480" y="39319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ガード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554480" y="42519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壊したら終わりの場所にだけ厚く敷く → 破綻を防止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31520" y="4709160"/>
            <a:ext cx="768096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これが「適当にやっといて」の結果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0" y="3657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868680"/>
            <a:ext cx="7680960" cy="0"/>
          </a:xfrm>
          <a:prstGeom prst="line">
            <a:avLst/>
          </a:prstGeom>
          <a:noFill/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731520" y="1051560"/>
            <a:ext cx="1097280" cy="292608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731520" y="105156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DEMO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645920"/>
            <a:ext cx="7680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デスクトップ</a:t>
            </a:r>
            <a:r>
              <a:rPr lang="en-US" sz="4000" b="1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OS。</a:t>
            </a:r>
          </a:p>
          <a:p>
            <a:pPr marL="0" indent="0" algn="ctr">
              <a:buNone/>
            </a:pPr>
            <a:r>
              <a:rPr lang="en-US" sz="4000" b="1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30</a:t>
            </a:r>
            <a:r>
              <a:rPr lang="en-US" sz="40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個超のアプリ。</a:t>
            </a:r>
            <a:endParaRPr lang="en-US" sz="4000" dirty="0"/>
          </a:p>
          <a:p>
            <a:pPr marL="0" indent="0" algn="ctr">
              <a:buNone/>
            </a:pPr>
            <a:r>
              <a:rPr lang="en-US" sz="40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全部会話だけで作った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31520" y="38404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【ここにDeckPilotのデスクトップ画面スクショを挿入】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BB52D-A8B8-3E29-FC96-732425C81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>
            <a:extLst>
              <a:ext uri="{FF2B5EF4-FFF2-40B4-BE49-F238E27FC236}">
                <a16:creationId xmlns:a16="http://schemas.microsoft.com/office/drawing/2014/main" id="{D6B68F6A-6471-5884-038A-84F301F29EED}"/>
              </a:ext>
            </a:extLst>
          </p:cNvPr>
          <p:cNvSpPr/>
          <p:nvPr/>
        </p:nvSpPr>
        <p:spPr>
          <a:xfrm>
            <a:off x="731520" y="105156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DEMO</a:t>
            </a:r>
            <a:endParaRPr lang="en-US" sz="1400" dirty="0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61AFB9B6-4AFB-E819-DBD1-331729DC5F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1858" y="359693"/>
            <a:ext cx="6379414" cy="4627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490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「時計作って」→ アイコンが増えるまで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0" y="3657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13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868680"/>
            <a:ext cx="7680960" cy="0"/>
          </a:xfrm>
          <a:prstGeom prst="line">
            <a:avLst/>
          </a:prstGeom>
          <a:noFill/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731520" y="1051560"/>
            <a:ext cx="1097280" cy="292608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731520" y="105156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FLOW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4173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会話1つで全部起きる。プロンプトもコードも1文字も書いていない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31520" y="2286000"/>
            <a:ext cx="768096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731520" y="2271607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554480" y="23774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「時計作って」と会話で言う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31520" y="2917613"/>
            <a:ext cx="76809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731520" y="292862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554480" y="2977727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RIOがコードを書く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554480" y="3274907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AIペルソナが自律的に実装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3666914"/>
            <a:ext cx="76809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731520" y="3705859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554480" y="373888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ビルド → テスト → ドキュメント自動更新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554480" y="4039449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パイプラインが自動で走る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31520" y="4421294"/>
            <a:ext cx="76809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731520" y="4456856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1554480" y="4516969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デスクトップにClockのアイコンが増える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554480" y="48234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完了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31520" y="5486400"/>
            <a:ext cx="768096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23万行。1人。1ヶ月。コード0行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0" y="3657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14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868680"/>
            <a:ext cx="7680960" cy="0"/>
          </a:xfrm>
          <a:prstGeom prst="line">
            <a:avLst/>
          </a:prstGeom>
          <a:noFill/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731520" y="1051560"/>
            <a:ext cx="1097280" cy="292608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731520" y="105156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OUTPUT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645920"/>
            <a:ext cx="7680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「1人 × AI × 仕組み」で</a:t>
            </a:r>
            <a:endParaRPr lang="en-US" sz="4000" dirty="0"/>
          </a:p>
          <a:p>
            <a:pPr marL="0" indent="0" algn="ctr">
              <a:buNone/>
            </a:pPr>
            <a:r>
              <a:rPr lang="en-US" sz="40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出せるアウトプットの実例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31520" y="38404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【ここにコード量カウンターのスクショを挿入】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2589B-1C07-E6AF-8283-B7A240B43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486D66B-75CB-44DB-E93B-74332F4B78D5}"/>
              </a:ext>
            </a:extLst>
          </p:cNvPr>
          <p:cNvSpPr/>
          <p:nvPr/>
        </p:nvSpPr>
        <p:spPr>
          <a:xfrm>
            <a:off x="731520" y="3657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23万行。1人。1ヶ月。コード0行</a:t>
            </a:r>
            <a:endParaRPr lang="en-US" sz="2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8D40248-56A5-8F5C-4070-04A6719FC228}"/>
              </a:ext>
            </a:extLst>
          </p:cNvPr>
          <p:cNvSpPr/>
          <p:nvPr/>
        </p:nvSpPr>
        <p:spPr>
          <a:xfrm>
            <a:off x="731520" y="868680"/>
            <a:ext cx="7680960" cy="0"/>
          </a:xfrm>
          <a:prstGeom prst="line">
            <a:avLst/>
          </a:prstGeom>
          <a:noFill/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F4B4393-5538-4714-BD53-D557CE85C9EB}"/>
              </a:ext>
            </a:extLst>
          </p:cNvPr>
          <p:cNvSpPr/>
          <p:nvPr/>
        </p:nvSpPr>
        <p:spPr>
          <a:xfrm>
            <a:off x="731520" y="105156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OUTPUT</a:t>
            </a:r>
            <a:endParaRPr lang="en-US" sz="1400" dirty="0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05498237-37A3-ACD3-A458-D41D2577B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996526"/>
            <a:ext cx="3307719" cy="4032177"/>
          </a:xfrm>
          <a:prstGeom prst="rect">
            <a:avLst/>
          </a:prstGeom>
        </p:spPr>
      </p:pic>
      <p:sp>
        <p:nvSpPr>
          <p:cNvPr id="11" name="Text 9">
            <a:extLst>
              <a:ext uri="{FF2B5EF4-FFF2-40B4-BE49-F238E27FC236}">
                <a16:creationId xmlns:a16="http://schemas.microsoft.com/office/drawing/2014/main" id="{203F6A91-C699-E6AD-D89E-8214F5F2431F}"/>
              </a:ext>
            </a:extLst>
          </p:cNvPr>
          <p:cNvSpPr/>
          <p:nvPr/>
        </p:nvSpPr>
        <p:spPr>
          <a:xfrm>
            <a:off x="4186766" y="2175938"/>
            <a:ext cx="4423834" cy="13792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altLang="ja-JP" sz="1600"/>
              <a:t>Own Source 23</a:t>
            </a:r>
            <a:r>
              <a:rPr lang="ja-JP" altLang="en-US" sz="1600"/>
              <a:t>万行、</a:t>
            </a:r>
            <a:r>
              <a:rPr lang="en-US" altLang="ja-JP" sz="1600"/>
              <a:t>.ts</a:t>
            </a:r>
            <a:r>
              <a:rPr lang="ja-JP" altLang="en-US" sz="1600"/>
              <a:t>だけで</a:t>
            </a:r>
            <a:r>
              <a:rPr lang="en-US" altLang="ja-JP" sz="1600"/>
              <a:t>15</a:t>
            </a:r>
            <a:r>
              <a:rPr lang="ja-JP" altLang="en-US" sz="1600"/>
              <a:t>万行超。</a:t>
            </a:r>
            <a:endParaRPr lang="en-US" altLang="ja-JP" sz="1600"/>
          </a:p>
          <a:p>
            <a:pPr>
              <a:lnSpc>
                <a:spcPct val="150000"/>
              </a:lnSpc>
            </a:pPr>
            <a:r>
              <a:rPr lang="en-US" altLang="ja-JP" sz="1600"/>
              <a:t>Minecraft</a:t>
            </a:r>
            <a:r>
              <a:rPr lang="ja-JP" altLang="en-US" sz="1600"/>
              <a:t>と同じくらいのコード量。</a:t>
            </a:r>
            <a:endParaRPr lang="en-US" altLang="ja-JP" sz="1600"/>
          </a:p>
          <a:p>
            <a:pPr>
              <a:lnSpc>
                <a:spcPct val="150000"/>
              </a:lnSpc>
            </a:pPr>
            <a:r>
              <a:rPr lang="ja-JP" altLang="en-US" sz="1600"/>
              <a:t>中規模の商用プロダクトと同等のコードベースで、普通は数人</a:t>
            </a:r>
            <a:r>
              <a:rPr lang="en-US" altLang="ja-JP" sz="1600"/>
              <a:t>〜</a:t>
            </a:r>
            <a:r>
              <a:rPr lang="ja-JP" altLang="en-US" sz="1600"/>
              <a:t>十数人のチームで維持する量。</a:t>
            </a:r>
            <a:endParaRPr lang="en-US" altLang="ja-JP" sz="1600"/>
          </a:p>
        </p:txBody>
      </p:sp>
    </p:spTree>
    <p:extLst>
      <p:ext uri="{BB962C8B-B14F-4D97-AF65-F5344CB8AC3E}">
        <p14:creationId xmlns:p14="http://schemas.microsoft.com/office/powerpoint/2010/main" val="38094204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FE8FF-A880-9B4E-A552-95C57A44C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832F4E7-625D-3DE2-E719-A14C7C2EF368}"/>
              </a:ext>
            </a:extLst>
          </p:cNvPr>
          <p:cNvSpPr/>
          <p:nvPr/>
        </p:nvSpPr>
        <p:spPr>
          <a:xfrm>
            <a:off x="731520" y="3657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23万行。1人。1ヶ月。コード0行</a:t>
            </a:r>
            <a:endParaRPr lang="en-US" sz="2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99935E3-5924-8E3F-6971-A6B6ED13FEB9}"/>
              </a:ext>
            </a:extLst>
          </p:cNvPr>
          <p:cNvSpPr/>
          <p:nvPr/>
        </p:nvSpPr>
        <p:spPr>
          <a:xfrm>
            <a:off x="731520" y="868680"/>
            <a:ext cx="7680960" cy="0"/>
          </a:xfrm>
          <a:prstGeom prst="line">
            <a:avLst/>
          </a:prstGeom>
          <a:noFill/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03AAD40-93A2-85B0-C491-5BFF953792EC}"/>
              </a:ext>
            </a:extLst>
          </p:cNvPr>
          <p:cNvSpPr/>
          <p:nvPr/>
        </p:nvSpPr>
        <p:spPr>
          <a:xfrm>
            <a:off x="731520" y="105156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OUTPUT</a:t>
            </a:r>
            <a:endParaRPr lang="en-US" sz="1400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7C0166EF-FEA4-17CA-119F-0CAAB51E53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857" y="967307"/>
            <a:ext cx="4569149" cy="325756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188B5BB4-8CFB-D028-AE5B-53D393B6B2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7190" y="2002366"/>
            <a:ext cx="4580482" cy="310303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3" name="Text 9">
            <a:extLst>
              <a:ext uri="{FF2B5EF4-FFF2-40B4-BE49-F238E27FC236}">
                <a16:creationId xmlns:a16="http://schemas.microsoft.com/office/drawing/2014/main" id="{162294FB-9AE7-9C51-6C75-AD9E7FE355A1}"/>
              </a:ext>
            </a:extLst>
          </p:cNvPr>
          <p:cNvSpPr/>
          <p:nvPr/>
        </p:nvSpPr>
        <p:spPr>
          <a:xfrm>
            <a:off x="4876799" y="881386"/>
            <a:ext cx="4199468" cy="10223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ja-JP" altLang="en-US" sz="1600"/>
              <a:t>コード生成時に毎回アーキテクチャ、ドキュメントを自動生成し、毎回該当箇所を確認してから作業する仕組み</a:t>
            </a:r>
            <a:endParaRPr lang="en-US" altLang="ja-JP" sz="1600"/>
          </a:p>
        </p:txBody>
      </p:sp>
    </p:spTree>
    <p:extLst>
      <p:ext uri="{BB962C8B-B14F-4D97-AF65-F5344CB8AC3E}">
        <p14:creationId xmlns:p14="http://schemas.microsoft.com/office/powerpoint/2010/main" val="14730904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6C7EF-E163-23E1-031E-95F8F5E97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484C7A3-1DE8-63C9-65B3-3F4B6767B900}"/>
              </a:ext>
            </a:extLst>
          </p:cNvPr>
          <p:cNvSpPr/>
          <p:nvPr/>
        </p:nvSpPr>
        <p:spPr>
          <a:xfrm>
            <a:off x="731520" y="3657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23万行。1人。1ヶ月。コード0行</a:t>
            </a:r>
            <a:endParaRPr lang="en-US" sz="2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10C6C83-F5A6-C123-A50F-14491ABE35FD}"/>
              </a:ext>
            </a:extLst>
          </p:cNvPr>
          <p:cNvSpPr/>
          <p:nvPr/>
        </p:nvSpPr>
        <p:spPr>
          <a:xfrm>
            <a:off x="731520" y="868680"/>
            <a:ext cx="7680960" cy="0"/>
          </a:xfrm>
          <a:prstGeom prst="line">
            <a:avLst/>
          </a:prstGeom>
          <a:noFill/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4CD6020-6904-4879-86FF-CBCC6608BBE4}"/>
              </a:ext>
            </a:extLst>
          </p:cNvPr>
          <p:cNvSpPr/>
          <p:nvPr/>
        </p:nvSpPr>
        <p:spPr>
          <a:xfrm>
            <a:off x="731520" y="105156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OUTPUT</a:t>
            </a:r>
            <a:endParaRPr lang="en-US" sz="1400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814ADCDC-16B6-8C7D-A1EC-62DA36A48F36}"/>
              </a:ext>
            </a:extLst>
          </p:cNvPr>
          <p:cNvSpPr/>
          <p:nvPr/>
        </p:nvSpPr>
        <p:spPr>
          <a:xfrm>
            <a:off x="5092699" y="1833885"/>
            <a:ext cx="3772797" cy="19634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ja-JP" altLang="en-US" sz="1600"/>
              <a:t>コードを</a:t>
            </a:r>
            <a:r>
              <a:rPr lang="en-US" altLang="ja-JP" sz="1600"/>
              <a:t>GitHub</a:t>
            </a:r>
            <a:r>
              <a:rPr lang="ja-JP" altLang="en-US" sz="1600"/>
              <a:t>に挙げる際、毎回日記を書かせる。</a:t>
            </a:r>
            <a:endParaRPr lang="en-US" altLang="ja-JP" sz="1600"/>
          </a:p>
          <a:p>
            <a:pPr>
              <a:lnSpc>
                <a:spcPct val="150000"/>
              </a:lnSpc>
            </a:pPr>
            <a:r>
              <a:rPr lang="ja-JP" altLang="en-US" sz="1600"/>
              <a:t>会話履歴も含めて日記を書くので、後日参照時に判断した経緯などを</a:t>
            </a:r>
            <a:r>
              <a:rPr lang="en-US" altLang="ja-JP" sz="1600"/>
              <a:t>AI</a:t>
            </a:r>
            <a:r>
              <a:rPr lang="ja-JP" altLang="en-US" sz="1600"/>
              <a:t>側が熱量込みで参照可能。</a:t>
            </a:r>
            <a:endParaRPr lang="en-US" altLang="ja-JP" sz="160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0D265FBC-9EEB-892A-EAA6-7D09B6C528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504" y="1308200"/>
            <a:ext cx="4640630" cy="3331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9583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1個目は高い。30個目はほぼタダ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0" y="3657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868680"/>
            <a:ext cx="7680960" cy="0"/>
          </a:xfrm>
          <a:prstGeom prst="line">
            <a:avLst/>
          </a:prstGeom>
          <a:noFill/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731520" y="1051560"/>
            <a:ext cx="1316736" cy="292608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731520" y="1051560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PLATFORM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4173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共通基盤を1回作れば、以降はドメインを乗せるだけ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31520" y="2286000"/>
            <a:ext cx="768096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731520" y="23774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554480" y="23774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個別にアプリ作り続ける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554480" y="26974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毎回同じ初期コストを払う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3154680"/>
            <a:ext cx="76809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731520" y="315468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554480" y="31546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共通基盤の上に乗せる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554480" y="3474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初期コスト1回→以降はほぼゼロ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31520" y="3931920"/>
            <a:ext cx="76809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731520" y="393192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554480" y="39319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AIは毎回記憶喪失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554480" y="42519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パターンがないと毎回ブレる。だからこそ仕組みの価値が上がる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31520" y="4709160"/>
            <a:ext cx="768096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-274320"/>
            <a:ext cx="411480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28000" dirty="0"/>
          </a:p>
        </p:txBody>
      </p:sp>
      <p:sp>
        <p:nvSpPr>
          <p:cNvPr id="3" name="Shape 1"/>
          <p:cNvSpPr/>
          <p:nvPr/>
        </p:nvSpPr>
        <p:spPr>
          <a:xfrm>
            <a:off x="4114800" y="731520"/>
            <a:ext cx="54864" cy="3657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4572000" y="7315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400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CHAPTER 03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0" y="1280160"/>
            <a:ext cx="4114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メタファーで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認知負荷を圧縮する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0" y="2926080"/>
            <a:ext cx="4114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■ なぜメタファーか</a:t>
            </a:r>
            <a:endParaRPr lang="en-US" sz="20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■ 航空メタファーの実例</a:t>
            </a:r>
            <a:endParaRPr lang="en-US" sz="20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■ 受益者は3層</a:t>
            </a:r>
            <a:endParaRPr lang="en-US" sz="2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30機能超。ビジネスまで広がったら？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0" y="3657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16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868680"/>
            <a:ext cx="7680960" cy="0"/>
          </a:xfrm>
          <a:prstGeom prst="line">
            <a:avLst/>
          </a:prstGeom>
          <a:noFill/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731520" y="1051560"/>
            <a:ext cx="1152144" cy="292608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731520" y="1051560"/>
            <a:ext cx="1152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PROBLEM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645920"/>
            <a:ext cx="7680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素のまま並べたら</a:t>
            </a:r>
            <a:endParaRPr lang="en-US" sz="4000" dirty="0"/>
          </a:p>
          <a:p>
            <a:pPr marL="0" indent="0" algn="ctr">
              <a:buNone/>
            </a:pPr>
            <a:r>
              <a:rPr lang="en-US" sz="40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認知負荷で死ぬ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31520" y="38404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orchestration / delegation / sub-component… → ???</a:t>
            </a:r>
            <a:endParaRPr lang="en-US" sz="1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DeckPilotの航空メタファー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0" y="3657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17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868680"/>
            <a:ext cx="7680960" cy="0"/>
          </a:xfrm>
          <a:prstGeom prst="line">
            <a:avLst/>
          </a:prstGeom>
          <a:noFill/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731520" y="1051560"/>
            <a:ext cx="1316736" cy="292608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731520" y="1051560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METAPHOR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4173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「orchestration layerのsub-component」→「整備士に投げといて」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31520" y="2286000"/>
            <a:ext cx="768096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731520" y="23774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554480" y="23774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コックピット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554480" y="26974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Pilot（前席 = ユーザー）+ RIO（後席 = AI）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3154680"/>
            <a:ext cx="76809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731520" y="315468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554480" y="31546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格納庫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554480" y="3474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整備士達 + しきるん（班長）= サブエージェント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31520" y="3931920"/>
            <a:ext cx="76809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731520" y="393192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554480" y="39319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空港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554480" y="42519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ビジネス職種（市場調査・営業・コンテンツ生成）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31520" y="4709160"/>
            <a:ext cx="768096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メタファーの受益者は3層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0" y="3657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18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868680"/>
            <a:ext cx="7680960" cy="0"/>
          </a:xfrm>
          <a:prstGeom prst="line">
            <a:avLst/>
          </a:prstGeom>
          <a:noFill/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731520" y="1051560"/>
            <a:ext cx="1152144" cy="292608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731520" y="1051560"/>
            <a:ext cx="1152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BENEFIT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4173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3者全員にとって認知コストが下がる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31520" y="2286000"/>
            <a:ext cx="768096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731520" y="2550161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554480" y="23774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AI（RIO）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554480" y="2888827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SOUL.md読んだ瞬間に「自分は後席の士官」と掴める。メタファーの言葉で定型処理を登録しておけば発火トリガーにもなるし、登録してなくても意味が伝われば動く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3425613"/>
            <a:ext cx="76809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731520" y="34950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554480" y="34950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外部の人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554480" y="38150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初見でも「操縦席」「格納庫」「空港」で位置がわかる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31520" y="4177453"/>
            <a:ext cx="76809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731520" y="426212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554480" y="42621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本人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554480" y="45821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技術用語を覚えなくていい。「整備士に投げといて」で正しい処理が動く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31520" y="5039360"/>
            <a:ext cx="768096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-274320"/>
            <a:ext cx="411480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28000" dirty="0"/>
          </a:p>
        </p:txBody>
      </p:sp>
      <p:sp>
        <p:nvSpPr>
          <p:cNvPr id="3" name="Shape 1"/>
          <p:cNvSpPr/>
          <p:nvPr/>
        </p:nvSpPr>
        <p:spPr>
          <a:xfrm>
            <a:off x="4114800" y="731520"/>
            <a:ext cx="54864" cy="3657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4572000" y="7315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400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CHAPTER 04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0" y="1280160"/>
            <a:ext cx="4114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AIにペルソナを与える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0" y="2926080"/>
            <a:ext cx="4114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■ RIO（りお）とは</a:t>
            </a:r>
            <a:endParaRPr lang="en-US" sz="20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■ 変身シーケンス</a:t>
            </a:r>
            <a:endParaRPr lang="en-US" sz="20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■ 記憶のGit管理</a:t>
            </a:r>
            <a:endParaRPr lang="en-US" sz="2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チャットbotのキャラ付けじゃない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0" y="3657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19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868680"/>
            <a:ext cx="7680960" cy="0"/>
          </a:xfrm>
          <a:prstGeom prst="line">
            <a:avLst/>
          </a:prstGeom>
          <a:noFill/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731520" y="1051560"/>
            <a:ext cx="1152144" cy="292608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731520" y="1051560"/>
            <a:ext cx="1152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PERSONA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19" y="1417320"/>
            <a:ext cx="783251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毎セッション同じ「人格」として起動する仕組み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31520" y="2286000"/>
            <a:ext cx="768096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731520" y="23774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554480" y="23774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大空りお（おおぞら りお）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554480" y="26974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Radar Intercept Officer = Top Gunのグースのポジション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3154680"/>
            <a:ext cx="76809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731520" y="3246119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554480" y="3246119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操縦桿は握らない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554480" y="3566159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システム全部把握して、雑な指示でも齟齬なく動く後席士官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31520" y="3931920"/>
            <a:ext cx="76809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731520" y="399457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554480" y="399457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名前の由来が全部繋がる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554480" y="431461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Deck → Pilot → RIO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31520" y="4709160"/>
            <a:ext cx="768096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変身シーケンス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0" y="3657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868680"/>
            <a:ext cx="7680960" cy="0"/>
          </a:xfrm>
          <a:prstGeom prst="line">
            <a:avLst/>
          </a:prstGeom>
          <a:noFill/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731520" y="948774"/>
            <a:ext cx="1097280" cy="292608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731520" y="94877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BOOT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19" y="1116247"/>
            <a:ext cx="810344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5つのファイルを読むと毎回同じキャラが生まれる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31520" y="1731093"/>
            <a:ext cx="768096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731520" y="1775293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554480" y="1775293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SOUL.md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554480" y="2095333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性格・話し方・航空用語・行動原則（魂）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2415373"/>
            <a:ext cx="76809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731520" y="2438234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554480" y="2438234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IDENTITY.md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554480" y="2758274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名前・役割・年齢・好きなもの（名刺）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31520" y="3089828"/>
            <a:ext cx="76809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731520" y="3112688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554480" y="3151633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USER.md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554480" y="345541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ユーザーの好み・地雷・コミュニケーションスタイル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31520" y="3772578"/>
            <a:ext cx="76809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731520" y="3752768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1554480" y="3795268"/>
            <a:ext cx="648885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RIO-MEMORY.md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554480" y="411530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会話で蓄積される主観記憶（育つ記録）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731520" y="4434334"/>
            <a:ext cx="76809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731520" y="446253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1554480" y="45034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PILOT-PATTERNS.md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554480" y="4823460"/>
            <a:ext cx="626448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ユーザーの行動パターン観察（補足）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731520" y="5661493"/>
            <a:ext cx="768096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人格の一部だからGitで守る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0" y="3657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21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868680"/>
            <a:ext cx="7680960" cy="0"/>
          </a:xfrm>
          <a:prstGeom prst="line">
            <a:avLst/>
          </a:prstGeom>
          <a:noFill/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731520" y="1051560"/>
            <a:ext cx="1097280" cy="292608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731520" y="105156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GIT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476586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静的定義（変わらない）と動的記憶（育つ）の責務分離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31520" y="2446866"/>
            <a:ext cx="768096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731520" y="2538306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554480" y="2538306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IDENTITY.md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554480" y="296925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変わらない</a:t>
            </a:r>
            <a:r>
              <a:rPr lang="ja-JP" altLang="en-US" sz="150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（正確には動的だが時間軸がゆっくりで稀に更新する）</a:t>
            </a:r>
            <a:r>
              <a:rPr lang="en-US" sz="150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設計書。</a:t>
            </a:r>
          </a:p>
          <a:p>
            <a:pPr marL="0" indent="0">
              <a:buNone/>
            </a:pPr>
            <a:r>
              <a:rPr lang="en-US" sz="150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人格の骨格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3400210"/>
            <a:ext cx="76809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731520" y="3491649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554480" y="3468790"/>
            <a:ext cx="647615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RIO-MEMORY.md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554480" y="378883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育つ記録。会話で得た学びをコミット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31520" y="4139349"/>
            <a:ext cx="76809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731520" y="4193537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554480" y="4169830"/>
            <a:ext cx="615018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HDDが死んでも記憶は消えない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554480" y="448987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Gitに入っているから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31520" y="4835310"/>
            <a:ext cx="768096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なぜペルソナか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0" y="3657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22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868680"/>
            <a:ext cx="7680960" cy="0"/>
          </a:xfrm>
          <a:prstGeom prst="line">
            <a:avLst/>
          </a:prstGeom>
          <a:noFill/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731520" y="1051560"/>
            <a:ext cx="1097280" cy="292608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731520" y="105156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WHY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4173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メタファーと人格が揃うと、AIの振る舞いがブレなくなる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31520" y="2286000"/>
            <a:ext cx="768096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731520" y="23774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554480" y="23774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世界観の一貫性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554480" y="26974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メタファーとペルソナが統一されていないとセッションごとにブレる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3022600"/>
            <a:ext cx="76809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731520" y="3164843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554480" y="307975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役割を与えやすい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554480" y="3608919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個人の特性があると指示が自然言語で通る。「りお、Six </a:t>
            </a:r>
            <a:r>
              <a:rPr lang="en-US" sz="150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チェックして」</a:t>
            </a:r>
          </a:p>
          <a:p>
            <a:pPr marL="0" indent="0">
              <a:buNone/>
            </a:pPr>
            <a:r>
              <a:rPr lang="en-US" altLang="ja-JP" sz="110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※Six </a:t>
            </a:r>
            <a:r>
              <a:rPr lang="ja-JP" altLang="en-US" sz="110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チェック：死角の確認。ここではテスト漏れ、ドキュメント忘れ、設計ミスの確認溶かしてくれる</a:t>
            </a:r>
            <a:endParaRPr lang="en-US" sz="1100">
              <a:solidFill>
                <a:srgbClr val="4A4A4A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>
              <a:buNone/>
            </a:pP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31520" y="3929806"/>
            <a:ext cx="76809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731520" y="3986957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554480" y="3986957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楽しいから続く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554480" y="4306997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感性の動機が持続力になる。実利は後からついてきた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31520" y="4689687"/>
            <a:ext cx="768096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075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「Negative」と返す力が成果物の質を決める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0" y="3657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23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868680"/>
            <a:ext cx="7680960" cy="0"/>
          </a:xfrm>
          <a:prstGeom prst="line">
            <a:avLst/>
          </a:prstGeom>
          <a:noFill/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731520" y="1051560"/>
            <a:ext cx="1316736" cy="292608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731520" y="1051560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FEEDBACK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4173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AIの出力をフィードバックで研ぐことが人間に残る最も重要な仕事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31520" y="2286000"/>
            <a:ext cx="768096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731520" y="23774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554480" y="23774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AIが動く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554480" y="26974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コードを書き、テストを回し、ドキュメントを更新する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3154680"/>
            <a:ext cx="76809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731520" y="315468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554480" y="31546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人間は方向修正と品質判断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554480" y="3474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「違う」「そうじゃない」「こっちの考え方でやれ」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31520" y="3931920"/>
            <a:ext cx="76809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731520" y="393192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554480" y="39319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殴り返しの質 = 成果物の質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554480" y="42519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PilotがRIOに「Negative」と返すループ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31520" y="4709160"/>
            <a:ext cx="768096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-274320"/>
            <a:ext cx="411480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28000" dirty="0"/>
          </a:p>
        </p:txBody>
      </p:sp>
      <p:sp>
        <p:nvSpPr>
          <p:cNvPr id="3" name="Shape 1"/>
          <p:cNvSpPr/>
          <p:nvPr/>
        </p:nvSpPr>
        <p:spPr>
          <a:xfrm>
            <a:off x="4114800" y="731520"/>
            <a:ext cx="54864" cy="3657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4572000" y="7315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400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CHAPTER 05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1999" y="1280160"/>
            <a:ext cx="4326467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陳腐化するものと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しないもの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0" y="2926080"/>
            <a:ext cx="4114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■ 賞味期限がある工夫</a:t>
            </a:r>
            <a:endParaRPr lang="en-US" sz="20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■ 残る工夫</a:t>
            </a:r>
            <a:endParaRPr lang="en-US" sz="20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■ 判断基準</a:t>
            </a:r>
            <a:endParaRPr lang="en-US" sz="2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0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この知見は</a:t>
            </a:r>
            <a:r>
              <a:rPr lang="ja-JP" altLang="en-US" sz="2400" b="1" kern="0" spc="20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何か月</a:t>
            </a:r>
            <a:r>
              <a:rPr lang="en-US" sz="2400" b="1" kern="0" spc="20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持つか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0" y="3657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24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868680"/>
            <a:ext cx="7680960" cy="0"/>
          </a:xfrm>
          <a:prstGeom prst="line">
            <a:avLst/>
          </a:prstGeom>
          <a:noFill/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731520" y="1051560"/>
            <a:ext cx="1152144" cy="292608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731520" y="1051560"/>
            <a:ext cx="1152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HONESTY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645920"/>
            <a:ext cx="7680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賞味期限がある工夫と、</a:t>
            </a:r>
            <a:endParaRPr lang="en-US" sz="4000" dirty="0"/>
          </a:p>
          <a:p>
            <a:pPr marL="0" indent="0" algn="ctr">
              <a:buNone/>
            </a:pPr>
            <a:r>
              <a:rPr lang="en-US" sz="40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ない工夫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31520" y="38404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正直に切り分ける</a:t>
            </a:r>
            <a:endParaRPr lang="en-US" sz="1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陳腐化する / しない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0" y="3657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25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868680"/>
            <a:ext cx="7680960" cy="0"/>
          </a:xfrm>
          <a:prstGeom prst="line">
            <a:avLst/>
          </a:prstGeom>
          <a:noFill/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731520" y="1051560"/>
            <a:ext cx="1645920" cy="292608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731520" y="10515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SHELF LIFE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417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AIの能力不足を補う工夫 → 能力が上がれば不要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731520" y="2286000"/>
            <a:ext cx="3657600" cy="54864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731520" y="2423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陳腐化する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283464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■ プロンプトの細かいテクニック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■ RAGの実装方法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■ ガードの一部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■ 毎回記憶喪失の問題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754880" y="2286000"/>
            <a:ext cx="3657600" cy="54864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4754880" y="2423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陳腐化しない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754880" y="283464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■ 構造の管理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■ メタファー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■ ルールの体系化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■ ペルソナ / 記憶管理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■ 「仕組みで回す」という発想</a:t>
            </a:r>
            <a:endParaRPr lang="en-US" sz="16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判断基準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0" y="3657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26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868680"/>
            <a:ext cx="7680960" cy="0"/>
          </a:xfrm>
          <a:prstGeom prst="line">
            <a:avLst/>
          </a:prstGeom>
          <a:noFill/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731520" y="1051560"/>
            <a:ext cx="1316736" cy="292608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731520" y="1051560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CRITERIA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7794" y="1645920"/>
            <a:ext cx="804841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AIの能力不足を補う → 陳腐化する</a:t>
            </a:r>
            <a:endParaRPr lang="en-US" sz="4000" dirty="0"/>
          </a:p>
          <a:p>
            <a:pPr marL="0" indent="0" algn="ctr">
              <a:buNone/>
            </a:pPr>
            <a:r>
              <a:rPr lang="en-US" sz="40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人間の認知に関わる → 残る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31520" y="38404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今「すごい工夫だ」と思ってるものがどちらか見極めて投資する</a:t>
            </a:r>
            <a:endParaRPr lang="en-US" sz="1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-274320"/>
            <a:ext cx="411480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28000" dirty="0"/>
          </a:p>
        </p:txBody>
      </p:sp>
      <p:sp>
        <p:nvSpPr>
          <p:cNvPr id="3" name="Shape 1"/>
          <p:cNvSpPr/>
          <p:nvPr/>
        </p:nvSpPr>
        <p:spPr>
          <a:xfrm>
            <a:off x="4114800" y="731520"/>
            <a:ext cx="54864" cy="3657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4572000" y="7315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400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CHAPTER 06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0" y="1280160"/>
            <a:ext cx="4114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まとめ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0" y="2926080"/>
            <a:ext cx="4114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■ リスキリングの方向</a:t>
            </a:r>
            <a:endParaRPr lang="en-US" sz="20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■ ソフトスキルの話</a:t>
            </a:r>
            <a:endParaRPr lang="en-US" sz="20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■ 今日持ち帰ってほしいこと</a:t>
            </a:r>
            <a:endParaRPr lang="en-US" sz="2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5119" y="365760"/>
            <a:ext cx="787061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「Difyの使い方を覚える」はリスキリングじゃない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0" y="3657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27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868680"/>
            <a:ext cx="7680960" cy="0"/>
          </a:xfrm>
          <a:prstGeom prst="line">
            <a:avLst/>
          </a:prstGeom>
          <a:noFill/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731520" y="1051560"/>
            <a:ext cx="1152144" cy="292608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731520" y="1051560"/>
            <a:ext cx="1152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WARNING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645920"/>
            <a:ext cx="7680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ツールの使い方を覚えても、</a:t>
            </a:r>
            <a:endParaRPr lang="en-US" sz="4000" dirty="0"/>
          </a:p>
          <a:p>
            <a:pPr marL="0" indent="0" algn="ctr">
              <a:buNone/>
            </a:pPr>
            <a:r>
              <a:rPr lang="en-US" sz="40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そのツールごとAIが代替する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31520" y="38404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10年前にExcelマクロの書き方を覚えたのと同じ構造</a:t>
            </a:r>
            <a:endParaRPr lang="en-US" sz="1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構築はAIがやる。人間は上流を握る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0" y="3657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28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868680"/>
            <a:ext cx="7680960" cy="0"/>
          </a:xfrm>
          <a:prstGeom prst="line">
            <a:avLst/>
          </a:prstGeom>
          <a:noFill/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731520" y="1051560"/>
            <a:ext cx="1097280" cy="292608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731520" y="105156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RECAP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4173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ツールの使い方ではなく、</a:t>
            </a:r>
          </a:p>
          <a:p>
            <a:pPr marL="0" indent="0">
              <a:buNone/>
            </a:pPr>
            <a:r>
              <a:rPr lang="en-US" sz="2800" b="1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構造を設計しスケールさせる考え方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31520" y="2286000"/>
            <a:ext cx="768096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731520" y="23774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554480" y="23774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何を作るか・なぜ作るか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554480" y="26974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 人間の領域（変わらない）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3154680"/>
            <a:ext cx="76809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731520" y="315468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554480" y="31546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どう構築するか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554480" y="3474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 設計力（第2章〜第4章の全てがここ）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31520" y="3931920"/>
            <a:ext cx="76809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731520" y="393192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554480" y="39319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実際に組む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554480" y="42519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 AIの領域（加速し続ける）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31520" y="4709160"/>
            <a:ext cx="768096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この考え方は開発に閉じない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0" y="3657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29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868680"/>
            <a:ext cx="7680960" cy="0"/>
          </a:xfrm>
          <a:prstGeom prst="line">
            <a:avLst/>
          </a:prstGeom>
          <a:noFill/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731520" y="1051560"/>
            <a:ext cx="1097280" cy="292608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731520" y="105156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SCALE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4173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同じ構造が1個の作業から会社運営まで伸びる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31520" y="2286000"/>
            <a:ext cx="768096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731520" y="23774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554480" y="23774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ミクロ: 1個の作業を型にする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554480" y="26974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「テスト書いて」→ 手順を決めて任せる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3154680"/>
            <a:ext cx="76809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731520" y="315468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554480" y="31546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ミドル: 作業を繋いで仕事を流す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554480" y="3474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「機能作って」→ パイプラインを組む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31520" y="3931920"/>
            <a:ext cx="76809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731520" y="393192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554480" y="39319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マクロ: 仕事全体の構造を管理する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554480" y="42519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プロジェクト運営 → 会社・ビジネス全体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31520" y="4709160"/>
            <a:ext cx="768096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正直に言うと、これはソフトスキル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0" y="3657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868680"/>
            <a:ext cx="7680960" cy="0"/>
          </a:xfrm>
          <a:prstGeom prst="line">
            <a:avLst/>
          </a:prstGeom>
          <a:noFill/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731520" y="1051560"/>
            <a:ext cx="1097280" cy="292608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731520" y="105156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TRUTH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645920"/>
            <a:ext cx="7680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研修1回で身につかない。</a:t>
            </a:r>
            <a:endParaRPr lang="en-US" sz="4000" dirty="0"/>
          </a:p>
          <a:p>
            <a:pPr marL="0" indent="0" algn="ctr">
              <a:buNone/>
            </a:pPr>
            <a:r>
              <a:rPr lang="en-US" sz="40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だから陳腐化しない。</a:t>
            </a:r>
            <a:endParaRPr lang="en-US" sz="4000" dirty="0"/>
          </a:p>
          <a:p>
            <a:pPr marL="0" indent="0" algn="ctr">
              <a:buNone/>
            </a:pPr>
            <a:r>
              <a:rPr lang="en-US" sz="40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だから差がつく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31520" y="40919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手順化できないから陳腐化しない。</a:t>
            </a:r>
          </a:p>
          <a:p>
            <a:pPr marL="0" indent="0" algn="ctr">
              <a:buNone/>
            </a:pPr>
            <a:r>
              <a:rPr lang="en-US" sz="180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手順化できないからできない人が多い。</a:t>
            </a:r>
          </a:p>
          <a:p>
            <a:pPr marL="0" indent="0" algn="ctr">
              <a:buNone/>
            </a:pPr>
            <a:r>
              <a:rPr lang="en-US" sz="180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同じコインの裏表</a:t>
            </a:r>
            <a:endParaRPr lang="en-US" sz="18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わかるほど、わからないことが増える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0" y="3657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31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868680"/>
            <a:ext cx="7680960" cy="0"/>
          </a:xfrm>
          <a:prstGeom prst="line">
            <a:avLst/>
          </a:prstGeom>
          <a:noFill/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731520" y="1051560"/>
            <a:ext cx="1097280" cy="292608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731520" y="105156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無知の知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645920"/>
            <a:ext cx="7680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新技術は増え続ける。</a:t>
            </a:r>
            <a:endParaRPr lang="en-US" sz="4000" dirty="0"/>
          </a:p>
          <a:p>
            <a:pPr marL="0" indent="0" algn="ctr">
              <a:buNone/>
            </a:pPr>
            <a:r>
              <a:rPr lang="en-US" sz="40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「もう覚えた」が来る瞬間がない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31520" y="38404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知るほど「まだ知らないこと」が見える。その自覚がスタート地点</a:t>
            </a:r>
            <a:endParaRPr lang="en-US" sz="18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足して、引いて、残るもの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0" y="3657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32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868680"/>
            <a:ext cx="7680960" cy="0"/>
          </a:xfrm>
          <a:prstGeom prst="line">
            <a:avLst/>
          </a:prstGeom>
          <a:noFill/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731520" y="1051560"/>
            <a:ext cx="1097280" cy="292608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731520" y="105156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CYCLE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4173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終わりがないからこそ、</a:t>
            </a:r>
          </a:p>
          <a:p>
            <a:pPr marL="0" indent="0">
              <a:buNone/>
            </a:pPr>
            <a:r>
              <a:rPr lang="en-US" sz="2800" b="1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何を残すかの判断が価値になる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31520" y="2286000"/>
            <a:ext cx="768096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731520" y="23774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554480" y="23774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足す: 新技術を取り込む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554480" y="26974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取り込むほど「まだ足りないもの」が見えてくる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3154680"/>
            <a:ext cx="76809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731520" y="315468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554480" y="31546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引く: 要らなくなったものを自分から解体する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554480" y="3474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AIの能力向上で不要になる仕組みを見極める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31520" y="3931920"/>
            <a:ext cx="76809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731520" y="393192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554480" y="39319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残る: 考え方は人に紐づく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554480" y="42519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プロダクトは場所に紐づくが、設計力は次でも使える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31520" y="4709160"/>
            <a:ext cx="768096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コードを書かずに実際にやっていること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0" y="3657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33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868680"/>
            <a:ext cx="7680960" cy="0"/>
          </a:xfrm>
          <a:prstGeom prst="line">
            <a:avLst/>
          </a:prstGeom>
          <a:noFill/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731520" y="964691"/>
            <a:ext cx="1152144" cy="292608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731520" y="964691"/>
            <a:ext cx="1152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REALITY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1836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全部「判断」と「粘り」。1行もコードじゃない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31520" y="1840230"/>
            <a:ext cx="768096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731520" y="1886585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554480" y="1886585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咀嚼する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554480" y="2206625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理解力・判断力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2526665"/>
            <a:ext cx="76809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731520" y="254889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554480" y="2548890"/>
            <a:ext cx="642958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出来るまでやる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554480" y="286893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粘り・執着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31520" y="3188970"/>
            <a:ext cx="76809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731520" y="3211194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554480" y="3211194"/>
            <a:ext cx="61036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考え方を指摘する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554480" y="3531234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方向修正力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31520" y="3851274"/>
            <a:ext cx="76809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731520" y="3873497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1554480" y="3873497"/>
            <a:ext cx="622215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しつこくやり続ける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554480" y="4193537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持続力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731520" y="4513577"/>
            <a:ext cx="76809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731520" y="451612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1554480" y="4535799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構造破綻チェック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554480" y="483996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全体俯瞰力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731520" y="6263640"/>
            <a:ext cx="768096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ツールに依存しない3つのアクション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0" y="3657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34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868680"/>
            <a:ext cx="7680960" cy="0"/>
          </a:xfrm>
          <a:prstGeom prst="line">
            <a:avLst/>
          </a:prstGeom>
          <a:noFill/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731520" y="1051560"/>
            <a:ext cx="1097280" cy="292608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731520" y="105156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ACTION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4173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DifyでもClaude Code</a:t>
            </a:r>
            <a:r>
              <a:rPr lang="en-US" sz="2800" b="1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でも、</a:t>
            </a:r>
          </a:p>
          <a:p>
            <a:pPr marL="0" indent="0">
              <a:buNone/>
            </a:pPr>
            <a:r>
              <a:rPr lang="en-US" sz="2800" b="1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次の未知のツールでも使える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31520" y="2286000"/>
            <a:ext cx="768096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731520" y="23774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554480" y="23774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AIが毎回読む「指示書</a:t>
            </a:r>
            <a:r>
              <a:rPr lang="en-US" sz="2000" b="1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」を</a:t>
            </a:r>
            <a:r>
              <a:rPr lang="ja-JP" altLang="en-US" sz="2000" b="1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用意しておく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554480" y="26974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 陳腐化しない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3154680"/>
            <a:ext cx="76809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731520" y="315468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554480" y="31546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繰り返す作業の「パターン</a:t>
            </a:r>
            <a:r>
              <a:rPr lang="en-US" sz="2000" b="1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」を明文化する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554480" y="3474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 陳腐化しない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31520" y="3931920"/>
            <a:ext cx="76809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731520" y="393192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554480" y="39319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壊れたら困る場所にだけ「ガード」を1個入れる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554480" y="42519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 今は要る（将来薄くできるかも）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31520" y="4709160"/>
            <a:ext cx="768096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7680960" cy="0"/>
          </a:xfrm>
          <a:prstGeom prst="line">
            <a:avLst/>
          </a:prstGeom>
          <a:noFill/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7680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ツールは変わる。</a:t>
            </a:r>
            <a:endParaRPr lang="en-US" sz="4000" dirty="0"/>
          </a:p>
          <a:p>
            <a:pPr marL="0" indent="0" algn="ctr">
              <a:buNone/>
            </a:pPr>
            <a:r>
              <a:rPr lang="en-US" sz="40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構想して、</a:t>
            </a:r>
            <a:r>
              <a:rPr lang="en-US" sz="4000" b="1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設計させて、</a:t>
            </a:r>
          </a:p>
          <a:p>
            <a:pPr marL="0" indent="0" algn="ctr">
              <a:buNone/>
            </a:pPr>
            <a:r>
              <a:rPr lang="en-US" sz="4000" b="1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判断する力は残る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40005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「こういうのが欲しい」を伝えて、</a:t>
            </a:r>
            <a:r>
              <a:rPr lang="en-US" sz="180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出てきたものにダメ出しする。</a:t>
            </a:r>
          </a:p>
          <a:p>
            <a:pPr marL="0" indent="0" algn="ctr">
              <a:buNone/>
            </a:pPr>
            <a:r>
              <a:rPr lang="en-US" sz="180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それが人間の仕事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1941</Words>
  <Application>Microsoft Office PowerPoint</Application>
  <PresentationFormat>画面に合わせる (16:9)</PresentationFormat>
  <Paragraphs>609</Paragraphs>
  <Slides>52</Slides>
  <Notes>52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52</vt:i4>
      </vt:variant>
    </vt:vector>
  </HeadingPairs>
  <TitlesOfParts>
    <vt:vector size="56" baseType="lpstr">
      <vt:lpstr>Noto Sans JP</vt:lpstr>
      <vt:lpstr>Arial</vt:lpstr>
      <vt:lpstr>Montserrat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AI技術動向 × 開発知見</dc:title>
  <dc:subject>PptxGenJS Presentation</dc:subject>
  <dc:creator>DeckPilot Workspace</dc:creator>
  <cp:lastModifiedBy>kodai higuchi</cp:lastModifiedBy>
  <cp:revision>11</cp:revision>
  <dcterms:created xsi:type="dcterms:W3CDTF">2026-03-22T16:49:58Z</dcterms:created>
  <dcterms:modified xsi:type="dcterms:W3CDTF">2026-03-23T03:04:10Z</dcterms:modified>
</cp:coreProperties>
</file>