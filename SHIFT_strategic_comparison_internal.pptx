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SHIFT(億円)</c:v>
                </c:pt>
              </c:strCache>
            </c:strRef>
          </c:tx>
          <c:spPr>
            <a:solidFill>
              <a:srgbClr val="00529B"/>
            </a:solidFill>
            <a:ln>
              <a:solidFill>
                <a:srgbClr val="00529B"/>
              </a:solidFill>
            </a:ln>
          </c:spPr>
          <c:cat>
            <c:strRef>
              <c:f>Sheet1!$A$2:$A$4</c:f>
              <c:strCache>
                <c:ptCount val="3"/>
                <c:pt idx="0">
                  <c:v>FY前年実績</c:v>
                </c:pt>
                <c:pt idx="1">
                  <c:v>FY直近実績</c:v>
                </c:pt>
                <c:pt idx="2">
                  <c:v>FY次期予想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1107</c:v>
                </c:pt>
                <c:pt idx="1">
                  <c:v>1298</c:v>
                </c:pt>
                <c:pt idx="2">
                  <c:v>1500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PBD/BPO SBU(億円)</c:v>
                </c:pt>
              </c:strCache>
            </c:strRef>
          </c:tx>
          <c:spPr>
            <a:solidFill>
              <a:srgbClr val="0072C6"/>
            </a:solidFill>
            <a:ln>
              <a:solidFill>
                <a:srgbClr val="0072C6"/>
              </a:solidFill>
            </a:ln>
          </c:spPr>
          <c:cat>
            <c:strRef>
              <c:f>Sheet1!$A$2:$A$4</c:f>
              <c:strCache>
                <c:ptCount val="3"/>
                <c:pt idx="0">
                  <c:v>FY前年実績</c:v>
                </c:pt>
                <c:pt idx="1">
                  <c:v>FY直近実績</c:v>
                </c:pt>
                <c:pt idx="2">
                  <c:v>FY次期予想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1108</c:v>
                </c:pt>
                <c:pt idx="1">
                  <c:v>1172</c:v>
                </c:pt>
                <c:pt idx="2">
                  <c:v>1410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メイリオ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SHIFT(FY25)</c:v>
                </c:pt>
              </c:strCache>
            </c:strRef>
          </c:tx>
          <c:spPr>
            <a:solidFill>
              <a:srgbClr val="00529B"/>
            </a:solidFill>
            <a:ln>
              <a:solidFill>
                <a:srgbClr val="00529B"/>
              </a:solidFill>
            </a:ln>
          </c:spPr>
          <c:cat>
            <c:strRef>
              <c:f>Sheet1!$A$2:$A$2</c:f>
              <c:strCache>
                <c:ptCount val="1"/>
                <c:pt idx="0">
                  <c:v>営業利益率(%)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PBD/BPO SBU(3Q)</c:v>
                </c:pt>
              </c:strCache>
            </c:strRef>
          </c:tx>
          <c:spPr>
            <a:solidFill>
              <a:srgbClr val="0072C6"/>
            </a:solidFill>
            <a:ln>
              <a:solidFill>
                <a:srgbClr val="0072C6"/>
              </a:solidFill>
            </a:ln>
          </c:spPr>
          <c:cat>
            <c:strRef>
              <c:f>Sheet1!$A$2:$A$2</c:f>
              <c:strCache>
                <c:ptCount val="1"/>
                <c:pt idx="0">
                  <c:v>営業利益率(%)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BPO業界標準</c:v>
                </c:pt>
              </c:strCache>
            </c:strRef>
          </c:tx>
          <c:spPr>
            <a:solidFill>
              <a:srgbClr val="418FDE"/>
            </a:solidFill>
            <a:ln>
              <a:solidFill>
                <a:srgbClr val="418FDE"/>
              </a:solidFill>
            </a:ln>
          </c:spPr>
          <c:cat>
            <c:strRef>
              <c:f>Sheet1!$A$2:$A$2</c:f>
              <c:strCache>
                <c:ptCount val="1"/>
                <c:pt idx="0">
                  <c:v>営業利益率(%)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メイリオ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7772400" y="3657600"/>
            <a:ext cx="1371600" cy="1371600"/>
          </a:xfrm>
          <a:prstGeom prst="rtTriangl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  <a:latin typeface="メイリオ"/>
              </a:defRPr>
            </a:pPr>
            <a:r>
              <a:t>SHIFT × パーソルビジネスプロセスデザイン</a:t>
            </a:r>
            <a:br/>
            <a:r>
              <a:t>戦略差分レポート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6"/>
                </a:solidFill>
                <a:latin typeface="Segoe UI"/>
              </a:defRPr>
            </a:pPr>
            <a:r>
              <a:t>Strategic Comparison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2026.04 | 最新決算ベース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目次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1. エグゼクティブサマリー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2. 両社プロファイル/比較条件の前提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3. 最新業績と戦略差分マトリクス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4. 軸1:BPO業界全体でのポジショニング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5. 軸2:株式市場の評価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6. 軸3:人材戦略の対比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7. 軸4:AI戦略と接近領域(仮説)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8. 自社戦略への翻訳と結論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メイリオ"/>
              </a:defRPr>
            </a:pPr>
            <a:r>
              <a:t>エグゼクティブサマリー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両社は現時点では別カテゴリ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8016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利益率はPBD 4.3%に対しSHIFT 12%、業界レポートでもSHIFTは別枠扱い。両社は同じ「BPO業界」の地図に乗らない。PBDの直接競合は依然として同業BPO各社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ただしAI実装を介して接近の兆候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SHIFTのコンタクトセンター自動化実証(品川区)はPBDのCX事業領域に近接。AI導入支援案件でも経営層向けの提案口で接近する可能性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両社とも変身途中である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PBDは3社統合+富士通CS買収で専門BPO+M&amp;A型へ変身中、SHIFTはQA発から上流コンサル+AI実装へ拡張中。3-5年後の競合関係は現在と異なる可能性が高い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Company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両社プロファイル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パーソルBD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 (3697)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出自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人材派遣発BPO(2024年10月3社統合)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ソフトウェアテスト/品質保証発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親会社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パーソルHD(2181)100%子会社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独立系・東証プライム上場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代表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市村和幸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丹下大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従業員規模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統合後グループ約18,000人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エンジニア中心、年2,500人採用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主力サービス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BPO/CX/コンサル/BPaaS・プロダクト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ソフトウェアQA、上流コンサル、AI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顧客基盤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1,900社超(統合後)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大手企業・大型案件指向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コア概念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プロセスデザイン力、テクノロジードリブン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DAAE、ブルーオーシャン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Comparison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本資料の比較条件と前提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比較は非対称(SHIFT単体 vs HDセグメント)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SHIFTは東証プライム上場の独立系で単体財務開示が厚い。PBDはパーソルHD100%子会社で単体財務は非開示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PBD側はパーソルHD BPO SBUベースで比較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BPO SBUにはPBD以外にパーソルコミュニケーションサービス(旧富士通CS)等を含む。PBD単体の利益率や成長率は外部からは正確に算出不可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決算期が異なるため期間調整が必要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SHIFTは8月期決算、パーソルHDは3月期決算。本資料では両社の直近通期+足元四半期を併記する形で比較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出典:各社IR・業界調査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 FY25(24/9-25/8)、SHIFT FY26 1Q(25/9-25/11)、パーソルHD FY25(24/4-25/3)、パーソルHD FY26 3Q累計(25/4-25/12)、矢野経済研究所、デロイトトーマツミック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Revenue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売上規模の比較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12801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売上規模はほぼ並んだ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SHIFT FY25実績1,298億円(+17.3%)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PBD/BPO SBU FY25実績1,172億円(+5.8%)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FY26ペースはPBD約1,400億 vs SHIFT 1,500億予想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PBDの数字は富士通CS買収(25/2)が寄与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Operating 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営業利益率の比較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502920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128016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利益率では約3倍の差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PBD 4.3% vs SHIFT 12%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PBDはBPO業界標準5%をやや下回る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ソフトQA×品質保証スペシャリストモデルとBPO×大量正社員モデルの構造差と見られる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PBDの利益率改善は中計でも論点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SHIFT Latest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SHIFT FY25実績とFY26見通し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3035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FY25実績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FY26予想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売上高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1,298億 (+17.3%)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1,500億 (+15.5%)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営業利益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156億 (+48.3%)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調整後200億 (+13.4%)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営業利益率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12.0%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13%超(調整後)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ソフトテスト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843億(+18.2%)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ソフト開発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401億(+14.6%)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近接サービス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107億(+29.0%)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2801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FY25は過去最高益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ソフトウェアテストが本丸(売上6割)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FY26から「調整後営業利益」を新導入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M&amp;A前提の見せ方に転換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近接サービスでのれん減損計上あり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1Q(25/9-11)は採用費先行で営業益▲20%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PBD / BPO SBU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PBD/パーソルHD BPO SBUの業績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3035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FY25通期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FY26 3Q累計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売上高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1,172億 (+5.8%)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1,058億 (+27.0%)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営業利益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減益(コロナ剥落)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45億 (+43.8%)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調整後EBITDA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65億 (+39.0%)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営業利益率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約4.3%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FY26 EBITDA予想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+50%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2801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オーガニック+富士通CS買収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富士通CS分の3Q寄与は174億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オーガニック成長は+6%程度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公共案件は縮小、AI導入支援が堅調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通期計画には数億円ショート可能性(QA質疑より)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PBD単体の数字は外部開示なし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Mid-term Plans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中期経営計画の対比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PBD/パーソルHD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中計名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SHIFT2000 → SHIFT3000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パーソルHD中期経営計画2026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売上目標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FY26-28に2,000億 / FY28-30に3,000億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BPO業界国内No.1売上(金額非開示)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利益目標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営業利益率15%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BPO SBU調整後EBITDA高成長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成長エンジン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M&amp;A型化+ファンド設立+大型案件EVAC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3社統合シナジー+富士通CS買収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人材戦略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年2,500人採用、CAT検定で非IT層取込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CoEで親会社一括採用→各SBU派遣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市場の捉え方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ブルーオーシャン(競合不在の前提)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成長/新興産業でシェア拡大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IR開示の解像度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数値細密、KPI分解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HD連結内のセグメント開示にとどまる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Strategy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戦略差分マトリクス(1/2)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軸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PBD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利益率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12% (FY25)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4.3% (FY26 3Q)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売上規模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1,500億予想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1,400億ペース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成長率(売上)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+15.5% (オーガニック中心)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+27% (買収込) / オーガニック+6%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成長率(利益)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+13% (FY26予想)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+44% (3Q営業益)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M&amp;A戦略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型化されたM&amp;A+ファンド設立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3社統合+富士通CS買収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PMI思想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遠心力経営(社名・経営陣を残す)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統合・ブランド一本化(中央集権)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AI戦略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Devin、AI駆動開発(商材化)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AI導入支援(顧客のAI化を請け負う)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人材入口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広く(非IT含む)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狭く(既に正社員8割)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Strategy Comparison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戦略差分マトリクス(2/2)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軸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PBD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人材育成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CAT検定で型化、下から上へ引上げ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全員RPA/コーディング必須+CoE派遣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市場定義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ソフトQA 5.5兆円市場(自社定義)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BPO業界(既存市場)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市場物語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ブルーオーシャン、競合不在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シェア拡大、独自ポジション創造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顧客アプローチ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EVAC伴走型コンサル→100億円級狙い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4事業横断連携で高付加価値化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収益志向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単価引上げ+エンジニア質的増強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顧客基盤×ナレッジ統合×横展開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資本構造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東証プライム独立系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パーソルHD100%子会社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IRの位置づけ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成長エンジン化、数値細密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HD連結内、開示は限定的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主要リスク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採用費先行、株価60%超下落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BPO/Tech SBU通期未達リスク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M&amp;A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M&amp;A戦略の現在地と本質的な差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前提:両社とも今や外部M&amp;A型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PBDは富士通CS買収(25/2)で外部M&amp;Aに本格参入。SHIFTもFY26からファンド設立で加速。両社とも規模拡大フェーズに入っている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SHIFTのM&amp;A目的:品揃え拡大+エンジニア確保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型化されたPMI、遠心力経営で社名・経営陣・人事制度を残す。FY26からファンド設立で加速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PBDのM&amp;A目的:汎用BPO→専門BPOへの脱皮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富士通CS買収でIT運用・専門コンタクトセンター領域を取り込む。中央集権型の統合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本質的な差は「PMI思想」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SHIFT=連邦型(遠心力)、PBD=中央集権型(求心力)。M&amp;A自体ではなく、買った後の経営手法が真逆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BPO Industry Landscape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【軸1】BPO業界の主要プレイヤー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企業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売上規模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性格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トランスコスモス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約3,738億 (FY23)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CX/BPO総合、海外30か国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アルティウスリンク (KDDI+りらいあ)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約2,500億規模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通信系統合体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ベルシステム24HD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約1,211億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老舗CC、伊藤忠系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約1,500億予想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ソフトウェアQA独立系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パーソルBD (BPO SBU)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約1,400億ペース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人材派遣母体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パソナグループBPO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数百億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人材系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TIS BPO事業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数百億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SIer系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Industry Map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【軸1】業界マップから見える事実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両社とも業界中堅上位にすぎない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トランスコスモスの半分以下、ベルシステム24と同程度。「BPO国内No.1」「SHIFT3000」とも、現状ではトップとの差が大きい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BPO業界の市場規模は約9.5兆円(2025予測)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コンタクトセンター単体で約1.1兆円。AI/DX需要で年6.5%成長見込み(矢野経済研究所/デロイトトーマツミック)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SHIFTは業界レポートに含まれていない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デロイトトーマツミック経済研究所のBPO総市場レポート対象企業にPBDの前身企業は入るがSHIFTは入らない。業界からは別カテゴリ扱い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直接の競合は同業BPO、SHIFTは越境者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PBDの競合マップでは同業BPO各社(トランスコスモス、アルティウスリンク、ベルシステム24)が直接競合。SHIFTは別の戦場から越境してくる異業種プレイヤー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Market 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【軸2】株式市場のバリュエーション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530352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指標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パーソルHD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時価総額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約1,856億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数千億円規模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PER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約20.5倍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一桁台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PBR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約4.32倍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1倍前後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ROE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約22%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2桁中盤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配当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無配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利回り4%超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1年株価変動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▲68%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やや堅調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0" y="1280160"/>
            <a:ext cx="3017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市場の物語は対照的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SHIFTは「成長プレミアム剥落フェーズ」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それでもPBR 4.3倍は成長織込み水準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パーソルHDは「高配当バリュー株」扱い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外国人比率SHIFT約30%、HD国内中心</a:t>
            </a:r>
          </a:p>
          <a:p>
            <a:pPr marL="457200" indent="-228600">
              <a:buChar char="•"/>
              <a:spcAft>
                <a:spcPts val="600"/>
              </a:spcAft>
              <a:defRPr sz="1100">
                <a:solidFill>
                  <a:srgbClr val="333333"/>
                </a:solidFill>
                <a:latin typeface="メイリオ"/>
              </a:defRPr>
            </a:pPr>
            <a:r>
              <a:t>SHIFTは投資家層がグローバル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SHIFT Stock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【軸2】SHIFT株価:グロース剥落の経緯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2025年7月:上方修正もコンセンサス未達で急落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通期営業利益150億に上方修正したが、市場予想160億に届かず急落。高成長グロース株の典型現象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2025年10月:FY25通期は売上+17.3%、営業益+48.3%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計画通りで過去最高売上総利益率を達成。一見好決算だが期待値は既に下振れ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2026年1月:FY26 1Q決算で営業益▲20%の衝撃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エンジニア稼働率低下、採用費先行で28億円(前年同期比▲20%)。昨年来安値857円更新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「調整後営業利益」指標の新導入はM&amp;A加速宣言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M&amp;A帰属諸経費・のれん償却・顧客関連資産償却を控除した指標。投資キャッシュフロー▲120億で投資積極化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Talent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【軸3】人材戦略の対比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PBD/HD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入口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広く(非IT人材含む)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狭く(既に正社員8割)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育成方向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下から上へ引き上げ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既に高い人材を維持・拡張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仕組み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CAT検定で型化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KCS(ナレッジセンタードサービス)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AI人材確保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外部採用+M&amp;Aで吸収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HD本体CoEで一括採用→派遣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採用規模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年平均2,500人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CoEで集約、各SBUへ配分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ボトルネック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採用費用と稼働率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テック人材の希少性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直近リスク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FY26 1Qで採用費先行→利益圧迫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BPO/Tech SBUの計画未達リスク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Two Opposite Strategies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【軸3】CAT検定 vs CoE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SHIFT:スケール戦略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非IT人材を入口に、CAT検定で標準化。広く採用して中で育成し、上位レイヤーへ段階的引上げ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PBD:集約戦略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既に正社員8割の高スキル層。HD本体CoEで希少なAI人材を集めて子会社へ配分する求心力モデル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対処法は真逆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両社とも同じ「AI時代の人材ボトルネック」に直面しているが、答えがまったく違う方向に進んでいる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AI Strategy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【軸4】AI関連の最新動向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8412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4160"/>
                <a:gridCol w="2804160"/>
                <a:gridCol w="280416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時期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メイリオ"/>
                        </a:defRPr>
                      </a:pPr>
                      <a:r>
                        <a:t>PBD/HD</a:t>
                      </a:r>
                    </a:p>
                  </a:txBody>
                  <a:tcPr>
                    <a:solidFill>
                      <a:srgbClr val="00529B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AI商材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Devin マスターパートナー(26/2)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AI開発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AI駆動開発で東北電力フロンティア対応(26/3)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—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コンタクトセンター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品川区でAIエージェント実証(26/2)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本丸事業(CX事業)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顧客向けAI支援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EVAC伴走型コンサル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大手中心にAI導入支援案件が堅調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自社AI活用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テスト設計のAI活用、エンジニア生産性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ノンコア業務の自動化、コア業務を人で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人材確保戦略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外部+M&amp;A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CoEで一括採用→各SBU派遣</a:t>
                      </a:r>
                    </a:p>
                  </a:txBody>
                  <a:tcPr>
                    <a:noFill/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代表メッセージ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丹下社長「AIで君の仕事はなくなる」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メイリオ"/>
                        </a:defRPr>
                      </a:pPr>
                      <a:r>
                        <a:t>「人と組織」を主語に置き続ける</a:t>
                      </a:r>
                    </a:p>
                  </a:txBody>
                  <a:tcPr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Convergence Zones (Hypothesis)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【軸4・仮説】今後3-5年で接近する領域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016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コンタクトセンター自動化:接近度【高】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60020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SHIFT品川区実証はPBDCX事業の領域に近接。SHIFTはAIエージェントで人を補強するアプローチと見られる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4884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大手のAI導入支援:接近度【中〜高】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46888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 EVACコンサルとPBDの大手AI導入支援案件は、経営層への提案口で接近する可能性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01752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業務プロセスのAI化:接近度【中】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SHIFTのAI駆動開発+品質保証付きAI実装とPBDのBPaaS/デジタルBPO。提案の形は異なるが対象顧客は重なりうる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886200"/>
            <a:ext cx="7589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境界は今後3-5年で曖昧化する可能性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7589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66666"/>
                </a:solidFill>
                <a:latin typeface="メイリオ"/>
              </a:defRPr>
            </a:pPr>
            <a:r>
              <a:t>ソフトQAの上流化とBPOのテック化が出会う。少なくとも一部の予算枠で同一顧客への接近が予想される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The Subject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【軸4・仮説】主語の違いと事業転換速度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SHIFT:システム提供型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DevinでAIエンジニアそのものを商材化。AI駆動開発で工数圧縮。SIer的アプローチと見られる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PBD:オペレーション提供型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AI導入をBPOプロセスに組み込んで業務を引き受ける。「人と組織」を主語に置き続ける建付け</a:t>
            </a:r>
          </a:p>
        </p:txBody>
      </p:sp>
      <p:sp>
        <p:nvSpPr>
          <p:cNvPr id="14" name="Oval 13"/>
          <p:cNvSpPr/>
          <p:nvPr/>
        </p:nvSpPr>
        <p:spPr>
          <a:xfrm>
            <a:off x="7223760" y="1371600"/>
            <a:ext cx="1280160" cy="1280160"/>
          </a:xfrm>
          <a:prstGeom prst="ellipse">
            <a:avLst/>
          </a:prstGeom>
          <a:noFill/>
          <a:ln w="25400">
            <a:solidFill>
              <a:srgbClr val="005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0" y="1778508"/>
            <a:ext cx="1280160" cy="5029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36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7889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333333"/>
                </a:solidFill>
                <a:latin typeface="メイリオ"/>
              </a:defRPr>
            </a:pPr>
            <a:r>
              <a:t>事業転換速度に差が生じうる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>
                <a:solidFill>
                  <a:srgbClr val="666666"/>
                </a:solidFill>
                <a:latin typeface="メイリオ"/>
              </a:defRPr>
            </a:pPr>
            <a:r>
              <a:t>SHIFTは構造変化に対応しやすい一方で既存従業員との緊張可能性。PBDは安定的だがAI化スピードに制約が生じる可能性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メイリオ"/>
              </a:defRPr>
            </a:pPr>
            <a:r>
              <a:t>BPO業界全体の動き(当方仮説)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規模の経済から知の経済へ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8016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業界はオペレーション量による規模の経済から、プロセスデザイン+AIによる知の経済への転換期にあると見られる。トランスコスモスがCX/DXに、PBDが専門BPOに、SHIFTが上流コンサル+AIに振っているのは同じ転換への異なる答えと整理できる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「BPO業界」というカテゴリ自体の再定義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3-5年後にはコンサル/BPO/SIer/ソフトQAの境界が曖昧化する可能性。AIエージェントを含めた「業務オーケストレーション」という新カテゴリが立ち上がる可能性が高い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新カテゴリの主役候補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PBD、SHIFT、トランスコスモス、アクセンチュア(BPO含む)が同じ椅子の主役候補と見られる。PBDもこの転換にどう乗るかを問われる立場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Lessons from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SHIFTから学べるポイント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標準化と人材スケール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CAT検定を起点に非IT人材を大量取込み、段階的に上位レイヤーへ引き上げる仕組み。PBDの「全員RPA必須」を補完しうる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630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IRと数値説明力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中計をシンプルなKPIに分解し、外部に対して数式で説明する姿勢。PBDは親会社配下だが、社内向け事業説明にも応用余地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M&amp;Aの型化(科学的M&amp;A)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EBITDA倍率5倍水準・のれん償却後黒字といった選定基準と、PMI 100日プログラム。PBDの富士通CS統合プロセスの参考軸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市場を自分で定義する力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「ソフトQA 5.5兆円市場」のように既存業界分類に囚われず自前で市場物語を作る姿勢。BPO業界の延長で語る限界を相対化できる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Implications for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PBD戦略への翻訳(論点整理)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2801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短期の脅威と長期の脅威を分離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短期は同業BPO直接競合(トランスコスモス、アルティウスリンク等)。長期はAI実装力で越境するSHIFT等の異業種プレイヤー。両者は対処戦略が異なる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2801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2801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4630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本丸であるCXが問われ得る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コンタクトセンター自動化はSHIFTの実証フェーズに突入。PBDCX事業の高付加価値化(AIエージェント前提の業務設計)を急ぐ必要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やらないべきもの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SHIFT流の独立系IRモデル丸ごと真似(資本構造が違う)。BPO業界外しのポジション取り(自社のコアを否定する方向)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108960"/>
            <a:ext cx="384048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8DC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0" y="3108960"/>
            <a:ext cx="3840480" cy="36576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3291840"/>
            <a:ext cx="3474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33333"/>
                </a:solidFill>
                <a:latin typeface="メイリオ"/>
              </a:defRPr>
            </a:pPr>
            <a:r>
              <a:t>次の半年で見るべき指標</a:t>
            </a:r>
          </a:p>
          <a:p>
            <a:pPr algn="l">
              <a:defRPr sz="1000" b="0">
                <a:solidFill>
                  <a:srgbClr val="666666"/>
                </a:solidFill>
                <a:latin typeface="メイリオ"/>
              </a:defRPr>
            </a:pPr>
            <a:r>
              <a:t>SHIFT FY26 2-3Q決算(調整後営業益・稼働率・コンタクトセンター案件動向)、PBDBPO SBU EBITDA進捗(年初+50%予想)、富士通CS統合シナジー実現状況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8229600" cy="27432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6"/>
                </a:solidFill>
                <a:latin typeface="Segoe UI"/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529B"/>
                </a:solidFill>
                <a:latin typeface="メイリオ"/>
              </a:defRPr>
            </a:pPr>
            <a:r>
              <a:t>本レポートの注意点と限界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本資料はパーソルHD連結開示ベースで作成。PBD単体の詳細数字は内部実績と突合のうえ補正してください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SHIFTの「調整後」指標は新導入のため過年度との比較に注意が必要(M&amp;A加速によりのれん償却が増えると表面営業益と乖離拡大)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本分析は2026年4月時点のスナップショット。SHIFT FY26 1Qの利益後退とPBDBPO SBUの3Q進捗未達リスクは今後の決算で追加検証が必要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「BPO国内No.1」のPBD側定義は社外向けに明示されていないため、競合(トランスコスモス、アルティウスリンク等)との比較はもう一段の整理が必要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軸4(AI戦略の接近)および統合示唆の業界転換論は当方の仮説整理であり、IR・決算で確認された事実ではない</a:t>
            </a:r>
          </a:p>
          <a:p>
            <a:pPr marL="457200" indent="-228600">
              <a:buChar char="•"/>
              <a:spcAft>
                <a:spcPts val="1000"/>
              </a:spcAft>
              <a:defRPr sz="1400">
                <a:solidFill>
                  <a:srgbClr val="333333"/>
                </a:solidFill>
                <a:latin typeface="メイリオ"/>
              </a:defRPr>
            </a:pPr>
            <a:r>
              <a:t>出典:各社IR資料・決算短信、矢野経済研究所、デロイトトーマツミック経済研究所、HRog、日本経済新聞 他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ight Triangle 2"/>
          <p:cNvSpPr/>
          <p:nvPr/>
        </p:nvSpPr>
        <p:spPr>
          <a:xfrm rot="5400000">
            <a:off x="7772400" y="3657600"/>
            <a:ext cx="1371600" cy="1371600"/>
          </a:xfrm>
          <a:prstGeom prst="rtTriangle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529B"/>
                </a:solidFill>
                <a:latin typeface="メイリオ"/>
              </a:defRPr>
            </a:pPr>
            <a:r>
              <a:t>結論:カテゴリ近接の観察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72C6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3891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  <a:latin typeface="メイリオ"/>
              </a:defRPr>
            </a:pPr>
            <a:r>
              <a:t>これは同業比較ではなく、異なる起点を持つ2社がAIで同じ将来カテゴリに近づく現象の観察である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529B"/>
                </a:solidFill>
                <a:latin typeface="メイリオ"/>
              </a:defRPr>
            </a:pPr>
            <a:r>
              <a:t>示唆:見るべきは「現在の売上競合」ではなく「将来のカテゴリ競合」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91440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根拠1:収益モデル・利益率・人材モデルはまだ大きく異なる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28016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SHIFT 12% vs PBD4.3%の利益率差、独立系プライム vs HD子会社の資本構造差、CAT検定 vs CoEの人材戦略差。両社は今この瞬間は「別カテゴリ」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14884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224028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33172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根拠2:AI導入支援・コンタクトセンター自動化・BPaaS周辺で接点が増えている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69748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SHIFT品川区のAIエージェント実証、Devinパートナー契約、PBDの大手AI導入支援案件。同一顧客の同一予算枠への接近が観察されつつある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566160"/>
            <a:ext cx="8412480" cy="9144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3657600"/>
            <a:ext cx="914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529B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749040"/>
            <a:ext cx="7132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33333"/>
                </a:solidFill>
                <a:latin typeface="メイリオ"/>
              </a:defRPr>
            </a:pPr>
            <a:r>
              <a:t>根拠3:両社とも変身途中である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4114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66666"/>
                </a:solidFill>
                <a:latin typeface="メイリオ"/>
              </a:defRPr>
            </a:pPr>
            <a:r>
              <a:t>PBDは統合会社から専門BPO+M&amp;A型へ(富士通CS買収)。SHIFTはQAから上流+AI実装へ(EVAC、AI駆動開発)。3-5年後の姿は現在と異なる可能性が高い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